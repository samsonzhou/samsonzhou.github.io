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1D43E-EBE6-462F-9A60-C9F3E6FDE5B4}" v="780" dt="2026-04-20T18:40:09.34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9" d="100"/>
          <a:sy n="19" d="100"/>
        </p:scale>
        <p:origin x="2352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 descr="ICLR 2021 Announces List of Accepted Papers | Synced">
            <a:extLst>
              <a:ext uri="{FF2B5EF4-FFF2-40B4-BE49-F238E27FC236}">
                <a16:creationId xmlns:a16="http://schemas.microsoft.com/office/drawing/2014/main" id="{D3DBD5BE-4E3A-450F-B600-5B8AB34C1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759" y="240467"/>
            <a:ext cx="4868517" cy="243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35"/>
          <p:cNvSpPr txBox="1"/>
          <p:nvPr/>
        </p:nvSpPr>
        <p:spPr>
          <a:xfrm>
            <a:off x="968275" y="784521"/>
            <a:ext cx="10454285" cy="178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Consistent Low-Rank Approximation</a:t>
            </a:r>
            <a:endParaRPr dirty="0"/>
          </a:p>
        </p:txBody>
      </p:sp>
      <p:sp>
        <p:nvSpPr>
          <p:cNvPr id="33" name="TextBox 38"/>
          <p:cNvSpPr txBox="1"/>
          <p:nvPr/>
        </p:nvSpPr>
        <p:spPr>
          <a:xfrm>
            <a:off x="926239" y="2703493"/>
            <a:ext cx="461445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Model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9"/>
              <p:cNvSpPr txBox="1"/>
              <p:nvPr/>
            </p:nvSpPr>
            <p:spPr>
              <a:xfrm>
                <a:off x="888139" y="3649968"/>
                <a:ext cx="10955683" cy="807471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Input</a:t>
                </a:r>
                <a:r>
                  <a:rPr lang="en-US" sz="2800" dirty="0">
                    <a:solidFill>
                      <a:schemeClr val="tx1"/>
                    </a:solidFill>
                  </a:rPr>
                  <a:t>: Rows of an underlying matrix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sequentially in a data stream (row-arrival model)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Output</a:t>
                </a:r>
                <a:r>
                  <a:rPr lang="en-US" sz="2800" b="1" dirty="0"/>
                  <a:t>:</a:t>
                </a:r>
                <a:r>
                  <a:rPr lang="en-US" sz="2800" dirty="0"/>
                  <a:t> A sequence of rank-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subspaces, represented by factor matrices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at each time step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800" b="0" dirty="0">
                  <a:solidFill>
                    <a:srgbClr val="C00000"/>
                  </a:solidFill>
                </a:endParaRP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2800" dirty="0">
                    <a:solidFill>
                      <a:schemeClr val="tx1"/>
                    </a:solidFill>
                  </a:rPr>
                  <a:t>: Output factors that well-approximate the optimal rank-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approximation to the submatrix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at all times, e.g., maintaining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-multiplicative error.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Constraint</a:t>
                </a:r>
                <a:r>
                  <a:rPr lang="en-US" sz="2800" dirty="0">
                    <a:solidFill>
                      <a:schemeClr val="tx1"/>
                    </a:solidFill>
                  </a:rPr>
                  <a:t>: Minimize recourse (or consistency cost), defined as the cumulative overall change in the sequence of solutions over time.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Recourse Metric</a:t>
                </a:r>
                <a:r>
                  <a:rPr lang="en-US" sz="2800" dirty="0">
                    <a:solidFill>
                      <a:schemeClr val="tx1"/>
                    </a:solidFill>
                  </a:rPr>
                  <a:t>: Measured as the squared subspace distance between orthogonal projection matrices of consecutive outputs,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p>
                          <m:sSup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denotes the projection matrix onto the subspace</a:t>
                </a:r>
                <a:r>
                  <a:rPr lang="en-US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39" y="3649968"/>
                <a:ext cx="10955683" cy="8074711"/>
              </a:xfrm>
              <a:prstGeom prst="rect">
                <a:avLst/>
              </a:prstGeom>
              <a:blipFill>
                <a:blip r:embed="rId3"/>
                <a:stretch>
                  <a:fillRect l="-1447" t="-302" r="-5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37"/>
          <p:cNvSpPr txBox="1"/>
          <p:nvPr/>
        </p:nvSpPr>
        <p:spPr>
          <a:xfrm>
            <a:off x="12188085" y="849022"/>
            <a:ext cx="10044537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sz="3200" dirty="0"/>
              <a:t>David P. Woodruff (Carnegie Mellon University)</a:t>
            </a:r>
          </a:p>
          <a:p>
            <a:r>
              <a:rPr lang="en-US" sz="3200" dirty="0"/>
              <a:t>Samson Zhou (Texas A&amp;M University)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39">
                <a:extLst>
                  <a:ext uri="{FF2B5EF4-FFF2-40B4-BE49-F238E27FC236}">
                    <a16:creationId xmlns:a16="http://schemas.microsoft.com/office/drawing/2014/main" id="{872CBA4F-57C6-4BE7-A79C-69A910CD037D}"/>
                  </a:ext>
                </a:extLst>
              </p:cNvPr>
              <p:cNvSpPr txBox="1"/>
              <p:nvPr/>
            </p:nvSpPr>
            <p:spPr>
              <a:xfrm>
                <a:off x="598982" y="12515665"/>
                <a:ext cx="10818393" cy="986904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Feature Engineering</a:t>
                </a:r>
                <a:r>
                  <a:rPr lang="en-US" sz="2800" dirty="0"/>
                  <a:t>: Low-rank approximations select feature subspaces for training downstream models. High recourse causes features to fluctuate abruptly, triggering frequent and computationally costly </a:t>
                </a:r>
                <a:r>
                  <a:rPr lang="en-US" sz="2800" dirty="0" err="1"/>
                  <a:t>retrainings</a:t>
                </a:r>
                <a:r>
                  <a:rPr lang="en-US" sz="2800" dirty="0"/>
                  <a:t> of large-scale machine learning systems. 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Biometrics</a:t>
                </a:r>
                <a:r>
                  <a:rPr lang="en-US" sz="2800" dirty="0"/>
                  <a:t>: Tasks like reliable identification require consistent, low-dimensional representations of fingerprints or iris patterns over time. 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Image Processing</a:t>
                </a:r>
                <a:r>
                  <a:rPr lang="en-US" sz="2800" dirty="0"/>
                  <a:t>: Algorithms for object detection and facial recognition depend on derived features that should not behave unpredictably as new data arrives. 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Text Mining &amp; Information Retrieval</a:t>
                </a:r>
                <a:r>
                  <a:rPr lang="en-US" sz="2800" dirty="0"/>
                  <a:t>: Numerical features such as TF-IDF vectors or word embeddings must remain coherent to maintain the quality of search and classification models.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Strawman Approaches Fail</a:t>
                </a:r>
                <a:r>
                  <a:rPr lang="en-US" sz="2800" dirty="0"/>
                  <a:t>: Standard deterministic streaming algorithms like Frequent Directions fail catastrophically for consistency, repeatedly altering the output subspace and incurring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/>
                  <a:t> recourse.</a:t>
                </a:r>
                <a:endParaRPr lang="en-US" sz="2800" i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i="1" dirty="0"/>
              </a:p>
            </p:txBody>
          </p:sp>
        </mc:Choice>
        <mc:Fallback xmlns="">
          <p:sp>
            <p:nvSpPr>
              <p:cNvPr id="227" name="TextBox 39">
                <a:extLst>
                  <a:ext uri="{FF2B5EF4-FFF2-40B4-BE49-F238E27FC236}">
                    <a16:creationId xmlns:a16="http://schemas.microsoft.com/office/drawing/2014/main" id="{872CBA4F-57C6-4BE7-A79C-69A910CD0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82" y="12515665"/>
                <a:ext cx="10818393" cy="9869048"/>
              </a:xfrm>
              <a:prstGeom prst="rect">
                <a:avLst/>
              </a:prstGeom>
              <a:blipFill>
                <a:blip r:embed="rId4"/>
                <a:stretch>
                  <a:fillRect l="-1408" t="-247" r="-67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38">
            <a:extLst>
              <a:ext uri="{FF2B5EF4-FFF2-40B4-BE49-F238E27FC236}">
                <a16:creationId xmlns:a16="http://schemas.microsoft.com/office/drawing/2014/main" id="{57C3C0AF-2C5E-446B-BC7D-DDB22247477D}"/>
              </a:ext>
            </a:extLst>
          </p:cNvPr>
          <p:cNvSpPr txBox="1"/>
          <p:nvPr/>
        </p:nvSpPr>
        <p:spPr>
          <a:xfrm>
            <a:off x="828132" y="11724679"/>
            <a:ext cx="58336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Applications / Motivations</a:t>
            </a:r>
            <a:endParaRPr sz="3600" dirty="0"/>
          </a:p>
        </p:txBody>
      </p:sp>
      <p:sp>
        <p:nvSpPr>
          <p:cNvPr id="229" name="TextBox 38">
            <a:extLst>
              <a:ext uri="{FF2B5EF4-FFF2-40B4-BE49-F238E27FC236}">
                <a16:creationId xmlns:a16="http://schemas.microsoft.com/office/drawing/2014/main" id="{ACD66178-5F48-4A8C-B170-22AA930CD9B3}"/>
              </a:ext>
            </a:extLst>
          </p:cNvPr>
          <p:cNvSpPr txBox="1"/>
          <p:nvPr/>
        </p:nvSpPr>
        <p:spPr>
          <a:xfrm>
            <a:off x="11960187" y="2211546"/>
            <a:ext cx="58336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Our Results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39">
                <a:extLst>
                  <a:ext uri="{FF2B5EF4-FFF2-40B4-BE49-F238E27FC236}">
                    <a16:creationId xmlns:a16="http://schemas.microsoft.com/office/drawing/2014/main" id="{C142CDD1-EA7E-4D16-83D4-808A38FA6754}"/>
                  </a:ext>
                </a:extLst>
              </p:cNvPr>
              <p:cNvSpPr txBox="1"/>
              <p:nvPr/>
            </p:nvSpPr>
            <p:spPr>
              <a:xfrm>
                <a:off x="11903829" y="3019136"/>
                <a:ext cx="10785513" cy="80863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Additive Error</a:t>
                </a:r>
                <a:r>
                  <a:rPr lang="en-US" sz="2800" dirty="0"/>
                  <a:t>: Achieves an additive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approximation to the optimal cost at all times with an optimal, sublinear</a:t>
                </a:r>
                <a:r>
                  <a:rPr lang="en-US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𝑛𝑑𝑀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800" dirty="0"/>
                  <a:t> recourse.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Multiplicative Error (General Matrices): </a:t>
                </a:r>
                <a:r>
                  <a:rPr lang="en-US" sz="2800" dirty="0"/>
                  <a:t>Achieves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800" dirty="0"/>
                  <a:t>-multiplicative approximation with sub-quadratic recourse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3/2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𝑛𝑑𝑀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for integer-bounded matrices.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Multiplicative Error (Polynomial Condition Number): </a:t>
                </a:r>
                <a:r>
                  <a:rPr lang="en-US" sz="2800" dirty="0"/>
                  <a:t>For streams with a polynomial online condition number, the algorithm maintains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800" dirty="0"/>
                  <a:t>-multiplicative approximation using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𝑛𝑑𝑀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recourse.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Recourse Lower Bound</a:t>
                </a:r>
                <a:r>
                  <a:rPr lang="en-US" sz="2800" dirty="0"/>
                  <a:t>: Proves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r>
                  <a:rPr lang="en-US" sz="2800" dirty="0"/>
                  <a:t> recourse is strictly necessary for any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800" dirty="0"/>
                  <a:t>-multiplicative approximation, even if the entire stream of inputs is known in advance.  </a:t>
                </a:r>
              </a:p>
            </p:txBody>
          </p:sp>
        </mc:Choice>
        <mc:Fallback xmlns="">
          <p:sp>
            <p:nvSpPr>
              <p:cNvPr id="230" name="TextBox 39">
                <a:extLst>
                  <a:ext uri="{FF2B5EF4-FFF2-40B4-BE49-F238E27FC236}">
                    <a16:creationId xmlns:a16="http://schemas.microsoft.com/office/drawing/2014/main" id="{C142CDD1-EA7E-4D16-83D4-808A38FA6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3829" y="3019136"/>
                <a:ext cx="10785513" cy="8086381"/>
              </a:xfrm>
              <a:prstGeom prst="rect">
                <a:avLst/>
              </a:prstGeom>
              <a:blipFill>
                <a:blip r:embed="rId5"/>
                <a:stretch>
                  <a:fillRect l="-1470" r="-1074" b="-105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TextBox 38">
            <a:extLst>
              <a:ext uri="{FF2B5EF4-FFF2-40B4-BE49-F238E27FC236}">
                <a16:creationId xmlns:a16="http://schemas.microsoft.com/office/drawing/2014/main" id="{20453FE5-C1DA-4144-985E-30F9D6FA7767}"/>
              </a:ext>
            </a:extLst>
          </p:cNvPr>
          <p:cNvSpPr txBox="1"/>
          <p:nvPr/>
        </p:nvSpPr>
        <p:spPr>
          <a:xfrm>
            <a:off x="22689342" y="854617"/>
            <a:ext cx="863495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Empirical Evaluations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9">
                <a:extLst>
                  <a:ext uri="{FF2B5EF4-FFF2-40B4-BE49-F238E27FC236}">
                    <a16:creationId xmlns:a16="http://schemas.microsoft.com/office/drawing/2014/main" id="{78F4E2AA-46E5-4369-9AA0-1DEED6C82BB6}"/>
                  </a:ext>
                </a:extLst>
              </p:cNvPr>
              <p:cNvSpPr txBox="1"/>
              <p:nvPr/>
            </p:nvSpPr>
            <p:spPr>
              <a:xfrm>
                <a:off x="22689342" y="1752062"/>
                <a:ext cx="9578613" cy="728372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Setup</a:t>
                </a:r>
                <a:r>
                  <a:rPr lang="en-US" sz="2800" dirty="0"/>
                  <a:t>: Evaluated against baseline online algorithms across real-world datasets including Landmark (</a:t>
                </a:r>
                <a:r>
                  <a:rPr lang="en-US" sz="2800" dirty="0" err="1"/>
                  <a:t>SuiteSparse</a:t>
                </a:r>
                <a:r>
                  <a:rPr lang="en-US" sz="2800" dirty="0"/>
                  <a:t>), Skin Segmentation (UCI), RICE (UCI), and random synthetic data.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Massive Recourse Reduction</a:t>
                </a:r>
                <a:r>
                  <a:rPr lang="en-US" sz="2800" dirty="0"/>
                  <a:t>: Demonstrated a &gt;400× improvement in recourse compared to Frequent Directions (FD). For the Landmark dataset 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=5000</m:t>
                    </m:r>
                  </m:oMath>
                </a14:m>
                <a:r>
                  <a:rPr lang="en-US" sz="2800" dirty="0"/>
                  <a:t>), FD incurred ~121,900 recourse, whereas our algorithms consistently ranged from 100 to 300.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Practical Accuracy</a:t>
                </a:r>
                <a:r>
                  <a:rPr lang="en-US" sz="2800" dirty="0"/>
                  <a:t>: Despite conservative worst-case theoretical bounds (e.g., guaranteeing a 100-approximation), empirical evaluations show the algorithms regularly achieve highly accurate 1× to 4× approximations to the optimal offline cost in practice</a:t>
                </a:r>
              </a:p>
            </p:txBody>
          </p:sp>
        </mc:Choice>
        <mc:Fallback xmlns="">
          <p:sp>
            <p:nvSpPr>
              <p:cNvPr id="336" name="TextBox 39">
                <a:extLst>
                  <a:ext uri="{FF2B5EF4-FFF2-40B4-BE49-F238E27FC236}">
                    <a16:creationId xmlns:a16="http://schemas.microsoft.com/office/drawing/2014/main" id="{78F4E2AA-46E5-4369-9AA0-1DEED6C82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9342" y="1752062"/>
                <a:ext cx="9578613" cy="7283725"/>
              </a:xfrm>
              <a:prstGeom prst="rect">
                <a:avLst/>
              </a:prstGeom>
              <a:blipFill>
                <a:blip r:embed="rId6"/>
                <a:stretch>
                  <a:fillRect l="-1591" t="-335" r="-891" b="-13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9131DE-D13F-A3B2-31AE-CD1CDA67EB4E}"/>
                  </a:ext>
                </a:extLst>
              </p:cNvPr>
              <p:cNvSpPr txBox="1"/>
              <p:nvPr/>
            </p:nvSpPr>
            <p:spPr>
              <a:xfrm>
                <a:off x="944497" y="10011470"/>
                <a:ext cx="10955683" cy="91467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Recourse</m:t>
                        </m:r>
                      </m:e>
                    </m:nary>
                    <m:d>
                      <m:dPr>
                        <m:ctrlP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3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3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36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3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36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36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36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36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sub>
                                </m:sSub>
                                <m:r>
                                  <a:rPr lang="en-US" sz="36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36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3600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36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3600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3600" b="0" i="1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  <m:sup>
                            <m:r>
                              <a:rPr lang="en-US" sz="3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3600" dirty="0"/>
                  <a:t>,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9131DE-D13F-A3B2-31AE-CD1CDA67E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97" y="10011470"/>
                <a:ext cx="10955683" cy="914674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38">
            <a:extLst>
              <a:ext uri="{FF2B5EF4-FFF2-40B4-BE49-F238E27FC236}">
                <a16:creationId xmlns:a16="http://schemas.microsoft.com/office/drawing/2014/main" id="{3E61E522-BD33-8583-07F1-1503CE4DB47D}"/>
              </a:ext>
            </a:extLst>
          </p:cNvPr>
          <p:cNvSpPr txBox="1"/>
          <p:nvPr/>
        </p:nvSpPr>
        <p:spPr>
          <a:xfrm>
            <a:off x="11900180" y="11331063"/>
            <a:ext cx="10073843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Algorithm (General Matrices)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9">
                <a:extLst>
                  <a:ext uri="{FF2B5EF4-FFF2-40B4-BE49-F238E27FC236}">
                    <a16:creationId xmlns:a16="http://schemas.microsoft.com/office/drawing/2014/main" id="{BB0B6ADB-52BA-B461-EDDB-5C86B2124B12}"/>
                  </a:ext>
                </a:extLst>
              </p:cNvPr>
              <p:cNvSpPr txBox="1"/>
              <p:nvPr/>
            </p:nvSpPr>
            <p:spPr>
              <a:xfrm>
                <a:off x="11843823" y="12165273"/>
                <a:ext cx="10388800" cy="66718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Stream Reduction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Use online ridge-leverage score sampling for coreset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28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𝑛𝑑𝑀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rows.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Dynamic Spectral Casework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marL="457200" lvl="1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Light Tail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If bottom-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singular directions have low mass, update incrementally by swapping in new rows, gets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recourse over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steps</a:t>
                </a:r>
              </a:p>
              <a:p>
                <a:pPr marL="457200" lvl="8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Heavy Tail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If mass is large, recompute top-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SVD; strong overlap with prior subspace, so recourse at most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 step. </a:t>
                </a:r>
              </a:p>
              <a:p>
                <a:pPr marL="457200" lvl="1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Min-Max Trade-off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Balancing incremental updates 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vs. periodic </a:t>
                </a:r>
                <a:r>
                  <a:rPr lang="en-US" sz="28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recomputation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gives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total recourse. </a:t>
                </a:r>
              </a:p>
              <a:p>
                <a:pPr marL="457200" lvl="1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Structural Insight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A new lemma bounds low-rank structure in pathological cases, avoiding anti-Hadamard blowups to ensure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total recourse</a:t>
                </a:r>
              </a:p>
            </p:txBody>
          </p:sp>
        </mc:Choice>
        <mc:Fallback xmlns="">
          <p:sp>
            <p:nvSpPr>
              <p:cNvPr id="15" name="TextBox 39">
                <a:extLst>
                  <a:ext uri="{FF2B5EF4-FFF2-40B4-BE49-F238E27FC236}">
                    <a16:creationId xmlns:a16="http://schemas.microsoft.com/office/drawing/2014/main" id="{BB0B6ADB-52BA-B461-EDDB-5C86B2124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3823" y="12165273"/>
                <a:ext cx="10388800" cy="6671826"/>
              </a:xfrm>
              <a:prstGeom prst="rect">
                <a:avLst/>
              </a:prstGeom>
              <a:blipFill>
                <a:blip r:embed="rId8"/>
                <a:stretch>
                  <a:fillRect l="-1526" t="-457" r="-352" b="-164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9AFED9C8-C6D5-4F71-4FF4-7B3AAFCBA3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71315" y="9135887"/>
            <a:ext cx="10086796" cy="50366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886ABA-54C8-F369-FF29-89728ABBD3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32623" y="14166509"/>
            <a:ext cx="10453359" cy="38609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B5B565-D17E-0FF9-7A30-51C74E2070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92223" y="18373496"/>
            <a:ext cx="8878139" cy="34054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F4AF38-C087-8666-E204-F8A468448A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370362" y="18601766"/>
            <a:ext cx="4240242" cy="2852102"/>
          </a:xfrm>
          <a:prstGeom prst="rect">
            <a:avLst/>
          </a:prstGeom>
        </p:spPr>
      </p:pic>
      <p:sp>
        <p:nvSpPr>
          <p:cNvPr id="24" name="TextBox 38">
            <a:extLst>
              <a:ext uri="{FF2B5EF4-FFF2-40B4-BE49-F238E27FC236}">
                <a16:creationId xmlns:a16="http://schemas.microsoft.com/office/drawing/2014/main" id="{50448C76-2996-A0D1-DF38-44C62E708584}"/>
              </a:ext>
            </a:extLst>
          </p:cNvPr>
          <p:cNvSpPr txBox="1"/>
          <p:nvPr/>
        </p:nvSpPr>
        <p:spPr>
          <a:xfrm>
            <a:off x="11900179" y="19104454"/>
            <a:ext cx="10073843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Algorithm (Condition Number)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39">
                <a:extLst>
                  <a:ext uri="{FF2B5EF4-FFF2-40B4-BE49-F238E27FC236}">
                    <a16:creationId xmlns:a16="http://schemas.microsoft.com/office/drawing/2014/main" id="{09AF410D-A3D7-B251-2219-93786E5D0B15}"/>
                  </a:ext>
                </a:extLst>
              </p:cNvPr>
              <p:cNvSpPr txBox="1"/>
              <p:nvPr/>
            </p:nvSpPr>
            <p:spPr>
              <a:xfrm>
                <a:off x="11843822" y="20056589"/>
                <a:ext cx="7570613" cy="10789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Structural property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Top-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space changes by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recourse under rank-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perturbations </a:t>
                </a:r>
              </a:p>
            </p:txBody>
          </p:sp>
        </mc:Choice>
        <mc:Fallback xmlns="">
          <p:sp>
            <p:nvSpPr>
              <p:cNvPr id="25" name="TextBox 39">
                <a:extLst>
                  <a:ext uri="{FF2B5EF4-FFF2-40B4-BE49-F238E27FC236}">
                    <a16:creationId xmlns:a16="http://schemas.microsoft.com/office/drawing/2014/main" id="{09AF410D-A3D7-B251-2219-93786E5D0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3822" y="20056589"/>
                <a:ext cx="7570613" cy="1078950"/>
              </a:xfrm>
              <a:prstGeom prst="rect">
                <a:avLst/>
              </a:prstGeom>
              <a:blipFill>
                <a:blip r:embed="rId13"/>
                <a:stretch>
                  <a:fillRect l="-2093" t="-2260" r="-3221" b="-1468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665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</dc:creator>
  <cp:lastModifiedBy>Samson Zhou</cp:lastModifiedBy>
  <cp:revision>12</cp:revision>
  <dcterms:modified xsi:type="dcterms:W3CDTF">2026-04-20T18:43:42Z</dcterms:modified>
</cp:coreProperties>
</file>