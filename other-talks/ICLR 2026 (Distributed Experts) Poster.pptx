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326532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653064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979596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306128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1632661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1959193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2285725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2612257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>
        <p:scale>
          <a:sx n="35" d="100"/>
          <a:sy n="35" d="100"/>
        </p:scale>
        <p:origin x="678" y="-17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633155" latinLnBrk="0">
      <a:defRPr sz="3400">
        <a:latin typeface="+mn-lt"/>
        <a:ea typeface="+mn-ea"/>
        <a:cs typeface="+mn-cs"/>
        <a:sym typeface="Calibri"/>
      </a:defRPr>
    </a:lvl1pPr>
    <a:lvl2pPr indent="228600" defTabSz="2633155" latinLnBrk="0">
      <a:defRPr sz="3400">
        <a:latin typeface="+mn-lt"/>
        <a:ea typeface="+mn-ea"/>
        <a:cs typeface="+mn-cs"/>
        <a:sym typeface="Calibri"/>
      </a:defRPr>
    </a:lvl2pPr>
    <a:lvl3pPr indent="457200" defTabSz="2633155" latinLnBrk="0">
      <a:defRPr sz="3400">
        <a:latin typeface="+mn-lt"/>
        <a:ea typeface="+mn-ea"/>
        <a:cs typeface="+mn-cs"/>
        <a:sym typeface="Calibri"/>
      </a:defRPr>
    </a:lvl3pPr>
    <a:lvl4pPr indent="685800" defTabSz="2633155" latinLnBrk="0">
      <a:defRPr sz="3400">
        <a:latin typeface="+mn-lt"/>
        <a:ea typeface="+mn-ea"/>
        <a:cs typeface="+mn-cs"/>
        <a:sym typeface="Calibri"/>
      </a:defRPr>
    </a:lvl4pPr>
    <a:lvl5pPr indent="914400" defTabSz="2633155" latinLnBrk="0">
      <a:defRPr sz="3400">
        <a:latin typeface="+mn-lt"/>
        <a:ea typeface="+mn-ea"/>
        <a:cs typeface="+mn-cs"/>
        <a:sym typeface="Calibri"/>
      </a:defRPr>
    </a:lvl5pPr>
    <a:lvl6pPr indent="1143000" defTabSz="2633155" latinLnBrk="0">
      <a:defRPr sz="3400">
        <a:latin typeface="+mn-lt"/>
        <a:ea typeface="+mn-ea"/>
        <a:cs typeface="+mn-cs"/>
        <a:sym typeface="Calibri"/>
      </a:defRPr>
    </a:lvl6pPr>
    <a:lvl7pPr indent="1371600" defTabSz="2633155" latinLnBrk="0">
      <a:defRPr sz="3400">
        <a:latin typeface="+mn-lt"/>
        <a:ea typeface="+mn-ea"/>
        <a:cs typeface="+mn-cs"/>
        <a:sym typeface="Calibri"/>
      </a:defRPr>
    </a:lvl7pPr>
    <a:lvl8pPr indent="1600200" defTabSz="2633155" latinLnBrk="0">
      <a:defRPr sz="3400">
        <a:latin typeface="+mn-lt"/>
        <a:ea typeface="+mn-ea"/>
        <a:cs typeface="+mn-cs"/>
        <a:sym typeface="Calibri"/>
      </a:defRPr>
    </a:lvl8pPr>
    <a:lvl9pPr indent="1828800" defTabSz="2633155" latinLnBrk="0">
      <a:defRPr sz="34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685800"/>
            <a:ext cx="51435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407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 Research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45920" y="294640"/>
            <a:ext cx="29626561" cy="482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45920" y="5120640"/>
            <a:ext cx="29626561" cy="16824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910559" y="19756119"/>
            <a:ext cx="7680961" cy="1168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731556" marR="0" indent="-731556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2319804" marR="0" indent="-85669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3943547" marR="0" indent="-101732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5531594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699470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845782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9920933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1138404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1284716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326532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653064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979596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306128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1632661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1959193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2285725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2612257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2" descr="ICLR 2021 Announces List of Accepted Papers | Synced">
            <a:extLst>
              <a:ext uri="{FF2B5EF4-FFF2-40B4-BE49-F238E27FC236}">
                <a16:creationId xmlns:a16="http://schemas.microsoft.com/office/drawing/2014/main" id="{D3DBD5BE-4E3A-450F-B600-5B8AB34C1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3633" y="-31843"/>
            <a:ext cx="4868517" cy="243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35"/>
          <p:cNvSpPr txBox="1"/>
          <p:nvPr/>
        </p:nvSpPr>
        <p:spPr>
          <a:xfrm>
            <a:off x="394722" y="292734"/>
            <a:ext cx="10454285" cy="178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5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Better Bounds for the Distributed Experts Problem</a:t>
            </a:r>
            <a:endParaRPr dirty="0"/>
          </a:p>
        </p:txBody>
      </p:sp>
      <p:sp>
        <p:nvSpPr>
          <p:cNvPr id="33" name="TextBox 38"/>
          <p:cNvSpPr txBox="1"/>
          <p:nvPr/>
        </p:nvSpPr>
        <p:spPr>
          <a:xfrm>
            <a:off x="394722" y="2338459"/>
            <a:ext cx="461445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Abstract &amp; Overview</a:t>
            </a:r>
            <a:endParaRPr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9"/>
              <p:cNvSpPr txBox="1"/>
              <p:nvPr/>
            </p:nvSpPr>
            <p:spPr>
              <a:xfrm>
                <a:off x="325639" y="3209086"/>
                <a:ext cx="11166004" cy="567245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Problem</a:t>
                </a:r>
                <a:r>
                  <a:rPr lang="en-US" sz="2800" dirty="0">
                    <a:solidFill>
                      <a:schemeClr val="tx1"/>
                    </a:solidFill>
                  </a:rPr>
                  <a:t>: We study the distributed experts problem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experts are distributed across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servers 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timesteps.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Metric</a:t>
                </a:r>
                <a:r>
                  <a:rPr lang="en-US" sz="2800" dirty="0">
                    <a:solidFill>
                      <a:schemeClr val="tx1"/>
                    </a:solidFill>
                  </a:rPr>
                  <a:t>: The loss of each expert at time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computed via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​ norm of the vector of their individual losses across all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servers.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2800" dirty="0">
                    <a:solidFill>
                      <a:schemeClr val="tx1"/>
                    </a:solidFill>
                  </a:rPr>
                  <a:t>: Minimize cumulative regret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(the loss of the algorithm compared to the best expert in hindsight, amortized over all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times) while using minimal communication.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Result</a:t>
                </a:r>
                <a:r>
                  <a:rPr lang="en-US" sz="2800" dirty="0">
                    <a:solidFill>
                      <a:schemeClr val="tx1"/>
                    </a:solidFill>
                  </a:rPr>
                  <a:t>: We provide a distributed protocol achieving regret roughly</a:t>
                </a:r>
                <a:r>
                  <a:rPr lang="en-US" sz="28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𝑛𝑠𝑇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e>
                        </m:d>
                      </m:e>
                    </m:func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polylog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𝑛𝑠𝑇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bits of communication.</a:t>
                </a:r>
              </a:p>
            </p:txBody>
          </p:sp>
        </mc:Choice>
        <mc:Fallback>
          <p:sp>
            <p:nvSpPr>
              <p:cNvPr id="34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639" y="3209086"/>
                <a:ext cx="11166004" cy="5672450"/>
              </a:xfrm>
              <a:prstGeom prst="rect">
                <a:avLst/>
              </a:prstGeom>
              <a:blipFill>
                <a:blip r:embed="rId4"/>
                <a:stretch>
                  <a:fillRect l="-1365" t="-430" b="-193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37"/>
          <p:cNvSpPr txBox="1"/>
          <p:nvPr/>
        </p:nvSpPr>
        <p:spPr>
          <a:xfrm>
            <a:off x="12771519" y="427155"/>
            <a:ext cx="10044537" cy="1077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sz="3200" dirty="0"/>
              <a:t>David P. Woodruff (Carnegie Mellon University)  </a:t>
            </a:r>
          </a:p>
          <a:p>
            <a:r>
              <a:rPr lang="en-US" sz="3200" dirty="0"/>
              <a:t>Samson Zhou (Texas A&amp;M University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TextBox 39">
                <a:extLst>
                  <a:ext uri="{FF2B5EF4-FFF2-40B4-BE49-F238E27FC236}">
                    <a16:creationId xmlns:a16="http://schemas.microsoft.com/office/drawing/2014/main" id="{872CBA4F-57C6-4BE7-A79C-69A910CD037D}"/>
                  </a:ext>
                </a:extLst>
              </p:cNvPr>
              <p:cNvSpPr txBox="1"/>
              <p:nvPr/>
            </p:nvSpPr>
            <p:spPr>
              <a:xfrm>
                <a:off x="299449" y="9935080"/>
                <a:ext cx="11235350" cy="684642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Modern Applications</a:t>
                </a:r>
                <a:r>
                  <a:rPr lang="en-US" sz="2800" dirty="0">
                    <a:solidFill>
                      <a:schemeClr val="tx1"/>
                    </a:solidFill>
                  </a:rPr>
                  <a:t>: Dynamic, sequential decision-making from distributed experts is vital for tasks like hyperparameter optimization, model selection, recommendation systems, and reinforcement learning.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Bottleneck</a:t>
                </a:r>
                <a:r>
                  <a:rPr lang="en-US" sz="2800" dirty="0">
                    <a:solidFill>
                      <a:schemeClr val="tx1"/>
                    </a:solidFill>
                  </a:rPr>
                  <a:t>: Classical centralized algorithms (like Multiplicative Weights Update and EXP3) achieve optimal regret but become computationally expensive and communication-heavy as the number of experts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) and rounds 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) grow.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Why General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B050"/>
                    </a:solidFill>
                  </a:rPr>
                  <a:t> Losses</a:t>
                </a:r>
                <a:r>
                  <a:rPr lang="en-US" sz="2800" dirty="0">
                    <a:solidFill>
                      <a:schemeClr val="tx1"/>
                    </a:solidFill>
                  </a:rPr>
                  <a:t>? Prior distributed algorithms focused almost exclusively on additive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​ loss. However, general </a:t>
                </a:r>
                <a:r>
                  <a:rPr lang="en-US" sz="2800" dirty="0" err="1">
                    <a:solidFill>
                      <a:schemeClr val="tx1"/>
                    </a:solidFill>
                  </a:rPr>
                  <a:t>lp</a:t>
                </a:r>
                <a:r>
                  <a:rPr lang="en-US" sz="2800" dirty="0">
                    <a:solidFill>
                      <a:schemeClr val="tx1"/>
                    </a:solidFill>
                  </a:rPr>
                  <a:t>​ losses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) are critical for risk-sensitive optimization and robust model selection, as they balance outlier robustness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≈1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) with the severe penalization of large deviations (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).</a:t>
                </a:r>
                <a:endParaRPr lang="en-US" sz="2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7" name="TextBox 39">
                <a:extLst>
                  <a:ext uri="{FF2B5EF4-FFF2-40B4-BE49-F238E27FC236}">
                    <a16:creationId xmlns:a16="http://schemas.microsoft.com/office/drawing/2014/main" id="{872CBA4F-57C6-4BE7-A79C-69A910CD0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49" y="9935080"/>
                <a:ext cx="11235350" cy="6846426"/>
              </a:xfrm>
              <a:prstGeom prst="rect">
                <a:avLst/>
              </a:prstGeom>
              <a:blipFill>
                <a:blip r:embed="rId5"/>
                <a:stretch>
                  <a:fillRect l="-1356" t="-445" b="-89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" name="TextBox 38">
            <a:extLst>
              <a:ext uri="{FF2B5EF4-FFF2-40B4-BE49-F238E27FC236}">
                <a16:creationId xmlns:a16="http://schemas.microsoft.com/office/drawing/2014/main" id="{57C3C0AF-2C5E-446B-BC7D-DDB22247477D}"/>
              </a:ext>
            </a:extLst>
          </p:cNvPr>
          <p:cNvSpPr txBox="1"/>
          <p:nvPr/>
        </p:nvSpPr>
        <p:spPr>
          <a:xfrm>
            <a:off x="394722" y="9022357"/>
            <a:ext cx="583360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Introduction &amp; Motivation</a:t>
            </a:r>
            <a:endParaRPr sz="3600" dirty="0"/>
          </a:p>
        </p:txBody>
      </p:sp>
      <p:sp>
        <p:nvSpPr>
          <p:cNvPr id="229" name="TextBox 38">
            <a:extLst>
              <a:ext uri="{FF2B5EF4-FFF2-40B4-BE49-F238E27FC236}">
                <a16:creationId xmlns:a16="http://schemas.microsoft.com/office/drawing/2014/main" id="{ACD66178-5F48-4A8C-B170-22AA930CD9B3}"/>
              </a:ext>
            </a:extLst>
          </p:cNvPr>
          <p:cNvSpPr txBox="1"/>
          <p:nvPr/>
        </p:nvSpPr>
        <p:spPr>
          <a:xfrm>
            <a:off x="11568681" y="1839870"/>
            <a:ext cx="831497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Main Theoretical Contributions</a:t>
            </a:r>
            <a:endParaRPr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TextBox 39">
                <a:extLst>
                  <a:ext uri="{FF2B5EF4-FFF2-40B4-BE49-F238E27FC236}">
                    <a16:creationId xmlns:a16="http://schemas.microsoft.com/office/drawing/2014/main" id="{C142CDD1-EA7E-4D16-83D4-808A38FA6754}"/>
                  </a:ext>
                </a:extLst>
              </p:cNvPr>
              <p:cNvSpPr txBox="1"/>
              <p:nvPr/>
            </p:nvSpPr>
            <p:spPr>
              <a:xfrm>
                <a:off x="11220595" y="2661625"/>
                <a:ext cx="10362972" cy="88133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First Protocol for General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B050"/>
                    </a:solidFill>
                  </a:rPr>
                  <a:t>Losses</a:t>
                </a:r>
                <a:r>
                  <a:rPr lang="en-US" sz="2800" dirty="0">
                    <a:solidFill>
                      <a:schemeClr val="tx1"/>
                    </a:solidFill>
                  </a:rPr>
                  <a:t>: We present the first distributed online learning protocol in the coordinator model capable of natively handling any general​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loss function.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Near-Optimal Regret</a:t>
                </a:r>
                <a:r>
                  <a:rPr lang="en-US" sz="2800" dirty="0">
                    <a:solidFill>
                      <a:schemeClr val="tx1"/>
                    </a:solidFill>
                  </a:rPr>
                  <a:t>: For bounded local losses, our baseline warm-up algorithm achieves expected regret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1/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2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using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𝑛𝑇</m:t>
                        </m:r>
                        <m: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𝑠𝑇</m:t>
                        </m:r>
                      </m:e>
                    </m:d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communication.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Communication-Regret Tradeoff</a:t>
                </a:r>
                <a:r>
                  <a:rPr lang="en-US" sz="2800" dirty="0">
                    <a:solidFill>
                      <a:schemeClr val="tx1"/>
                    </a:solidFill>
                  </a:rPr>
                  <a:t>: To achieve a target regret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, the parameterized protocol requires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8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8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8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sz="28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communication.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Strict Improvement Over Prior Art</a:t>
                </a:r>
                <a:r>
                  <a:rPr lang="en-US" sz="2800" dirty="0">
                    <a:solidFill>
                      <a:schemeClr val="tx1"/>
                    </a:solidFill>
                  </a:rPr>
                  <a:t>: By utilizing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scaling, our algorithm completely removes the heavy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𝑇𝑠</m:t>
                    </m:r>
                    <m:r>
                      <a:rPr 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communication dependency found in previous state-of-the-art literature [JPT+25] for long time horizons.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Strict Improvement Over Prior Art </a:t>
                </a:r>
                <a:r>
                  <a:rPr lang="en-US" sz="2800" dirty="0">
                    <a:solidFill>
                      <a:schemeClr val="tx1"/>
                    </a:solidFill>
                  </a:rPr>
                  <a:t>: The full algorithm relaxes bounded-loss assumptions, adapting the protocol to general unnormalized losses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230" name="TextBox 39">
                <a:extLst>
                  <a:ext uri="{FF2B5EF4-FFF2-40B4-BE49-F238E27FC236}">
                    <a16:creationId xmlns:a16="http://schemas.microsoft.com/office/drawing/2014/main" id="{C142CDD1-EA7E-4D16-83D4-808A38FA6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0595" y="2661625"/>
                <a:ext cx="10362972" cy="8813375"/>
              </a:xfrm>
              <a:prstGeom prst="rect">
                <a:avLst/>
              </a:prstGeom>
              <a:blipFill>
                <a:blip r:embed="rId6"/>
                <a:stretch>
                  <a:fillRect l="-1529" t="-69" r="-2471" b="-76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38">
            <a:extLst>
              <a:ext uri="{FF2B5EF4-FFF2-40B4-BE49-F238E27FC236}">
                <a16:creationId xmlns:a16="http://schemas.microsoft.com/office/drawing/2014/main" id="{69A2C2F8-F533-CED2-D9A1-93EF6E927A77}"/>
              </a:ext>
            </a:extLst>
          </p:cNvPr>
          <p:cNvSpPr txBox="1"/>
          <p:nvPr/>
        </p:nvSpPr>
        <p:spPr>
          <a:xfrm>
            <a:off x="21794836" y="1769693"/>
            <a:ext cx="10073843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Algorithmic &amp; Technical Novelties</a:t>
            </a: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39">
                <a:extLst>
                  <a:ext uri="{FF2B5EF4-FFF2-40B4-BE49-F238E27FC236}">
                    <a16:creationId xmlns:a16="http://schemas.microsoft.com/office/drawing/2014/main" id="{8644D51B-C4E8-6D4C-102D-F33A205182B5}"/>
                  </a:ext>
                </a:extLst>
              </p:cNvPr>
              <p:cNvSpPr txBox="1"/>
              <p:nvPr/>
            </p:nvSpPr>
            <p:spPr>
              <a:xfrm>
                <a:off x="21794836" y="2561382"/>
                <a:ext cx="10532649" cy="1050576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Challenge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Unlike purely additive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losses, general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losses are sub-additive or super-additive, meaning standard magnitude-proportional sampling mathematically fails.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Embedding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​into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​: We bypass this by scaling individual server losses with random independent exponential variables. Due to max-stability properties, finding the maximum scaled loss safely approximates the true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loss.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Thresholding &amp; Subsampling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The coordinator enforces a dynamic threshold (≈s1/p/polylog(</a:t>
                </a:r>
                <a:r>
                  <a:rPr lang="en-US" sz="28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nsT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)). Servers are randomly subsampled and only send their scaled values if they exceed this threshold, heavily pruning low-value data from the network.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Novel Geometric Mean Estimator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Exponential random variables naturally have unbounded variance. We introduce a novel geometric mean estimator over independent </a:t>
                </a:r>
                <a:r>
                  <a:rPr lang="en-US" sz="28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scalings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to yield an unbiased estimate with provably tightly bounded variance.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MWU Integration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These compressed, bounded-variance loss estimates are fed directly into a Multiplicative Weights Update (MWU) online learning framework to guarantee bounded cumulative regret.</a:t>
                </a:r>
              </a:p>
            </p:txBody>
          </p:sp>
        </mc:Choice>
        <mc:Fallback>
          <p:sp>
            <p:nvSpPr>
              <p:cNvPr id="7" name="TextBox 39">
                <a:extLst>
                  <a:ext uri="{FF2B5EF4-FFF2-40B4-BE49-F238E27FC236}">
                    <a16:creationId xmlns:a16="http://schemas.microsoft.com/office/drawing/2014/main" id="{8644D51B-C4E8-6D4C-102D-F33A20518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4836" y="2561382"/>
                <a:ext cx="10532649" cy="10505761"/>
              </a:xfrm>
              <a:prstGeom prst="rect">
                <a:avLst/>
              </a:prstGeom>
              <a:blipFill>
                <a:blip r:embed="rId7"/>
                <a:stretch>
                  <a:fillRect l="-1447" r="-3241" b="-58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38">
            <a:extLst>
              <a:ext uri="{FF2B5EF4-FFF2-40B4-BE49-F238E27FC236}">
                <a16:creationId xmlns:a16="http://schemas.microsoft.com/office/drawing/2014/main" id="{3217409D-7529-D761-04F0-6C1D6BFE0777}"/>
              </a:ext>
            </a:extLst>
          </p:cNvPr>
          <p:cNvSpPr txBox="1"/>
          <p:nvPr/>
        </p:nvSpPr>
        <p:spPr>
          <a:xfrm>
            <a:off x="241775" y="16942143"/>
            <a:ext cx="9791192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Problem Setting (Coordinator Model)</a:t>
            </a:r>
            <a:endParaRPr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39">
                <a:extLst>
                  <a:ext uri="{FF2B5EF4-FFF2-40B4-BE49-F238E27FC236}">
                    <a16:creationId xmlns:a16="http://schemas.microsoft.com/office/drawing/2014/main" id="{25DFDAF0-8DF8-1AB8-F804-3CCE8F62EBDA}"/>
                  </a:ext>
                </a:extLst>
              </p:cNvPr>
              <p:cNvSpPr txBox="1"/>
              <p:nvPr/>
            </p:nvSpPr>
            <p:spPr>
              <a:xfrm>
                <a:off x="11285010" y="14983077"/>
                <a:ext cx="10058432" cy="372845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Summary</a:t>
                </a:r>
                <a:r>
                  <a:rPr lang="en-US" sz="2800" dirty="0">
                    <a:solidFill>
                      <a:schemeClr val="tx1"/>
                    </a:solidFill>
                  </a:rPr>
                  <a:t>: We successfully uncovered the fundamental, mathematically tight tradeoff between communication and regret in distributed online learning under general </a:t>
                </a:r>
                <a:r>
                  <a:rPr lang="en-US" sz="2800" dirty="0" err="1">
                    <a:solidFill>
                      <a:schemeClr val="tx1"/>
                    </a:solidFill>
                  </a:rPr>
                  <a:t>lp</a:t>
                </a:r>
                <a:r>
                  <a:rPr lang="en-US" sz="2800" dirty="0">
                    <a:solidFill>
                      <a:schemeClr val="tx1"/>
                    </a:solidFill>
                  </a:rPr>
                  <a:t>​ losses.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Future Directions</a:t>
                </a:r>
                <a:r>
                  <a:rPr lang="en-US" sz="2800" dirty="0">
                    <a:solidFill>
                      <a:schemeClr val="tx1"/>
                    </a:solidFill>
                  </a:rPr>
                  <a:t>: Explore alternative variance-reduction techniques to replace the geometric mean, and extend these techniques to other complex structured loss functions, 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loss or submodular objectives</a:t>
                </a:r>
              </a:p>
            </p:txBody>
          </p:sp>
        </mc:Choice>
        <mc:Fallback>
          <p:sp>
            <p:nvSpPr>
              <p:cNvPr id="12" name="TextBox 39">
                <a:extLst>
                  <a:ext uri="{FF2B5EF4-FFF2-40B4-BE49-F238E27FC236}">
                    <a16:creationId xmlns:a16="http://schemas.microsoft.com/office/drawing/2014/main" id="{25DFDAF0-8DF8-1AB8-F804-3CCE8F62E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5010" y="14983077"/>
                <a:ext cx="10058432" cy="3728457"/>
              </a:xfrm>
              <a:prstGeom prst="rect">
                <a:avLst/>
              </a:prstGeom>
              <a:blipFill>
                <a:blip r:embed="rId8"/>
                <a:stretch>
                  <a:fillRect l="-1515" t="-818" r="-2182" b="-196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C0A9DE02-CFE7-5D3E-6060-221B54F7DA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79950" y="11475000"/>
            <a:ext cx="9867900" cy="2543175"/>
          </a:xfrm>
          <a:prstGeom prst="rect">
            <a:avLst/>
          </a:prstGeom>
        </p:spPr>
      </p:pic>
      <p:sp>
        <p:nvSpPr>
          <p:cNvPr id="16" name="TextBox 38">
            <a:extLst>
              <a:ext uri="{FF2B5EF4-FFF2-40B4-BE49-F238E27FC236}">
                <a16:creationId xmlns:a16="http://schemas.microsoft.com/office/drawing/2014/main" id="{00DF283E-BD64-EB22-EF09-EA3C3CEF7B3E}"/>
              </a:ext>
            </a:extLst>
          </p:cNvPr>
          <p:cNvSpPr txBox="1"/>
          <p:nvPr/>
        </p:nvSpPr>
        <p:spPr>
          <a:xfrm>
            <a:off x="21682752" y="13081128"/>
            <a:ext cx="9791192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Empirical Evaluations</a:t>
            </a:r>
            <a:endParaRPr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39">
                <a:extLst>
                  <a:ext uri="{FF2B5EF4-FFF2-40B4-BE49-F238E27FC236}">
                    <a16:creationId xmlns:a16="http://schemas.microsoft.com/office/drawing/2014/main" id="{819CA5C5-5167-78EB-78AE-03D0E94E9B56}"/>
                  </a:ext>
                </a:extLst>
              </p:cNvPr>
              <p:cNvSpPr txBox="1"/>
              <p:nvPr/>
            </p:nvSpPr>
            <p:spPr>
              <a:xfrm>
                <a:off x="21682752" y="14018175"/>
                <a:ext cx="10654597" cy="366427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Setup</a:t>
                </a:r>
                <a:r>
                  <a:rPr lang="en-US" sz="2800" dirty="0">
                    <a:solidFill>
                      <a:schemeClr val="tx1"/>
                    </a:solidFill>
                  </a:rPr>
                  <a:t>: Evaluated on the HPO-B hyperparameter optimization benchmark. Machine learning models acted as distinct "experts," datasets were distributed across different "servers," and random search steps corresponded to "timesteps."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Comparisons</a:t>
                </a:r>
                <a:r>
                  <a:rPr lang="en-US" sz="2800" dirty="0">
                    <a:solidFill>
                      <a:schemeClr val="tx1"/>
                    </a:solidFill>
                  </a:rPr>
                  <a:t>: We benchmarked our algorithm against the offline centralized MWU algorithm and the </a:t>
                </a:r>
                <a:r>
                  <a:rPr lang="en-US" sz="2800" dirty="0">
                    <a:solidFill>
                      <a:srgbClr val="7030A0"/>
                    </a:solidFill>
                  </a:rPr>
                  <a:t>[JPT+25] </a:t>
                </a:r>
                <a:r>
                  <a:rPr lang="en-US" sz="2800" dirty="0">
                    <a:solidFill>
                      <a:schemeClr val="tx1"/>
                    </a:solidFill>
                  </a:rPr>
                  <a:t>distributed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protocol.  </a:t>
                </a:r>
              </a:p>
            </p:txBody>
          </p:sp>
        </mc:Choice>
        <mc:Fallback>
          <p:sp>
            <p:nvSpPr>
              <p:cNvPr id="17" name="TextBox 39">
                <a:extLst>
                  <a:ext uri="{FF2B5EF4-FFF2-40B4-BE49-F238E27FC236}">
                    <a16:creationId xmlns:a16="http://schemas.microsoft.com/office/drawing/2014/main" id="{819CA5C5-5167-78EB-78AE-03D0E94E9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2752" y="14018175"/>
                <a:ext cx="10654597" cy="3664273"/>
              </a:xfrm>
              <a:prstGeom prst="rect">
                <a:avLst/>
              </a:prstGeom>
              <a:blipFill>
                <a:blip r:embed="rId10"/>
                <a:stretch>
                  <a:fillRect l="-1487" t="-832" r="-1373" b="-366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830B208E-1523-958A-8EE3-71F72C7520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880421" y="18266854"/>
            <a:ext cx="13902456" cy="3468663"/>
          </a:xfrm>
          <a:prstGeom prst="rect">
            <a:avLst/>
          </a:prstGeom>
        </p:spPr>
      </p:pic>
      <p:sp>
        <p:nvSpPr>
          <p:cNvPr id="20" name="TextBox 38">
            <a:extLst>
              <a:ext uri="{FF2B5EF4-FFF2-40B4-BE49-F238E27FC236}">
                <a16:creationId xmlns:a16="http://schemas.microsoft.com/office/drawing/2014/main" id="{41A5FE10-606A-7328-40B5-7804810DD310}"/>
              </a:ext>
            </a:extLst>
          </p:cNvPr>
          <p:cNvSpPr txBox="1"/>
          <p:nvPr/>
        </p:nvSpPr>
        <p:spPr>
          <a:xfrm>
            <a:off x="11552250" y="14170575"/>
            <a:ext cx="9791192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Conclusion &amp; Future Work</a:t>
            </a:r>
            <a:endParaRPr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39">
                <a:extLst>
                  <a:ext uri="{FF2B5EF4-FFF2-40B4-BE49-F238E27FC236}">
                    <a16:creationId xmlns:a16="http://schemas.microsoft.com/office/drawing/2014/main" id="{35506479-EF9E-59D7-A33E-24A1A150A721}"/>
                  </a:ext>
                </a:extLst>
              </p:cNvPr>
              <p:cNvSpPr txBox="1"/>
              <p:nvPr/>
            </p:nvSpPr>
            <p:spPr>
              <a:xfrm>
                <a:off x="325639" y="17720818"/>
                <a:ext cx="11027838" cy="411054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experts across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servers over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sequential rounds.    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Local Data</a:t>
                </a:r>
                <a:r>
                  <a:rPr lang="en-US" sz="2800" dirty="0">
                    <a:solidFill>
                      <a:schemeClr val="tx1"/>
                    </a:solidFill>
                  </a:rPr>
                  <a:t>: At each round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, each server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receives local loss vector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Global loss of expert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norm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∈[</m:t>
                                </m:r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28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28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8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  <m:sup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Servers execute a sequential message-passing protocol, only communicating with a central coordinator while minimizing the total communication.</a:t>
                </a:r>
              </a:p>
            </p:txBody>
          </p:sp>
        </mc:Choice>
        <mc:Fallback>
          <p:sp>
            <p:nvSpPr>
              <p:cNvPr id="21" name="TextBox 39">
                <a:extLst>
                  <a:ext uri="{FF2B5EF4-FFF2-40B4-BE49-F238E27FC236}">
                    <a16:creationId xmlns:a16="http://schemas.microsoft.com/office/drawing/2014/main" id="{35506479-EF9E-59D7-A33E-24A1A150A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639" y="17720818"/>
                <a:ext cx="11027838" cy="4110549"/>
              </a:xfrm>
              <a:prstGeom prst="rect">
                <a:avLst/>
              </a:prstGeom>
              <a:blipFill>
                <a:blip r:embed="rId12"/>
                <a:stretch>
                  <a:fillRect l="-1382" t="-742" b="-326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38">
            <a:extLst>
              <a:ext uri="{FF2B5EF4-FFF2-40B4-BE49-F238E27FC236}">
                <a16:creationId xmlns:a16="http://schemas.microsoft.com/office/drawing/2014/main" id="{2D80573E-F008-2AE2-93B5-453DF1174522}"/>
              </a:ext>
            </a:extLst>
          </p:cNvPr>
          <p:cNvSpPr txBox="1"/>
          <p:nvPr/>
        </p:nvSpPr>
        <p:spPr>
          <a:xfrm>
            <a:off x="11422560" y="18843310"/>
            <a:ext cx="583360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References</a:t>
            </a:r>
            <a:endParaRPr sz="3600" dirty="0"/>
          </a:p>
        </p:txBody>
      </p:sp>
      <p:sp>
        <p:nvSpPr>
          <p:cNvPr id="23" name="TextBox 39">
            <a:extLst>
              <a:ext uri="{FF2B5EF4-FFF2-40B4-BE49-F238E27FC236}">
                <a16:creationId xmlns:a16="http://schemas.microsoft.com/office/drawing/2014/main" id="{ACF4E8A9-843B-A835-EE04-C35A3A66F6E0}"/>
              </a:ext>
            </a:extLst>
          </p:cNvPr>
          <p:cNvSpPr txBox="1"/>
          <p:nvPr/>
        </p:nvSpPr>
        <p:spPr>
          <a:xfrm>
            <a:off x="11220595" y="19622438"/>
            <a:ext cx="7826941" cy="2113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m="http://schemas.openxmlformats.org/officeDocument/2006/math" xmlns="" xmlns:a14="http://schemas.microsoft.com/office/drawing/2010/main" xmlns:mc="http://schemas.openxmlformats.org/markup-compatibility/2006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7030A0"/>
                </a:solidFill>
              </a:rPr>
              <a:t>[JPT+25] </a:t>
            </a:r>
            <a:r>
              <a:rPr lang="en-US" sz="2800" dirty="0">
                <a:solidFill>
                  <a:schemeClr val="tx1"/>
                </a:solidFill>
              </a:rPr>
              <a:t>Zhihao Jia, Qi Pang, Trung Tran, David Woodruff, Zhihao Zhang, and </a:t>
            </a:r>
            <a:r>
              <a:rPr lang="en-US" sz="2800" dirty="0" err="1">
                <a:solidFill>
                  <a:schemeClr val="tx1"/>
                </a:solidFill>
              </a:rPr>
              <a:t>Wenting</a:t>
            </a:r>
            <a:r>
              <a:rPr lang="en-US" sz="2800" dirty="0">
                <a:solidFill>
                  <a:schemeClr val="tx1"/>
                </a:solidFill>
              </a:rPr>
              <a:t> Zheng. Communication bounds for the distributed experts problem. </a:t>
            </a:r>
            <a:r>
              <a:rPr lang="en-US" sz="2800" dirty="0" err="1">
                <a:solidFill>
                  <a:schemeClr val="tx1"/>
                </a:solidFill>
              </a:rPr>
              <a:t>NeurIPS</a:t>
            </a:r>
            <a:r>
              <a:rPr lang="en-US" sz="2800" dirty="0">
                <a:solidFill>
                  <a:schemeClr val="tx1"/>
                </a:solidFill>
              </a:rPr>
              <a:t> 2024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797</Words>
  <Application>Microsoft Office PowerPoint</Application>
  <PresentationFormat>Custom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</dc:creator>
  <cp:lastModifiedBy>Samson Zhou</cp:lastModifiedBy>
  <cp:revision>19</cp:revision>
  <dcterms:modified xsi:type="dcterms:W3CDTF">2026-04-20T23:06:56Z</dcterms:modified>
</cp:coreProperties>
</file>