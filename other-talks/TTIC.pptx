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1446" r:id="rId2"/>
    <p:sldId id="1386" r:id="rId3"/>
    <p:sldId id="1381" r:id="rId4"/>
    <p:sldId id="264" r:id="rId5"/>
    <p:sldId id="500" r:id="rId6"/>
    <p:sldId id="1382" r:id="rId7"/>
    <p:sldId id="1383" r:id="rId8"/>
    <p:sldId id="1471" r:id="rId9"/>
    <p:sldId id="1470" r:id="rId10"/>
    <p:sldId id="493" r:id="rId11"/>
    <p:sldId id="495" r:id="rId12"/>
    <p:sldId id="496" r:id="rId13"/>
    <p:sldId id="497" r:id="rId14"/>
    <p:sldId id="498" r:id="rId15"/>
    <p:sldId id="1375" r:id="rId16"/>
    <p:sldId id="1520" r:id="rId17"/>
    <p:sldId id="1560" r:id="rId18"/>
    <p:sldId id="1524" r:id="rId19"/>
    <p:sldId id="1558" r:id="rId20"/>
    <p:sldId id="1563" r:id="rId21"/>
    <p:sldId id="673" r:id="rId22"/>
    <p:sldId id="1376" r:id="rId23"/>
    <p:sldId id="1259" r:id="rId24"/>
    <p:sldId id="1561" r:id="rId25"/>
    <p:sldId id="1564" r:id="rId26"/>
    <p:sldId id="1521" r:id="rId27"/>
    <p:sldId id="1523" r:id="rId28"/>
    <p:sldId id="1557" r:id="rId29"/>
    <p:sldId id="1522" r:id="rId30"/>
    <p:sldId id="1525" r:id="rId31"/>
    <p:sldId id="1530" r:id="rId32"/>
    <p:sldId id="1531" r:id="rId33"/>
    <p:sldId id="1532" r:id="rId34"/>
    <p:sldId id="1534" r:id="rId35"/>
    <p:sldId id="1535" r:id="rId36"/>
    <p:sldId id="1536" r:id="rId37"/>
    <p:sldId id="1542" r:id="rId38"/>
    <p:sldId id="1537" r:id="rId39"/>
    <p:sldId id="1538" r:id="rId40"/>
    <p:sldId id="1539" r:id="rId41"/>
    <p:sldId id="1541" r:id="rId42"/>
    <p:sldId id="1543" r:id="rId43"/>
    <p:sldId id="1544" r:id="rId44"/>
    <p:sldId id="1547" r:id="rId45"/>
    <p:sldId id="1548" r:id="rId46"/>
    <p:sldId id="1549" r:id="rId47"/>
    <p:sldId id="1550" r:id="rId48"/>
    <p:sldId id="1551" r:id="rId49"/>
    <p:sldId id="1554" r:id="rId50"/>
    <p:sldId id="1552" r:id="rId51"/>
    <p:sldId id="1553" r:id="rId52"/>
    <p:sldId id="1555" r:id="rId53"/>
    <p:sldId id="1556" r:id="rId54"/>
    <p:sldId id="589" r:id="rId55"/>
    <p:sldId id="590" r:id="rId56"/>
    <p:sldId id="591" r:id="rId57"/>
    <p:sldId id="592" r:id="rId58"/>
    <p:sldId id="594" r:id="rId59"/>
    <p:sldId id="595" r:id="rId60"/>
    <p:sldId id="596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nghao Lin" initials="HL" lastIdx="2" clrIdx="0">
    <p:extLst>
      <p:ext uri="{19B8F6BF-5375-455C-9EA6-DF929625EA0E}">
        <p15:presenceInfo xmlns:p15="http://schemas.microsoft.com/office/powerpoint/2012/main" userId="0a2b757aae603d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C40F0F"/>
    <a:srgbClr val="ABABD2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7" autoAdjust="0"/>
    <p:restoredTop sz="94085" autoAdjust="0"/>
  </p:normalViewPr>
  <p:slideViewPr>
    <p:cSldViewPr snapToGrid="0">
      <p:cViewPr varScale="1">
        <p:scale>
          <a:sx n="80" d="100"/>
          <a:sy n="80" d="100"/>
        </p:scale>
        <p:origin x="8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0FA9A-B556-43A0-997C-AFB7E69652D3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7A9F5-C486-430D-AC46-FE554A93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40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A3DA-082A-6C53-F965-B7CB70E6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E37D7-CF63-702B-23E8-F29404AA1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6B8F9-A504-4DCB-87F5-281352A4D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B9BD1-9581-B930-E35F-B9A1D7919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88009E-4BBB-4B0B-BB6B-AA8DFD977B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9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0DFD2-DD82-9D2B-83E1-94ED3454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20306-F7F9-99B5-1026-D70451FAC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A837F-621A-47F2-CAE6-CE8F7E8D8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AC3B-E34A-FFB9-5BF4-EFE8F1ECC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300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98CE-B35F-E628-02B1-4D2AF757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192C2-1557-6BFB-034E-01AA246D1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28E96-FC20-11D0-13EA-A177E9158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2484F-E12E-E001-1D68-265DD2CDD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7205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EE911-1708-6603-4450-B7BE35FA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746ED-E0BE-C41A-2EBA-EF08A07A3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1191C-1A30-0690-A844-6B294E2D0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Alg</a:t>
            </a:r>
            <a:r>
              <a:rPr lang="zh-CN" altLang="en-US" dirty="0"/>
              <a:t>是</a:t>
            </a:r>
            <a:r>
              <a:rPr lang="en-US" altLang="zh-CN" dirty="0"/>
              <a:t>l0 </a:t>
            </a:r>
            <a:r>
              <a:rPr lang="en-US" altLang="zh-CN" dirty="0" err="1"/>
              <a:t>alg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726A1-5B63-2771-F297-EEDF7ED43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346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074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471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662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852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dirty="0" err="1">
                <a:solidFill>
                  <a:srgbClr val="C00000"/>
                </a:solidFill>
              </a:rPr>
              <a:t>adversarially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964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98A48-C9BF-BB99-C1C1-5DBA3606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3FBE7-06FD-E9D4-6D8E-05E697551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87690-3F24-3EB6-3808-E2B904A42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B0DDE-1160-228E-9F83-7E7448539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49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8C933-0AF6-F1FB-E23A-3900241A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30BEF-41EB-8DFF-1CDD-350C6EF2F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0F048-CB0E-062B-8662-8B2EC2E32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F31A-D961-133C-6EAB-C77B5D5F3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62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10E8-7C14-3C88-95D3-610463AE5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9BC62-7E5D-2A7E-BED6-96F266787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05AF4-DECD-1FB3-797A-D1EEA5D93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F5203-9F11-392A-1C57-03FC9109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60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52BB-5A95-9EFC-570B-6B52F1A5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F9CEA-FB86-2ACC-36BF-57C30B055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E8A3F-96C9-AE94-F905-B8B942DC9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FD683-1611-2A0C-1F8A-DE01538CC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55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71B5A-0CA1-E405-1151-B19973B5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4AEA3-BD04-1E6E-1AA7-FBD9467F2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7EC23-0502-EE1C-D2A8-EFC05FC54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F0604-B025-F899-DB4A-91FBEDA69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952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[DworkMcSherryNissimSmith06]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26E65-ADC9-4F29-BA00-34B3E2F9B8F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49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[DworkMcSherryNissimSmith06]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26E65-ADC9-4F29-BA00-34B3E2F9B8F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35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[DworkMcSherryNissimSmith06]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26E65-ADC9-4F29-BA00-34B3E2F9B8F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08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81C34-9391-473C-5305-D02FF4C4A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D12EF-AB78-18FA-1DBC-A126FBC9A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02674-BE44-5568-9674-35CC2F1EA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[DworkMcSherryNissimSmith06]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E5595-7A55-D687-16F6-EADD4404D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26E65-ADC9-4F29-BA00-34B3E2F9B8F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976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7835-BD2C-9532-A0D6-451191F93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C9AAF-E4BE-89FD-EB01-5015F5F43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43EAF-E932-0089-01F2-6C8ECA66A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687D2-8D7B-949E-CE5B-E588AC65A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81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BA9-D513-B33F-402A-A9EDE64D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6E56E-2938-F332-9CCE-976F228E0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0BAE3-AFE6-D34A-0EB3-004750A26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154E4-3480-3672-B8BE-2D5D2AE9A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2714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5E4A-38F0-3E98-3813-E65BF8C2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62E92-5F7C-14D6-5091-A8354E225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60AA1-C605-0AF5-36EC-7CA6222AE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A111B-C9BE-3F99-58DA-9F916DD15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27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FEC6-8FA0-9759-9C56-7F57A6EE2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D2FFA-E7E5-CC1F-1D15-EF5A3338B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3250D-DB81-5BF9-292C-32B993F05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A3ACF-4455-9D04-986C-56B110AF7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145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BD8C-3449-D581-3A7B-E04EE42B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3918E-3155-3CAB-53C3-41F04A147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4C937-B074-ECBC-A94E-3107B3065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90485-AAB2-A160-4E6F-9A5CDBE5B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892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7C5B-1395-2407-1B5B-A3956A748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4CB23-69D4-4009-E582-A3D27F114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FDB58-1A65-6659-B2BD-57EDD7BE6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6B1F4-D408-50B3-AA9C-AB1748894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745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DB62-CBA4-DB7E-F3C0-554A0CA6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F7CDE9-41E0-FEF4-6A48-321BE6033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ABFA0-F960-CBFC-70D7-CC8922E65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711BC-116D-8F8C-6EA5-FEDD81E81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591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95C9-50E0-FC58-B499-61F984655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0B8EE-2FC0-275A-D112-F256BF32E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D3746-AD81-B07F-0879-030CC7C1A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32699-447F-9277-EC3D-6F0CDCEBF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843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8E538-E8F8-0376-A3A3-4D7240B9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D10A3-9940-2551-4288-08B43C4B0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72B36-E3B5-D936-2C24-2A3942D55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DD7CC-ACE0-3171-0823-8DB6FC971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040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B9C6-976D-4299-D442-B8946275A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293C6-9B47-01CC-330E-6095402CA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6606B-7282-7D5B-0EA4-C229C8954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00B3C-8A07-E76F-56CE-8ED04293B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270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7172-DD82-E6A5-CC64-9EF0DD68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26021-4211-A38D-CD29-9E2511D70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99C97-610C-74BE-ED31-D9EAEB57A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42E75-F212-3F11-3143-FE49F6838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064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EC60-506F-558E-FADE-C8684A59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1B1FE-7CF6-BC7B-ECBE-1877844F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42D15-01C0-64CC-91E5-F3A4C7A2F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C76DD-B284-B85A-FB60-D6443EA62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046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80E0E-99A6-C562-696B-C2B1B1AE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982A6-CC1E-7A9F-8767-51FC7F14B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24B1-0CC2-3727-9E61-19E896EC8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47705-8708-66AA-8455-D54511C97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876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803E-1CBB-AAE5-F9A3-C53386D1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F0639-BAEB-54F9-98D2-EEEB07697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D8367-1EB9-0E41-86A6-58C1808C5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DD70F-0A06-D213-FD6E-7D053B84C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554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8B8C4-D605-E505-FFB4-082889FD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B0AEA-C79B-1F91-E97B-E11C7017C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19855-F19D-BD72-F6EF-CE954BFF5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564C4-5B74-A3AB-0167-6C12D5854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654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FC64-4A37-1D9A-D252-69E0C598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669D0-AC87-3A78-500B-99CF1932E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12D53-436B-3001-297C-BDB8C20E9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7C3E-B0CB-2649-3AB7-E55260F7E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349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40D1-7A97-6C9B-710F-3E746729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72E74-FD68-519A-9291-7CE676D1D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1C3BF-EEAA-4F14-629F-984A8566B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04079-5464-A689-D50A-9A0C284F4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16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4DC51-D284-0A0B-41C4-872F3B24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DED7F-4FD9-D750-E902-6AC1BA932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0ECA7-1657-2B40-43D6-C30AD87D9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2DCF3-1D7F-1146-E559-4DBB4C12F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949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ED754-82C8-CF30-13C7-E8F2B6CB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659EE-B748-D1CE-7264-7CFAAE321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A6FB9-925B-CE5D-A78A-821EC6AA2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A042D-22C3-16BE-2231-93391E9A3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42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309F6-526E-99D7-A2A5-10260898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7F06A-31FB-6EC9-3DEC-F7BFCA45B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E1070-00EA-7500-93EB-E28887C23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231F1-32A0-CE39-6079-0FACF7399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278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1945-F0FC-FF0B-CE2E-29B08DC0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A699A-E66C-BDE6-9DCB-826BF3642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2210E-995B-1827-C1B0-D00E8BB4B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04AC7-1408-2D2C-996E-9C31ECA7D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956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D98F-DAEC-CEA6-5FA6-B026670D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7DDFB-A60F-DD1C-27A8-64F028733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5085F-1F65-0FC9-0118-58DBEB574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6CB88-C2A2-D84D-58CB-899678833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937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1B70D-7A5C-3D1F-1CBD-8574BF2D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7FF54-EBC3-A683-F6E5-64E00D4EE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CC8A8-AC95-922C-C0AE-B6C4741C9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0D594-9BA7-2382-EBA0-B27974DE9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489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555F2-5B7A-3DA0-2BD0-6348324B1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F6A5E-812C-397A-DD0F-A76D44539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E3D68-02AF-60D9-50CE-9D4BF5DCC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C0EC7-F868-659C-998B-AB0312BC2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384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B8A1-663A-DA25-CFB3-D71F00FA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08153-ACE1-EF31-311C-80F7DCBE6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B9D80-EB91-515F-39F4-3B4318F43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4C6F2-BED6-D667-C0C9-1622757E7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229C-5C56-46D3-8AF7-8CB2C6C5FD7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689D-2E15-EF19-E26D-8DF6E6CDB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9027C-B773-68FB-FBCE-92B5936DD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4F9F7-BF12-763B-362E-CEA82BA7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CE599-A2FA-0E89-1660-BAE75A359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0A385-CDC1-02E5-FF51-48ED9E45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6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A9F1-13ED-1D5B-DCEA-767FB8A8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F7EAB-794C-8381-8EE5-BE48DC356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8580-8E47-D118-9BAD-EEBA88FE5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DB9C4-27EB-16F5-4800-E598ADFB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F0F50-0237-E4B9-F657-2BB51096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1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5CE7-3D18-43AF-98CE-0BCF8AB3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04A79-3EA4-8104-4A17-E88551379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AD11C-4E64-B38E-C08B-96B949E4A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C0CD3-F4B2-17E3-BD9B-3E961137B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C85EF-CCCF-FC02-AB7B-A32DA381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81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5804-3655-9500-0935-5D7724C69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7A6BD-ECB7-CE40-83E3-6FB9C50C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EB891D-B0ED-A357-D490-063056551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9E5A5-4A1D-73B4-4153-DB765547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DA7E0-F2BD-C50F-4732-B6493D12D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660CF-4BCA-CC89-CF59-22F032DBA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67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39A6-073C-03DA-2A14-0F8C7F65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694FD-0069-B7EE-260F-888287A4F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0CF8E-2DBF-4802-BEAD-9C6FAC886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1B355-9F80-8F26-8320-BA693E737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E552AD-D9F1-686F-B0F7-88DE14F47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00393-38B5-357F-A6D1-A60F69F8C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AC61C-6B8C-DC5D-E840-95A275DC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CD9DE-3051-7EDE-816E-FBDB7CBF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4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4218-4B9A-1981-5B4C-4E232995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23B95-604E-58F3-FA60-B93EE8DE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B3525-AC54-03B3-F4BB-C3410ED1B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B3673-659D-832A-D9C7-42E3D409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52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DF637D-9DAA-3B81-629F-70A9BFB4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AAEE3F-739D-EAEA-B896-00743F03C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6F865-0CFF-65F4-2B17-68671F65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90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6561-2CAE-1F7D-D6C2-C8F430E3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B9F2A-5A4F-1F45-853C-FEFEE0FE8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0BD22-988F-F468-977F-24DF81D9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DEDD2-7138-1B82-99A1-A65674D7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6F870-A3B7-2FC0-E0F6-0260294F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2EDA1-E9C8-6E98-BB4B-58E030AD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6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5C285-0058-81EF-7FBB-499DCFE0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73990-FDF3-EE83-3F33-150AECB93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CB766-6B22-66F6-6400-953797DEC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AD1D4-6180-DBC4-8ACD-0CDE9BBA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187DD-1A9F-A590-3A85-38092E749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1022-B2C3-4AF5-4835-C9F42AA5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8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9089-5951-4878-E5AE-707AF521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B2A16-B006-8542-77B8-E7D9F0C87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86DD6-5FA5-D7C6-7D0B-5DC55C62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D203A-C767-F7CB-E9A6-E98A9AAC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B0061-2974-BA8B-C47E-35050EA2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14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BD96B-0FEA-74C8-CDC2-F3B994578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8002B-8350-D63A-F51D-03210F76A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8448A-5FD9-4D39-B660-A3CEAC58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57321-95E5-7D79-9F75-77D95F90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5FD94-E677-B5C1-2F52-6186F6EA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0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0C122-1753-BE24-FC61-781A1A6B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46D8C-1446-0538-0485-8BCD92529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1F1C4-2C8E-4EE3-CD76-A51005EA3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CAC77-F870-4E0F-92A2-801678D55A7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1F5B6-959D-7419-D7AC-95CA08291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0F7BF-5B8C-3606-BB68-A6FF2EB26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E240F-C758-4B14-B5A1-F02BBA5FE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43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210.pn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0.png"/><Relationship Id="rId5" Type="http://schemas.openxmlformats.org/officeDocument/2006/relationships/image" Target="NULL"/><Relationship Id="rId10" Type="http://schemas.openxmlformats.org/officeDocument/2006/relationships/image" Target="../media/image24.png"/><Relationship Id="rId9" Type="http://schemas.openxmlformats.org/officeDocument/2006/relationships/image" Target="../media/image2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3" Type="http://schemas.openxmlformats.org/officeDocument/2006/relationships/image" Target="../media/image262.png"/><Relationship Id="rId7" Type="http://schemas.openxmlformats.org/officeDocument/2006/relationships/image" Target="../media/image271.png"/><Relationship Id="rId12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11" Type="http://schemas.openxmlformats.org/officeDocument/2006/relationships/image" Target="../media/image310.png"/><Relationship Id="rId5" Type="http://schemas.openxmlformats.org/officeDocument/2006/relationships/image" Target="../media/image251.png"/><Relationship Id="rId10" Type="http://schemas.openxmlformats.org/officeDocument/2006/relationships/image" Target="../media/image300.png"/><Relationship Id="rId4" Type="http://schemas.openxmlformats.org/officeDocument/2006/relationships/image" Target="../media/image241.png"/><Relationship Id="rId9" Type="http://schemas.openxmlformats.org/officeDocument/2006/relationships/image" Target="../media/image2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2.png"/><Relationship Id="rId5" Type="http://schemas.openxmlformats.org/officeDocument/2006/relationships/image" Target="../media/image242.png"/><Relationship Id="rId4" Type="http://schemas.openxmlformats.org/officeDocument/2006/relationships/image" Target="../media/image2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4" Type="http://schemas.openxmlformats.org/officeDocument/2006/relationships/image" Target="../media/image40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490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0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C5B6-A199-4791-C4AA-875B61E9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DE22-6F15-5687-FB98-E6C6C58BC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6489" y="450719"/>
            <a:ext cx="10191008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Adversarial Robustness on Insertion-Deletion Streams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8670D-1F08-F8A2-1BB4-CC9304AB8C58}"/>
              </a:ext>
            </a:extLst>
          </p:cNvPr>
          <p:cNvSpPr txBox="1"/>
          <p:nvPr/>
        </p:nvSpPr>
        <p:spPr>
          <a:xfrm>
            <a:off x="106420" y="4945876"/>
            <a:ext cx="292655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Elena </a:t>
            </a:r>
            <a:r>
              <a:rPr lang="en-US" sz="2400" dirty="0" err="1"/>
              <a:t>Gribelyuk</a:t>
            </a:r>
            <a:endParaRPr lang="en-US" sz="2400" dirty="0"/>
          </a:p>
          <a:p>
            <a:pPr algn="ctr"/>
            <a:r>
              <a:rPr lang="en-US" sz="2400" dirty="0"/>
              <a:t>P</a:t>
            </a:r>
            <a:r>
              <a:rPr lang="en-US" altLang="zh-CN" sz="2400" dirty="0"/>
              <a:t>rinceton</a:t>
            </a:r>
            <a:r>
              <a:rPr lang="en-US" altLang="zh-CN" sz="2800" dirty="0"/>
              <a:t> </a:t>
            </a:r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83FCD4-9079-760E-7552-E45093024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08" y="3332224"/>
            <a:ext cx="1475153" cy="13410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D35393-D767-E9CD-974C-22023CD00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74" y="3279405"/>
            <a:ext cx="2068592" cy="137906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857D975-D519-5ACC-E3A0-CD22719D7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015" y="3279405"/>
            <a:ext cx="1446120" cy="148055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A7395E9-E581-D627-0115-A1D0423F9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2616" y="3264049"/>
            <a:ext cx="1574881" cy="14097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7BB916-78D5-0880-BB8A-BCF4AD444757}"/>
              </a:ext>
            </a:extLst>
          </p:cNvPr>
          <p:cNvSpPr txBox="1"/>
          <p:nvPr/>
        </p:nvSpPr>
        <p:spPr>
          <a:xfrm>
            <a:off x="2241961" y="4949353"/>
            <a:ext cx="2926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Honghao Lin</a:t>
            </a:r>
          </a:p>
          <a:p>
            <a:pPr algn="ctr"/>
            <a:r>
              <a:rPr lang="en-US" sz="2400" dirty="0"/>
              <a:t>CMU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450BF8-E3E5-B6CB-ED54-F00A183897E2}"/>
              </a:ext>
            </a:extLst>
          </p:cNvPr>
          <p:cNvSpPr txBox="1"/>
          <p:nvPr/>
        </p:nvSpPr>
        <p:spPr>
          <a:xfrm>
            <a:off x="4479261" y="4949353"/>
            <a:ext cx="2926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David P. Woodruff</a:t>
            </a:r>
          </a:p>
          <a:p>
            <a:pPr algn="ctr"/>
            <a:r>
              <a:rPr lang="en-US" sz="2400" dirty="0"/>
              <a:t>CMU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0F7589-2531-4B44-DE89-5B6FF7309029}"/>
              </a:ext>
            </a:extLst>
          </p:cNvPr>
          <p:cNvSpPr txBox="1"/>
          <p:nvPr/>
        </p:nvSpPr>
        <p:spPr>
          <a:xfrm>
            <a:off x="6901236" y="4945876"/>
            <a:ext cx="2926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Huacheng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P</a:t>
            </a:r>
            <a:r>
              <a:rPr lang="en-US" altLang="zh-CN" sz="2400" dirty="0"/>
              <a:t>rinceton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3DEB9-7D7A-78D2-FD4E-3C4C98658D93}"/>
              </a:ext>
            </a:extLst>
          </p:cNvPr>
          <p:cNvSpPr txBox="1"/>
          <p:nvPr/>
        </p:nvSpPr>
        <p:spPr>
          <a:xfrm>
            <a:off x="9036777" y="4949622"/>
            <a:ext cx="2926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Samson Zhou</a:t>
            </a:r>
          </a:p>
          <a:p>
            <a:pPr algn="ctr"/>
            <a:r>
              <a:rPr lang="en-US" sz="2400" dirty="0"/>
              <a:t>T</a:t>
            </a:r>
            <a:r>
              <a:rPr lang="en-US" altLang="zh-CN" sz="2400" dirty="0"/>
              <a:t>exas A&amp;M</a:t>
            </a:r>
            <a:endParaRPr lang="en-US" sz="24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80E3C73-7509-EA8F-00EF-C2BC76D76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8980" y="3264049"/>
            <a:ext cx="1540281" cy="151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2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9"/>
    </mc:Choice>
    <mc:Fallback xmlns="">
      <p:transition spd="slow" advTm="18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FA4D1-0DC5-F654-D0D2-8C17FDED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A0B0-09D2-3BA2-E255-B47973E7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Model #1: Streaming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E49C69-0734-1B09-C1ED-336F3A3A7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Input</a:t>
                </a:r>
                <a:r>
                  <a:rPr lang="en-US" dirty="0"/>
                  <a:t>: Elements of an underlying data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which arrives sequentially</a:t>
                </a: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rgbClr val="00B05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Output</a:t>
                </a:r>
                <a:r>
                  <a:rPr lang="en-US" dirty="0"/>
                  <a:t>: Evaluation (or approximation) of a given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E49C69-0734-1B09-C1ED-336F3A3A7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C0BAD0-80C0-F3C8-2C9F-68661E4F8503}"/>
              </a:ext>
            </a:extLst>
          </p:cNvPr>
          <p:cNvSpPr txBox="1">
            <a:spLocks/>
          </p:cNvSpPr>
          <p:nvPr/>
        </p:nvSpPr>
        <p:spPr>
          <a:xfrm>
            <a:off x="1179831" y="5862160"/>
            <a:ext cx="2880000" cy="5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sz="2800"/>
              <a:t>Internet traffic</a:t>
            </a:r>
            <a:endParaRPr lang="en-US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46CFA4-01F4-5F3F-D2FC-7315FEE2FCEA}"/>
              </a:ext>
            </a:extLst>
          </p:cNvPr>
          <p:cNvSpPr txBox="1">
            <a:spLocks/>
          </p:cNvSpPr>
          <p:nvPr/>
        </p:nvSpPr>
        <p:spPr>
          <a:xfrm>
            <a:off x="4606469" y="5862160"/>
            <a:ext cx="2880000" cy="5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800" dirty="0"/>
              <a:t>Sensor networks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98307B-C5B5-7347-E264-305DB32A1542}"/>
              </a:ext>
            </a:extLst>
          </p:cNvPr>
          <p:cNvSpPr txBox="1">
            <a:spLocks/>
          </p:cNvSpPr>
          <p:nvPr/>
        </p:nvSpPr>
        <p:spPr>
          <a:xfrm>
            <a:off x="8033109" y="5823273"/>
            <a:ext cx="2880000" cy="57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zh-CN" sz="2800" dirty="0"/>
              <a:t>Stock markets</a:t>
            </a:r>
            <a:endParaRPr lang="en-US" sz="28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A01097-D2C2-8C4A-DF26-6E3E2CFA8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140" y="4107930"/>
            <a:ext cx="2126581" cy="1715343"/>
          </a:xfrm>
          <a:prstGeom prst="rect">
            <a:avLst/>
          </a:prstGeom>
        </p:spPr>
      </p:pic>
      <p:pic>
        <p:nvPicPr>
          <p:cNvPr id="9" name="图片 13">
            <a:extLst>
              <a:ext uri="{FF2B5EF4-FFF2-40B4-BE49-F238E27FC236}">
                <a16:creationId xmlns:a16="http://schemas.microsoft.com/office/drawing/2014/main" id="{C76580A2-8A1A-C1F6-CA31-62CF2FA8B6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4" r="58376" b="22816"/>
          <a:stretch/>
        </p:blipFill>
        <p:spPr>
          <a:xfrm>
            <a:off x="8235311" y="4107929"/>
            <a:ext cx="2376621" cy="1715343"/>
          </a:xfrm>
          <a:prstGeom prst="rect">
            <a:avLst/>
          </a:prstGeom>
        </p:spPr>
      </p:pic>
      <p:pic>
        <p:nvPicPr>
          <p:cNvPr id="10" name="图片 15">
            <a:extLst>
              <a:ext uri="{FF2B5EF4-FFF2-40B4-BE49-F238E27FC236}">
                <a16:creationId xmlns:a16="http://schemas.microsoft.com/office/drawing/2014/main" id="{1E02D111-9448-49DA-C1D4-3BB401E5AEE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3" r="18406" b="13034"/>
          <a:stretch/>
        </p:blipFill>
        <p:spPr>
          <a:xfrm>
            <a:off x="4677039" y="4107929"/>
            <a:ext cx="2738862" cy="171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9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9AC-DCE6-4371-8DE2-D617E99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Lots of problems…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EDD9D9-1338-4BC5-9D28-964A84C14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42755" cy="4351338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Graph problems</a:t>
            </a:r>
            <a:r>
              <a:rPr lang="en-US" sz="3200" dirty="0"/>
              <a:t>: Matchings, MST, MAX-CUT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Geometric problems</a:t>
            </a:r>
            <a:r>
              <a:rPr lang="en-US" sz="3200" dirty="0"/>
              <a:t>: Clustering, facility location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Statistical problems</a:t>
            </a:r>
            <a:r>
              <a:rPr lang="en-US" sz="3200" dirty="0"/>
              <a:t>: Heavy-hitters, norm/moment estimation, quantile estimation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Algebraic problems</a:t>
            </a:r>
            <a:r>
              <a:rPr lang="en-US" sz="3200" dirty="0"/>
              <a:t>: Subspace embeddings, regression, low-rank approximation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String problems</a:t>
            </a:r>
            <a:r>
              <a:rPr lang="en-US" sz="3200" dirty="0"/>
              <a:t>: pattern matching, periodicity</a:t>
            </a:r>
          </a:p>
          <a:p>
            <a:pPr>
              <a:buClr>
                <a:schemeClr val="tx1"/>
              </a:buClr>
            </a:pPr>
            <a:r>
              <a:rPr lang="en-US" sz="3200" dirty="0">
                <a:solidFill>
                  <a:srgbClr val="00B050"/>
                </a:solidFill>
              </a:rPr>
              <a:t>Others</a:t>
            </a:r>
            <a:r>
              <a:rPr lang="en-US" sz="3200" dirty="0"/>
              <a:t>: CSPs, coding theory, submodular optimization, </a:t>
            </a:r>
            <a:r>
              <a:rPr lang="en-US" sz="3200" dirty="0" err="1"/>
              <a:t>etc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7444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"/>
    </mc:Choice>
    <mc:Fallback xmlns="">
      <p:transition spd="slow" advTm="16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Frequency Vector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42755" cy="48592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elements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be the frequency of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(How often it appears)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tx1"/>
                  </a:buClr>
                </a:pPr>
                <a:r>
                  <a:rPr lang="en-US" altLang="zh-CN" dirty="0">
                    <a:solidFill>
                      <a:srgbClr val="00B050"/>
                    </a:solidFill>
                  </a:rPr>
                  <a:t>Insertion-only stream</a:t>
                </a:r>
                <a:r>
                  <a:rPr lang="en-US" altLang="zh-CN" dirty="0"/>
                  <a:t>: each update only increases coordinates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tx1"/>
                  </a:buClr>
                </a:pPr>
                <a:r>
                  <a:rPr lang="en-US" altLang="zh-CN" dirty="0">
                    <a:solidFill>
                      <a:srgbClr val="00B050"/>
                    </a:solidFill>
                  </a:rPr>
                  <a:t>Insertion-deletion stream</a:t>
                </a:r>
                <a:r>
                  <a:rPr lang="en-US" altLang="zh-CN" dirty="0"/>
                  <a:t>: when updates can increase or decrease coordinates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Goal</a:t>
                </a:r>
                <a:r>
                  <a:rPr lang="en-US" dirty="0"/>
                  <a:t>: Use space </a:t>
                </a:r>
                <a:r>
                  <a:rPr lang="en-US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i="1" dirty="0"/>
                  <a:t> </a:t>
                </a:r>
                <a:r>
                  <a:rPr lang="en-US" dirty="0"/>
                  <a:t>in the stream length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dimension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42755" cy="4859260"/>
              </a:xfrm>
              <a:blipFill>
                <a:blip r:embed="rId2"/>
                <a:stretch>
                  <a:fillRect l="-1071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00D81D-0252-476F-8A28-E78DFD4FAB04}"/>
                  </a:ext>
                </a:extLst>
              </p:cNvPr>
              <p:cNvSpPr txBox="1"/>
              <p:nvPr/>
            </p:nvSpPr>
            <p:spPr>
              <a:xfrm>
                <a:off x="2239941" y="3075057"/>
                <a:ext cx="72621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1 1 2 1 2 1 1 2 3 </a:t>
                </a: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Wingdings 3" panose="05040102010807070707" pitchFamily="18" charset="2"/>
                  </a:rPr>
                  <a:t>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5, 3, 1, 0</m:t>
                        </m:r>
                      </m:e>
                    </m:d>
                    <m:r>
                      <a:rPr kumimoji="0" lang="en-US" sz="4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4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</m:oMath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00D81D-0252-476F-8A28-E78DFD4FA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941" y="3075057"/>
                <a:ext cx="7262181" cy="707886"/>
              </a:xfrm>
              <a:prstGeom prst="rect">
                <a:avLst/>
              </a:prstGeom>
              <a:blipFill>
                <a:blip r:embed="rId3"/>
                <a:stretch>
                  <a:fillRect l="-2936" t="-17094" b="-3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20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9AC-DCE6-4371-8DE2-D617E99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Frequency Moments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elements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be the frequency of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(How often it appears)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be the frequency moment of the vector:</a:t>
                </a:r>
              </a:p>
              <a:p>
                <a:pPr lvl="1">
                  <a:buClr>
                    <a:schemeClr val="tx1"/>
                  </a:buClr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lvl="1">
                  <a:buClr>
                    <a:schemeClr val="tx1"/>
                  </a:buClr>
                </a:pPr>
                <a:endParaRPr lang="en-US" dirty="0"/>
              </a:p>
              <a:p>
                <a:pPr lvl="1">
                  <a:buClr>
                    <a:schemeClr val="tx1"/>
                  </a:buClr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Goal</a:t>
                </a:r>
                <a:r>
                  <a:rPr lang="en-US" dirty="0"/>
                  <a:t>: </a:t>
                </a:r>
                <a:r>
                  <a:rPr lang="en-US" dirty="0">
                    <a:solidFill>
                      <a:schemeClr val="tx1"/>
                    </a:solidFill>
                  </a:rPr>
                  <a:t>Given a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elements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and an accuracy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output a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Motivation</a:t>
                </a:r>
                <a:r>
                  <a:rPr lang="en-US" dirty="0"/>
                  <a:t>: Entropy estimation, linear regression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115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FD8736-F162-41C2-9CE0-9BF3ADDC3736}"/>
                  </a:ext>
                </a:extLst>
              </p:cNvPr>
              <p:cNvSpPr/>
              <p:nvPr/>
            </p:nvSpPr>
            <p:spPr>
              <a:xfrm>
                <a:off x="3263654" y="3369518"/>
                <a:ext cx="6253315" cy="6317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sz="3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sz="3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…+</m:t>
                      </m:r>
                      <m:sSup>
                        <m:sSupPr>
                          <m:ctrlP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FD8736-F162-41C2-9CE0-9BF3ADDC3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654" y="3369518"/>
                <a:ext cx="6253315" cy="631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98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"/>
    </mc:Choice>
    <mc:Fallback xmlns="">
      <p:transition spd="slow" advTm="17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A9C3-3702-CEE6-2ADF-3E8393B6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466F46-813A-0FAD-E729-06BAB38066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Estimation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466F46-813A-0FAD-E729-06BAB38066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356A55E7-82C6-AA23-635A-42E58F32F1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AMS algorithm gives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bits of communication </a:t>
                </a:r>
                <a:r>
                  <a:rPr lang="en-US" dirty="0">
                    <a:solidFill>
                      <a:schemeClr val="accent1"/>
                    </a:solidFill>
                  </a:rPr>
                  <a:t>[AlonMatiasSzegedy99]</a:t>
                </a: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−1,+1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be a random sign vector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356A55E7-82C6-AA23-635A-42E58F32F1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3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571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29A5-9A1C-4A3D-BEC4-A0113B6E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3005-D7FE-4C66-C984-53A956EB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AMS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DFD944A-28B1-93B7-81BA-DB75EA58ED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b="0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≤6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Chebyshev’s inequality: the average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dirty="0"/>
                  <a:t> independent instances gets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-approximation with probability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b="0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DFD944A-28B1-93B7-81BA-DB75EA58E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3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217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12EC6-547B-C347-C7F1-226941E1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273DF-F19F-F63D-4723-67B87DA2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Model #2: </a:t>
            </a:r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9533C-F249-9891-03DA-7BE3E3CD39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r>
                  <a:rPr lang="en-US" sz="3200" dirty="0">
                    <a:solidFill>
                      <a:srgbClr val="0070C0"/>
                    </a:solidFill>
                  </a:rPr>
                  <a:t>[Ben-EliezerJayaramWoodruffYogev18]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Adversarial robustness</a:t>
                </a:r>
                <a:r>
                  <a:rPr lang="en-US" sz="3200" dirty="0"/>
                  <a:t>: “Future queries may depend on previous responses”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Motivation</a:t>
                </a:r>
                <a:r>
                  <a:rPr lang="en-US" sz="3200" dirty="0"/>
                  <a:t>: Database queries, optimization</a:t>
                </a:r>
              </a:p>
              <a:p>
                <a:pPr>
                  <a:buClr>
                    <a:schemeClr val="tx1"/>
                  </a:buClr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9533C-F249-9891-03DA-7BE3E3CD39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07" t="-280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98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7"/>
    </mc:Choice>
    <mc:Fallback xmlns="">
      <p:transition spd="slow" advTm="361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C069-201A-B5A1-7F38-6A2ED363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F10C-8443-CDA3-D334-CDEE8A8D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A08FB-8AF4-B14B-6DF9-123285B40E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hacker clipart">
            <a:extLst>
              <a:ext uri="{FF2B5EF4-FFF2-40B4-BE49-F238E27FC236}">
                <a16:creationId xmlns:a16="http://schemas.microsoft.com/office/drawing/2014/main" id="{C93DFF4B-DB56-8D6A-D49E-CE82757CF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B8355AFC-196B-7F4B-95A7-39C5AB537D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78" y="4001294"/>
            <a:ext cx="1620520" cy="2025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F31DD6-34A0-BA43-A54A-9A057F15A51E}"/>
              </a:ext>
            </a:extLst>
          </p:cNvPr>
          <p:cNvSpPr txBox="1"/>
          <p:nvPr/>
        </p:nvSpPr>
        <p:spPr>
          <a:xfrm>
            <a:off x="8350326" y="4699671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BFE22-E8F0-63FD-1DEB-5CACDDA11250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6FF7E-F87A-6E27-FA5C-CFE5FA39254C}"/>
              </a:ext>
            </a:extLst>
          </p:cNvPr>
          <p:cNvSpPr txBox="1"/>
          <p:nvPr/>
        </p:nvSpPr>
        <p:spPr>
          <a:xfrm>
            <a:off x="9390078" y="611831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  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C4BDE4-847A-D5AD-D3A3-3218ADCED76B}"/>
              </a:ext>
            </a:extLst>
          </p:cNvPr>
          <p:cNvSpPr txBox="1"/>
          <p:nvPr/>
        </p:nvSpPr>
        <p:spPr>
          <a:xfrm>
            <a:off x="3045700" y="4148739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3C775-5CA8-FD85-540C-8EEE64695458}"/>
              </a:ext>
            </a:extLst>
          </p:cNvPr>
          <p:cNvSpPr txBox="1"/>
          <p:nvPr/>
        </p:nvSpPr>
        <p:spPr>
          <a:xfrm>
            <a:off x="4331158" y="6090409"/>
            <a:ext cx="3529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dirty="0"/>
              <a:t>Output # of distinct elements</a:t>
            </a:r>
          </a:p>
        </p:txBody>
      </p:sp>
    </p:spTree>
    <p:extLst>
      <p:ext uri="{BB962C8B-B14F-4D97-AF65-F5344CB8AC3E}">
        <p14:creationId xmlns:p14="http://schemas.microsoft.com/office/powerpoint/2010/main" val="304888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hacker clipart">
            <a:extLst>
              <a:ext uri="{FF2B5EF4-FFF2-40B4-BE49-F238E27FC236}">
                <a16:creationId xmlns:a16="http://schemas.microsoft.com/office/drawing/2014/main" id="{6157BAA3-7F96-4ED9-BBF4-8361607E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DC6FE31-B607-4356-85E4-A2BE83D9C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78" y="4001294"/>
            <a:ext cx="1620520" cy="2025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3B686B-0020-4DE7-BA6E-01AEFC87D6C2}"/>
              </a:ext>
            </a:extLst>
          </p:cNvPr>
          <p:cNvSpPr txBox="1"/>
          <p:nvPr/>
        </p:nvSpPr>
        <p:spPr>
          <a:xfrm>
            <a:off x="8350326" y="469967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131A2-31AE-9F1C-C609-179F2DF4B0B0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4A105-6D7C-A36E-FCFA-0F165901C845}"/>
                  </a:ext>
                </a:extLst>
              </p:cNvPr>
              <p:cNvSpPr txBox="1"/>
              <p:nvPr/>
            </p:nvSpPr>
            <p:spPr>
              <a:xfrm>
                <a:off x="3045700" y="4148739"/>
                <a:ext cx="222432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4A105-6D7C-A36E-FCFA-0F165901C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700" y="4148739"/>
                <a:ext cx="2224327" cy="9541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47FAE90-EC2F-6A0D-CB92-C3413DD857EA}"/>
              </a:ext>
            </a:extLst>
          </p:cNvPr>
          <p:cNvSpPr txBox="1"/>
          <p:nvPr/>
        </p:nvSpPr>
        <p:spPr>
          <a:xfrm>
            <a:off x="9390078" y="611831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   Algorithm</a:t>
            </a:r>
          </a:p>
        </p:txBody>
      </p:sp>
    </p:spTree>
    <p:extLst>
      <p:ext uri="{BB962C8B-B14F-4D97-AF65-F5344CB8AC3E}">
        <p14:creationId xmlns:p14="http://schemas.microsoft.com/office/powerpoint/2010/main" val="159100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hacker clipart">
            <a:extLst>
              <a:ext uri="{FF2B5EF4-FFF2-40B4-BE49-F238E27FC236}">
                <a16:creationId xmlns:a16="http://schemas.microsoft.com/office/drawing/2014/main" id="{6157BAA3-7F96-4ED9-BBF4-8361607E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DC6FE31-B607-4356-85E4-A2BE83D9C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78" y="4001294"/>
            <a:ext cx="1620520" cy="2025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3B686B-0020-4DE7-BA6E-01AEFC87D6C2}"/>
              </a:ext>
            </a:extLst>
          </p:cNvPr>
          <p:cNvSpPr txBox="1"/>
          <p:nvPr/>
        </p:nvSpPr>
        <p:spPr>
          <a:xfrm>
            <a:off x="8350326" y="469967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A141C-F6E7-C714-85A3-50F9711E3531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C0DADA-B53F-7DEA-5284-AB906BD830DD}"/>
                  </a:ext>
                </a:extLst>
              </p:cNvPr>
              <p:cNvSpPr txBox="1"/>
              <p:nvPr/>
            </p:nvSpPr>
            <p:spPr>
              <a:xfrm>
                <a:off x="3045700" y="4148739"/>
                <a:ext cx="2232599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C0DADA-B53F-7DEA-5284-AB906BD83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700" y="4148739"/>
                <a:ext cx="2232599" cy="1384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B08B76F-6C4C-1C76-CB00-CDDF8F044E34}"/>
              </a:ext>
            </a:extLst>
          </p:cNvPr>
          <p:cNvSpPr txBox="1"/>
          <p:nvPr/>
        </p:nvSpPr>
        <p:spPr>
          <a:xfrm>
            <a:off x="9390078" y="611831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   Algorithm</a:t>
            </a:r>
          </a:p>
        </p:txBody>
      </p:sp>
    </p:spTree>
    <p:extLst>
      <p:ext uri="{BB962C8B-B14F-4D97-AF65-F5344CB8AC3E}">
        <p14:creationId xmlns:p14="http://schemas.microsoft.com/office/powerpoint/2010/main" val="211125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Adversarially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hacker clipart">
            <a:extLst>
              <a:ext uri="{FF2B5EF4-FFF2-40B4-BE49-F238E27FC236}">
                <a16:creationId xmlns:a16="http://schemas.microsoft.com/office/drawing/2014/main" id="{6157BAA3-7F96-4ED9-BBF4-8361607E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DC6FE31-B607-4356-85E4-A2BE83D9C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78" y="4001294"/>
            <a:ext cx="1620520" cy="2025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3B686B-0020-4DE7-BA6E-01AEFC87D6C2}"/>
              </a:ext>
            </a:extLst>
          </p:cNvPr>
          <p:cNvSpPr txBox="1"/>
          <p:nvPr/>
        </p:nvSpPr>
        <p:spPr>
          <a:xfrm>
            <a:off x="8350326" y="469967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499367-F113-8797-541D-C4279C2F94C7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AB833F-94DE-ADFD-3B09-C746DD3CBE26}"/>
                  </a:ext>
                </a:extLst>
              </p:cNvPr>
              <p:cNvSpPr txBox="1"/>
              <p:nvPr/>
            </p:nvSpPr>
            <p:spPr>
              <a:xfrm>
                <a:off x="3045700" y="4148739"/>
                <a:ext cx="2232599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AB833F-94DE-ADFD-3B09-C746DD3C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700" y="4148739"/>
                <a:ext cx="2232599" cy="18158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84EC464-04DF-363E-8B58-FA86A58598E4}"/>
              </a:ext>
            </a:extLst>
          </p:cNvPr>
          <p:cNvSpPr txBox="1"/>
          <p:nvPr/>
        </p:nvSpPr>
        <p:spPr>
          <a:xfrm>
            <a:off x="9601093" y="610157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128343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hacker clipart">
            <a:extLst>
              <a:ext uri="{FF2B5EF4-FFF2-40B4-BE49-F238E27FC236}">
                <a16:creationId xmlns:a16="http://schemas.microsoft.com/office/drawing/2014/main" id="{6157BAA3-7F96-4ED9-BBF4-8361607E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3B686B-0020-4DE7-BA6E-01AEFC87D6C2}"/>
              </a:ext>
            </a:extLst>
          </p:cNvPr>
          <p:cNvSpPr txBox="1"/>
          <p:nvPr/>
        </p:nvSpPr>
        <p:spPr>
          <a:xfrm>
            <a:off x="8350326" y="469967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FF55506B-922C-4AEF-A5DD-6475EFA331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78" y="4001294"/>
            <a:ext cx="1620520" cy="2025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348A47-62D3-EBBF-B9C1-02560B2095DA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23A94C-4190-A2E1-E7D1-FE2849A3A835}"/>
                  </a:ext>
                </a:extLst>
              </p:cNvPr>
              <p:cNvSpPr txBox="1"/>
              <p:nvPr/>
            </p:nvSpPr>
            <p:spPr>
              <a:xfrm>
                <a:off x="3045700" y="4148739"/>
                <a:ext cx="2260683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23A94C-4190-A2E1-E7D1-FE2849A3A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700" y="4148739"/>
                <a:ext cx="2260683" cy="22467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D30272D-240F-61A0-52F3-D5F009F63757}"/>
              </a:ext>
            </a:extLst>
          </p:cNvPr>
          <p:cNvSpPr txBox="1"/>
          <p:nvPr/>
        </p:nvSpPr>
        <p:spPr>
          <a:xfrm>
            <a:off x="9390078" y="611831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   Algorithm</a:t>
            </a:r>
          </a:p>
        </p:txBody>
      </p:sp>
    </p:spTree>
    <p:extLst>
      <p:ext uri="{BB962C8B-B14F-4D97-AF65-F5344CB8AC3E}">
        <p14:creationId xmlns:p14="http://schemas.microsoft.com/office/powerpoint/2010/main" val="361157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Adversarially</a:t>
            </a:r>
            <a:r>
              <a:rPr lang="en-US" dirty="0">
                <a:solidFill>
                  <a:srgbClr val="C00000"/>
                </a:solidFill>
              </a:rPr>
              <a:t> Robust Streaming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3200" dirty="0"/>
                  <a:t>: Updates to an underlying vector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which arrive sequentially and </a:t>
                </a:r>
                <a:r>
                  <a:rPr lang="en-US" sz="3200" i="1" dirty="0" err="1">
                    <a:solidFill>
                      <a:srgbClr val="C00000"/>
                    </a:solidFill>
                  </a:rPr>
                  <a:t>adversarially</a:t>
                </a:r>
                <a:endParaRPr lang="en-US" sz="3200" i="1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3200" dirty="0"/>
                  <a:t>: Evaluation (or approximation) of a given function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3200" dirty="0"/>
                  <a:t>: Use space </a:t>
                </a:r>
                <a:r>
                  <a:rPr lang="en-US" sz="3200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sz="3200" i="1" dirty="0"/>
                  <a:t> </a:t>
                </a:r>
                <a:r>
                  <a:rPr lang="en-US" sz="3200" dirty="0"/>
                  <a:t>in the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of the input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55D49-9D60-44DD-910D-2EBD0529D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53B686B-0020-4DE7-BA6E-01AEFC87D6C2}"/>
              </a:ext>
            </a:extLst>
          </p:cNvPr>
          <p:cNvSpPr txBox="1"/>
          <p:nvPr/>
        </p:nvSpPr>
        <p:spPr>
          <a:xfrm>
            <a:off x="8350326" y="469967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pic>
        <p:nvPicPr>
          <p:cNvPr id="2050" name="Picture 2" descr="Image result for &quot;d'oh&quot; clipart">
            <a:extLst>
              <a:ext uri="{FF2B5EF4-FFF2-40B4-BE49-F238E27FC236}">
                <a16:creationId xmlns:a16="http://schemas.microsoft.com/office/drawing/2014/main" id="{B3CAF929-30F7-4105-91DA-601005364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769" y="4148739"/>
            <a:ext cx="19621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9B71F9-9313-733C-F572-AF996E031A69}"/>
                  </a:ext>
                </a:extLst>
              </p:cNvPr>
              <p:cNvSpPr txBox="1"/>
              <p:nvPr/>
            </p:nvSpPr>
            <p:spPr>
              <a:xfrm>
                <a:off x="3045700" y="4148739"/>
                <a:ext cx="2260683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−1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9B71F9-9313-733C-F572-AF996E031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700" y="4148739"/>
                <a:ext cx="2260683" cy="22467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AA4171C-A5B2-452E-A3AD-CEEEF6C974E0}"/>
              </a:ext>
            </a:extLst>
          </p:cNvPr>
          <p:cNvSpPr txBox="1"/>
          <p:nvPr/>
        </p:nvSpPr>
        <p:spPr>
          <a:xfrm>
            <a:off x="1230581" y="6101570"/>
            <a:ext cx="6095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Attacker</a:t>
            </a:r>
          </a:p>
        </p:txBody>
      </p:sp>
      <p:pic>
        <p:nvPicPr>
          <p:cNvPr id="9" name="Picture 2" descr="Image result for hacker clipart">
            <a:extLst>
              <a:ext uri="{FF2B5EF4-FFF2-40B4-BE49-F238E27FC236}">
                <a16:creationId xmlns:a16="http://schemas.microsoft.com/office/drawing/2014/main" id="{96A5E48B-E03F-D050-9966-9AD8B5932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81" y="4158264"/>
            <a:ext cx="1743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427A8F-3307-ED87-62A3-ECC4A610F3FF}"/>
              </a:ext>
            </a:extLst>
          </p:cNvPr>
          <p:cNvSpPr txBox="1"/>
          <p:nvPr/>
        </p:nvSpPr>
        <p:spPr>
          <a:xfrm>
            <a:off x="9390078" y="6118310"/>
            <a:ext cx="162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   Algorithm</a:t>
            </a:r>
          </a:p>
        </p:txBody>
      </p:sp>
    </p:spTree>
    <p:extLst>
      <p:ext uri="{BB962C8B-B14F-4D97-AF65-F5344CB8AC3E}">
        <p14:creationId xmlns:p14="http://schemas.microsoft.com/office/powerpoint/2010/main" val="197375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9AC-DCE6-4371-8DE2-D617E99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“Attack” on AMS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520" y="1825625"/>
                <a:ext cx="10242755" cy="4351338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/>
                  <a:t>Can learn 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3200" dirty="0"/>
                  <a:t> from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 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2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sz="32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3200" dirty="0">
                  <a:solidFill>
                    <a:schemeClr val="tx1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deterministically</a:t>
                </a:r>
              </a:p>
              <a:p>
                <a:pPr>
                  <a:buClr>
                    <a:schemeClr val="tx1"/>
                  </a:buClr>
                </a:pPr>
                <a:endParaRPr lang="en-US" sz="3200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chemeClr val="tx1"/>
                    </a:solidFill>
                  </a:rPr>
                  <a:t>What happened?</a:t>
                </a:r>
                <a:r>
                  <a:rPr lang="en-US" sz="3200" dirty="0"/>
                  <a:t> Randomness of algorithm not independent of input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520" y="1825625"/>
                <a:ext cx="10242755" cy="4351338"/>
              </a:xfrm>
              <a:blipFill>
                <a:blip r:embed="rId2"/>
                <a:stretch>
                  <a:fillRect l="-136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212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36EC-6FB9-3727-DDAB-5691F725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7CA1-3B38-2CDD-4B29-1B3B1F7D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Insertion-Only Streams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2E7EF-1F5F-A1BF-F2A7-859A1A0C9F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algorithm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3000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moment </a:t>
                </a:r>
                <a:r>
                  <a:rPr lang="en-US" sz="3000" dirty="0">
                    <a:solidFill>
                      <a:srgbClr val="0070C0"/>
                    </a:solidFill>
                  </a:rPr>
                  <a:t>[AlonMatiasSzegedy99, BlasiokDingNelson17]</a:t>
                </a:r>
              </a:p>
              <a:p>
                <a:endParaRPr lang="en-US" sz="3000" dirty="0">
                  <a:solidFill>
                    <a:srgbClr val="0070C0"/>
                  </a:solidFill>
                </a:endParaRPr>
              </a:p>
              <a:p>
                <a:endParaRPr lang="en-US" sz="3000" dirty="0">
                  <a:solidFill>
                    <a:srgbClr val="0070C0"/>
                  </a:solidFill>
                </a:endParaRPr>
              </a:p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</a:t>
                </a:r>
                <a:r>
                  <a:rPr lang="en-US" sz="3000" b="1" dirty="0">
                    <a:solidFill>
                      <a:srgbClr val="7030A0"/>
                    </a:solidFill>
                  </a:rPr>
                  <a:t>robust</a:t>
                </a:r>
                <a:r>
                  <a:rPr lang="en-US" sz="3000" dirty="0"/>
                  <a:t> algorithm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3000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moment </a:t>
                </a:r>
                <a:r>
                  <a:rPr lang="en-US" sz="3000" dirty="0">
                    <a:solidFill>
                      <a:srgbClr val="0070C0"/>
                    </a:solidFill>
                  </a:rPr>
                  <a:t>[WoodruffZhou21]</a:t>
                </a:r>
              </a:p>
              <a:p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2E7EF-1F5F-A1BF-F2A7-859A1A0C9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127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546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C166-4F59-C56C-E64D-79E3FB12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3F7D-92BB-BC0C-94C6-414BEDCE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Bounded Computation Paths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3D982-76FB-22A3-4E84-1B17012924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799618" cy="4788239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/>
                  <a:t>Consider a deterministic adversary, who will update their strategy based on the algorithm’s output sequence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0070C0"/>
                    </a:solidFill>
                  </a:rPr>
                  <a:t>[Ben-EliezerJayaramWoodruffYogev20]</a:t>
                </a:r>
                <a:endParaRPr lang="en-US" sz="3000" dirty="0"/>
              </a:p>
              <a:p>
                <a:r>
                  <a:rPr lang="en-US" sz="3000" dirty="0"/>
                  <a:t>If there are only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000" dirty="0"/>
                  <a:t> possible sequences, suffice to union bound over all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000" dirty="0"/>
                  <a:t> possible sequences, i.e., set failure probability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3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poly</m:t>
                        </m:r>
                        <m:d>
                          <m:d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den>
                    </m:f>
                  </m:oMath>
                </a14:m>
                <a:endParaRPr lang="en-US" sz="3000" dirty="0"/>
              </a:p>
              <a:p>
                <a:endParaRPr lang="en-US" sz="3000" dirty="0"/>
              </a:p>
              <a:p>
                <a:r>
                  <a:rPr lang="en-US" sz="3000" dirty="0"/>
                  <a:t>If space dependency for non-robust algorithm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3000" dirty="0"/>
                  <a:t>, this is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space overhead for robust algorithm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3D982-76FB-22A3-4E84-1B17012924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799618" cy="4788239"/>
              </a:xfrm>
              <a:blipFill>
                <a:blip r:embed="rId3"/>
                <a:stretch>
                  <a:fillRect l="-1186" t="-2545" r="-1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758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E2B3C-7E22-B923-74F8-6C09AE0E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E8E9-499F-0667-5A2D-B72FBFED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Bounded Computation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0DF906-0959-A952-2B5D-48DF7EE192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b="0" dirty="0"/>
                  <a:t>Suppose you have a randomized algorithm that, given an adaptively chosen stream of length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000" b="0" dirty="0"/>
                  <a:t>, outputs a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3000" b="0" dirty="0"/>
                  <a:t>-bit number on each update, which changes at most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000" b="0" dirty="0"/>
                  <a:t> times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r>
                  <a:rPr lang="en-US" sz="3200" dirty="0"/>
                  <a:t>How many different streams can there be?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𝑏𝑇</m:t>
                        </m:r>
                      </m:sup>
                    </m:sSup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32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Example</a:t>
                </a:r>
                <a:r>
                  <a:rPr lang="en-US" sz="3000" dirty="0"/>
                  <a:t>:  1 1 1 1 1 2 2 2 2 4 4 4 4 4 4 4 4 8 8 8 8 8 8 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Encoding</a:t>
                </a:r>
                <a:r>
                  <a:rPr lang="en-US" sz="3000" dirty="0"/>
                  <a:t>: 0 0 0 0 0 1 0 0 0 1 0 0 0 0 0 0 0 1 0 0 0 0 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0DF906-0959-A952-2B5D-48DF7EE192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333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DEF9BEB-604E-F341-B08E-DEEB79472BBE}"/>
              </a:ext>
            </a:extLst>
          </p:cNvPr>
          <p:cNvCxnSpPr>
            <a:cxnSpLocks/>
          </p:cNvCxnSpPr>
          <p:nvPr/>
        </p:nvCxnSpPr>
        <p:spPr>
          <a:xfrm flipH="1" flipV="1">
            <a:off x="4305300" y="6200775"/>
            <a:ext cx="1533525" cy="413088"/>
          </a:xfrm>
          <a:prstGeom prst="straightConnector1">
            <a:avLst/>
          </a:prstGeom>
          <a:ln w="28575">
            <a:solidFill>
              <a:srgbClr val="C40F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C3BB7B-6B76-1203-A9CB-7DD9D73D0DA0}"/>
              </a:ext>
            </a:extLst>
          </p:cNvPr>
          <p:cNvCxnSpPr>
            <a:cxnSpLocks/>
          </p:cNvCxnSpPr>
          <p:nvPr/>
        </p:nvCxnSpPr>
        <p:spPr>
          <a:xfrm flipH="1" flipV="1">
            <a:off x="5391150" y="6200775"/>
            <a:ext cx="590550" cy="413088"/>
          </a:xfrm>
          <a:prstGeom prst="straightConnector1">
            <a:avLst/>
          </a:prstGeom>
          <a:ln w="28575">
            <a:solidFill>
              <a:srgbClr val="C40F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09BEE4-32E5-EDF5-E42D-3ABEC6F418D9}"/>
              </a:ext>
            </a:extLst>
          </p:cNvPr>
          <p:cNvCxnSpPr>
            <a:cxnSpLocks/>
            <a:stCxn id="3" idx="2"/>
          </p:cNvCxnSpPr>
          <p:nvPr/>
        </p:nvCxnSpPr>
        <p:spPr>
          <a:xfrm flipV="1">
            <a:off x="6096000" y="6200775"/>
            <a:ext cx="1485900" cy="413088"/>
          </a:xfrm>
          <a:prstGeom prst="straightConnector1">
            <a:avLst/>
          </a:prstGeom>
          <a:ln w="28575">
            <a:solidFill>
              <a:srgbClr val="C40F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48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81FE-26B7-FA39-5B02-D39C83E5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3F2B-68E9-13FD-39FB-3C58D3CC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Bounded Computation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160F06-0BBA-2D83-FF03-0959AC46F2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Summary</a:t>
                </a:r>
                <a:r>
                  <a:rPr lang="en-US" sz="3000" dirty="0"/>
                  <a:t>: If output changes </a:t>
                </a:r>
                <a:r>
                  <a:rPr lang="en-US" sz="3000" b="0" dirty="0"/>
                  <a:t>at most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000" b="0" dirty="0"/>
                  <a:t> times, there are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3000" b="0" dirty="0"/>
                  <a:t> possible streams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If space dependency for non-robust algorithm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3000" dirty="0"/>
                  <a:t>, this is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space overhead for robust algorithm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For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-approximation for </a:t>
                </a:r>
                <a:r>
                  <a:rPr lang="en-US" sz="3000" dirty="0" err="1"/>
                  <a:t>polynomially</a:t>
                </a:r>
                <a:r>
                  <a:rPr lang="en-US" sz="3000" dirty="0"/>
                  <a:t>-bounded functions on insertion-only streams,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160F06-0BBA-2D83-FF03-0959AC46F2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13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FC86-1A12-F5CF-5D0F-8BF62A7D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7C19-EAE5-C392-9A0B-732110040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Differential Privacy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DBD1F-EBA7-91A0-64B6-6AABACBACF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Summary</a:t>
                </a:r>
                <a:r>
                  <a:rPr lang="en-US" sz="3000" dirty="0"/>
                  <a:t>: If output changes </a:t>
                </a:r>
                <a:r>
                  <a:rPr lang="en-US" sz="3000" b="0" dirty="0"/>
                  <a:t>at most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000" b="0" dirty="0"/>
                  <a:t> times, use roughly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3000" dirty="0"/>
                  <a:t> independent instances and report private median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This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rad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3000" dirty="0"/>
                  <a:t> space overhead for robust algorithm </a:t>
                </a:r>
                <a:r>
                  <a:rPr lang="en-US" dirty="0">
                    <a:solidFill>
                      <a:srgbClr val="0070C0"/>
                    </a:solidFill>
                  </a:rPr>
                  <a:t>[HassidimKaplanMansourMatiasStemmer20]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DBD1F-EBA7-91A0-64B6-6AABACBACF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54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9AC-DCE6-4371-8DE2-D617E99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Differential Privacy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1325563"/>
              </a:xfrm>
            </p:spPr>
            <p:txBody>
              <a:bodyPr>
                <a:no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chemeClr val="accent1"/>
                    </a:solidFill>
                  </a:rPr>
                  <a:t>[DMNS06] </a:t>
                </a:r>
                <a:r>
                  <a:rPr lang="en-US" sz="3200" dirty="0"/>
                  <a:t>Given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en-US" sz="3200" dirty="0"/>
                  <a:t>and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3200" dirty="0"/>
                  <a:t>, a randomized algorithm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3200" dirty="0"/>
                  <a:t> is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-differentially private if, for every neighboring frequency vectors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200" dirty="0"/>
                  <a:t> and for all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3200" dirty="0"/>
                  <a:t>,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1325563"/>
              </a:xfrm>
              <a:blipFill>
                <a:blip r:embed="rId3"/>
                <a:stretch>
                  <a:fillRect l="-1369" t="-9174" b="-54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106110-DC86-2970-71E6-6FD1BE53A9F7}"/>
                  </a:ext>
                </a:extLst>
              </p:cNvPr>
              <p:cNvSpPr txBox="1"/>
              <p:nvPr/>
            </p:nvSpPr>
            <p:spPr>
              <a:xfrm>
                <a:off x="2039470" y="3414426"/>
                <a:ext cx="811305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32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106110-DC86-2970-71E6-6FD1BE53A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470" y="3414426"/>
                <a:ext cx="811305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2D7605-326C-B9CF-1D08-12A96ADC35A9}"/>
                  </a:ext>
                </a:extLst>
              </p:cNvPr>
              <p:cNvSpPr txBox="1"/>
              <p:nvPr/>
            </p:nvSpPr>
            <p:spPr>
              <a:xfrm>
                <a:off x="419099" y="4811540"/>
                <a:ext cx="1135380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8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          </m:t>
                          </m:r>
                        </m:e>
                      </m:d>
                      <m:r>
                        <a:rPr lang="en-US" sz="8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8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8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  <m:r>
                            <a:rPr lang="en-US" sz="8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8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2D7605-326C-B9CF-1D08-12A96ADC3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9" y="4811540"/>
                <a:ext cx="11353800" cy="1323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012F46F-3E33-F607-244B-C989DDF5CF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911" y="4688992"/>
            <a:ext cx="839248" cy="1571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119EAB-42C0-ACD0-92F7-C5E19438EB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338" y="4575870"/>
            <a:ext cx="927876" cy="1803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21EC0E-C239-569F-05AA-0E349989D9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393" y="4626549"/>
            <a:ext cx="927876" cy="16361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4B1481-5582-1114-61C0-C9FA5B082E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597" y="4688992"/>
            <a:ext cx="839248" cy="15710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9EDE6D-58FA-1653-F062-0EA7B4853C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928" y="4575870"/>
            <a:ext cx="927876" cy="18038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679284-A918-37F2-95E3-63743A74E4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887" y="4659101"/>
            <a:ext cx="1102068" cy="157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65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9AC-DCE6-4371-8DE2-D617E99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Composition Theorems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261411"/>
              </a:xfrm>
            </p:spPr>
            <p:txBody>
              <a:bodyPr>
                <a:no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Basic composition</a:t>
                </a:r>
                <a:r>
                  <a:rPr lang="en-US" sz="3200" dirty="0"/>
                  <a:t>: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 is 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-differentially private algorithm for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200" dirty="0"/>
                  <a:t>. Then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-differentially private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200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Advanced composition</a:t>
                </a:r>
                <a:r>
                  <a:rPr lang="en-US" sz="3200" dirty="0"/>
                  <a:t>: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 is 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-differentially private algorithm for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200" dirty="0"/>
                  <a:t>. Then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sz="3200" dirty="0"/>
                  <a:t>-differentially private, for 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261411"/>
              </a:xfrm>
              <a:blipFill>
                <a:blip r:embed="rId3"/>
                <a:stretch>
                  <a:fillRect l="-1369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3486E4-BC41-27AE-DE03-608F2CDC1892}"/>
                  </a:ext>
                </a:extLst>
              </p:cNvPr>
              <p:cNvSpPr txBox="1"/>
              <p:nvPr/>
            </p:nvSpPr>
            <p:spPr>
              <a:xfrm>
                <a:off x="2911577" y="5470037"/>
                <a:ext cx="6096000" cy="6887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rad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p>
                          </m:sSup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3486E4-BC41-27AE-DE03-608F2CDC1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577" y="5470037"/>
                <a:ext cx="6096000" cy="6887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962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9AC-DCE6-4371-8DE2-D617E99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Private Median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261411"/>
              </a:xfrm>
            </p:spPr>
            <p:txBody>
              <a:bodyPr>
                <a:no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B050"/>
                    </a:solidFill>
                  </a:rPr>
                  <a:t>Theorem</a:t>
                </a:r>
                <a:r>
                  <a:rPr lang="en-US" sz="3200" dirty="0"/>
                  <a:t>: There exists an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3200" dirty="0"/>
                  <a:t>-DP algorithm that takes a dataset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3200" dirty="0"/>
                  <a:t> and outputs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3200" dirty="0"/>
                  <a:t> such that with probability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3200" dirty="0"/>
                  <a:t>, the rank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 in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320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num>
                      <m:den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3200" dirty="0"/>
                  <a:t>, where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func>
                          <m:func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3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endParaRPr lang="en-US" sz="3200" dirty="0"/>
              </a:p>
              <a:p>
                <a:pPr>
                  <a:buClr>
                    <a:schemeClr val="tx1"/>
                  </a:buClr>
                </a:pPr>
                <a:endParaRPr lang="en-US" sz="3200" dirty="0"/>
              </a:p>
              <a:p>
                <a:pPr>
                  <a:buClr>
                    <a:schemeClr val="tx1"/>
                  </a:buClr>
                </a:pPr>
                <a:endParaRPr lang="en-US" sz="3200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261411"/>
              </a:xfrm>
              <a:blipFill>
                <a:blip r:embed="rId3"/>
                <a:stretch>
                  <a:fillRect l="-1369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546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76579-5ACA-C424-E320-F024431F1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5D92-6BEA-B8F0-CCA1-5566626F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Generalization for DP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2B1A649D-6A0E-3E67-FF37-E19670101A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584701"/>
              </a:xfrm>
            </p:spPr>
            <p:txBody>
              <a:bodyPr>
                <a:no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>
                    <a:solidFill>
                      <a:srgbClr val="0070C0"/>
                    </a:solidFill>
                  </a:rPr>
                  <a:t>[DworkFeldmanHardtPitassiReingoldRoth15]</a:t>
                </a:r>
                <a:r>
                  <a:rPr lang="en-US" sz="3200" dirty="0"/>
                  <a:t>: Let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p>
                  </m:oMath>
                </a14:m>
                <a:r>
                  <a:rPr lang="en-US" sz="3200" dirty="0"/>
                  <a:t> be an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-DP algorithm that takes a dataset of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and outputs predicate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en-US" sz="3200" dirty="0"/>
                  <a:t>. Let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/>
                  <a:t> be a distribution over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3200" dirty="0"/>
                  <a:t> be a dataset with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</a:t>
                </a:r>
                <a:r>
                  <a:rPr lang="en-US" sz="3200" dirty="0" err="1"/>
                  <a:t>i.i.d.</a:t>
                </a:r>
                <a:r>
                  <a:rPr lang="en-US" sz="3200" dirty="0"/>
                  <a:t> samples from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/>
                  <a:t>. Then</a:t>
                </a:r>
              </a:p>
              <a:p>
                <a:pPr>
                  <a:buClr>
                    <a:schemeClr val="tx1"/>
                  </a:buClr>
                </a:pPr>
                <a:endParaRPr lang="en-US" sz="3200" dirty="0"/>
              </a:p>
              <a:p>
                <a:pPr>
                  <a:buClr>
                    <a:schemeClr val="tx1"/>
                  </a:buClr>
                </a:pPr>
                <a:endParaRPr lang="en-US" sz="3200" dirty="0"/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200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/>
                  <a:t>“Randomness for algorithms we sample remains good”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2B1A649D-6A0E-3E67-FF37-E19670101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584701"/>
              </a:xfrm>
              <a:blipFill>
                <a:blip r:embed="rId3"/>
                <a:stretch>
                  <a:fillRect l="-1369" t="-2656" b="-7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189710-8B5E-8149-8640-3A1848D8CCBD}"/>
                  </a:ext>
                </a:extLst>
              </p:cNvPr>
              <p:cNvSpPr txBox="1"/>
              <p:nvPr/>
            </p:nvSpPr>
            <p:spPr>
              <a:xfrm>
                <a:off x="1310124" y="4362855"/>
                <a:ext cx="9298906" cy="1461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←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</m:d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  <m: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∼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≥10</m:t>
                              </m:r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189710-8B5E-8149-8640-3A1848D8C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24" y="4362855"/>
                <a:ext cx="9298906" cy="1461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924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126" y="365125"/>
            <a:ext cx="364267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Questions?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B03FB5-EC2A-4E69-8171-BD44A3FEBF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39317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Upcoming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C584AE-C04C-4EC9-8B62-B1CC3A1D9C20}"/>
              </a:ext>
            </a:extLst>
          </p:cNvPr>
          <p:cNvCxnSpPr>
            <a:cxnSpLocks/>
          </p:cNvCxnSpPr>
          <p:nvPr/>
        </p:nvCxnSpPr>
        <p:spPr>
          <a:xfrm>
            <a:off x="6138420" y="307468"/>
            <a:ext cx="0" cy="62430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D31CE9-0699-E585-351C-DD6008720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Insertion-deletion streams</a:t>
            </a:r>
          </a:p>
        </p:txBody>
      </p:sp>
    </p:spTree>
    <p:extLst>
      <p:ext uri="{BB962C8B-B14F-4D97-AF65-F5344CB8AC3E}">
        <p14:creationId xmlns:p14="http://schemas.microsoft.com/office/powerpoint/2010/main" val="295307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E265-0410-7B5F-3E06-2512B3CCE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26AE-43D7-0C81-A216-BB13EBC2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Insertion-Deletion Streams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BAB54A-507D-FC68-9904-DD98D6BBBB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30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000" dirty="0"/>
                  <a:t>algorithm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3000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moment </a:t>
                </a:r>
                <a:r>
                  <a:rPr lang="en-US" sz="3000" dirty="0">
                    <a:solidFill>
                      <a:srgbClr val="0070C0"/>
                    </a:solidFill>
                  </a:rPr>
                  <a:t>[AlonMatiasSzegedy99]</a:t>
                </a:r>
              </a:p>
              <a:p>
                <a:endParaRPr lang="en-US" sz="3000" dirty="0">
                  <a:solidFill>
                    <a:srgbClr val="0070C0"/>
                  </a:solidFill>
                </a:endParaRPr>
              </a:p>
              <a:p>
                <a:r>
                  <a:rPr lang="en-US" sz="3000" dirty="0"/>
                  <a:t>Space for </a:t>
                </a:r>
                <a:r>
                  <a:rPr lang="en-US" sz="3000" b="1" dirty="0">
                    <a:solidFill>
                      <a:srgbClr val="7030A0"/>
                    </a:solidFill>
                  </a:rPr>
                  <a:t>robust</a:t>
                </a:r>
                <a:r>
                  <a:rPr lang="en-US" sz="3000" dirty="0"/>
                  <a:t> streaming algorithm for 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moment?</a:t>
                </a:r>
                <a:endParaRPr lang="en-US" sz="2600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en-US" sz="2600" dirty="0"/>
                  <a:t>Sketch switching / bounded computation paths: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sz="3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rgbClr val="C00000"/>
                    </a:solidFill>
                  </a:rPr>
                  <a:t> </a:t>
                </a:r>
                <a:r>
                  <a:rPr lang="en-US" sz="2600" dirty="0"/>
                  <a:t>space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, maintain vector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600" dirty="0"/>
                  <a:t> deterministically with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rgbClr val="C00000"/>
                    </a:solidFill>
                  </a:rPr>
                  <a:t> </a:t>
                </a:r>
                <a:r>
                  <a:rPr lang="en-US" sz="2600" dirty="0"/>
                  <a:t>bits.</a:t>
                </a:r>
              </a:p>
              <a:p>
                <a:pPr lvl="1"/>
                <a:r>
                  <a:rPr lang="en-US" sz="2600" dirty="0"/>
                  <a:t>Using differential privacy: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6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  <m:r>
                      <a:rPr lang="en-US" sz="2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rgbClr val="C00000"/>
                    </a:solidFill>
                  </a:rPr>
                  <a:t> </a:t>
                </a:r>
                <a:r>
                  <a:rPr lang="en-US" sz="2600" dirty="0"/>
                  <a:t>space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BAB54A-507D-FC68-9904-DD98D6BBBB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28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4B52E-BC3E-78A6-2102-CAC42DE1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A442-46F4-5EC2-538B-71C2F230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Linear Sketch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0105A2-8F4D-F4C5-0DEB-FB496D01D2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9999"/>
                <a:ext cx="10684397" cy="4955185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200" dirty="0"/>
                  <a:t>Algorithm maintains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en-US" sz="3200" dirty="0"/>
                  <a:t> for some matrix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 throughout the stream</a:t>
                </a:r>
              </a:p>
              <a:p>
                <a:pPr marL="457200" lvl="1" indent="0">
                  <a:buClr>
                    <a:schemeClr val="tx1"/>
                  </a:buClr>
                  <a:buNone/>
                </a:pPr>
                <a:endParaRPr lang="en-US" sz="3200" dirty="0"/>
              </a:p>
              <a:p>
                <a:pPr>
                  <a:buClr>
                    <a:schemeClr val="tx1"/>
                  </a:buClr>
                </a:pPr>
                <a:r>
                  <a:rPr lang="en-US" sz="3200" dirty="0"/>
                  <a:t>In </a:t>
                </a:r>
                <a:r>
                  <a:rPr lang="en-US" sz="3200" dirty="0">
                    <a:solidFill>
                      <a:schemeClr val="accent6"/>
                    </a:solidFill>
                  </a:rPr>
                  <a:t>classical</a:t>
                </a:r>
                <a:r>
                  <a:rPr lang="en-US" sz="3200" dirty="0"/>
                  <a:t> streaming: “All insertion-deletion streaming algorithms might as well be linear sketches” </a:t>
                </a:r>
                <a:r>
                  <a:rPr lang="en-US" sz="3200" dirty="0">
                    <a:solidFill>
                      <a:srgbClr val="0070C0"/>
                    </a:solidFill>
                  </a:rPr>
                  <a:t>[LiNguyenWoodruff14, AiHuLiWoodruff16, JiangLiuYu26]</a:t>
                </a:r>
              </a:p>
              <a:p>
                <a:pPr>
                  <a:buClr>
                    <a:schemeClr val="tx1"/>
                  </a:buClr>
                </a:pPr>
                <a:endParaRPr lang="en-US" sz="3200" dirty="0">
                  <a:solidFill>
                    <a:srgbClr val="0070C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sz="3200" dirty="0"/>
                  <a:t>Any multiplicative approximation algorithm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3200" dirty="0"/>
                  <a:t> estimation based on a linear sketch over an </a:t>
                </a:r>
                <a:r>
                  <a:rPr lang="en-US" sz="3200" dirty="0">
                    <a:solidFill>
                      <a:schemeClr val="accent6"/>
                    </a:solidFill>
                  </a:rPr>
                  <a:t>adaptively</a:t>
                </a:r>
                <a:r>
                  <a:rPr lang="en-US" sz="3200" dirty="0"/>
                  <a:t> chosen stream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space </a:t>
                </a:r>
                <a:r>
                  <a:rPr lang="en-US" sz="3200" dirty="0">
                    <a:solidFill>
                      <a:srgbClr val="0070C0"/>
                    </a:solidFill>
                  </a:rPr>
                  <a:t>[HardtWoodruff13, GribelyukLinWoodruffYuZhou25]</a:t>
                </a:r>
              </a:p>
              <a:p>
                <a:pPr>
                  <a:buClr>
                    <a:schemeClr val="tx1"/>
                  </a:buClr>
                </a:pPr>
                <a:endParaRPr lang="en-US" sz="3200" dirty="0">
                  <a:solidFill>
                    <a:srgbClr val="0070C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sz="3200" dirty="0"/>
                  <a:t>Conjecture: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space is necessary for any </a:t>
                </a:r>
                <a:r>
                  <a:rPr lang="en-US" sz="3200" dirty="0" err="1"/>
                  <a:t>adversarially</a:t>
                </a:r>
                <a:r>
                  <a:rPr lang="en-US" sz="3200" dirty="0"/>
                  <a:t> robust insertion-deletion algorithm</a:t>
                </a:r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0105A2-8F4D-F4C5-0DEB-FB496D01D2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9999"/>
                <a:ext cx="10684397" cy="4955185"/>
              </a:xfrm>
              <a:blipFill>
                <a:blip r:embed="rId3"/>
                <a:stretch>
                  <a:fillRect l="-950" t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>
                <a:extLst>
                  <a:ext uri="{FF2B5EF4-FFF2-40B4-BE49-F238E27FC236}">
                    <a16:creationId xmlns:a16="http://schemas.microsoft.com/office/drawing/2014/main" id="{A5A79305-1E3E-28B6-3955-1AD3C5F71F09}"/>
                  </a:ext>
                </a:extLst>
              </p:cNvPr>
              <p:cNvSpPr/>
              <p:nvPr/>
            </p:nvSpPr>
            <p:spPr>
              <a:xfrm>
                <a:off x="4649001" y="1897381"/>
                <a:ext cx="4677879" cy="2337736"/>
              </a:xfrm>
              <a:prstGeom prst="wedgeRectCallout">
                <a:avLst/>
              </a:prstGeom>
              <a:solidFill>
                <a:srgbClr val="ABABD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Adaptive attack approximately learns the </a:t>
                </a:r>
                <a:r>
                  <a:rPr lang="en-US" sz="2200" dirty="0" err="1"/>
                  <a:t>rowspan</a:t>
                </a:r>
                <a:r>
                  <a:rPr lang="en-US" sz="2200" dirty="0"/>
                  <a:t> of the sketching matrix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Hard distribution: query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Ker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200" dirty="0"/>
                  <a:t> 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/>
                  <a:t>, each </a:t>
                </a:r>
                <a:r>
                  <a:rPr lang="en-US" sz="2200" dirty="0" err="1"/>
                  <a:t>w.p.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. </a:t>
                </a:r>
              </a:p>
            </p:txBody>
          </p:sp>
        </mc:Choice>
        <mc:Fallback xmlns="">
          <p:sp>
            <p:nvSpPr>
              <p:cNvPr id="4" name="Rectangular Callout 3">
                <a:extLst>
                  <a:ext uri="{FF2B5EF4-FFF2-40B4-BE49-F238E27FC236}">
                    <a16:creationId xmlns:a16="http://schemas.microsoft.com/office/drawing/2014/main" id="{A5A79305-1E3E-28B6-3955-1AD3C5F71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001" y="1897381"/>
                <a:ext cx="4677879" cy="2337736"/>
              </a:xfrm>
              <a:prstGeom prst="wedgeRectCallout">
                <a:avLst/>
              </a:prstGeom>
              <a:blipFill>
                <a:blip r:embed="rId4"/>
                <a:stretch>
                  <a:fillRect l="-1430" r="-2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20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4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2970E-5FCC-F6AC-516D-415134A84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4EA4D2-8CB4-8F62-B378-060BBC1A08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Why conjecture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space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moments?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4EA4D2-8CB4-8F62-B378-060BBC1A08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C93B8-79E5-1F0C-B983-697DB46B10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the following algorithm: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want to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satisfies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’s are independent/unrelated, unclear how to combine them; if can combine, </a:t>
                </a:r>
                <a:r>
                  <a:rPr lang="en-US" dirty="0" err="1"/>
                  <a:t>rowspans</a:t>
                </a:r>
                <a:r>
                  <a:rPr lang="en-US" dirty="0"/>
                  <a:t> must be “close” to a single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C93B8-79E5-1F0C-B983-697DB46B10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0CDD937-175C-EF4E-6EF1-57F9EAA9A110}"/>
              </a:ext>
            </a:extLst>
          </p:cNvPr>
          <p:cNvSpPr txBox="1"/>
          <p:nvPr/>
        </p:nvSpPr>
        <p:spPr>
          <a:xfrm>
            <a:off x="1301610" y="2690336"/>
            <a:ext cx="91629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568EF-8722-DDDF-3635-0D19BAF6B417}"/>
              </a:ext>
            </a:extLst>
          </p:cNvPr>
          <p:cNvSpPr txBox="1"/>
          <p:nvPr/>
        </p:nvSpPr>
        <p:spPr>
          <a:xfrm>
            <a:off x="2399213" y="2690336"/>
            <a:ext cx="91629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480B6-322C-7260-525F-8235DD60A00F}"/>
              </a:ext>
            </a:extLst>
          </p:cNvPr>
          <p:cNvSpPr txBox="1"/>
          <p:nvPr/>
        </p:nvSpPr>
        <p:spPr>
          <a:xfrm>
            <a:off x="3496816" y="2690336"/>
            <a:ext cx="916295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DAE09-D568-779A-9162-999BCCEEB3EE}"/>
              </a:ext>
            </a:extLst>
          </p:cNvPr>
          <p:cNvSpPr txBox="1"/>
          <p:nvPr/>
        </p:nvSpPr>
        <p:spPr>
          <a:xfrm>
            <a:off x="4594419" y="2690336"/>
            <a:ext cx="91629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 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83EC1CA-192D-A1A0-719C-D7E8D03CF150}"/>
              </a:ext>
            </a:extLst>
          </p:cNvPr>
          <p:cNvSpPr/>
          <p:nvPr/>
        </p:nvSpPr>
        <p:spPr>
          <a:xfrm rot="16200000">
            <a:off x="1575205" y="2881174"/>
            <a:ext cx="367213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3E176802-E075-A109-3CAB-5309F3968F17}"/>
              </a:ext>
            </a:extLst>
          </p:cNvPr>
          <p:cNvSpPr/>
          <p:nvPr/>
        </p:nvSpPr>
        <p:spPr>
          <a:xfrm rot="16200000">
            <a:off x="2672807" y="2886993"/>
            <a:ext cx="367213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70108A7D-FD81-6FC5-4815-C9A0C11C88D7}"/>
              </a:ext>
            </a:extLst>
          </p:cNvPr>
          <p:cNvSpPr/>
          <p:nvPr/>
        </p:nvSpPr>
        <p:spPr>
          <a:xfrm rot="16200000">
            <a:off x="3769463" y="2881175"/>
            <a:ext cx="367213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CAAB7FB9-2464-4FBB-99DB-9B39EB30A370}"/>
              </a:ext>
            </a:extLst>
          </p:cNvPr>
          <p:cNvSpPr/>
          <p:nvPr/>
        </p:nvSpPr>
        <p:spPr>
          <a:xfrm rot="16200000">
            <a:off x="4867066" y="2881175"/>
            <a:ext cx="367213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F1A898-1C15-200E-9C02-679C2C1D8A33}"/>
                  </a:ext>
                </a:extLst>
              </p:cNvPr>
              <p:cNvSpPr txBox="1"/>
              <p:nvPr/>
            </p:nvSpPr>
            <p:spPr>
              <a:xfrm>
                <a:off x="1528427" y="2690336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0A07BA-E7D4-4736-3841-5A471529E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27" y="2690336"/>
                <a:ext cx="4607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8C393C-1626-CD0F-D4D4-7F4E3F9432FA}"/>
                  </a:ext>
                </a:extLst>
              </p:cNvPr>
              <p:cNvSpPr txBox="1"/>
              <p:nvPr/>
            </p:nvSpPr>
            <p:spPr>
              <a:xfrm>
                <a:off x="2626029" y="26903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410739-FF1A-1291-D24B-03FC4649C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29" y="2690336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7E6A25-B868-0CAE-7A58-A66422543133}"/>
                  </a:ext>
                </a:extLst>
              </p:cNvPr>
              <p:cNvSpPr txBox="1"/>
              <p:nvPr/>
            </p:nvSpPr>
            <p:spPr>
              <a:xfrm>
                <a:off x="3722685" y="26903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537E678-A595-7849-5C0D-1F8CEB58E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685" y="2690336"/>
                <a:ext cx="46609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544C26-CF83-6C46-8FA9-27987BD4CCDB}"/>
                  </a:ext>
                </a:extLst>
              </p:cNvPr>
              <p:cNvSpPr txBox="1"/>
              <p:nvPr/>
            </p:nvSpPr>
            <p:spPr>
              <a:xfrm>
                <a:off x="4817627" y="2690336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5C7283-07E0-6098-C115-BF96DB4B0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627" y="2690336"/>
                <a:ext cx="46609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28F09F-E4D8-F8BF-15E7-814E84A8FE4C}"/>
                  </a:ext>
                </a:extLst>
              </p:cNvPr>
              <p:cNvSpPr txBox="1"/>
              <p:nvPr/>
            </p:nvSpPr>
            <p:spPr>
              <a:xfrm>
                <a:off x="1324364" y="3518358"/>
                <a:ext cx="8698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44FB23-01DA-768E-8408-E6EA7525D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364" y="3518358"/>
                <a:ext cx="869841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F60EBD-2F58-756F-8E7D-3779156E6B92}"/>
                  </a:ext>
                </a:extLst>
              </p:cNvPr>
              <p:cNvSpPr txBox="1"/>
              <p:nvPr/>
            </p:nvSpPr>
            <p:spPr>
              <a:xfrm>
                <a:off x="2375152" y="3521981"/>
                <a:ext cx="8698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7FDE06-B6D8-B106-7073-63E3F6686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152" y="3521981"/>
                <a:ext cx="86984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6227ED-3DAA-3E51-D245-06CB60723879}"/>
                  </a:ext>
                </a:extLst>
              </p:cNvPr>
              <p:cNvSpPr txBox="1"/>
              <p:nvPr/>
            </p:nvSpPr>
            <p:spPr>
              <a:xfrm>
                <a:off x="3540429" y="3514644"/>
                <a:ext cx="8698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F910530-6E85-3472-BD6C-01D6ADA5D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429" y="3514644"/>
                <a:ext cx="869841" cy="430887"/>
              </a:xfrm>
              <a:prstGeom prst="rect">
                <a:avLst/>
              </a:prstGeom>
              <a:blipFill>
                <a:blip r:embed="rId10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14B11C-5873-B10B-4CE7-F602EF4044C0}"/>
                  </a:ext>
                </a:extLst>
              </p:cNvPr>
              <p:cNvSpPr txBox="1"/>
              <p:nvPr/>
            </p:nvSpPr>
            <p:spPr>
              <a:xfrm>
                <a:off x="4613970" y="3514645"/>
                <a:ext cx="8698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3A9420-7F00-41DB-C972-19B46CCFD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970" y="3514645"/>
                <a:ext cx="869841" cy="430887"/>
              </a:xfrm>
              <a:prstGeom prst="rect">
                <a:avLst/>
              </a:prstGeom>
              <a:blipFill>
                <a:blip r:embed="rId11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2D9AA6-364D-B9C1-3011-272BDC036E73}"/>
                  </a:ext>
                </a:extLst>
              </p:cNvPr>
              <p:cNvSpPr txBox="1"/>
              <p:nvPr/>
            </p:nvSpPr>
            <p:spPr>
              <a:xfrm>
                <a:off x="7060948" y="1825625"/>
                <a:ext cx="5131052" cy="1869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,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is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independent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linear sketch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/>
                  <a:t>with each entry i.i.d.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∼</m:t>
                    </m:r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−1, 1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has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rows, 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⁡[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1±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]≥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2D9AA6-364D-B9C1-3011-272BDC036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948" y="1825625"/>
                <a:ext cx="5131052" cy="1869423"/>
              </a:xfrm>
              <a:prstGeom prst="rect">
                <a:avLst/>
              </a:prstGeom>
              <a:blipFill>
                <a:blip r:embed="rId12"/>
                <a:stretch>
                  <a:fillRect l="-1069" t="-1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790B567E-9603-41EA-9BD4-CB8CEFBA1846}"/>
              </a:ext>
            </a:extLst>
          </p:cNvPr>
          <p:cNvSpPr txBox="1"/>
          <p:nvPr/>
        </p:nvSpPr>
        <p:spPr>
          <a:xfrm>
            <a:off x="5506925" y="2315719"/>
            <a:ext cx="541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70160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8E4E-422F-01C8-6146-C37AAA81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0072-3A2D-E9FD-D71F-5FA113A94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13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Our Results, Adversarial Robustness on  Insertion-Deletion Streams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2EE6F-0B6D-65E2-E943-0859D3B9F9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3000" dirty="0"/>
                  <a:t>We refute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conjecture!! We use a non-linear sketch!!</a:t>
                </a:r>
              </a:p>
              <a:p>
                <a:endParaRPr lang="en-US" sz="3000" dirty="0"/>
              </a:p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algorithm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3000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moment</a:t>
                </a:r>
                <a:endParaRPr lang="en-US" sz="3000" dirty="0">
                  <a:solidFill>
                    <a:srgbClr val="0070C0"/>
                  </a:solidFill>
                </a:endParaRPr>
              </a:p>
              <a:p>
                <a:endParaRPr lang="en-US" sz="3000" dirty="0">
                  <a:solidFill>
                    <a:srgbClr val="0070C0"/>
                  </a:solidFill>
                </a:endParaRPr>
              </a:p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algorithm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heavy-hitters</a:t>
                </a:r>
              </a:p>
              <a:p>
                <a:endParaRPr lang="en-US" sz="3000" dirty="0">
                  <a:solidFill>
                    <a:srgbClr val="0070C0"/>
                  </a:solidFill>
                </a:endParaRPr>
              </a:p>
              <a:p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3000" dirty="0">
                    <a:solidFill>
                      <a:srgbClr val="7030A0"/>
                    </a:solidFill>
                  </a:rPr>
                  <a:t> </a:t>
                </a:r>
                <a:r>
                  <a:rPr lang="en-US" sz="3000" dirty="0"/>
                  <a:t>overhead</a:t>
                </a:r>
                <a:r>
                  <a:rPr lang="en-US" sz="3000" dirty="0">
                    <a:solidFill>
                      <a:srgbClr val="7030A0"/>
                    </a:solidFill>
                  </a:rPr>
                  <a:t> </a:t>
                </a:r>
                <a:r>
                  <a:rPr lang="en-US" sz="3000" dirty="0"/>
                  <a:t>for algorithm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3000" dirty="0"/>
                  <a:t>-approximation to functions with approximate triangle inequality; trade-off between space blow-up and approximation factor</a:t>
                </a:r>
              </a:p>
              <a:p>
                <a:pPr marL="0" indent="0">
                  <a:buNone/>
                </a:pPr>
                <a:endParaRPr lang="en-US" sz="3000" i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2EE6F-0B6D-65E2-E943-0859D3B9F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043" t="-2799" b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651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29E0-80E2-63DD-738A-BD7BA206B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E787-E8FD-E498-CF82-274C2824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B2AAD-07A3-DF6D-BD39-2519C6D09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0967"/>
                <a:ext cx="10515600" cy="5252897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Decompose frequency vector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000" dirty="0"/>
                  <a:t> as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Use sketch matrix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𝐴𝑧</m:t>
                    </m:r>
                  </m:oMath>
                </a14:m>
                <a:r>
                  <a:rPr lang="en-US" sz="3000" dirty="0"/>
                  <a:t> for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 and sketch matrix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𝐵𝑞</m:t>
                    </m:r>
                  </m:oMath>
                </a14:m>
                <a:r>
                  <a:rPr lang="en-US" sz="3000" dirty="0"/>
                  <a:t> for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(independent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sketches)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Maintain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000" dirty="0"/>
                  <a:t> in the background 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Focus on protecting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000" dirty="0">
                    <a:solidFill>
                      <a:srgbClr val="00B050"/>
                    </a:solidFill>
                  </a:rPr>
                  <a:t> for now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B2AAD-07A3-DF6D-BD39-2519C6D09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0967"/>
                <a:ext cx="10515600" cy="5252897"/>
              </a:xfrm>
              <a:blipFill>
                <a:blip r:embed="rId3"/>
                <a:stretch>
                  <a:fillRect l="-1217" t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64746D-99B5-A881-2E86-558E5E682EE8}"/>
              </a:ext>
            </a:extLst>
          </p:cNvPr>
          <p:cNvCxnSpPr/>
          <p:nvPr/>
        </p:nvCxnSpPr>
        <p:spPr>
          <a:xfrm>
            <a:off x="1714499" y="5455423"/>
            <a:ext cx="78028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FEAD35-9F56-9203-1776-C99AC34D1D97}"/>
                  </a:ext>
                </a:extLst>
              </p:cNvPr>
              <p:cNvSpPr txBox="1"/>
              <p:nvPr/>
            </p:nvSpPr>
            <p:spPr>
              <a:xfrm>
                <a:off x="3672838" y="3813716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FEAD35-9F56-9203-1776-C99AC34D1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38" y="3813716"/>
                <a:ext cx="12192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AC3769E9-F9CF-651A-978A-477BDCD4C4B6}"/>
              </a:ext>
            </a:extLst>
          </p:cNvPr>
          <p:cNvSpPr/>
          <p:nvPr/>
        </p:nvSpPr>
        <p:spPr>
          <a:xfrm rot="16200000">
            <a:off x="5374794" y="2418869"/>
            <a:ext cx="413711" cy="773430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66827-96FF-D26A-6922-FE0356B56118}"/>
              </a:ext>
            </a:extLst>
          </p:cNvPr>
          <p:cNvSpPr txBox="1"/>
          <p:nvPr/>
        </p:nvSpPr>
        <p:spPr>
          <a:xfrm>
            <a:off x="9715506" y="4948392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Stream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2B9508-CBCF-129A-F867-8CC02821AC99}"/>
              </a:ext>
            </a:extLst>
          </p:cNvPr>
          <p:cNvSpPr txBox="1"/>
          <p:nvPr/>
        </p:nvSpPr>
        <p:spPr>
          <a:xfrm>
            <a:off x="1714498" y="5637381"/>
            <a:ext cx="77343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F4D4EC-6431-3785-2E85-3CD558A64EF9}"/>
              </a:ext>
            </a:extLst>
          </p:cNvPr>
          <p:cNvSpPr txBox="1"/>
          <p:nvPr/>
        </p:nvSpPr>
        <p:spPr>
          <a:xfrm>
            <a:off x="1714498" y="4874707"/>
            <a:ext cx="51358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BA7903-A25C-8A97-0EEE-7DA6DF2C53FB}"/>
              </a:ext>
            </a:extLst>
          </p:cNvPr>
          <p:cNvSpPr txBox="1"/>
          <p:nvPr/>
        </p:nvSpPr>
        <p:spPr>
          <a:xfrm>
            <a:off x="6850380" y="4874707"/>
            <a:ext cx="25984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DCDED33-FE21-6DB8-3FFF-2D65F8228409}"/>
              </a:ext>
            </a:extLst>
          </p:cNvPr>
          <p:cNvSpPr/>
          <p:nvPr/>
        </p:nvSpPr>
        <p:spPr>
          <a:xfrm rot="5400000">
            <a:off x="4048911" y="1975851"/>
            <a:ext cx="413711" cy="513588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34483A0-F9A5-CD7A-5511-E5D780432E8E}"/>
              </a:ext>
            </a:extLst>
          </p:cNvPr>
          <p:cNvSpPr/>
          <p:nvPr/>
        </p:nvSpPr>
        <p:spPr>
          <a:xfrm rot="5400000">
            <a:off x="7942733" y="3244582"/>
            <a:ext cx="413711" cy="259841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93B5C1-7551-CCC4-F946-8CD29B6498A1}"/>
                  </a:ext>
                </a:extLst>
              </p:cNvPr>
              <p:cNvSpPr txBox="1"/>
              <p:nvPr/>
            </p:nvSpPr>
            <p:spPr>
              <a:xfrm>
                <a:off x="4972048" y="6369075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93B5C1-7551-CCC4-F946-8CD29B649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048" y="6369075"/>
                <a:ext cx="12192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B92A28-C6F1-A826-984F-E2D78D461709}"/>
                  </a:ext>
                </a:extLst>
              </p:cNvPr>
              <p:cNvSpPr txBox="1"/>
              <p:nvPr/>
            </p:nvSpPr>
            <p:spPr>
              <a:xfrm>
                <a:off x="7539988" y="3813716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B92A28-C6F1-A826-984F-E2D78D461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988" y="3813716"/>
                <a:ext cx="1219200" cy="523220"/>
              </a:xfrm>
              <a:prstGeom prst="rect">
                <a:avLst/>
              </a:prstGeom>
              <a:blipFill>
                <a:blip r:embed="rId6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11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6758-A870-5DE8-681B-47C4C130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A950-5F6D-4E41-1694-0AEF1AA5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85183-D4F9-4DBB-8D08-C7A0DFB4B5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Since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, then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𝐵𝑥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𝐵𝑧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𝐵𝑞</m:t>
                    </m:r>
                  </m:oMath>
                </a14:m>
                <a:endParaRPr lang="en-US" sz="30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Initialized and maintained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𝐵𝑞</m:t>
                    </m:r>
                  </m:oMath>
                </a14:m>
                <a:r>
                  <a:rPr lang="en-US" sz="3000" dirty="0"/>
                  <a:t> at the beginning of the block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Don’t have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, so how to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200" dirty="0"/>
                  <a:t>?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85183-D4F9-4DBB-8D08-C7A0DFB4B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4D1619-73D8-CC13-D492-544AC909DC4E}"/>
              </a:ext>
            </a:extLst>
          </p:cNvPr>
          <p:cNvCxnSpPr/>
          <p:nvPr/>
        </p:nvCxnSpPr>
        <p:spPr>
          <a:xfrm>
            <a:off x="1705264" y="5035728"/>
            <a:ext cx="78028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8D1C4B-8E08-13CE-7FD4-CC9192769AB3}"/>
                  </a:ext>
                </a:extLst>
              </p:cNvPr>
              <p:cNvSpPr txBox="1"/>
              <p:nvPr/>
            </p:nvSpPr>
            <p:spPr>
              <a:xfrm>
                <a:off x="3663601" y="3408572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8D1C4B-8E08-13CE-7FD4-CC9192769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601" y="3408572"/>
                <a:ext cx="12192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D82C2871-F0DC-FE69-99C1-5BB78F47E321}"/>
              </a:ext>
            </a:extLst>
          </p:cNvPr>
          <p:cNvSpPr/>
          <p:nvPr/>
        </p:nvSpPr>
        <p:spPr>
          <a:xfrm rot="16200000">
            <a:off x="5365559" y="1999174"/>
            <a:ext cx="413711" cy="773430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F5997-C27B-2756-0FA5-379338B90026}"/>
              </a:ext>
            </a:extLst>
          </p:cNvPr>
          <p:cNvSpPr txBox="1"/>
          <p:nvPr/>
        </p:nvSpPr>
        <p:spPr>
          <a:xfrm>
            <a:off x="9706269" y="4804895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Stream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1C6BFC-015A-0D25-EFAF-16886357DE96}"/>
              </a:ext>
            </a:extLst>
          </p:cNvPr>
          <p:cNvSpPr txBox="1"/>
          <p:nvPr/>
        </p:nvSpPr>
        <p:spPr>
          <a:xfrm>
            <a:off x="1705263" y="5217686"/>
            <a:ext cx="77343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E34B0-AA87-E99D-0E4A-1CCC148A8250}"/>
              </a:ext>
            </a:extLst>
          </p:cNvPr>
          <p:cNvSpPr txBox="1"/>
          <p:nvPr/>
        </p:nvSpPr>
        <p:spPr>
          <a:xfrm>
            <a:off x="1705263" y="4455012"/>
            <a:ext cx="51358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19B4FA-801C-647C-3B66-28F83C15E8CD}"/>
              </a:ext>
            </a:extLst>
          </p:cNvPr>
          <p:cNvSpPr txBox="1"/>
          <p:nvPr/>
        </p:nvSpPr>
        <p:spPr>
          <a:xfrm>
            <a:off x="6841145" y="4455012"/>
            <a:ext cx="25984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FA008075-34B2-0289-4560-5D5F96969A5F}"/>
              </a:ext>
            </a:extLst>
          </p:cNvPr>
          <p:cNvSpPr/>
          <p:nvPr/>
        </p:nvSpPr>
        <p:spPr>
          <a:xfrm rot="5400000">
            <a:off x="4066346" y="1570708"/>
            <a:ext cx="413711" cy="513588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3EB05A85-9B30-D676-39ED-43ACAFEF4F59}"/>
              </a:ext>
            </a:extLst>
          </p:cNvPr>
          <p:cNvSpPr/>
          <p:nvPr/>
        </p:nvSpPr>
        <p:spPr>
          <a:xfrm rot="5400000">
            <a:off x="7933498" y="2848785"/>
            <a:ext cx="413711" cy="259841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643B42-F1B6-3282-3047-7B8A0843F74A}"/>
                  </a:ext>
                </a:extLst>
              </p:cNvPr>
              <p:cNvSpPr txBox="1"/>
              <p:nvPr/>
            </p:nvSpPr>
            <p:spPr>
              <a:xfrm>
                <a:off x="5115216" y="6225580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643B42-F1B6-3282-3047-7B8A0843F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216" y="6225580"/>
                <a:ext cx="12192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34CD9E-FADA-9BA7-C4A0-9223A2EA377A}"/>
                  </a:ext>
                </a:extLst>
              </p:cNvPr>
              <p:cNvSpPr txBox="1"/>
              <p:nvPr/>
            </p:nvSpPr>
            <p:spPr>
              <a:xfrm>
                <a:off x="7530753" y="3408572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34CD9E-FADA-9BA7-C4A0-9223A2EA3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753" y="3408572"/>
                <a:ext cx="12192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574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5315B-4DCE-6BDB-6513-042058A3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1FD2-4EBF-A050-38B0-18733521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9228E-4598-EB4E-8FA0-46D84697EA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Since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⟨"/>
                        <m:endChr m:val="⟩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9228E-4598-EB4E-8FA0-46D84697E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C1B7BF-3BB0-BB74-C5BC-385B6B9C9096}"/>
              </a:ext>
            </a:extLst>
          </p:cNvPr>
          <p:cNvCxnSpPr/>
          <p:nvPr/>
        </p:nvCxnSpPr>
        <p:spPr>
          <a:xfrm>
            <a:off x="1714501" y="4779805"/>
            <a:ext cx="78028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241320-D18B-5A01-7749-6CF5ED2C6AE7}"/>
                  </a:ext>
                </a:extLst>
              </p:cNvPr>
              <p:cNvSpPr txBox="1"/>
              <p:nvPr/>
            </p:nvSpPr>
            <p:spPr>
              <a:xfrm>
                <a:off x="3672838" y="3152649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241320-D18B-5A01-7749-6CF5ED2C6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38" y="3152649"/>
                <a:ext cx="12192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34D5AD7B-555F-20A0-74A1-CD4809ED0FD6}"/>
              </a:ext>
            </a:extLst>
          </p:cNvPr>
          <p:cNvSpPr/>
          <p:nvPr/>
        </p:nvSpPr>
        <p:spPr>
          <a:xfrm rot="16200000">
            <a:off x="5374796" y="1743251"/>
            <a:ext cx="413711" cy="773430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81FD9-6F55-F77B-9CB3-843EBF09D008}"/>
              </a:ext>
            </a:extLst>
          </p:cNvPr>
          <p:cNvSpPr txBox="1"/>
          <p:nvPr/>
        </p:nvSpPr>
        <p:spPr>
          <a:xfrm>
            <a:off x="9715506" y="4548972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Stream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2C21D-419B-F7CC-3AB4-4DB560B3B6A9}"/>
              </a:ext>
            </a:extLst>
          </p:cNvPr>
          <p:cNvSpPr txBox="1"/>
          <p:nvPr/>
        </p:nvSpPr>
        <p:spPr>
          <a:xfrm>
            <a:off x="1714500" y="4961763"/>
            <a:ext cx="77343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B386A-C6E1-543E-4EE8-0406627448F0}"/>
              </a:ext>
            </a:extLst>
          </p:cNvPr>
          <p:cNvSpPr txBox="1"/>
          <p:nvPr/>
        </p:nvSpPr>
        <p:spPr>
          <a:xfrm>
            <a:off x="1714500" y="4199089"/>
            <a:ext cx="51358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B8291E-E063-FAEF-787F-2637D8DCFFDA}"/>
              </a:ext>
            </a:extLst>
          </p:cNvPr>
          <p:cNvSpPr txBox="1"/>
          <p:nvPr/>
        </p:nvSpPr>
        <p:spPr>
          <a:xfrm>
            <a:off x="6850382" y="4199089"/>
            <a:ext cx="25984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52D15D32-CFAA-5825-1759-CAFFD4115F4D}"/>
              </a:ext>
            </a:extLst>
          </p:cNvPr>
          <p:cNvSpPr/>
          <p:nvPr/>
        </p:nvSpPr>
        <p:spPr>
          <a:xfrm rot="5400000">
            <a:off x="4075583" y="1314785"/>
            <a:ext cx="413711" cy="513588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2C70F84C-8FBE-85B3-40A1-6C786D2473AC}"/>
              </a:ext>
            </a:extLst>
          </p:cNvPr>
          <p:cNvSpPr/>
          <p:nvPr/>
        </p:nvSpPr>
        <p:spPr>
          <a:xfrm rot="5400000">
            <a:off x="7942735" y="2592862"/>
            <a:ext cx="413711" cy="259841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3B29C8E-8781-C15E-8246-616F89B4D5B6}"/>
                  </a:ext>
                </a:extLst>
              </p:cNvPr>
              <p:cNvSpPr txBox="1"/>
              <p:nvPr/>
            </p:nvSpPr>
            <p:spPr>
              <a:xfrm>
                <a:off x="5124453" y="5969657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3B29C8E-8781-C15E-8246-616F89B4D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453" y="5969657"/>
                <a:ext cx="12192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73F300-DC00-DEBF-00D5-817B7B5974CF}"/>
                  </a:ext>
                </a:extLst>
              </p:cNvPr>
              <p:cNvSpPr txBox="1"/>
              <p:nvPr/>
            </p:nvSpPr>
            <p:spPr>
              <a:xfrm>
                <a:off x="7539990" y="3152649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73F300-DC00-DEBF-00D5-817B7B597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990" y="3152649"/>
                <a:ext cx="12192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015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5F159-B2B7-836F-7BE6-798114BC6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8EEC-E3C5-92C0-745D-F1CEAD02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17AB7-F8EE-D3A4-C802-EFF14C1DA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9558" y="1825624"/>
                <a:ext cx="10794242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Since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⟨"/>
                        <m:endChr m:val="⟩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Then </a:t>
                </a:r>
                <a:r>
                  <a:rPr lang="en-US" sz="3000" dirty="0">
                    <a:solidFill>
                      <a:srgbClr val="7030A0"/>
                    </a:solidFill>
                  </a:rPr>
                  <a:t>either</a:t>
                </a:r>
                <a:r>
                  <a:rPr lang="en-US" sz="3000" dirty="0"/>
                  <a:t>: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3000" dirty="0"/>
                  <a:t> is </a:t>
                </a:r>
                <a:r>
                  <a:rPr lang="en-US" sz="3000" dirty="0">
                    <a:solidFill>
                      <a:srgbClr val="00B050"/>
                    </a:solidFill>
                  </a:rPr>
                  <a:t>small</a:t>
                </a:r>
                <a:r>
                  <a:rPr lang="en-US" sz="3000" dirty="0"/>
                  <a:t>, so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𝐵𝑞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endParaRPr lang="en-US" sz="30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3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3000" dirty="0"/>
                  <a:t> is </a:t>
                </a:r>
                <a:r>
                  <a:rPr lang="en-US" sz="3000" dirty="0">
                    <a:solidFill>
                      <a:srgbClr val="00B050"/>
                    </a:solidFill>
                  </a:rPr>
                  <a:t>large</a:t>
                </a:r>
                <a:r>
                  <a:rPr lang="en-US" sz="3000" dirty="0"/>
                  <a:t>, so that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is “well-aligned” with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, and we </a:t>
                </a:r>
              </a:p>
              <a:p>
                <a:pPr marL="457200" lvl="1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 marL="457200" lvl="1" indent="0">
                  <a:buClr>
                    <a:schemeClr val="tx1"/>
                  </a:buClr>
                  <a:buNone/>
                </a:pPr>
                <a:r>
                  <a:rPr lang="en-US" sz="3000" i="1" dirty="0">
                    <a:solidFill>
                      <a:srgbClr val="FF0000"/>
                    </a:solidFill>
                  </a:rPr>
                  <a:t>Learn information </a:t>
                </a:r>
                <a:r>
                  <a:rPr lang="en-US" sz="3000" dirty="0"/>
                  <a:t>about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 from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17AB7-F8EE-D3A4-C802-EFF14C1DA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9558" y="1825624"/>
                <a:ext cx="10794242" cy="4788239"/>
              </a:xfrm>
              <a:blipFill>
                <a:blip r:embed="rId3"/>
                <a:stretch>
                  <a:fillRect l="-1186" t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72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9DF6C-ECD2-017D-70FB-FF7EA0801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7A61-F767-518E-5953-85CC6AAA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Estimator, Corrector, Learner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DF767C-B24E-5517-50A5-2AF1ED9351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Three ingredients: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An </a:t>
                </a:r>
                <a:r>
                  <a:rPr lang="en-US" sz="3000" i="1" dirty="0"/>
                  <a:t>estimator</a:t>
                </a:r>
                <a:r>
                  <a:rPr lang="en-US" sz="3000" dirty="0"/>
                  <a:t>, whose role is to output estimates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A </a:t>
                </a:r>
                <a:r>
                  <a:rPr lang="en-US" sz="3000" i="1" dirty="0"/>
                  <a:t>learner</a:t>
                </a:r>
                <a:r>
                  <a:rPr lang="en-US" sz="3000" dirty="0"/>
                  <a:t>, whose role is to learn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. When the estimator is incorrect, the learner will gain information about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 from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A </a:t>
                </a:r>
                <a:r>
                  <a:rPr lang="en-US" sz="3000" i="1" dirty="0"/>
                  <a:t>corrector</a:t>
                </a:r>
                <a:r>
                  <a:rPr lang="en-US" sz="3000" dirty="0"/>
                  <a:t>, whose role is to inform the learner/estimator when the estimate is incorrect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DF767C-B24E-5517-50A5-2AF1ED935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06" t="-2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78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886E-A0F3-D254-CFD4-F32CB60C5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02C8-18F8-4AE6-A9EC-8724FE7E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Estimator, Corrector, Learner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96C762-BC54-931E-179D-6A09C9700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919346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Learner maintains a vector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000" dirty="0"/>
                  <a:t>, which is a linear combination of the queries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on which the algorithm was incorrect 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sz="2600" dirty="0"/>
                  <a:t>Actually maintain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𝐴𝑧</m:t>
                    </m:r>
                    <m:r>
                      <a:rPr lang="en-US" sz="2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600" dirty="0"/>
                  <a:t> all updates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600" dirty="0">
                    <a:solidFill>
                      <a:srgbClr val="C00000"/>
                    </a:solidFill>
                  </a:rPr>
                  <a:t> </a:t>
                </a:r>
                <a:r>
                  <a:rPr lang="en-US" sz="2600" dirty="0"/>
                  <a:t>are performed implicitly in the sketch space </a:t>
                </a: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Estimator outputs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as estimate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, where the first term is estimated using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3000" dirty="0"/>
                  <a:t>, and the second term is estimated using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𝐵𝑞</m:t>
                    </m:r>
                  </m:oMath>
                </a14:m>
                <a:r>
                  <a:rPr lang="en-US" sz="3000" dirty="0"/>
                  <a:t>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Corrector uses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en-US" sz="3000" dirty="0"/>
                  <a:t> to detect when an estimate is incorrect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96C762-BC54-931E-179D-6A09C9700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919346" cy="4788239"/>
              </a:xfrm>
              <a:blipFill>
                <a:blip r:embed="rId3"/>
                <a:stretch>
                  <a:fillRect l="-1173" t="-2545" r="-1061"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68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1F2C2-DFCA-5103-E4A9-B85EA085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DAE3E-ACE8-5595-CDC2-6CA548CF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Estimator, Corrector, Learner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FA738-089C-C1A8-E27D-9C312AFDF3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Sanity check #1</a:t>
                </a:r>
                <a:r>
                  <a:rPr lang="en-US" sz="3000" dirty="0"/>
                  <a:t>: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000" dirty="0"/>
                  <a:t>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corresponds to earlier estimator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Sanity check #2</a:t>
                </a:r>
                <a:r>
                  <a:rPr lang="en-US" sz="3000" dirty="0"/>
                  <a:t>: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corresponds to correct value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How many interactions with corrector before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FA738-089C-C1A8-E27D-9C312AFDF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39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F6DC-9FC9-50AB-C65D-9E2B2AEB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75B320-C81D-1C81-E165-68491FA3D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964"/>
            <a:ext cx="11917680" cy="47467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51629F-0599-5348-6F8F-913B518E0490}"/>
                  </a:ext>
                </a:extLst>
              </p:cNvPr>
              <p:cNvSpPr txBox="1"/>
              <p:nvPr/>
            </p:nvSpPr>
            <p:spPr>
              <a:xfrm>
                <a:off x="106680" y="5482411"/>
                <a:ext cx="118110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The estimator computes a current estimate, the corrector verifies its accuracy, and the learner updates its internal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/>
                  <a:t> based on incorrect estimates</a:t>
                </a:r>
              </a:p>
              <a:p>
                <a:pPr algn="ctr"/>
                <a:r>
                  <a:rPr lang="en-US" sz="2400" dirty="0"/>
                  <a:t>* Output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 when estimator is incorrect.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51629F-0599-5348-6F8F-913B518E0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" y="5482411"/>
                <a:ext cx="11811000" cy="1200329"/>
              </a:xfrm>
              <a:prstGeom prst="rect">
                <a:avLst/>
              </a:prstGeom>
              <a:blipFill>
                <a:blip r:embed="rId4"/>
                <a:stretch>
                  <a:fillRect l="-774" t="-4061" r="-1342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336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A8B2E-98CA-35DB-BEB0-786F96052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6FD5-025F-8A07-8535-1586E822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Update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130AD6-1623-1AE9-8C37-576FE76627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878403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Estimator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Incorrect estimate implies </a:t>
                </a:r>
                <a:endParaRPr lang="en-US" sz="30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 marL="0" indent="0">
                  <a:buClr>
                    <a:schemeClr val="tx1"/>
                  </a:buClr>
                  <a:buNone/>
                </a:pPr>
                <a:r>
                  <a:rPr lang="en-US" sz="3000" dirty="0"/>
                  <a:t>  and ultimately,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Assume WLOG</a:t>
                </a:r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⟩ 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(other case similar)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130AD6-1623-1AE9-8C37-576FE76627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878403" cy="4788239"/>
              </a:xfrm>
              <a:blipFill>
                <a:blip r:embed="rId3"/>
                <a:stretch>
                  <a:fillRect l="-1120" t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2F8A70-F5F5-544E-C833-CEA090240BD2}"/>
                  </a:ext>
                </a:extLst>
              </p:cNvPr>
              <p:cNvSpPr txBox="1"/>
              <p:nvPr/>
            </p:nvSpPr>
            <p:spPr>
              <a:xfrm>
                <a:off x="1676400" y="2990289"/>
                <a:ext cx="8839200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</m:e>
                          <m:sub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′+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</m:e>
                          <m:sub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</m:e>
                          <m:sub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2F8A70-F5F5-544E-C833-CEA090240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990289"/>
                <a:ext cx="8839200" cy="6481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762C1D-023C-7BD2-C531-28B2A2A97ECD}"/>
                  </a:ext>
                </a:extLst>
              </p:cNvPr>
              <p:cNvSpPr txBox="1"/>
              <p:nvPr/>
            </p:nvSpPr>
            <p:spPr>
              <a:xfrm>
                <a:off x="1676400" y="4596336"/>
                <a:ext cx="8839200" cy="748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762C1D-023C-7BD2-C531-28B2A2A97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4596336"/>
                <a:ext cx="8839200" cy="7486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24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FE85E-72AC-C969-F977-673A3C5E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9EE66-9E40-80B3-0BE1-E89562EB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Update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2C5DB-0A58-CAF9-3D67-4CC7CFF605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On query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where estimator errs, learner uses update rule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sz="3000" dirty="0"/>
                  <a:t> and truncates small coordinates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sz="3000" dirty="0"/>
                  <a:t> be the new iterate after updating (we will choose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3000" dirty="0"/>
                  <a:t>)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Will show</a:t>
                </a:r>
                <a:r>
                  <a:rPr lang="en-US" sz="3000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Coordinates bounded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→ at most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updates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2C5DB-0A58-CAF9-3D67-4CC7CFF605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17" t="-2545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triangle with lines and a point&#10;&#10;AI-generated content may be incorrect.">
            <a:extLst>
              <a:ext uri="{FF2B5EF4-FFF2-40B4-BE49-F238E27FC236}">
                <a16:creationId xmlns:a16="http://schemas.microsoft.com/office/drawing/2014/main" id="{DC13D96A-DF2B-9403-B58E-93E6476B4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576" y="0"/>
            <a:ext cx="2805270" cy="188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1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A456-1D4D-6E56-57A3-D1D07D59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D861-AF4E-48DB-751B-D3DB5EA4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C5F51D-2B6C-BF24-F4B2-1D6B102F1F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>
                  <a:solidFill>
                    <a:srgbClr val="00B05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Recall</a:t>
                </a:r>
                <a:r>
                  <a:rPr lang="en-US" sz="3000" dirty="0"/>
                  <a:t>: due to incorrect estimator,</a:t>
                </a:r>
                <a:r>
                  <a:rPr lang="en-US" sz="3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⟩ ≥</m:t>
                    </m:r>
                  </m:oMath>
                </a14:m>
                <a:r>
                  <a:rPr lang="en-US" sz="3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By setting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3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3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000" dirty="0"/>
                  <a:t> (can estimate this), we make progress: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C5F51D-2B6C-BF24-F4B2-1D6B102F1F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8239"/>
              </a:xfrm>
              <a:blipFill>
                <a:blip r:embed="rId3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4E7428-C6D0-B414-5E2E-7C2F38B296CD}"/>
                  </a:ext>
                </a:extLst>
              </p:cNvPr>
              <p:cNvSpPr txBox="1"/>
              <p:nvPr/>
            </p:nvSpPr>
            <p:spPr>
              <a:xfrm>
                <a:off x="571500" y="1690688"/>
                <a:ext cx="6347460" cy="591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4E7428-C6D0-B414-5E2E-7C2F38B29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690688"/>
                <a:ext cx="6347460" cy="591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BB3816-2695-8E26-63E0-C56A7E9AEE5F}"/>
                  </a:ext>
                </a:extLst>
              </p:cNvPr>
              <p:cNvSpPr txBox="1"/>
              <p:nvPr/>
            </p:nvSpPr>
            <p:spPr>
              <a:xfrm>
                <a:off x="1744980" y="2282132"/>
                <a:ext cx="10515600" cy="591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⟨"/>
                          <m:endChr m:val="〉"/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BB3816-2695-8E26-63E0-C56A7E9AE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980" y="2282132"/>
                <a:ext cx="10515600" cy="591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40D9A4-255C-A289-BCDE-FF67C5A1AC19}"/>
                  </a:ext>
                </a:extLst>
              </p:cNvPr>
              <p:cNvSpPr txBox="1"/>
              <p:nvPr/>
            </p:nvSpPr>
            <p:spPr>
              <a:xfrm>
                <a:off x="3030855" y="5740482"/>
                <a:ext cx="6130290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tx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40D9A4-255C-A289-BCDE-FF67C5A1A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855" y="5740482"/>
                <a:ext cx="6130290" cy="6481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8272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8663-3048-65F2-E15C-ED47E38C0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4B4F-EA02-D36A-4E90-FD2C81E6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05082F-C81D-A05E-00CF-70C2E85895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>
                    <a:solidFill>
                      <a:srgbClr val="00B050"/>
                    </a:solidFill>
                  </a:rPr>
                  <a:t>Key</a:t>
                </a:r>
                <a:r>
                  <a:rPr lang="en-US" sz="3000" dirty="0"/>
                  <a:t>: Can learn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 using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adaptive queries to corrector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Still need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000" dirty="0"/>
                  <a:t> to be robust over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to be robust over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6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Recurse on each block!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05082F-C81D-A05E-00CF-70C2E85895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  <a:blipFill>
                <a:blip r:embed="rId3"/>
                <a:stretch>
                  <a:fillRect l="-1217" t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FC95B4A-4072-84A0-BAF4-5BA0396E705E}"/>
              </a:ext>
            </a:extLst>
          </p:cNvPr>
          <p:cNvCxnSpPr/>
          <p:nvPr/>
        </p:nvCxnSpPr>
        <p:spPr>
          <a:xfrm>
            <a:off x="1671262" y="5144928"/>
            <a:ext cx="78028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C9C09C-13D4-9D07-EC34-08B1584DC23D}"/>
                  </a:ext>
                </a:extLst>
              </p:cNvPr>
              <p:cNvSpPr txBox="1"/>
              <p:nvPr/>
            </p:nvSpPr>
            <p:spPr>
              <a:xfrm>
                <a:off x="3629599" y="3517772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C9C09C-13D4-9D07-EC34-08B1584DC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99" y="3517772"/>
                <a:ext cx="12192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05BC8706-7713-E2FC-D12C-23B33FB26DA2}"/>
              </a:ext>
            </a:extLst>
          </p:cNvPr>
          <p:cNvSpPr/>
          <p:nvPr/>
        </p:nvSpPr>
        <p:spPr>
          <a:xfrm rot="16200000">
            <a:off x="5331557" y="2108374"/>
            <a:ext cx="413711" cy="773430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20E0C-8C1C-3F77-C984-46616D30715B}"/>
              </a:ext>
            </a:extLst>
          </p:cNvPr>
          <p:cNvSpPr txBox="1"/>
          <p:nvPr/>
        </p:nvSpPr>
        <p:spPr>
          <a:xfrm>
            <a:off x="9672267" y="4914095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Stream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7B3B8-B635-0DE6-D22E-25B1E51800E2}"/>
              </a:ext>
            </a:extLst>
          </p:cNvPr>
          <p:cNvSpPr txBox="1"/>
          <p:nvPr/>
        </p:nvSpPr>
        <p:spPr>
          <a:xfrm>
            <a:off x="1671261" y="5326886"/>
            <a:ext cx="77343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937D6-A274-A066-57A7-B05167ECCDEC}"/>
              </a:ext>
            </a:extLst>
          </p:cNvPr>
          <p:cNvSpPr txBox="1"/>
          <p:nvPr/>
        </p:nvSpPr>
        <p:spPr>
          <a:xfrm>
            <a:off x="1671261" y="4564212"/>
            <a:ext cx="513588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AA73D-B349-C8DB-72BE-5864C5B1DE1E}"/>
              </a:ext>
            </a:extLst>
          </p:cNvPr>
          <p:cNvSpPr txBox="1"/>
          <p:nvPr/>
        </p:nvSpPr>
        <p:spPr>
          <a:xfrm>
            <a:off x="6807143" y="4564212"/>
            <a:ext cx="25984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8BE468C9-8557-0435-FB01-78741F02EE96}"/>
              </a:ext>
            </a:extLst>
          </p:cNvPr>
          <p:cNvSpPr/>
          <p:nvPr/>
        </p:nvSpPr>
        <p:spPr>
          <a:xfrm rot="5400000">
            <a:off x="4032344" y="1679908"/>
            <a:ext cx="413711" cy="513588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71B67143-BD74-02B4-F717-0CEF412E99CB}"/>
              </a:ext>
            </a:extLst>
          </p:cNvPr>
          <p:cNvSpPr/>
          <p:nvPr/>
        </p:nvSpPr>
        <p:spPr>
          <a:xfrm rot="5400000">
            <a:off x="7899496" y="2957985"/>
            <a:ext cx="413711" cy="259841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BBB125-D74F-7BAE-8CC1-685FDA4CF57D}"/>
                  </a:ext>
                </a:extLst>
              </p:cNvPr>
              <p:cNvSpPr txBox="1"/>
              <p:nvPr/>
            </p:nvSpPr>
            <p:spPr>
              <a:xfrm>
                <a:off x="4947864" y="6231265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BBB125-D74F-7BAE-8CC1-685FDA4CF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864" y="6231265"/>
                <a:ext cx="12192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546892-43CC-0F80-0F62-4677A9616508}"/>
                  </a:ext>
                </a:extLst>
              </p:cNvPr>
              <p:cNvSpPr txBox="1"/>
              <p:nvPr/>
            </p:nvSpPr>
            <p:spPr>
              <a:xfrm>
                <a:off x="7496751" y="3517772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546892-43CC-0F80-0F62-4677A9616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751" y="3517772"/>
                <a:ext cx="12192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8150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E200E-17CE-6B69-94B3-2DF2C027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07BB-EEB8-4507-AF3E-3A3221EA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6D9A5-6A99-C2AA-2D35-EC16AA2AD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Let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is still evolving over the stream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Estimator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′+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and suppose iterate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000" dirty="0"/>
                  <a:t> is </a:t>
                </a:r>
                <a:r>
                  <a:rPr lang="en-US" sz="3000" i="1" dirty="0">
                    <a:solidFill>
                      <a:srgbClr val="00B050"/>
                    </a:solidFill>
                  </a:rPr>
                  <a:t>fixed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Then: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First term is fixed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Second term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and estimator must be robust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6D9A5-6A99-C2AA-2D35-EC16AA2AD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  <a:blipFill>
                <a:blip r:embed="rId3"/>
                <a:stretch>
                  <a:fillRect l="-1206" t="-2381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32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3DC1D-5509-400A-6B36-C571336D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CCF5-C695-AB75-B034-B9047D13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90DF4C-23A2-3A53-AD0F-F8C6C767D8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Robust estimate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Recurse using estimator-corrector-learner framework: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Corrector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</a:t>
                </a:r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Learner has an iterate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3000" dirty="0"/>
                  <a:t> to learn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endParaRPr lang="en-US" sz="3000" dirty="0"/>
              </a:p>
              <a:p>
                <a:pPr lvl="1">
                  <a:buClr>
                    <a:schemeClr val="tx1"/>
                  </a:buClr>
                </a:pPr>
                <a:r>
                  <a:rPr lang="en-US" sz="3000" dirty="0"/>
                  <a:t>Estimator uses</a:t>
                </a:r>
                <a14:m>
                  <m:oMath xmlns:m="http://schemas.openxmlformats.org/officeDocument/2006/math">
                    <m: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3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  <m:sub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 as estimate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90DF4C-23A2-3A53-AD0F-F8C6C767D8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56219"/>
                <a:ext cx="10515600" cy="4788239"/>
              </a:xfrm>
              <a:blipFill>
                <a:blip r:embed="rId3"/>
                <a:stretch>
                  <a:fillRect l="-1217" t="-2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856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1D276-2415-B781-97D1-DD77EA74D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FFFB5D-9A50-7CEF-0624-DBFCFCD15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3356"/>
            <a:ext cx="12192000" cy="477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76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D16E3-BCD6-00D2-B2A5-02139CE1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BFCE-4B36-A51F-5485-DC912F53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Recursion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FBD528-6F27-2839-912E-DEB81D1C9C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74583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Suppose each node in recursion tree of height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3000" dirty="0"/>
                  <a:t> has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child blocks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Must have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≽</m:t>
                    </m:r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3000" dirty="0"/>
                  <a:t>, since adversary can force you to change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3000" dirty="0"/>
                  <a:t>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3000" dirty="0"/>
                  <a:t> times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000" dirty="0"/>
                  <a:t>, suffices to set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FBD528-6F27-2839-912E-DEB81D1C9C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74583"/>
                <a:ext cx="10515600" cy="4788239"/>
              </a:xfrm>
              <a:blipFill>
                <a:blip r:embed="rId3"/>
                <a:stretch>
                  <a:fillRect l="-1206" t="-2116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39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47E6-F82A-CFE9-C131-B2AD2A3C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B4A95-4D78-1FC4-84D8-1AE0161AA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Space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CC129-BE75-331F-B434-221EB92FC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</p:spPr>
            <p:txBody>
              <a:bodyPr>
                <a:normAutofit lnSpcReduction="10000"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Each corrector must be robust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3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adaptive queries in each of the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blocks in the next level.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Each AMS algorithm uses space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and only need a single active sketch at each of the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levels! 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Rescale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3000" dirty="0"/>
                  <a:t>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func>
                          <m:funcPr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3000" dirty="0"/>
                  <a:t> as multiplicative error compounds across levels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Total space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CC129-BE75-331F-B434-221EB92FC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6357"/>
                <a:ext cx="10848975" cy="5049381"/>
              </a:xfrm>
              <a:blipFill>
                <a:blip r:embed="rId3"/>
                <a:stretch>
                  <a:fillRect l="-1170" t="-1005" r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Callout 4">
                <a:extLst>
                  <a:ext uri="{FF2B5EF4-FFF2-40B4-BE49-F238E27FC236}">
                    <a16:creationId xmlns:a16="http://schemas.microsoft.com/office/drawing/2014/main" id="{2DBDB7BE-0B3A-D8F2-45D8-E094D6986E9A}"/>
                  </a:ext>
                </a:extLst>
              </p:cNvPr>
              <p:cNvSpPr/>
              <p:nvPr/>
            </p:nvSpPr>
            <p:spPr>
              <a:xfrm>
                <a:off x="8433995" y="3582296"/>
                <a:ext cx="3345629" cy="2076226"/>
              </a:xfrm>
              <a:prstGeom prst="wedgeEllipseCallout">
                <a:avLst/>
              </a:prstGeom>
              <a:solidFill>
                <a:srgbClr val="92D05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Can be improved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 with differential privacy</a:t>
                </a:r>
              </a:p>
            </p:txBody>
          </p:sp>
        </mc:Choice>
        <mc:Fallback xmlns="">
          <p:sp>
            <p:nvSpPr>
              <p:cNvPr id="5" name="Oval Callout 4">
                <a:extLst>
                  <a:ext uri="{FF2B5EF4-FFF2-40B4-BE49-F238E27FC236}">
                    <a16:creationId xmlns:a16="http://schemas.microsoft.com/office/drawing/2014/main" id="{2DBDB7BE-0B3A-D8F2-45D8-E094D6986E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995" y="3582296"/>
                <a:ext cx="3345629" cy="2076226"/>
              </a:xfrm>
              <a:prstGeom prst="wedgeEllipseCallou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47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3CD01-2D5A-4A2C-BE4C-272BE372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2C9D-3026-11E5-5E4E-528A9EBD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Heavy-Hitters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1848AA-80FD-EBA3-7CDF-78BFCE7803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Let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dirty="0"/>
                  <a:t> be a small scaling of the elementary vector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dirty="0"/>
                  <a:t> is a </a:t>
                </a:r>
                <a:r>
                  <a:rPr lang="en-US" sz="3000" dirty="0">
                    <a:solidFill>
                      <a:srgbClr val="00B050"/>
                    </a:solidFill>
                  </a:rPr>
                  <a:t>heavy-hitter</a:t>
                </a:r>
                <a:r>
                  <a:rPr lang="en-US" sz="3000" dirty="0"/>
                  <a:t>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is a heavy-hitter, then increasing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000" dirty="0"/>
                  <a:t>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dirty="0"/>
                  <a:t>, will increase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by a </a:t>
                </a:r>
                <a:r>
                  <a:rPr lang="en-US" sz="3000" dirty="0">
                    <a:solidFill>
                      <a:srgbClr val="00B050"/>
                    </a:solidFill>
                  </a:rPr>
                  <a:t>“lot”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dirty="0"/>
                  <a:t> is </a:t>
                </a:r>
                <a:r>
                  <a:rPr lang="en-US" sz="3000" dirty="0">
                    <a:solidFill>
                      <a:srgbClr val="FF0000"/>
                    </a:solidFill>
                  </a:rPr>
                  <a:t>not a heavy-hitter</a:t>
                </a:r>
                <a:r>
                  <a:rPr lang="en-US" sz="3000" dirty="0"/>
                  <a:t>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is a heavy-hitter, then increasing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000" dirty="0"/>
                  <a:t>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dirty="0"/>
                  <a:t>, will increase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000" dirty="0"/>
                  <a:t> by a </a:t>
                </a:r>
                <a:r>
                  <a:rPr lang="en-US" sz="3000" dirty="0">
                    <a:solidFill>
                      <a:srgbClr val="FF0000"/>
                    </a:solidFill>
                  </a:rPr>
                  <a:t>“little”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1848AA-80FD-EBA3-7CDF-78BFCE7803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  <a:blipFill>
                <a:blip r:embed="rId3"/>
                <a:stretch>
                  <a:fillRect l="-1206" t="-1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763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D4934-71CF-E09A-5BFF-610966EA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E01C-6CDF-F359-D272-94EEE486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Heavy-Hitters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C2200-B117-64CC-71C0-4284CBD8DB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79398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These two cases differ by a constant factor, and thus distinguishable by our robust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rgbClr val="FF0000"/>
                    </a:solidFill>
                  </a:rPr>
                  <a:t> </a:t>
                </a:r>
                <a:r>
                  <a:rPr lang="en-US" sz="3000" dirty="0"/>
                  <a:t>estimation algorithm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Test all coordinates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algorithm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/>
                  <a:t> heavy-hitters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C2200-B117-64CC-71C0-4284CBD8DB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9398"/>
                <a:ext cx="10515600" cy="4788239"/>
              </a:xfrm>
              <a:blipFill>
                <a:blip r:embed="rId3"/>
                <a:stretch>
                  <a:fillRect l="-1206" t="-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75354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34361-E9AD-6959-087B-97E81B6A3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thank you">
            <a:extLst>
              <a:ext uri="{FF2B5EF4-FFF2-40B4-BE49-F238E27FC236}">
                <a16:creationId xmlns:a16="http://schemas.microsoft.com/office/drawing/2014/main" id="{5FE8331E-DD49-252F-9987-D00539D23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" r="5" b="5"/>
          <a:stretch/>
        </p:blipFill>
        <p:spPr bwMode="auto">
          <a:xfrm>
            <a:off x="8560735" y="0"/>
            <a:ext cx="3425525" cy="192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079864-AF19-98EC-B063-8F77130C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Future Directions?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C0623-B849-E5B2-9B78-B8B41A0A24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7825"/>
                <a:ext cx="10515600" cy="5210175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Improve the concrete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factors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Get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3000" dirty="0"/>
                  <a:t>-approximation for other functions,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3000" dirty="0"/>
                  <a:t> moment estimation for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sz="3000" dirty="0"/>
                  <a:t>, etc.,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000" dirty="0"/>
                  <a:t> overhead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Robust algorithms on insertion-deletion streams for </a:t>
                </a:r>
                <a:r>
                  <a:rPr lang="en-US" sz="3000" dirty="0">
                    <a:solidFill>
                      <a:srgbClr val="7030A0"/>
                    </a:solidFill>
                  </a:rPr>
                  <a:t>geometry</a:t>
                </a:r>
                <a:r>
                  <a:rPr lang="en-US" sz="3000" dirty="0"/>
                  <a:t> (e.g., facility location, clustering), </a:t>
                </a:r>
                <a:r>
                  <a:rPr lang="en-US" sz="3000" dirty="0">
                    <a:solidFill>
                      <a:srgbClr val="7030A0"/>
                    </a:solidFill>
                  </a:rPr>
                  <a:t>linear algebra </a:t>
                </a:r>
                <a:r>
                  <a:rPr lang="en-US" sz="3000" dirty="0"/>
                  <a:t>(e.g., regression), </a:t>
                </a:r>
                <a:r>
                  <a:rPr lang="en-US" sz="3000" dirty="0">
                    <a:solidFill>
                      <a:srgbClr val="7030A0"/>
                    </a:solidFill>
                  </a:rPr>
                  <a:t>graphs</a:t>
                </a:r>
                <a:r>
                  <a:rPr lang="en-US" sz="3000" dirty="0"/>
                  <a:t> (e.g., cut </a:t>
                </a:r>
                <a:r>
                  <a:rPr lang="en-US" sz="3000" dirty="0" err="1"/>
                  <a:t>sparsification</a:t>
                </a:r>
                <a:r>
                  <a:rPr lang="en-US" sz="30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C0623-B849-E5B2-9B78-B8B41A0A24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7825"/>
                <a:ext cx="10515600" cy="5210175"/>
              </a:xfrm>
              <a:blipFill>
                <a:blip r:embed="rId4"/>
                <a:stretch>
                  <a:fillRect l="-1217" t="-117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8020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FF9B-ADA4-591B-7086-4DFE0CD1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89DE-1FA0-9C8D-EAEA-2BDDF5ED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Triangle Inequality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0E025F-B9D7-E673-B835-0FF31CDF48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</p:spPr>
            <p:txBody>
              <a:bodyPr>
                <a:no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2400" dirty="0"/>
                  <a:t>Corrector flags 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≥4⋅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/>
                  <a:t> </a:t>
                </a:r>
              </a:p>
              <a:p>
                <a:pPr lvl="1">
                  <a:buClr>
                    <a:schemeClr val="tx1"/>
                  </a:buClr>
                </a:pPr>
                <a:endParaRPr lang="en-US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 lvl="1">
                  <a:buClr>
                    <a:schemeClr val="tx1"/>
                  </a:buClr>
                </a:pPr>
                <a:endParaRPr lang="en-US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 lvl="1">
                  <a:buClr>
                    <a:schemeClr val="tx1"/>
                  </a:buClr>
                </a:pPr>
                <a:endParaRPr lang="en-US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>
                  <a:buClr>
                    <a:schemeClr val="tx1"/>
                  </a:buClr>
                </a:pPr>
                <a:endParaRPr lang="en-US" sz="2400" dirty="0"/>
              </a:p>
              <a:p>
                <a:pPr>
                  <a:buClr>
                    <a:schemeClr val="tx1"/>
                  </a:buClr>
                </a:pPr>
                <a:r>
                  <a:rPr lang="en-US" sz="2400" dirty="0"/>
                  <a:t>Set new</a:t>
                </a:r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to be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sz="2400" dirty="0"/>
              </a:p>
              <a:p>
                <a:pPr>
                  <a:buClr>
                    <a:schemeClr val="tx1"/>
                  </a:buClr>
                </a:pPr>
                <a:r>
                  <a:rPr lang="en-US" sz="2400" dirty="0"/>
                  <a:t>Generalizes to approximate triangle inequality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0E025F-B9D7-E673-B835-0FF31CDF48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  <a:blipFill>
                <a:blip r:embed="rId3"/>
                <a:stretch>
                  <a:fillRect l="-812" t="-1781" b="-4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68B76-4415-F9B7-D740-AAFA612F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ED43-E17D-E63F-3A48-5194E85A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Triangle Inequality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55845B-D978-D4D4-87C9-59C23B9BD0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3000" dirty="0"/>
                  <a:t>Constant-factor compounding across each level, so set height of recursion tree to be a parameter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000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Each block has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en-US" sz="3000" b="0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r>
                  <a:rPr lang="en-US" sz="3000" dirty="0"/>
                  <a:t>Algorithm must be robust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3000" dirty="0"/>
                  <a:t> adaptive queries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(1/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3000" dirty="0"/>
                  <a:t> space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3000" dirty="0"/>
                  <a:t>-approximation</a:t>
                </a:r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  <a:p>
                <a:pPr>
                  <a:buClr>
                    <a:schemeClr val="tx1"/>
                  </a:buClr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55845B-D978-D4D4-87C9-59C23B9BD0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788239"/>
              </a:xfrm>
              <a:blipFill>
                <a:blip r:embed="rId3"/>
                <a:stretch>
                  <a:fillRect l="-1217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58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EC8D4-1D29-2E17-D0FE-C83714A3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78915A-2303-F560-44B8-EB6A6F193E1C}"/>
              </a:ext>
            </a:extLst>
          </p:cNvPr>
          <p:cNvCxnSpPr/>
          <p:nvPr/>
        </p:nvCxnSpPr>
        <p:spPr>
          <a:xfrm>
            <a:off x="2788406" y="2378935"/>
            <a:ext cx="78028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 Brace 5">
            <a:extLst>
              <a:ext uri="{FF2B5EF4-FFF2-40B4-BE49-F238E27FC236}">
                <a16:creationId xmlns:a16="http://schemas.microsoft.com/office/drawing/2014/main" id="{DF635674-1A40-EDA3-0FC2-E891407834B0}"/>
              </a:ext>
            </a:extLst>
          </p:cNvPr>
          <p:cNvSpPr/>
          <p:nvPr/>
        </p:nvSpPr>
        <p:spPr>
          <a:xfrm rot="5400000">
            <a:off x="6448701" y="-2444200"/>
            <a:ext cx="413711" cy="773430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9AF18-9B32-1278-B03E-2571BDA96F4A}"/>
              </a:ext>
            </a:extLst>
          </p:cNvPr>
          <p:cNvSpPr txBox="1"/>
          <p:nvPr/>
        </p:nvSpPr>
        <p:spPr>
          <a:xfrm>
            <a:off x="11046587" y="2148102"/>
            <a:ext cx="1314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Stream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85BDE-5BB6-726E-90AF-3030B0EED73A}"/>
              </a:ext>
            </a:extLst>
          </p:cNvPr>
          <p:cNvSpPr txBox="1"/>
          <p:nvPr/>
        </p:nvSpPr>
        <p:spPr>
          <a:xfrm>
            <a:off x="2788406" y="1735498"/>
            <a:ext cx="773430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EE12-183D-9CB1-3F11-D9999D72836F}"/>
              </a:ext>
            </a:extLst>
          </p:cNvPr>
          <p:cNvSpPr txBox="1"/>
          <p:nvPr/>
        </p:nvSpPr>
        <p:spPr>
          <a:xfrm>
            <a:off x="2788407" y="2758733"/>
            <a:ext cx="2819394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85478A-3929-5C10-297A-FE1354B978CF}"/>
              </a:ext>
            </a:extLst>
          </p:cNvPr>
          <p:cNvSpPr txBox="1"/>
          <p:nvPr/>
        </p:nvSpPr>
        <p:spPr>
          <a:xfrm>
            <a:off x="5607801" y="2758733"/>
            <a:ext cx="245745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90B9D1-8D51-BB0D-C399-61CC906EFA59}"/>
                  </a:ext>
                </a:extLst>
              </p:cNvPr>
              <p:cNvSpPr txBox="1"/>
              <p:nvPr/>
            </p:nvSpPr>
            <p:spPr>
              <a:xfrm>
                <a:off x="6045956" y="743101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83B632-3644-B5A3-5409-2A0C91E81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56" y="743101"/>
                <a:ext cx="1219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C0BB912-77FA-92FA-6C1D-F8C6B33DFDD9}"/>
              </a:ext>
            </a:extLst>
          </p:cNvPr>
          <p:cNvSpPr txBox="1"/>
          <p:nvPr/>
        </p:nvSpPr>
        <p:spPr>
          <a:xfrm>
            <a:off x="8065256" y="2758733"/>
            <a:ext cx="2457451" cy="369332"/>
          </a:xfrm>
          <a:prstGeom prst="rect">
            <a:avLst/>
          </a:prstGeom>
          <a:solidFill>
            <a:srgbClr val="DFA9DB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83BB45-74D2-50E7-9BB8-D775856C0E9D}"/>
              </a:ext>
            </a:extLst>
          </p:cNvPr>
          <p:cNvSpPr txBox="1"/>
          <p:nvPr/>
        </p:nvSpPr>
        <p:spPr>
          <a:xfrm>
            <a:off x="2788350" y="4393553"/>
            <a:ext cx="942978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BE161F-4CB2-8181-68E0-F78333BE5BBB}"/>
              </a:ext>
            </a:extLst>
          </p:cNvPr>
          <p:cNvSpPr txBox="1"/>
          <p:nvPr/>
        </p:nvSpPr>
        <p:spPr>
          <a:xfrm>
            <a:off x="8065199" y="4393553"/>
            <a:ext cx="819133" cy="369332"/>
          </a:xfrm>
          <a:prstGeom prst="rect">
            <a:avLst/>
          </a:prstGeom>
          <a:solidFill>
            <a:srgbClr val="E5B9E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BD8279-229F-8E17-377F-D9750799638D}"/>
              </a:ext>
            </a:extLst>
          </p:cNvPr>
          <p:cNvSpPr txBox="1"/>
          <p:nvPr/>
        </p:nvSpPr>
        <p:spPr>
          <a:xfrm>
            <a:off x="3731328" y="4393553"/>
            <a:ext cx="9429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1CA8A1-DFB1-F0E1-809B-93FD777167D5}"/>
              </a:ext>
            </a:extLst>
          </p:cNvPr>
          <p:cNvSpPr txBox="1"/>
          <p:nvPr/>
        </p:nvSpPr>
        <p:spPr>
          <a:xfrm>
            <a:off x="4664762" y="4393553"/>
            <a:ext cx="94297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D6127A-07FC-0149-3022-FEAE034F6D7F}"/>
              </a:ext>
            </a:extLst>
          </p:cNvPr>
          <p:cNvSpPr txBox="1"/>
          <p:nvPr/>
        </p:nvSpPr>
        <p:spPr>
          <a:xfrm>
            <a:off x="5607740" y="4393553"/>
            <a:ext cx="81916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8124F2-151F-3090-A756-1DD0810E8900}"/>
              </a:ext>
            </a:extLst>
          </p:cNvPr>
          <p:cNvSpPr txBox="1"/>
          <p:nvPr/>
        </p:nvSpPr>
        <p:spPr>
          <a:xfrm>
            <a:off x="6426903" y="4393553"/>
            <a:ext cx="81916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80D4EB-588A-6149-C202-EFA6A90C9B5B}"/>
              </a:ext>
            </a:extLst>
          </p:cNvPr>
          <p:cNvSpPr txBox="1"/>
          <p:nvPr/>
        </p:nvSpPr>
        <p:spPr>
          <a:xfrm>
            <a:off x="7258228" y="4393553"/>
            <a:ext cx="819163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AEF0A5-C572-F4C6-8B5C-C21798AB1412}"/>
              </a:ext>
            </a:extLst>
          </p:cNvPr>
          <p:cNvSpPr txBox="1"/>
          <p:nvPr/>
        </p:nvSpPr>
        <p:spPr>
          <a:xfrm>
            <a:off x="8884332" y="4393553"/>
            <a:ext cx="819133" cy="369332"/>
          </a:xfrm>
          <a:prstGeom prst="rect">
            <a:avLst/>
          </a:prstGeom>
          <a:solidFill>
            <a:srgbClr val="F0D8EE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DED8F8-3776-7426-027C-62A923755D7C}"/>
              </a:ext>
            </a:extLst>
          </p:cNvPr>
          <p:cNvSpPr txBox="1"/>
          <p:nvPr/>
        </p:nvSpPr>
        <p:spPr>
          <a:xfrm>
            <a:off x="9703465" y="4393553"/>
            <a:ext cx="819133" cy="369332"/>
          </a:xfrm>
          <a:prstGeom prst="rect">
            <a:avLst/>
          </a:prstGeom>
          <a:solidFill>
            <a:srgbClr val="DFA9DB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80DA4190-3D15-65EF-1BA0-F280F8F9F6F1}"/>
              </a:ext>
            </a:extLst>
          </p:cNvPr>
          <p:cNvSpPr/>
          <p:nvPr/>
        </p:nvSpPr>
        <p:spPr>
          <a:xfrm rot="16200000">
            <a:off x="4008389" y="1942371"/>
            <a:ext cx="413711" cy="2785098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439B02-2A49-021F-C643-48261528C07E}"/>
                  </a:ext>
                </a:extLst>
              </p:cNvPr>
              <p:cNvSpPr txBox="1"/>
              <p:nvPr/>
            </p:nvSpPr>
            <p:spPr>
              <a:xfrm>
                <a:off x="3605644" y="3499199"/>
                <a:ext cx="1219200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8918EF6-EDAA-A001-52C1-47C29B053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644" y="3499199"/>
                <a:ext cx="1219200" cy="5393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eft Brace 29">
            <a:extLst>
              <a:ext uri="{FF2B5EF4-FFF2-40B4-BE49-F238E27FC236}">
                <a16:creationId xmlns:a16="http://schemas.microsoft.com/office/drawing/2014/main" id="{88C21D15-CCBE-2CBE-5357-257827E255B4}"/>
              </a:ext>
            </a:extLst>
          </p:cNvPr>
          <p:cNvSpPr/>
          <p:nvPr/>
        </p:nvSpPr>
        <p:spPr>
          <a:xfrm rot="16200000">
            <a:off x="6629610" y="2106194"/>
            <a:ext cx="413711" cy="245745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819012-B620-73A5-7C45-C56964261880}"/>
                  </a:ext>
                </a:extLst>
              </p:cNvPr>
              <p:cNvSpPr txBox="1"/>
              <p:nvPr/>
            </p:nvSpPr>
            <p:spPr>
              <a:xfrm>
                <a:off x="6390688" y="3499199"/>
                <a:ext cx="1075770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4EAC508-D9CF-FD9B-B0C0-8732F7384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688" y="3499199"/>
                <a:ext cx="1075770" cy="5393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e 31">
            <a:extLst>
              <a:ext uri="{FF2B5EF4-FFF2-40B4-BE49-F238E27FC236}">
                <a16:creationId xmlns:a16="http://schemas.microsoft.com/office/drawing/2014/main" id="{DDF70B7B-1E78-DE4F-B97D-17547ACA1159}"/>
              </a:ext>
            </a:extLst>
          </p:cNvPr>
          <p:cNvSpPr/>
          <p:nvPr/>
        </p:nvSpPr>
        <p:spPr>
          <a:xfrm rot="16200000">
            <a:off x="9087063" y="2106194"/>
            <a:ext cx="413711" cy="245745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4227E1-071C-02FC-02CE-87FAC7BBF5D6}"/>
                  </a:ext>
                </a:extLst>
              </p:cNvPr>
              <p:cNvSpPr txBox="1"/>
              <p:nvPr/>
            </p:nvSpPr>
            <p:spPr>
              <a:xfrm>
                <a:off x="8848141" y="3499199"/>
                <a:ext cx="1075770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745338-B756-FB71-E0D5-2BF5EEEE0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141" y="3499199"/>
                <a:ext cx="1075770" cy="5393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Left Brace 33">
            <a:extLst>
              <a:ext uri="{FF2B5EF4-FFF2-40B4-BE49-F238E27FC236}">
                <a16:creationId xmlns:a16="http://schemas.microsoft.com/office/drawing/2014/main" id="{DC5B0C02-517B-C532-FCF8-E05B6596A8CB}"/>
              </a:ext>
            </a:extLst>
          </p:cNvPr>
          <p:cNvSpPr/>
          <p:nvPr/>
        </p:nvSpPr>
        <p:spPr>
          <a:xfrm rot="16200000">
            <a:off x="3060604" y="4505872"/>
            <a:ext cx="413711" cy="9277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E5A23E0-5FA8-0535-1E6D-54ED55265EF7}"/>
                  </a:ext>
                </a:extLst>
              </p:cNvPr>
              <p:cNvSpPr txBox="1"/>
              <p:nvPr/>
            </p:nvSpPr>
            <p:spPr>
              <a:xfrm>
                <a:off x="2879250" y="5128062"/>
                <a:ext cx="397762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4D1CEC-0124-9B32-3AAD-B19E896AB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250" y="5128062"/>
                <a:ext cx="397762" cy="539315"/>
              </a:xfrm>
              <a:prstGeom prst="rect">
                <a:avLst/>
              </a:prstGeom>
              <a:blipFill>
                <a:blip r:embed="rId6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Left Brace 35">
            <a:extLst>
              <a:ext uri="{FF2B5EF4-FFF2-40B4-BE49-F238E27FC236}">
                <a16:creationId xmlns:a16="http://schemas.microsoft.com/office/drawing/2014/main" id="{D133B89A-0A68-F81C-E502-DE3A498F9850}"/>
              </a:ext>
            </a:extLst>
          </p:cNvPr>
          <p:cNvSpPr/>
          <p:nvPr/>
        </p:nvSpPr>
        <p:spPr>
          <a:xfrm rot="16200000">
            <a:off x="3986383" y="4505873"/>
            <a:ext cx="413711" cy="9277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1CB916-5187-844A-8610-46E57A6DDEC5}"/>
                  </a:ext>
                </a:extLst>
              </p:cNvPr>
              <p:cNvSpPr txBox="1"/>
              <p:nvPr/>
            </p:nvSpPr>
            <p:spPr>
              <a:xfrm>
                <a:off x="3805029" y="5128063"/>
                <a:ext cx="397762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D53217E-9B85-ED61-1238-0418F48A2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029" y="5128063"/>
                <a:ext cx="397762" cy="539315"/>
              </a:xfrm>
              <a:prstGeom prst="rect">
                <a:avLst/>
              </a:prstGeom>
              <a:blipFill>
                <a:blip r:embed="rId7"/>
                <a:stretch>
                  <a:fillRect r="-10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eft Brace 37">
            <a:extLst>
              <a:ext uri="{FF2B5EF4-FFF2-40B4-BE49-F238E27FC236}">
                <a16:creationId xmlns:a16="http://schemas.microsoft.com/office/drawing/2014/main" id="{DCA41C98-0484-996A-2DF4-D9A6A5177374}"/>
              </a:ext>
            </a:extLst>
          </p:cNvPr>
          <p:cNvSpPr/>
          <p:nvPr/>
        </p:nvSpPr>
        <p:spPr>
          <a:xfrm rot="16200000">
            <a:off x="4919818" y="4505872"/>
            <a:ext cx="413711" cy="9277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283D966-E365-E3C6-CFBA-F30B32E10E2E}"/>
                  </a:ext>
                </a:extLst>
              </p:cNvPr>
              <p:cNvSpPr txBox="1"/>
              <p:nvPr/>
            </p:nvSpPr>
            <p:spPr>
              <a:xfrm>
                <a:off x="4738464" y="5128062"/>
                <a:ext cx="397762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79FFF1-518E-B9A9-3334-70E1BA078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464" y="5128062"/>
                <a:ext cx="397762" cy="539315"/>
              </a:xfrm>
              <a:prstGeom prst="rect">
                <a:avLst/>
              </a:prstGeom>
              <a:blipFill>
                <a:blip r:embed="rId8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eft Brace 39">
            <a:extLst>
              <a:ext uri="{FF2B5EF4-FFF2-40B4-BE49-F238E27FC236}">
                <a16:creationId xmlns:a16="http://schemas.microsoft.com/office/drawing/2014/main" id="{52F52117-8165-E892-7466-8C8BC946FE0A}"/>
              </a:ext>
            </a:extLst>
          </p:cNvPr>
          <p:cNvSpPr/>
          <p:nvPr/>
        </p:nvSpPr>
        <p:spPr>
          <a:xfrm rot="16200000">
            <a:off x="5804701" y="4554392"/>
            <a:ext cx="413711" cy="83069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8B74A9A-3EEE-B8AC-DFA8-3FC2CB6823C9}"/>
                  </a:ext>
                </a:extLst>
              </p:cNvPr>
              <p:cNvSpPr txBox="1"/>
              <p:nvPr/>
            </p:nvSpPr>
            <p:spPr>
              <a:xfrm>
                <a:off x="5671867" y="5128062"/>
                <a:ext cx="3561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BE7D95D-72FA-3437-6E75-B8F16D102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867" y="5128062"/>
                <a:ext cx="356156" cy="539315"/>
              </a:xfrm>
              <a:prstGeom prst="rect">
                <a:avLst/>
              </a:prstGeom>
              <a:blipFill>
                <a:blip r:embed="rId9"/>
                <a:stretch>
                  <a:fillRect r="-123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>
            <a:extLst>
              <a:ext uri="{FF2B5EF4-FFF2-40B4-BE49-F238E27FC236}">
                <a16:creationId xmlns:a16="http://schemas.microsoft.com/office/drawing/2014/main" id="{D87459F8-E04B-2A1B-8617-053A8BB0DDA5}"/>
              </a:ext>
            </a:extLst>
          </p:cNvPr>
          <p:cNvSpPr/>
          <p:nvPr/>
        </p:nvSpPr>
        <p:spPr>
          <a:xfrm rot="16200000">
            <a:off x="6632464" y="4563022"/>
            <a:ext cx="413711" cy="8134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1899888-5F91-10EA-9CC8-CE11DD61670A}"/>
                  </a:ext>
                </a:extLst>
              </p:cNvPr>
              <p:cNvSpPr txBox="1"/>
              <p:nvPr/>
            </p:nvSpPr>
            <p:spPr>
              <a:xfrm>
                <a:off x="6508260" y="5128062"/>
                <a:ext cx="3487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C9D4EB-6B1E-CDAB-2BEC-69135EF4B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60" y="5128062"/>
                <a:ext cx="348756" cy="539315"/>
              </a:xfrm>
              <a:prstGeom prst="rect">
                <a:avLst/>
              </a:prstGeom>
              <a:blipFill>
                <a:blip r:embed="rId10"/>
                <a:stretch>
                  <a:fillRect r="-129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eft Brace 43">
            <a:extLst>
              <a:ext uri="{FF2B5EF4-FFF2-40B4-BE49-F238E27FC236}">
                <a16:creationId xmlns:a16="http://schemas.microsoft.com/office/drawing/2014/main" id="{1E15A73B-4671-97E1-6448-7C26CF336E7D}"/>
              </a:ext>
            </a:extLst>
          </p:cNvPr>
          <p:cNvSpPr/>
          <p:nvPr/>
        </p:nvSpPr>
        <p:spPr>
          <a:xfrm rot="16200000">
            <a:off x="7463596" y="4563022"/>
            <a:ext cx="413711" cy="8134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10D941-510B-B199-1C36-A911E98520C0}"/>
                  </a:ext>
                </a:extLst>
              </p:cNvPr>
              <p:cNvSpPr txBox="1"/>
              <p:nvPr/>
            </p:nvSpPr>
            <p:spPr>
              <a:xfrm>
                <a:off x="7339392" y="5128062"/>
                <a:ext cx="3487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5D6D118-1F95-23E0-D568-2156C3670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392" y="5128062"/>
                <a:ext cx="348756" cy="539315"/>
              </a:xfrm>
              <a:prstGeom prst="rect">
                <a:avLst/>
              </a:prstGeom>
              <a:blipFill>
                <a:blip r:embed="rId11"/>
                <a:stretch>
                  <a:fillRect r="-1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Left Brace 45">
            <a:extLst>
              <a:ext uri="{FF2B5EF4-FFF2-40B4-BE49-F238E27FC236}">
                <a16:creationId xmlns:a16="http://schemas.microsoft.com/office/drawing/2014/main" id="{40C4F9ED-2B1C-8725-F83B-C5CFC86C3D07}"/>
              </a:ext>
            </a:extLst>
          </p:cNvPr>
          <p:cNvSpPr/>
          <p:nvPr/>
        </p:nvSpPr>
        <p:spPr>
          <a:xfrm rot="16200000">
            <a:off x="8276744" y="4563023"/>
            <a:ext cx="413711" cy="8134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9F41101-30A8-489F-35E7-7854D1420827}"/>
                  </a:ext>
                </a:extLst>
              </p:cNvPr>
              <p:cNvSpPr txBox="1"/>
              <p:nvPr/>
            </p:nvSpPr>
            <p:spPr>
              <a:xfrm>
                <a:off x="8152540" y="5128063"/>
                <a:ext cx="3487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E645E7E-7308-7B6D-3F40-CE5E712A3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540" y="5128063"/>
                <a:ext cx="348756" cy="539315"/>
              </a:xfrm>
              <a:prstGeom prst="rect">
                <a:avLst/>
              </a:prstGeom>
              <a:blipFill>
                <a:blip r:embed="rId12"/>
                <a:stretch>
                  <a:fillRect r="-1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Left Brace 47">
            <a:extLst>
              <a:ext uri="{FF2B5EF4-FFF2-40B4-BE49-F238E27FC236}">
                <a16:creationId xmlns:a16="http://schemas.microsoft.com/office/drawing/2014/main" id="{94F611BA-6DDD-F8F9-5012-8D0421131A90}"/>
              </a:ext>
            </a:extLst>
          </p:cNvPr>
          <p:cNvSpPr/>
          <p:nvPr/>
        </p:nvSpPr>
        <p:spPr>
          <a:xfrm rot="16200000">
            <a:off x="9091205" y="4563023"/>
            <a:ext cx="413711" cy="8134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8C4AA7-EB1E-66A0-CAF2-51ED18DCE90E}"/>
                  </a:ext>
                </a:extLst>
              </p:cNvPr>
              <p:cNvSpPr txBox="1"/>
              <p:nvPr/>
            </p:nvSpPr>
            <p:spPr>
              <a:xfrm>
                <a:off x="8967001" y="5128063"/>
                <a:ext cx="3487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FF8D3B9-BB62-A434-C500-26A76C9F6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001" y="5128063"/>
                <a:ext cx="348756" cy="539315"/>
              </a:xfrm>
              <a:prstGeom prst="rect">
                <a:avLst/>
              </a:prstGeom>
              <a:blipFill>
                <a:blip r:embed="rId13"/>
                <a:stretch>
                  <a:fillRect r="-1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Left Brace 49">
            <a:extLst>
              <a:ext uri="{FF2B5EF4-FFF2-40B4-BE49-F238E27FC236}">
                <a16:creationId xmlns:a16="http://schemas.microsoft.com/office/drawing/2014/main" id="{E00CAB3C-9498-DAD2-BAA7-2CD857682BAB}"/>
              </a:ext>
            </a:extLst>
          </p:cNvPr>
          <p:cNvSpPr/>
          <p:nvPr/>
        </p:nvSpPr>
        <p:spPr>
          <a:xfrm rot="16200000">
            <a:off x="9921025" y="4563023"/>
            <a:ext cx="413711" cy="8134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90F107-4668-6050-9BCD-8D833719A635}"/>
                  </a:ext>
                </a:extLst>
              </p:cNvPr>
              <p:cNvSpPr txBox="1"/>
              <p:nvPr/>
            </p:nvSpPr>
            <p:spPr>
              <a:xfrm>
                <a:off x="9796821" y="5128063"/>
                <a:ext cx="348756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91EE136-6C6B-6976-1A90-844D92268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821" y="5128063"/>
                <a:ext cx="348756" cy="539315"/>
              </a:xfrm>
              <a:prstGeom prst="rect">
                <a:avLst/>
              </a:prstGeom>
              <a:blipFill>
                <a:blip r:embed="rId14"/>
                <a:stretch>
                  <a:fillRect r="-1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416D2B-35B2-D805-9D7C-F9B5F6B0024E}"/>
                  </a:ext>
                </a:extLst>
              </p:cNvPr>
              <p:cNvSpPr txBox="1"/>
              <p:nvPr/>
            </p:nvSpPr>
            <p:spPr>
              <a:xfrm>
                <a:off x="157378" y="477809"/>
                <a:ext cx="2468444" cy="1583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-sketch at top level correct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func>
                      <m:func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adaptive queries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87A318-41BF-FA73-08BC-AC7128F7C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78" y="477809"/>
                <a:ext cx="2468444" cy="1583447"/>
              </a:xfrm>
              <a:prstGeom prst="rect">
                <a:avLst/>
              </a:prstGeom>
              <a:blipFill>
                <a:blip r:embed="rId15"/>
                <a:stretch>
                  <a:fillRect l="-2963" t="-3077" r="-172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41CF4C-A9FC-8300-C9EA-8D0D1DA5120A}"/>
                  </a:ext>
                </a:extLst>
              </p:cNvPr>
              <p:cNvSpPr txBox="1"/>
              <p:nvPr/>
            </p:nvSpPr>
            <p:spPr>
              <a:xfrm>
                <a:off x="213341" y="2771407"/>
                <a:ext cx="2292824" cy="236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Independent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-sketch for each block of middle level, correct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func>
                      <m:func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sz="2400" dirty="0"/>
                  <a:t> adaptive queries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8211EF-33C7-219F-9E6E-B078DE90A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1" y="2771407"/>
                <a:ext cx="2292824" cy="2364815"/>
              </a:xfrm>
              <a:prstGeom prst="rect">
                <a:avLst/>
              </a:prstGeom>
              <a:blipFill>
                <a:blip r:embed="rId16"/>
                <a:stretch>
                  <a:fillRect l="-2926" t="-2062" r="-4787"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52D43B-376C-B649-09F9-B495B2C6E40E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06165" y="2945846"/>
            <a:ext cx="1216054" cy="100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137E95-199E-1397-50F1-AB6D04212356}"/>
              </a:ext>
            </a:extLst>
          </p:cNvPr>
          <p:cNvCxnSpPr/>
          <p:nvPr/>
        </p:nvCxnSpPr>
        <p:spPr>
          <a:xfrm>
            <a:off x="2560756" y="934872"/>
            <a:ext cx="3535244" cy="69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EA55D45-9128-0BB3-71C4-3B45177E1F42}"/>
              </a:ext>
            </a:extLst>
          </p:cNvPr>
          <p:cNvCxnSpPr>
            <a:cxnSpLocks/>
          </p:cNvCxnSpPr>
          <p:nvPr/>
        </p:nvCxnSpPr>
        <p:spPr>
          <a:xfrm flipV="1">
            <a:off x="2506165" y="2956607"/>
            <a:ext cx="4330300" cy="97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4B860B-6900-1B5D-EBE8-1F21356BA6A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06165" y="2943887"/>
            <a:ext cx="6628063" cy="1009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956C18-1F34-1F0E-D29C-438857FF4FE8}"/>
                  </a:ext>
                </a:extLst>
              </p:cNvPr>
              <p:cNvSpPr txBox="1"/>
              <p:nvPr/>
            </p:nvSpPr>
            <p:spPr>
              <a:xfrm>
                <a:off x="563743" y="5932575"/>
                <a:ext cx="10082760" cy="475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Independent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-sketch for each block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adaptive queries at bottom level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411E7A-ED9F-573C-D338-F66B58126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43" y="5932575"/>
                <a:ext cx="10082760" cy="475451"/>
              </a:xfrm>
              <a:prstGeom prst="rect">
                <a:avLst/>
              </a:prstGeom>
              <a:blipFill>
                <a:blip r:embed="rId17"/>
                <a:stretch>
                  <a:fillRect l="-907" t="-7692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0A9B9E06-E81B-E8BD-2CE7-95DE63C2A6C1}"/>
              </a:ext>
            </a:extLst>
          </p:cNvPr>
          <p:cNvSpPr/>
          <p:nvPr/>
        </p:nvSpPr>
        <p:spPr>
          <a:xfrm>
            <a:off x="9403595" y="12808"/>
            <a:ext cx="2631028" cy="2048448"/>
          </a:xfrm>
          <a:prstGeom prst="wedge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Note: throw away a sketch after its block expires</a:t>
            </a:r>
          </a:p>
        </p:txBody>
      </p:sp>
    </p:spTree>
    <p:extLst>
      <p:ext uri="{BB962C8B-B14F-4D97-AF65-F5344CB8AC3E}">
        <p14:creationId xmlns:p14="http://schemas.microsoft.com/office/powerpoint/2010/main" val="134016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FB00C-0033-E164-32F9-ECF8C2BB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7E41A7-47D5-1D1B-74E3-D41003F500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7E41A7-47D5-1D1B-74E3-D41003F50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E38B0EE-64FB-CDAE-3E28-FE3096DC1B8E}"/>
              </a:ext>
            </a:extLst>
          </p:cNvPr>
          <p:cNvSpPr txBox="1"/>
          <p:nvPr/>
        </p:nvSpPr>
        <p:spPr>
          <a:xfrm>
            <a:off x="1139887" y="408617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6DA9A-7B1C-04A1-1993-B2D7EC59A642}"/>
              </a:ext>
            </a:extLst>
          </p:cNvPr>
          <p:cNvSpPr txBox="1"/>
          <p:nvPr/>
        </p:nvSpPr>
        <p:spPr>
          <a:xfrm>
            <a:off x="1281893" y="4794058"/>
            <a:ext cx="301687" cy="36933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3EE2C-0636-1A4D-CE84-DA5C3A49E836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8B12F3-7A16-F85B-8D21-14CB6B581093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501FC-2AB1-F871-E440-BB4589DBFCB8}"/>
              </a:ext>
            </a:extLst>
          </p:cNvPr>
          <p:cNvSpPr txBox="1"/>
          <p:nvPr/>
        </p:nvSpPr>
        <p:spPr>
          <a:xfrm>
            <a:off x="1281894" y="5163390"/>
            <a:ext cx="301686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0A0325-AA76-B400-1E2E-514AB0B3DA47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941DF3-EB59-AC3B-E234-C7A8270F84C2}"/>
              </a:ext>
            </a:extLst>
          </p:cNvPr>
          <p:cNvSpPr txBox="1"/>
          <p:nvPr/>
        </p:nvSpPr>
        <p:spPr>
          <a:xfrm>
            <a:off x="1281892" y="5517333"/>
            <a:ext cx="30168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C8260C-C334-0717-4C0E-9EC899F37B4D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2F6C64-3EB9-73B0-8704-2B386E255828}"/>
              </a:ext>
            </a:extLst>
          </p:cNvPr>
          <p:cNvSpPr txBox="1"/>
          <p:nvPr/>
        </p:nvSpPr>
        <p:spPr>
          <a:xfrm>
            <a:off x="1281891" y="5886665"/>
            <a:ext cx="301687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BEA1EF-D05D-C838-FB37-A80EFA07AC32}"/>
              </a:ext>
            </a:extLst>
          </p:cNvPr>
          <p:cNvSpPr/>
          <p:nvPr/>
        </p:nvSpPr>
        <p:spPr>
          <a:xfrm>
            <a:off x="730999" y="4721791"/>
            <a:ext cx="1229881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4B132C-67C7-30A8-9395-65F1404C9158}"/>
              </a:ext>
            </a:extLst>
          </p:cNvPr>
          <p:cNvSpPr/>
          <p:nvPr/>
        </p:nvSpPr>
        <p:spPr>
          <a:xfrm>
            <a:off x="6247106" y="4205719"/>
            <a:ext cx="56313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</p:txBody>
      </p:sp>
    </p:spTree>
    <p:extLst>
      <p:ext uri="{BB962C8B-B14F-4D97-AF65-F5344CB8AC3E}">
        <p14:creationId xmlns:p14="http://schemas.microsoft.com/office/powerpoint/2010/main" val="41845102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8194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3" y="4794058"/>
            <a:ext cx="57738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4" y="5163390"/>
            <a:ext cx="577386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577385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1" y="5886665"/>
            <a:ext cx="577385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730999" y="4721791"/>
            <a:ext cx="1229881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  <a:blipFill>
                <a:blip r:embed="rId2"/>
                <a:stretch>
                  <a:fillRect l="-1086" t="-2241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9FF1C8CC-8D91-47F3-BBD1-A30E40F83E34}"/>
              </a:ext>
            </a:extLst>
          </p:cNvPr>
          <p:cNvSpPr/>
          <p:nvPr/>
        </p:nvSpPr>
        <p:spPr>
          <a:xfrm>
            <a:off x="6247106" y="4205719"/>
            <a:ext cx="56313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425405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1194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3" y="4794058"/>
            <a:ext cx="87907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3" y="5163390"/>
            <a:ext cx="879073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8790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1" y="5886665"/>
            <a:ext cx="87907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730999" y="4721791"/>
            <a:ext cx="1676921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  <a:blipFill>
                <a:blip r:embed="rId2"/>
                <a:stretch>
                  <a:fillRect l="-1086" t="-2241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5C83B51A-D078-4E77-AF5A-B46F1835FB5D}"/>
              </a:ext>
            </a:extLst>
          </p:cNvPr>
          <p:cNvSpPr/>
          <p:nvPr/>
        </p:nvSpPr>
        <p:spPr>
          <a:xfrm>
            <a:off x="6247106" y="4205719"/>
            <a:ext cx="56313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</p:txBody>
      </p:sp>
    </p:spTree>
    <p:extLst>
      <p:ext uri="{BB962C8B-B14F-4D97-AF65-F5344CB8AC3E}">
        <p14:creationId xmlns:p14="http://schemas.microsoft.com/office/powerpoint/2010/main" val="38317959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1194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3" y="4794058"/>
            <a:ext cx="87907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3" y="5163390"/>
            <a:ext cx="879073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8790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1" y="5886665"/>
            <a:ext cx="87907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657524" y="5119138"/>
            <a:ext cx="1676921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14215"/>
              </a:xfrm>
              <a:blipFill>
                <a:blip r:embed="rId2"/>
                <a:stretch>
                  <a:fillRect l="-1086" t="-2241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DE08EFFE-93FF-4DF5-89C9-E7D081A5FCD6}"/>
              </a:ext>
            </a:extLst>
          </p:cNvPr>
          <p:cNvSpPr/>
          <p:nvPr/>
        </p:nvSpPr>
        <p:spPr>
          <a:xfrm>
            <a:off x="6247106" y="4205719"/>
            <a:ext cx="56313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75956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1569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2" y="4794058"/>
            <a:ext cx="132922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3" y="5163390"/>
            <a:ext cx="1329226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132922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1" y="5886665"/>
            <a:ext cx="132922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657524" y="5119138"/>
            <a:ext cx="1953595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736FFFA7-270E-4B9A-9D5A-DECE6B24846A}"/>
              </a:ext>
            </a:extLst>
          </p:cNvPr>
          <p:cNvSpPr/>
          <p:nvPr/>
        </p:nvSpPr>
        <p:spPr>
          <a:xfrm>
            <a:off x="6247106" y="4205719"/>
            <a:ext cx="56313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899065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1944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1 0 1 1 1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2" y="4794058"/>
            <a:ext cx="1654348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2" y="5163390"/>
            <a:ext cx="1654347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165434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0" y="5886665"/>
            <a:ext cx="1654345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657524" y="5119138"/>
            <a:ext cx="2278715" cy="457835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A073CEC-1D48-4E65-BE7B-D65D903F54D7}"/>
              </a:ext>
            </a:extLst>
          </p:cNvPr>
          <p:cNvSpPr/>
          <p:nvPr/>
        </p:nvSpPr>
        <p:spPr>
          <a:xfrm>
            <a:off x="6247106" y="4205719"/>
            <a:ext cx="56313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</p:txBody>
      </p:sp>
    </p:spTree>
    <p:extLst>
      <p:ext uri="{BB962C8B-B14F-4D97-AF65-F5344CB8AC3E}">
        <p14:creationId xmlns:p14="http://schemas.microsoft.com/office/powerpoint/2010/main" val="54555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2B3D2-112D-4480-AE62-7AA5FA21BB73}"/>
              </a:ext>
            </a:extLst>
          </p:cNvPr>
          <p:cNvSpPr txBox="1"/>
          <p:nvPr/>
        </p:nvSpPr>
        <p:spPr>
          <a:xfrm>
            <a:off x="1139887" y="4086172"/>
            <a:ext cx="1944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1 0 1 1 1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9860-8D34-4577-A3B5-BD1237CD165B}"/>
              </a:ext>
            </a:extLst>
          </p:cNvPr>
          <p:cNvSpPr txBox="1"/>
          <p:nvPr/>
        </p:nvSpPr>
        <p:spPr>
          <a:xfrm>
            <a:off x="1281892" y="4794058"/>
            <a:ext cx="1654348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2CC5-5A97-4995-97E0-4180E9C96A63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58C4A-634C-4597-80EB-F9ED98AF7E22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B9929-80E6-4233-BCAE-8E4D75844032}"/>
              </a:ext>
            </a:extLst>
          </p:cNvPr>
          <p:cNvSpPr txBox="1"/>
          <p:nvPr/>
        </p:nvSpPr>
        <p:spPr>
          <a:xfrm>
            <a:off x="1281892" y="5163390"/>
            <a:ext cx="1654347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9DDCE-A8D7-4258-9295-F21B58F81BD0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ABA2C-39E2-4D41-98C3-057B2C748E20}"/>
              </a:ext>
            </a:extLst>
          </p:cNvPr>
          <p:cNvSpPr txBox="1"/>
          <p:nvPr/>
        </p:nvSpPr>
        <p:spPr>
          <a:xfrm>
            <a:off x="1281891" y="5517333"/>
            <a:ext cx="165434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3D971-376F-4AA9-B7F9-A01316EBD9DE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233E3-CEE4-460C-9865-83CA548834B6}"/>
              </a:ext>
            </a:extLst>
          </p:cNvPr>
          <p:cNvSpPr txBox="1"/>
          <p:nvPr/>
        </p:nvSpPr>
        <p:spPr>
          <a:xfrm>
            <a:off x="1281890" y="5886665"/>
            <a:ext cx="1654345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3FF7A-FCDB-402D-BA13-5050846DBE7F}"/>
              </a:ext>
            </a:extLst>
          </p:cNvPr>
          <p:cNvSpPr/>
          <p:nvPr/>
        </p:nvSpPr>
        <p:spPr>
          <a:xfrm>
            <a:off x="657522" y="5501944"/>
            <a:ext cx="2278715" cy="428838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A073CEC-1D48-4E65-BE7B-D65D903F54D7}"/>
              </a:ext>
            </a:extLst>
          </p:cNvPr>
          <p:cNvSpPr/>
          <p:nvPr/>
        </p:nvSpPr>
        <p:spPr>
          <a:xfrm>
            <a:off x="6247106" y="4205719"/>
            <a:ext cx="56313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</p:txBody>
      </p:sp>
    </p:spTree>
    <p:extLst>
      <p:ext uri="{BB962C8B-B14F-4D97-AF65-F5344CB8AC3E}">
        <p14:creationId xmlns:p14="http://schemas.microsoft.com/office/powerpoint/2010/main" val="20027725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B7A-8516-47FC-9176-8158CF0B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Sketch Switching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0757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copies of a streaming algorithm at the beginning</a:t>
                </a:r>
              </a:p>
              <a:p>
                <a:r>
                  <a:rPr lang="en-US" dirty="0"/>
                  <a:t>Use an instance of the algorithm but freeze the current output</a:t>
                </a:r>
              </a:p>
              <a:p>
                <a:r>
                  <a:rPr lang="en-US" dirty="0"/>
                  <a:t>Each time that the next instance has value more than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times the frozen output, we </a:t>
                </a:r>
                <a:r>
                  <a:rPr lang="en-US" i="1" dirty="0">
                    <a:solidFill>
                      <a:schemeClr val="accent6"/>
                    </a:solidFill>
                  </a:rPr>
                  <a:t>switch</a:t>
                </a:r>
                <a:r>
                  <a:rPr lang="en-US" dirty="0"/>
                  <a:t> to the next instance and freeze its output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E869CFC-7415-4DB8-A893-3B5ACA7E4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07571"/>
              </a:xfrm>
              <a:blipFill>
                <a:blip r:embed="rId2"/>
                <a:stretch>
                  <a:fillRect l="-1043" t="-2162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A073CEC-1D48-4E65-BE7B-D65D903F54D7}"/>
              </a:ext>
            </a:extLst>
          </p:cNvPr>
          <p:cNvSpPr/>
          <p:nvPr/>
        </p:nvSpPr>
        <p:spPr>
          <a:xfrm>
            <a:off x="6247106" y="4205719"/>
            <a:ext cx="563130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estimate the number of ones in the stream (2-approx.)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Number of ones stream is at least 4 and at most 8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4 is a good approximation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BAD7CF-C0B4-494A-BDD2-FF71E7C24BB9}"/>
              </a:ext>
            </a:extLst>
          </p:cNvPr>
          <p:cNvSpPr txBox="1"/>
          <p:nvPr/>
        </p:nvSpPr>
        <p:spPr>
          <a:xfrm>
            <a:off x="1139887" y="4086172"/>
            <a:ext cx="4195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1 0 1 1 1 0 0 1 1 0 1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2112C0-20DE-4852-A7C3-7F6AEDB0168E}"/>
              </a:ext>
            </a:extLst>
          </p:cNvPr>
          <p:cNvSpPr txBox="1"/>
          <p:nvPr/>
        </p:nvSpPr>
        <p:spPr>
          <a:xfrm>
            <a:off x="1281893" y="4794058"/>
            <a:ext cx="3969861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671745-947B-44FE-92BB-CC9E85EF2C38}"/>
              </a:ext>
            </a:extLst>
          </p:cNvPr>
          <p:cNvSpPr/>
          <p:nvPr/>
        </p:nvSpPr>
        <p:spPr>
          <a:xfrm>
            <a:off x="838200" y="479405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255730-CCD7-41FF-9A22-8ABDDC96B9CE}"/>
              </a:ext>
            </a:extLst>
          </p:cNvPr>
          <p:cNvSpPr/>
          <p:nvPr/>
        </p:nvSpPr>
        <p:spPr>
          <a:xfrm>
            <a:off x="838201" y="5163390"/>
            <a:ext cx="301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F84019-3A41-4D2E-8072-259B8C5389C9}"/>
              </a:ext>
            </a:extLst>
          </p:cNvPr>
          <p:cNvSpPr txBox="1"/>
          <p:nvPr/>
        </p:nvSpPr>
        <p:spPr>
          <a:xfrm>
            <a:off x="1281893" y="5163390"/>
            <a:ext cx="3969861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75419B-D42A-4BDF-8BB2-563E59658929}"/>
              </a:ext>
            </a:extLst>
          </p:cNvPr>
          <p:cNvSpPr/>
          <p:nvPr/>
        </p:nvSpPr>
        <p:spPr>
          <a:xfrm>
            <a:off x="838200" y="55636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3D4DDD-64BE-4BC4-BD09-E20AF821C0AD}"/>
              </a:ext>
            </a:extLst>
          </p:cNvPr>
          <p:cNvSpPr txBox="1"/>
          <p:nvPr/>
        </p:nvSpPr>
        <p:spPr>
          <a:xfrm>
            <a:off x="1281892" y="5517333"/>
            <a:ext cx="396986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5EF681-7B4F-41A5-8883-1C02637DE229}"/>
              </a:ext>
            </a:extLst>
          </p:cNvPr>
          <p:cNvSpPr/>
          <p:nvPr/>
        </p:nvSpPr>
        <p:spPr>
          <a:xfrm>
            <a:off x="838200" y="5963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AB055C-CF6A-45DE-A156-FEF024B38E01}"/>
              </a:ext>
            </a:extLst>
          </p:cNvPr>
          <p:cNvSpPr txBox="1"/>
          <p:nvPr/>
        </p:nvSpPr>
        <p:spPr>
          <a:xfrm>
            <a:off x="1281891" y="5886665"/>
            <a:ext cx="396986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EABCE3-A5D3-4747-9D68-890ABFC6FFE5}"/>
              </a:ext>
            </a:extLst>
          </p:cNvPr>
          <p:cNvSpPr/>
          <p:nvPr/>
        </p:nvSpPr>
        <p:spPr>
          <a:xfrm>
            <a:off x="657522" y="5501944"/>
            <a:ext cx="4594232" cy="428838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6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ff60116-7431-425d-b5af-077d7791bda4}" enabled="0" method="" siteId="{2ff60116-7431-425d-b5af-077d7791bda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15243</TotalTime>
  <Words>3596</Words>
  <Application>Microsoft Office PowerPoint</Application>
  <PresentationFormat>Widescreen</PresentationFormat>
  <Paragraphs>600</Paragraphs>
  <Slides>60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Wingdings</vt:lpstr>
      <vt:lpstr>Office Theme</vt:lpstr>
      <vt:lpstr>Adversarial Robustness on Insertion-Deletion Streams</vt:lpstr>
      <vt:lpstr>Model #1: Streaming Model</vt:lpstr>
      <vt:lpstr>Lots of problems…</vt:lpstr>
      <vt:lpstr>Frequency Vector</vt:lpstr>
      <vt:lpstr>Frequency Moments</vt:lpstr>
      <vt:lpstr>F_2 Estimation</vt:lpstr>
      <vt:lpstr>AMS Algorithm</vt:lpstr>
      <vt:lpstr>Model #2: Adversarially Robust Streaming</vt:lpstr>
      <vt:lpstr>Adversarially Robust Streaming</vt:lpstr>
      <vt:lpstr>Adversarially Robust Streaming</vt:lpstr>
      <vt:lpstr>Adversarially Robust Streaming</vt:lpstr>
      <vt:lpstr>Adversarially Robust Streaming</vt:lpstr>
      <vt:lpstr>Adversarially Robust Streaming</vt:lpstr>
      <vt:lpstr>Adversarially Robust Streaming</vt:lpstr>
      <vt:lpstr>“Attack” on AMS</vt:lpstr>
      <vt:lpstr>Insertion-Only Streams</vt:lpstr>
      <vt:lpstr>Bounded Computation Paths</vt:lpstr>
      <vt:lpstr>Bounded Computation Paths</vt:lpstr>
      <vt:lpstr>Bounded Computation Paths</vt:lpstr>
      <vt:lpstr>Differential Privacy</vt:lpstr>
      <vt:lpstr>Differential Privacy</vt:lpstr>
      <vt:lpstr>Composition Theorems</vt:lpstr>
      <vt:lpstr>Private Median</vt:lpstr>
      <vt:lpstr>Generalization for DP</vt:lpstr>
      <vt:lpstr>Questions?</vt:lpstr>
      <vt:lpstr>Insertion-Deletion Streams</vt:lpstr>
      <vt:lpstr>Linear Sketch</vt:lpstr>
      <vt:lpstr>Why conjecture Ω(n) space for F_p moments?</vt:lpstr>
      <vt:lpstr>Our Results, Adversarial Robustness on  Insertion-Deletion Streams</vt:lpstr>
      <vt:lpstr>Intuition</vt:lpstr>
      <vt:lpstr>Intuition</vt:lpstr>
      <vt:lpstr>Intuition</vt:lpstr>
      <vt:lpstr>Intuition</vt:lpstr>
      <vt:lpstr>Estimator, Corrector, Learner</vt:lpstr>
      <vt:lpstr>Estimator, Corrector, Learner</vt:lpstr>
      <vt:lpstr>Estimator, Corrector, Learner</vt:lpstr>
      <vt:lpstr>PowerPoint Presentation</vt:lpstr>
      <vt:lpstr>Update Rule</vt:lpstr>
      <vt:lpstr>Update Rule</vt:lpstr>
      <vt:lpstr>Progress</vt:lpstr>
      <vt:lpstr>Progress</vt:lpstr>
      <vt:lpstr>Recursion</vt:lpstr>
      <vt:lpstr>Recursion</vt:lpstr>
      <vt:lpstr>PowerPoint Presentation</vt:lpstr>
      <vt:lpstr>Recursion Tree</vt:lpstr>
      <vt:lpstr>Space Complexity</vt:lpstr>
      <vt:lpstr>Heavy-Hitters</vt:lpstr>
      <vt:lpstr>Heavy-Hitters</vt:lpstr>
      <vt:lpstr>Future Directions?</vt:lpstr>
      <vt:lpstr>Triangle Inequality</vt:lpstr>
      <vt:lpstr>Triangle Inequality</vt:lpstr>
      <vt:lpstr>PowerPoint Presentation</vt:lpstr>
      <vt:lpstr>Sketch Switching</vt:lpstr>
      <vt:lpstr>Sketch Switching</vt:lpstr>
      <vt:lpstr>Sketch Switching</vt:lpstr>
      <vt:lpstr>Sketch Switching</vt:lpstr>
      <vt:lpstr>Sketch Switching</vt:lpstr>
      <vt:lpstr>Sketch Switching</vt:lpstr>
      <vt:lpstr>Sketch Switching</vt:lpstr>
      <vt:lpstr>Sketch Switching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Lifting Linear Sketches: Optimal Bounds and Adversarial Robustness</dc:title>
  <dc:creator>Honghao Lin</dc:creator>
  <cp:lastModifiedBy>Samson Zhou</cp:lastModifiedBy>
  <cp:revision>189</cp:revision>
  <cp:lastPrinted>2026-02-24T11:04:27Z</cp:lastPrinted>
  <dcterms:created xsi:type="dcterms:W3CDTF">2025-03-11T01:30:32Z</dcterms:created>
  <dcterms:modified xsi:type="dcterms:W3CDTF">2026-07-29T15:07:26Z</dcterms:modified>
</cp:coreProperties>
</file>