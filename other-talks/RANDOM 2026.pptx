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1446" r:id="rId2"/>
    <p:sldId id="1491" r:id="rId3"/>
    <p:sldId id="1490" r:id="rId4"/>
    <p:sldId id="1381" r:id="rId5"/>
    <p:sldId id="500" r:id="rId6"/>
    <p:sldId id="1471" r:id="rId7"/>
    <p:sldId id="1470" r:id="rId8"/>
    <p:sldId id="493" r:id="rId9"/>
    <p:sldId id="495" r:id="rId10"/>
    <p:sldId id="496" r:id="rId11"/>
    <p:sldId id="497" r:id="rId12"/>
    <p:sldId id="498" r:id="rId13"/>
    <p:sldId id="1520" r:id="rId14"/>
    <p:sldId id="1521" r:id="rId15"/>
    <p:sldId id="1523" r:id="rId16"/>
    <p:sldId id="1522" r:id="rId17"/>
    <p:sldId id="1524" r:id="rId18"/>
    <p:sldId id="1525" r:id="rId19"/>
    <p:sldId id="1530" r:id="rId20"/>
    <p:sldId id="1531" r:id="rId21"/>
    <p:sldId id="1532" r:id="rId22"/>
    <p:sldId id="1534" r:id="rId23"/>
    <p:sldId id="1535" r:id="rId24"/>
    <p:sldId id="1542" r:id="rId25"/>
    <p:sldId id="1536" r:id="rId26"/>
    <p:sldId id="1537" r:id="rId27"/>
    <p:sldId id="1538" r:id="rId28"/>
    <p:sldId id="1539" r:id="rId29"/>
    <p:sldId id="1541" r:id="rId30"/>
    <p:sldId id="1543" r:id="rId31"/>
    <p:sldId id="1544" r:id="rId32"/>
    <p:sldId id="1555" r:id="rId33"/>
    <p:sldId id="1547" r:id="rId34"/>
    <p:sldId id="1548" r:id="rId35"/>
    <p:sldId id="1549" r:id="rId36"/>
    <p:sldId id="1550" r:id="rId37"/>
    <p:sldId id="1551" r:id="rId38"/>
    <p:sldId id="1552" r:id="rId39"/>
    <p:sldId id="1553" r:id="rId40"/>
    <p:sldId id="155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63" d="100"/>
          <a:sy n="63" d="100"/>
        </p:scale>
        <p:origin x="1929"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5FB046-70FE-44A3-B533-66ED3E5FBBB3}" type="datetimeFigureOut">
              <a:rPr lang="en-US" smtClean="0"/>
              <a:t>8/14/2026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D8F106-D1DB-42E7-972A-F9009263BF2D}" type="slidenum">
              <a:rPr lang="en-US" smtClean="0"/>
              <a:t>‹#›</a:t>
            </a:fld>
            <a:endParaRPr lang="en-US"/>
          </a:p>
        </p:txBody>
      </p:sp>
    </p:spTree>
    <p:extLst>
      <p:ext uri="{BB962C8B-B14F-4D97-AF65-F5344CB8AC3E}">
        <p14:creationId xmlns:p14="http://schemas.microsoft.com/office/powerpoint/2010/main" val="622954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0A3DA-082A-6C53-F965-B7CB70E6D0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3E37D7-CF63-702B-23E8-F29404AA11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6B8F9-A504-4DCB-87F5-281352A4D8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FB9BD1-9581-B930-E35F-B9A1D791925B}"/>
              </a:ext>
            </a:extLst>
          </p:cNvPr>
          <p:cNvSpPr>
            <a:spLocks noGrp="1"/>
          </p:cNvSpPr>
          <p:nvPr>
            <p:ph type="sldNum" sz="quarter" idx="5"/>
          </p:nvPr>
        </p:nvSpPr>
        <p:spPr/>
        <p:txBody>
          <a:bodyPr/>
          <a:lstStyle/>
          <a:p>
            <a:fld id="{7F88009E-4BBB-4B0B-BB6B-AA8DFD977B03}" type="slidenum">
              <a:rPr lang="en-US" smtClean="0"/>
              <a:t>1</a:t>
            </a:fld>
            <a:endParaRPr lang="en-US"/>
          </a:p>
        </p:txBody>
      </p:sp>
    </p:spTree>
    <p:extLst>
      <p:ext uri="{BB962C8B-B14F-4D97-AF65-F5344CB8AC3E}">
        <p14:creationId xmlns:p14="http://schemas.microsoft.com/office/powerpoint/2010/main" val="2531996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58BC6-BBFF-1882-7121-F46124F35DB3}"/>
            </a:ext>
          </a:extLst>
        </p:cNvPr>
        <p:cNvGrpSpPr/>
        <p:nvPr/>
      </p:nvGrpSpPr>
      <p:grpSpPr>
        <a:xfrm>
          <a:off x="0" y="0"/>
          <a:ext cx="0" cy="0"/>
          <a:chOff x="0" y="0"/>
          <a:chExt cx="0" cy="0"/>
        </a:xfrm>
      </p:grpSpPr>
    </p:spTree>
    <p:extLst>
      <p:ext uri="{BB962C8B-B14F-4D97-AF65-F5344CB8AC3E}">
        <p14:creationId xmlns:p14="http://schemas.microsoft.com/office/powerpoint/2010/main" val="398425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6229C-5C56-46D3-8AF7-8CB2C6C5FD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8819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D98CE-B35F-E628-02B1-4D2AF7576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192C2-1557-6BFB-034E-01AA246D1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28E96-FC20-11D0-13EA-A177E9158671}"/>
              </a:ext>
            </a:extLst>
          </p:cNvPr>
          <p:cNvSpPr>
            <a:spLocks noGrp="1"/>
          </p:cNvSpPr>
          <p:nvPr>
            <p:ph type="body" idx="1"/>
          </p:nvPr>
        </p:nvSpPr>
        <p:spPr/>
        <p:txBody>
          <a:bodyPr/>
          <a:lstStyle/>
          <a:p>
            <a:r>
              <a:rPr lang="en-US" dirty="0"/>
              <a:t>Let’s start by breaking down each of the terms in the title. To understand the sliding window model, we first have to understand the streaming model of computation, in which elements of an underlying data set S, arrive sequentially and the goal is to evaluate or approximate some given function on this dataset, using space sublinear in S. In the sliding window model, only the W most recent updates form the underlying data set</a:t>
            </a:r>
          </a:p>
        </p:txBody>
      </p:sp>
      <p:sp>
        <p:nvSpPr>
          <p:cNvPr id="4" name="Slide Number Placeholder 3">
            <a:extLst>
              <a:ext uri="{FF2B5EF4-FFF2-40B4-BE49-F238E27FC236}">
                <a16:creationId xmlns:a16="http://schemas.microsoft.com/office/drawing/2014/main" id="{60F2484F-E12E-E001-1D68-265DD2CDD3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6229C-5C56-46D3-8AF7-8CB2C6C5FD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7205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EE911-1708-6603-4450-B7BE35FA8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746ED-E0BE-C41A-2EBA-EF08A07A3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41191C-1A30-0690-A844-6B294E2D0137}"/>
              </a:ext>
            </a:extLst>
          </p:cNvPr>
          <p:cNvSpPr>
            <a:spLocks noGrp="1"/>
          </p:cNvSpPr>
          <p:nvPr>
            <p:ph type="body" idx="1"/>
          </p:nvPr>
        </p:nvSpPr>
        <p:spPr/>
        <p:txBody>
          <a:bodyPr/>
          <a:lstStyle/>
          <a:p>
            <a:r>
              <a:rPr lang="en-US" dirty="0" err="1"/>
              <a:t>Alg</a:t>
            </a:r>
            <a:r>
              <a:rPr lang="zh-CN" altLang="en-US" dirty="0"/>
              <a:t>是</a:t>
            </a:r>
            <a:r>
              <a:rPr lang="en-US" altLang="zh-CN"/>
              <a:t>l0 alg</a:t>
            </a:r>
          </a:p>
          <a:p>
            <a:endParaRPr lang="en-US" dirty="0"/>
          </a:p>
        </p:txBody>
      </p:sp>
      <p:sp>
        <p:nvSpPr>
          <p:cNvPr id="4" name="Slide Number Placeholder 3">
            <a:extLst>
              <a:ext uri="{FF2B5EF4-FFF2-40B4-BE49-F238E27FC236}">
                <a16:creationId xmlns:a16="http://schemas.microsoft.com/office/drawing/2014/main" id="{7C2726A1-5B63-2771-F297-EEDF7ED432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6229C-5C56-46D3-8AF7-8CB2C6C5FD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346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6229C-5C56-46D3-8AF7-8CB2C6C5FD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5074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6229C-5C56-46D3-8AF7-8CB2C6C5FD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9471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6229C-5C56-46D3-8AF7-8CB2C6C5FD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4662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6229C-5C56-46D3-8AF7-8CB2C6C5FD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2852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dirty="0" err="1">
                <a:solidFill>
                  <a:srgbClr val="C00000"/>
                </a:solidFill>
              </a:rPr>
              <a:t>adversarially</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6229C-5C56-46D3-8AF7-8CB2C6C5FD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0964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86229C-5C56-46D3-8AF7-8CB2C6C5FD7A}" type="slidenum">
              <a:rPr lang="en-US" smtClean="0"/>
              <a:t>13</a:t>
            </a:fld>
            <a:endParaRPr lang="en-US"/>
          </a:p>
        </p:txBody>
      </p:sp>
    </p:spTree>
    <p:extLst>
      <p:ext uri="{BB962C8B-B14F-4D97-AF65-F5344CB8AC3E}">
        <p14:creationId xmlns:p14="http://schemas.microsoft.com/office/powerpoint/2010/main" val="13225765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97835-BD2C-9532-A0D6-451191F93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BC9AAF-E4BE-89FD-EB01-5015F5F43A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43EAF-E932-0089-01F2-6C8ECA66A0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1687D2-8D7B-949E-CE5B-E588AC65AC5B}"/>
              </a:ext>
            </a:extLst>
          </p:cNvPr>
          <p:cNvSpPr>
            <a:spLocks noGrp="1"/>
          </p:cNvSpPr>
          <p:nvPr>
            <p:ph type="sldNum" sz="quarter" idx="5"/>
          </p:nvPr>
        </p:nvSpPr>
        <p:spPr/>
        <p:txBody>
          <a:bodyPr/>
          <a:lstStyle/>
          <a:p>
            <a:fld id="{3486229C-5C56-46D3-8AF7-8CB2C6C5FD7A}" type="slidenum">
              <a:rPr lang="en-US" smtClean="0"/>
              <a:t>14</a:t>
            </a:fld>
            <a:endParaRPr lang="en-US"/>
          </a:p>
        </p:txBody>
      </p:sp>
    </p:spTree>
    <p:extLst>
      <p:ext uri="{BB962C8B-B14F-4D97-AF65-F5344CB8AC3E}">
        <p14:creationId xmlns:p14="http://schemas.microsoft.com/office/powerpoint/2010/main" val="2797481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F2BA9-D513-B33F-402A-A9EDE64D2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6E56E-2938-F332-9CCE-976F228E0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60BAE3-AFE6-D34A-0EB3-004750A263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6154E4-3480-3672-B8BE-2D5D2AE9AE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6229C-5C56-46D3-8AF7-8CB2C6C5FD7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27144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35E4A-38F0-3E98-3813-E65BF8C26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62E92-5F7C-14D6-5091-A8354E2257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60AA1-C605-0AF5-36EC-7CA6222AEB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2A111B-C9BE-3F99-58DA-9F916DD15289}"/>
              </a:ext>
            </a:extLst>
          </p:cNvPr>
          <p:cNvSpPr>
            <a:spLocks noGrp="1"/>
          </p:cNvSpPr>
          <p:nvPr>
            <p:ph type="sldNum" sz="quarter" idx="5"/>
          </p:nvPr>
        </p:nvSpPr>
        <p:spPr/>
        <p:txBody>
          <a:bodyPr/>
          <a:lstStyle/>
          <a:p>
            <a:fld id="{3486229C-5C56-46D3-8AF7-8CB2C6C5FD7A}" type="slidenum">
              <a:rPr lang="en-US" smtClean="0"/>
              <a:t>16</a:t>
            </a:fld>
            <a:endParaRPr lang="en-US"/>
          </a:p>
        </p:txBody>
      </p:sp>
    </p:spTree>
    <p:extLst>
      <p:ext uri="{BB962C8B-B14F-4D97-AF65-F5344CB8AC3E}">
        <p14:creationId xmlns:p14="http://schemas.microsoft.com/office/powerpoint/2010/main" val="3819827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610E8-7C14-3C88-95D3-610463AE58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9BC62-7E5D-2A7E-BED6-96F266787A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05AF4-DECD-1FB3-797A-D1EEA5D935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5F5203-9F11-392A-1C57-03FC91091F1E}"/>
              </a:ext>
            </a:extLst>
          </p:cNvPr>
          <p:cNvSpPr>
            <a:spLocks noGrp="1"/>
          </p:cNvSpPr>
          <p:nvPr>
            <p:ph type="sldNum" sz="quarter" idx="5"/>
          </p:nvPr>
        </p:nvSpPr>
        <p:spPr/>
        <p:txBody>
          <a:bodyPr/>
          <a:lstStyle/>
          <a:p>
            <a:fld id="{3486229C-5C56-46D3-8AF7-8CB2C6C5FD7A}" type="slidenum">
              <a:rPr lang="en-US" smtClean="0"/>
              <a:t>17</a:t>
            </a:fld>
            <a:endParaRPr lang="en-US"/>
          </a:p>
        </p:txBody>
      </p:sp>
    </p:spTree>
    <p:extLst>
      <p:ext uri="{BB962C8B-B14F-4D97-AF65-F5344CB8AC3E}">
        <p14:creationId xmlns:p14="http://schemas.microsoft.com/office/powerpoint/2010/main" val="18794868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FFEC6-8FA0-9759-9C56-7F57A6EE2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D2FFA-E7E5-CC1F-1D15-EF5A3338B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3250D-DB81-5BF9-292C-32B993F05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7A3ACF-4455-9D04-986C-56B110AF7BEE}"/>
              </a:ext>
            </a:extLst>
          </p:cNvPr>
          <p:cNvSpPr>
            <a:spLocks noGrp="1"/>
          </p:cNvSpPr>
          <p:nvPr>
            <p:ph type="sldNum" sz="quarter" idx="5"/>
          </p:nvPr>
        </p:nvSpPr>
        <p:spPr/>
        <p:txBody>
          <a:bodyPr/>
          <a:lstStyle/>
          <a:p>
            <a:fld id="{3486229C-5C56-46D3-8AF7-8CB2C6C5FD7A}" type="slidenum">
              <a:rPr lang="en-US" smtClean="0"/>
              <a:t>18</a:t>
            </a:fld>
            <a:endParaRPr lang="en-US"/>
          </a:p>
        </p:txBody>
      </p:sp>
    </p:spTree>
    <p:extLst>
      <p:ext uri="{BB962C8B-B14F-4D97-AF65-F5344CB8AC3E}">
        <p14:creationId xmlns:p14="http://schemas.microsoft.com/office/powerpoint/2010/main" val="1472914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3BD8C-3449-D581-3A7B-E04EE42B5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3918E-3155-3CAB-53C3-41F04A147C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4C937-B074-ECBC-A94E-3107B3065C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890485-AAB2-A160-4E6F-9A5CDBE5B4BB}"/>
              </a:ext>
            </a:extLst>
          </p:cNvPr>
          <p:cNvSpPr>
            <a:spLocks noGrp="1"/>
          </p:cNvSpPr>
          <p:nvPr>
            <p:ph type="sldNum" sz="quarter" idx="5"/>
          </p:nvPr>
        </p:nvSpPr>
        <p:spPr/>
        <p:txBody>
          <a:bodyPr/>
          <a:lstStyle/>
          <a:p>
            <a:fld id="{3486229C-5C56-46D3-8AF7-8CB2C6C5FD7A}" type="slidenum">
              <a:rPr lang="en-US" smtClean="0"/>
              <a:t>19</a:t>
            </a:fld>
            <a:endParaRPr lang="en-US"/>
          </a:p>
        </p:txBody>
      </p:sp>
    </p:spTree>
    <p:extLst>
      <p:ext uri="{BB962C8B-B14F-4D97-AF65-F5344CB8AC3E}">
        <p14:creationId xmlns:p14="http://schemas.microsoft.com/office/powerpoint/2010/main" val="12463892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77C5B-1395-2407-1B5B-A3956A7484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4CB23-69D4-4009-E582-A3D27F114A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0FDB58-1A65-6659-B2BD-57EDD7BE6A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16B1F4-D408-50B3-AA9C-AB17488946DE}"/>
              </a:ext>
            </a:extLst>
          </p:cNvPr>
          <p:cNvSpPr>
            <a:spLocks noGrp="1"/>
          </p:cNvSpPr>
          <p:nvPr>
            <p:ph type="sldNum" sz="quarter" idx="5"/>
          </p:nvPr>
        </p:nvSpPr>
        <p:spPr/>
        <p:txBody>
          <a:bodyPr/>
          <a:lstStyle/>
          <a:p>
            <a:fld id="{3486229C-5C56-46D3-8AF7-8CB2C6C5FD7A}" type="slidenum">
              <a:rPr lang="en-US" smtClean="0"/>
              <a:t>20</a:t>
            </a:fld>
            <a:endParaRPr lang="en-US"/>
          </a:p>
        </p:txBody>
      </p:sp>
    </p:spTree>
    <p:extLst>
      <p:ext uri="{BB962C8B-B14F-4D97-AF65-F5344CB8AC3E}">
        <p14:creationId xmlns:p14="http://schemas.microsoft.com/office/powerpoint/2010/main" val="42799745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FDB62-CBA4-DB7E-F3C0-554A0CA6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7CDE9-41E0-FEF4-6A48-321BE60333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2ABFA0-F960-CBFC-70D7-CC8922E65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5711BC-116D-8F8C-6EA5-FEDD81E811DF}"/>
              </a:ext>
            </a:extLst>
          </p:cNvPr>
          <p:cNvSpPr>
            <a:spLocks noGrp="1"/>
          </p:cNvSpPr>
          <p:nvPr>
            <p:ph type="sldNum" sz="quarter" idx="5"/>
          </p:nvPr>
        </p:nvSpPr>
        <p:spPr/>
        <p:txBody>
          <a:bodyPr/>
          <a:lstStyle/>
          <a:p>
            <a:fld id="{3486229C-5C56-46D3-8AF7-8CB2C6C5FD7A}" type="slidenum">
              <a:rPr lang="en-US" smtClean="0"/>
              <a:t>21</a:t>
            </a:fld>
            <a:endParaRPr lang="en-US"/>
          </a:p>
        </p:txBody>
      </p:sp>
    </p:spTree>
    <p:extLst>
      <p:ext uri="{BB962C8B-B14F-4D97-AF65-F5344CB8AC3E}">
        <p14:creationId xmlns:p14="http://schemas.microsoft.com/office/powerpoint/2010/main" val="8003591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E95C9-50E0-FC58-B499-61F984655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0B8EE-2FC0-275A-D112-F256BF32E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D3746-AD81-B07F-0879-030CC7C1AF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A32699-447F-9277-EC3D-6F0CDCEBFE72}"/>
              </a:ext>
            </a:extLst>
          </p:cNvPr>
          <p:cNvSpPr>
            <a:spLocks noGrp="1"/>
          </p:cNvSpPr>
          <p:nvPr>
            <p:ph type="sldNum" sz="quarter" idx="5"/>
          </p:nvPr>
        </p:nvSpPr>
        <p:spPr/>
        <p:txBody>
          <a:bodyPr/>
          <a:lstStyle/>
          <a:p>
            <a:fld id="{3486229C-5C56-46D3-8AF7-8CB2C6C5FD7A}" type="slidenum">
              <a:rPr lang="en-US" smtClean="0"/>
              <a:t>22</a:t>
            </a:fld>
            <a:endParaRPr lang="en-US"/>
          </a:p>
        </p:txBody>
      </p:sp>
    </p:spTree>
    <p:extLst>
      <p:ext uri="{BB962C8B-B14F-4D97-AF65-F5344CB8AC3E}">
        <p14:creationId xmlns:p14="http://schemas.microsoft.com/office/powerpoint/2010/main" val="18236843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8E538-E8F8-0376-A3A3-4D7240B93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D10A3-9940-2551-4288-08B43C4B0C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72B36-E3B5-D936-2C24-2A3942D558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5DD7CC-ACE0-3171-0823-8DB6FC971EC6}"/>
              </a:ext>
            </a:extLst>
          </p:cNvPr>
          <p:cNvSpPr>
            <a:spLocks noGrp="1"/>
          </p:cNvSpPr>
          <p:nvPr>
            <p:ph type="sldNum" sz="quarter" idx="5"/>
          </p:nvPr>
        </p:nvSpPr>
        <p:spPr/>
        <p:txBody>
          <a:bodyPr/>
          <a:lstStyle/>
          <a:p>
            <a:fld id="{3486229C-5C56-46D3-8AF7-8CB2C6C5FD7A}" type="slidenum">
              <a:rPr lang="en-US" smtClean="0"/>
              <a:t>23</a:t>
            </a:fld>
            <a:endParaRPr lang="en-US"/>
          </a:p>
        </p:txBody>
      </p:sp>
    </p:spTree>
    <p:extLst>
      <p:ext uri="{BB962C8B-B14F-4D97-AF65-F5344CB8AC3E}">
        <p14:creationId xmlns:p14="http://schemas.microsoft.com/office/powerpoint/2010/main" val="24569040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07172-DD82-E6A5-CC64-9EF0DD683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26021-4211-A38D-CD29-9E2511D702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99C97-610C-74BE-ED31-D9EAEB57A6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A42E75-F212-3F11-3143-FE49F6838D90}"/>
              </a:ext>
            </a:extLst>
          </p:cNvPr>
          <p:cNvSpPr>
            <a:spLocks noGrp="1"/>
          </p:cNvSpPr>
          <p:nvPr>
            <p:ph type="sldNum" sz="quarter" idx="5"/>
          </p:nvPr>
        </p:nvSpPr>
        <p:spPr/>
        <p:txBody>
          <a:bodyPr/>
          <a:lstStyle/>
          <a:p>
            <a:fld id="{3486229C-5C56-46D3-8AF7-8CB2C6C5FD7A}" type="slidenum">
              <a:rPr lang="en-US" smtClean="0"/>
              <a:t>24</a:t>
            </a:fld>
            <a:endParaRPr lang="en-US"/>
          </a:p>
        </p:txBody>
      </p:sp>
    </p:spTree>
    <p:extLst>
      <p:ext uri="{BB962C8B-B14F-4D97-AF65-F5344CB8AC3E}">
        <p14:creationId xmlns:p14="http://schemas.microsoft.com/office/powerpoint/2010/main" val="33436064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0B9C6-976D-4299-D442-B8946275A2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293C6-9B47-01CC-330E-6095402CA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6606B-7282-7D5B-0EA4-C229C89542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900B3C-8A07-E76F-56CE-8ED04293B84A}"/>
              </a:ext>
            </a:extLst>
          </p:cNvPr>
          <p:cNvSpPr>
            <a:spLocks noGrp="1"/>
          </p:cNvSpPr>
          <p:nvPr>
            <p:ph type="sldNum" sz="quarter" idx="5"/>
          </p:nvPr>
        </p:nvSpPr>
        <p:spPr/>
        <p:txBody>
          <a:bodyPr/>
          <a:lstStyle/>
          <a:p>
            <a:fld id="{3486229C-5C56-46D3-8AF7-8CB2C6C5FD7A}" type="slidenum">
              <a:rPr lang="en-US" smtClean="0"/>
              <a:t>25</a:t>
            </a:fld>
            <a:endParaRPr lang="en-US"/>
          </a:p>
        </p:txBody>
      </p:sp>
    </p:spTree>
    <p:extLst>
      <p:ext uri="{BB962C8B-B14F-4D97-AF65-F5344CB8AC3E}">
        <p14:creationId xmlns:p14="http://schemas.microsoft.com/office/powerpoint/2010/main" val="8794270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2EC60-506F-558E-FADE-C8684A590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81B1FE-7CF6-BC7B-ECBE-1877844FE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42D15-01C0-64CC-91E5-F3A4C7A2F2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FC76DD-B284-B85A-FB60-D6443EA62E13}"/>
              </a:ext>
            </a:extLst>
          </p:cNvPr>
          <p:cNvSpPr>
            <a:spLocks noGrp="1"/>
          </p:cNvSpPr>
          <p:nvPr>
            <p:ph type="sldNum" sz="quarter" idx="5"/>
          </p:nvPr>
        </p:nvSpPr>
        <p:spPr/>
        <p:txBody>
          <a:bodyPr/>
          <a:lstStyle/>
          <a:p>
            <a:fld id="{3486229C-5C56-46D3-8AF7-8CB2C6C5FD7A}" type="slidenum">
              <a:rPr lang="en-US" smtClean="0"/>
              <a:t>26</a:t>
            </a:fld>
            <a:endParaRPr lang="en-US"/>
          </a:p>
        </p:txBody>
      </p:sp>
    </p:spTree>
    <p:extLst>
      <p:ext uri="{BB962C8B-B14F-4D97-AF65-F5344CB8AC3E}">
        <p14:creationId xmlns:p14="http://schemas.microsoft.com/office/powerpoint/2010/main" val="30930046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80E0E-99A6-C562-696B-C2B1B1AE7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982A6-CC1E-7A9F-8767-51FC7F14B6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FD24B1-0CC2-3727-9E61-19E896EC8B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947705-8708-66AA-8455-D54511C978FD}"/>
              </a:ext>
            </a:extLst>
          </p:cNvPr>
          <p:cNvSpPr>
            <a:spLocks noGrp="1"/>
          </p:cNvSpPr>
          <p:nvPr>
            <p:ph type="sldNum" sz="quarter" idx="5"/>
          </p:nvPr>
        </p:nvSpPr>
        <p:spPr/>
        <p:txBody>
          <a:bodyPr/>
          <a:lstStyle/>
          <a:p>
            <a:fld id="{3486229C-5C56-46D3-8AF7-8CB2C6C5FD7A}" type="slidenum">
              <a:rPr lang="en-US" smtClean="0"/>
              <a:t>27</a:t>
            </a:fld>
            <a:endParaRPr lang="en-US"/>
          </a:p>
        </p:txBody>
      </p:sp>
    </p:spTree>
    <p:extLst>
      <p:ext uri="{BB962C8B-B14F-4D97-AF65-F5344CB8AC3E}">
        <p14:creationId xmlns:p14="http://schemas.microsoft.com/office/powerpoint/2010/main" val="8538876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2803E-1CBB-AAE5-F9A3-C53386D1F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F0639-BAEB-54F9-98D2-EEEB07697B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7D8367-1EB9-0E41-86A6-58C1808C5C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3DD70F-0A06-D213-FD6E-7D053B84CC66}"/>
              </a:ext>
            </a:extLst>
          </p:cNvPr>
          <p:cNvSpPr>
            <a:spLocks noGrp="1"/>
          </p:cNvSpPr>
          <p:nvPr>
            <p:ph type="sldNum" sz="quarter" idx="5"/>
          </p:nvPr>
        </p:nvSpPr>
        <p:spPr/>
        <p:txBody>
          <a:bodyPr/>
          <a:lstStyle/>
          <a:p>
            <a:fld id="{3486229C-5C56-46D3-8AF7-8CB2C6C5FD7A}" type="slidenum">
              <a:rPr lang="en-US" smtClean="0"/>
              <a:t>28</a:t>
            </a:fld>
            <a:endParaRPr lang="en-US"/>
          </a:p>
        </p:txBody>
      </p:sp>
    </p:spTree>
    <p:extLst>
      <p:ext uri="{BB962C8B-B14F-4D97-AF65-F5344CB8AC3E}">
        <p14:creationId xmlns:p14="http://schemas.microsoft.com/office/powerpoint/2010/main" val="27077554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8B8C4-D605-E505-FFB4-082889FDA1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B0AEA-C79B-1F91-E97B-E11C7017C6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919855-F19D-BD72-F6EF-CE954BFF50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0564C4-5B74-A3AB-0167-6C12D585447C}"/>
              </a:ext>
            </a:extLst>
          </p:cNvPr>
          <p:cNvSpPr>
            <a:spLocks noGrp="1"/>
          </p:cNvSpPr>
          <p:nvPr>
            <p:ph type="sldNum" sz="quarter" idx="5"/>
          </p:nvPr>
        </p:nvSpPr>
        <p:spPr/>
        <p:txBody>
          <a:bodyPr/>
          <a:lstStyle/>
          <a:p>
            <a:fld id="{3486229C-5C56-46D3-8AF7-8CB2C6C5FD7A}" type="slidenum">
              <a:rPr lang="en-US" smtClean="0"/>
              <a:t>29</a:t>
            </a:fld>
            <a:endParaRPr lang="en-US"/>
          </a:p>
        </p:txBody>
      </p:sp>
    </p:spTree>
    <p:extLst>
      <p:ext uri="{BB962C8B-B14F-4D97-AF65-F5344CB8AC3E}">
        <p14:creationId xmlns:p14="http://schemas.microsoft.com/office/powerpoint/2010/main" val="39643654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EFC64-4A37-1D9A-D252-69E0C5980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669D0-AC87-3A78-500B-99CF1932E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C12D53-436B-3001-297C-BDB8C20E9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197C3E-B0CB-2649-3AB7-E55260F7E654}"/>
              </a:ext>
            </a:extLst>
          </p:cNvPr>
          <p:cNvSpPr>
            <a:spLocks noGrp="1"/>
          </p:cNvSpPr>
          <p:nvPr>
            <p:ph type="sldNum" sz="quarter" idx="5"/>
          </p:nvPr>
        </p:nvSpPr>
        <p:spPr/>
        <p:txBody>
          <a:bodyPr/>
          <a:lstStyle/>
          <a:p>
            <a:fld id="{3486229C-5C56-46D3-8AF7-8CB2C6C5FD7A}" type="slidenum">
              <a:rPr lang="en-US" smtClean="0"/>
              <a:t>30</a:t>
            </a:fld>
            <a:endParaRPr lang="en-US"/>
          </a:p>
        </p:txBody>
      </p:sp>
    </p:spTree>
    <p:extLst>
      <p:ext uri="{BB962C8B-B14F-4D97-AF65-F5344CB8AC3E}">
        <p14:creationId xmlns:p14="http://schemas.microsoft.com/office/powerpoint/2010/main" val="36425349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B40D1-7A97-6C9B-710F-3E746729D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72E74-FD68-519A-9291-7CE676D1D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1C3BF-EEAA-4F14-629F-984A8566B6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404079-5464-A689-D50A-9A0C284F451A}"/>
              </a:ext>
            </a:extLst>
          </p:cNvPr>
          <p:cNvSpPr>
            <a:spLocks noGrp="1"/>
          </p:cNvSpPr>
          <p:nvPr>
            <p:ph type="sldNum" sz="quarter" idx="5"/>
          </p:nvPr>
        </p:nvSpPr>
        <p:spPr/>
        <p:txBody>
          <a:bodyPr/>
          <a:lstStyle/>
          <a:p>
            <a:fld id="{3486229C-5C56-46D3-8AF7-8CB2C6C5FD7A}" type="slidenum">
              <a:rPr lang="en-US" smtClean="0"/>
              <a:t>31</a:t>
            </a:fld>
            <a:endParaRPr lang="en-US"/>
          </a:p>
        </p:txBody>
      </p:sp>
    </p:spTree>
    <p:extLst>
      <p:ext uri="{BB962C8B-B14F-4D97-AF65-F5344CB8AC3E}">
        <p14:creationId xmlns:p14="http://schemas.microsoft.com/office/powerpoint/2010/main" val="806316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4DC51-D284-0A0B-41C4-872F3B249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DED7F-4FD9-D750-E902-6AC1BA932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10ECA7-1657-2B40-43D6-C30AD87D99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52DCF3-1D7F-1146-E559-4DBB4C12F1F9}"/>
              </a:ext>
            </a:extLst>
          </p:cNvPr>
          <p:cNvSpPr>
            <a:spLocks noGrp="1"/>
          </p:cNvSpPr>
          <p:nvPr>
            <p:ph type="sldNum" sz="quarter" idx="5"/>
          </p:nvPr>
        </p:nvSpPr>
        <p:spPr/>
        <p:txBody>
          <a:bodyPr/>
          <a:lstStyle/>
          <a:p>
            <a:fld id="{3486229C-5C56-46D3-8AF7-8CB2C6C5FD7A}" type="slidenum">
              <a:rPr lang="en-US" smtClean="0"/>
              <a:t>33</a:t>
            </a:fld>
            <a:endParaRPr lang="en-US"/>
          </a:p>
        </p:txBody>
      </p:sp>
    </p:spTree>
    <p:extLst>
      <p:ext uri="{BB962C8B-B14F-4D97-AF65-F5344CB8AC3E}">
        <p14:creationId xmlns:p14="http://schemas.microsoft.com/office/powerpoint/2010/main" val="33531949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ED754-82C8-CF30-13C7-E8F2B6CBB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659EE-B748-D1CE-7264-7CFAAE321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8A6FB9-925B-CE5D-A78A-821EC6AA23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BA042D-22C3-16BE-2231-93391E9A33DE}"/>
              </a:ext>
            </a:extLst>
          </p:cNvPr>
          <p:cNvSpPr>
            <a:spLocks noGrp="1"/>
          </p:cNvSpPr>
          <p:nvPr>
            <p:ph type="sldNum" sz="quarter" idx="5"/>
          </p:nvPr>
        </p:nvSpPr>
        <p:spPr/>
        <p:txBody>
          <a:bodyPr/>
          <a:lstStyle/>
          <a:p>
            <a:fld id="{3486229C-5C56-46D3-8AF7-8CB2C6C5FD7A}" type="slidenum">
              <a:rPr lang="en-US" smtClean="0"/>
              <a:t>34</a:t>
            </a:fld>
            <a:endParaRPr lang="en-US"/>
          </a:p>
        </p:txBody>
      </p:sp>
    </p:spTree>
    <p:extLst>
      <p:ext uri="{BB962C8B-B14F-4D97-AF65-F5344CB8AC3E}">
        <p14:creationId xmlns:p14="http://schemas.microsoft.com/office/powerpoint/2010/main" val="3616542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309F6-526E-99D7-A2A5-1026089849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7F06A-31FB-6EC9-3DEC-F7BFCA45B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1E1070-00EA-7500-93EB-E28887C23F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F231F1-32A0-CE39-6079-0FACF7399284}"/>
              </a:ext>
            </a:extLst>
          </p:cNvPr>
          <p:cNvSpPr>
            <a:spLocks noGrp="1"/>
          </p:cNvSpPr>
          <p:nvPr>
            <p:ph type="sldNum" sz="quarter" idx="5"/>
          </p:nvPr>
        </p:nvSpPr>
        <p:spPr/>
        <p:txBody>
          <a:bodyPr/>
          <a:lstStyle/>
          <a:p>
            <a:fld id="{3486229C-5C56-46D3-8AF7-8CB2C6C5FD7A}" type="slidenum">
              <a:rPr lang="en-US" smtClean="0"/>
              <a:t>35</a:t>
            </a:fld>
            <a:endParaRPr lang="en-US"/>
          </a:p>
        </p:txBody>
      </p:sp>
    </p:spTree>
    <p:extLst>
      <p:ext uri="{BB962C8B-B14F-4D97-AF65-F5344CB8AC3E}">
        <p14:creationId xmlns:p14="http://schemas.microsoft.com/office/powerpoint/2010/main" val="37297278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71945-F0FC-FF0B-CE2E-29B08DC05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A699A-E66C-BDE6-9DCB-826BF3642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22210E-995B-1827-C1B0-D00E8BB4BC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504AC7-1408-2D2C-996E-9C31ECA7D51F}"/>
              </a:ext>
            </a:extLst>
          </p:cNvPr>
          <p:cNvSpPr>
            <a:spLocks noGrp="1"/>
          </p:cNvSpPr>
          <p:nvPr>
            <p:ph type="sldNum" sz="quarter" idx="5"/>
          </p:nvPr>
        </p:nvSpPr>
        <p:spPr/>
        <p:txBody>
          <a:bodyPr/>
          <a:lstStyle/>
          <a:p>
            <a:fld id="{3486229C-5C56-46D3-8AF7-8CB2C6C5FD7A}" type="slidenum">
              <a:rPr lang="en-US" smtClean="0"/>
              <a:t>36</a:t>
            </a:fld>
            <a:endParaRPr lang="en-US"/>
          </a:p>
        </p:txBody>
      </p:sp>
    </p:spTree>
    <p:extLst>
      <p:ext uri="{BB962C8B-B14F-4D97-AF65-F5344CB8AC3E}">
        <p14:creationId xmlns:p14="http://schemas.microsoft.com/office/powerpoint/2010/main" val="32695956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2D98F-DAEC-CEA6-5FA6-B026670D1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7DDFB-A60F-DD1C-27A8-64F0287337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25085F-1F65-0FC9-0118-58DBEB5747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C6CB88-C2A2-D84D-58CB-89967883330B}"/>
              </a:ext>
            </a:extLst>
          </p:cNvPr>
          <p:cNvSpPr>
            <a:spLocks noGrp="1"/>
          </p:cNvSpPr>
          <p:nvPr>
            <p:ph type="sldNum" sz="quarter" idx="5"/>
          </p:nvPr>
        </p:nvSpPr>
        <p:spPr/>
        <p:txBody>
          <a:bodyPr/>
          <a:lstStyle/>
          <a:p>
            <a:fld id="{3486229C-5C56-46D3-8AF7-8CB2C6C5FD7A}" type="slidenum">
              <a:rPr lang="en-US" smtClean="0"/>
              <a:t>37</a:t>
            </a:fld>
            <a:endParaRPr lang="en-US"/>
          </a:p>
        </p:txBody>
      </p:sp>
    </p:spTree>
    <p:extLst>
      <p:ext uri="{BB962C8B-B14F-4D97-AF65-F5344CB8AC3E}">
        <p14:creationId xmlns:p14="http://schemas.microsoft.com/office/powerpoint/2010/main" val="41373937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555F2-5B7A-3DA0-2BD0-6348324B1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F6A5E-812C-397A-DD0F-A76D44539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9E3D68-02AF-60D9-50CE-9D4BF5DCCD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BC0EC7-F868-659C-998B-AB0312BC2797}"/>
              </a:ext>
            </a:extLst>
          </p:cNvPr>
          <p:cNvSpPr>
            <a:spLocks noGrp="1"/>
          </p:cNvSpPr>
          <p:nvPr>
            <p:ph type="sldNum" sz="quarter" idx="5"/>
          </p:nvPr>
        </p:nvSpPr>
        <p:spPr/>
        <p:txBody>
          <a:bodyPr/>
          <a:lstStyle/>
          <a:p>
            <a:fld id="{3486229C-5C56-46D3-8AF7-8CB2C6C5FD7A}" type="slidenum">
              <a:rPr lang="en-US" smtClean="0"/>
              <a:t>38</a:t>
            </a:fld>
            <a:endParaRPr lang="en-US"/>
          </a:p>
        </p:txBody>
      </p:sp>
    </p:spTree>
    <p:extLst>
      <p:ext uri="{BB962C8B-B14F-4D97-AF65-F5344CB8AC3E}">
        <p14:creationId xmlns:p14="http://schemas.microsoft.com/office/powerpoint/2010/main" val="486538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8B8A1-663A-DA25-CFB3-D71F00FAC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08153-ACE1-EF31-311C-80F7DCBE68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EB9D80-EB91-515F-39F4-3B4318F435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64C6F2-BED6-D667-C0C9-1622757E787C}"/>
              </a:ext>
            </a:extLst>
          </p:cNvPr>
          <p:cNvSpPr>
            <a:spLocks noGrp="1"/>
          </p:cNvSpPr>
          <p:nvPr>
            <p:ph type="sldNum" sz="quarter" idx="5"/>
          </p:nvPr>
        </p:nvSpPr>
        <p:spPr/>
        <p:txBody>
          <a:bodyPr/>
          <a:lstStyle/>
          <a:p>
            <a:fld id="{3486229C-5C56-46D3-8AF7-8CB2C6C5FD7A}" type="slidenum">
              <a:rPr lang="en-US" smtClean="0"/>
              <a:t>39</a:t>
            </a:fld>
            <a:endParaRPr lang="en-US"/>
          </a:p>
        </p:txBody>
      </p:sp>
    </p:spTree>
    <p:extLst>
      <p:ext uri="{BB962C8B-B14F-4D97-AF65-F5344CB8AC3E}">
        <p14:creationId xmlns:p14="http://schemas.microsoft.com/office/powerpoint/2010/main" val="17859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1B70D-7A5C-3D1F-1CBD-8574BF2DC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7FF54-EBC3-A683-F6E5-64E00D4EE3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DCC8A8-AC95-922C-C0AE-B6C4741C95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90D594-9BA7-2382-EBA0-B27974DE91D7}"/>
              </a:ext>
            </a:extLst>
          </p:cNvPr>
          <p:cNvSpPr>
            <a:spLocks noGrp="1"/>
          </p:cNvSpPr>
          <p:nvPr>
            <p:ph type="sldNum" sz="quarter" idx="5"/>
          </p:nvPr>
        </p:nvSpPr>
        <p:spPr/>
        <p:txBody>
          <a:bodyPr/>
          <a:lstStyle/>
          <a:p>
            <a:fld id="{3486229C-5C56-46D3-8AF7-8CB2C6C5FD7A}" type="slidenum">
              <a:rPr lang="en-US" smtClean="0"/>
              <a:t>40</a:t>
            </a:fld>
            <a:endParaRPr lang="en-US"/>
          </a:p>
        </p:txBody>
      </p:sp>
    </p:spTree>
    <p:extLst>
      <p:ext uri="{BB962C8B-B14F-4D97-AF65-F5344CB8AC3E}">
        <p14:creationId xmlns:p14="http://schemas.microsoft.com/office/powerpoint/2010/main" val="1310048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1B8C8-8354-7F3E-3F9B-BC59430115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0B10E5-3F9B-F1C8-6F96-FEEC9EB49C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D470C6-3A49-8E05-7B0E-93EA25857ED6}"/>
              </a:ext>
            </a:extLst>
          </p:cNvPr>
          <p:cNvSpPr>
            <a:spLocks noGrp="1"/>
          </p:cNvSpPr>
          <p:nvPr>
            <p:ph type="dt" sz="half" idx="10"/>
          </p:nvPr>
        </p:nvSpPr>
        <p:spPr/>
        <p:txBody>
          <a:bodyPr/>
          <a:lstStyle/>
          <a:p>
            <a:fld id="{7E1F8DEA-029F-42BB-99E9-63E118BEA231}" type="datetimeFigureOut">
              <a:rPr lang="en-US" smtClean="0"/>
              <a:t>8/14/2026</a:t>
            </a:fld>
            <a:endParaRPr lang="en-US"/>
          </a:p>
        </p:txBody>
      </p:sp>
      <p:sp>
        <p:nvSpPr>
          <p:cNvPr id="5" name="Footer Placeholder 4">
            <a:extLst>
              <a:ext uri="{FF2B5EF4-FFF2-40B4-BE49-F238E27FC236}">
                <a16:creationId xmlns:a16="http://schemas.microsoft.com/office/drawing/2014/main" id="{A04D4789-BE53-981E-9E2A-449DC5242D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0832E-B664-16AD-468E-29E18F7B573B}"/>
              </a:ext>
            </a:extLst>
          </p:cNvPr>
          <p:cNvSpPr>
            <a:spLocks noGrp="1"/>
          </p:cNvSpPr>
          <p:nvPr>
            <p:ph type="sldNum" sz="quarter" idx="12"/>
          </p:nvPr>
        </p:nvSpPr>
        <p:spPr/>
        <p:txBody>
          <a:bodyPr/>
          <a:lstStyle/>
          <a:p>
            <a:fld id="{5F5B4161-D5EE-447F-8ADC-DA6F99FF5986}" type="slidenum">
              <a:rPr lang="en-US" smtClean="0"/>
              <a:t>‹#›</a:t>
            </a:fld>
            <a:endParaRPr lang="en-US"/>
          </a:p>
        </p:txBody>
      </p:sp>
    </p:spTree>
    <p:extLst>
      <p:ext uri="{BB962C8B-B14F-4D97-AF65-F5344CB8AC3E}">
        <p14:creationId xmlns:p14="http://schemas.microsoft.com/office/powerpoint/2010/main" val="4024321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877D6-0B66-9441-2AD6-E591249957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2DEF8C-C181-5E4F-4828-8AE2562EAF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A8CB21-1A07-A4C2-3F8A-BC588C92699B}"/>
              </a:ext>
            </a:extLst>
          </p:cNvPr>
          <p:cNvSpPr>
            <a:spLocks noGrp="1"/>
          </p:cNvSpPr>
          <p:nvPr>
            <p:ph type="dt" sz="half" idx="10"/>
          </p:nvPr>
        </p:nvSpPr>
        <p:spPr/>
        <p:txBody>
          <a:bodyPr/>
          <a:lstStyle/>
          <a:p>
            <a:fld id="{7E1F8DEA-029F-42BB-99E9-63E118BEA231}" type="datetimeFigureOut">
              <a:rPr lang="en-US" smtClean="0"/>
              <a:t>8/14/2026</a:t>
            </a:fld>
            <a:endParaRPr lang="en-US"/>
          </a:p>
        </p:txBody>
      </p:sp>
      <p:sp>
        <p:nvSpPr>
          <p:cNvPr id="5" name="Footer Placeholder 4">
            <a:extLst>
              <a:ext uri="{FF2B5EF4-FFF2-40B4-BE49-F238E27FC236}">
                <a16:creationId xmlns:a16="http://schemas.microsoft.com/office/drawing/2014/main" id="{DAC3B815-A286-7AEB-72BB-43EACBA189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798BBD-766C-1438-B4D5-D93E22F31BBE}"/>
              </a:ext>
            </a:extLst>
          </p:cNvPr>
          <p:cNvSpPr>
            <a:spLocks noGrp="1"/>
          </p:cNvSpPr>
          <p:nvPr>
            <p:ph type="sldNum" sz="quarter" idx="12"/>
          </p:nvPr>
        </p:nvSpPr>
        <p:spPr/>
        <p:txBody>
          <a:bodyPr/>
          <a:lstStyle/>
          <a:p>
            <a:fld id="{5F5B4161-D5EE-447F-8ADC-DA6F99FF5986}" type="slidenum">
              <a:rPr lang="en-US" smtClean="0"/>
              <a:t>‹#›</a:t>
            </a:fld>
            <a:endParaRPr lang="en-US"/>
          </a:p>
        </p:txBody>
      </p:sp>
    </p:spTree>
    <p:extLst>
      <p:ext uri="{BB962C8B-B14F-4D97-AF65-F5344CB8AC3E}">
        <p14:creationId xmlns:p14="http://schemas.microsoft.com/office/powerpoint/2010/main" val="2540403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07A08-A551-611C-8E28-5B0A96B211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A53288-3323-592A-6BEA-414637922B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08D00D-1F05-0B92-1444-5D70A584293E}"/>
              </a:ext>
            </a:extLst>
          </p:cNvPr>
          <p:cNvSpPr>
            <a:spLocks noGrp="1"/>
          </p:cNvSpPr>
          <p:nvPr>
            <p:ph type="dt" sz="half" idx="10"/>
          </p:nvPr>
        </p:nvSpPr>
        <p:spPr/>
        <p:txBody>
          <a:bodyPr/>
          <a:lstStyle/>
          <a:p>
            <a:fld id="{7E1F8DEA-029F-42BB-99E9-63E118BEA231}" type="datetimeFigureOut">
              <a:rPr lang="en-US" smtClean="0"/>
              <a:t>8/14/2026</a:t>
            </a:fld>
            <a:endParaRPr lang="en-US"/>
          </a:p>
        </p:txBody>
      </p:sp>
      <p:sp>
        <p:nvSpPr>
          <p:cNvPr id="5" name="Footer Placeholder 4">
            <a:extLst>
              <a:ext uri="{FF2B5EF4-FFF2-40B4-BE49-F238E27FC236}">
                <a16:creationId xmlns:a16="http://schemas.microsoft.com/office/drawing/2014/main" id="{4F792F97-AE04-0C85-559B-709B35263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041557-835A-869B-5C13-DDEF627B52D0}"/>
              </a:ext>
            </a:extLst>
          </p:cNvPr>
          <p:cNvSpPr>
            <a:spLocks noGrp="1"/>
          </p:cNvSpPr>
          <p:nvPr>
            <p:ph type="sldNum" sz="quarter" idx="12"/>
          </p:nvPr>
        </p:nvSpPr>
        <p:spPr/>
        <p:txBody>
          <a:bodyPr/>
          <a:lstStyle/>
          <a:p>
            <a:fld id="{5F5B4161-D5EE-447F-8ADC-DA6F99FF5986}" type="slidenum">
              <a:rPr lang="en-US" smtClean="0"/>
              <a:t>‹#›</a:t>
            </a:fld>
            <a:endParaRPr lang="en-US"/>
          </a:p>
        </p:txBody>
      </p:sp>
    </p:spTree>
    <p:extLst>
      <p:ext uri="{BB962C8B-B14F-4D97-AF65-F5344CB8AC3E}">
        <p14:creationId xmlns:p14="http://schemas.microsoft.com/office/powerpoint/2010/main" val="3766223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F4331-0544-1AC5-BF09-FE12F8745D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D6156A-BFFD-A1FD-7215-6BA9B4883D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1817DF-BBA4-E9EC-FEBA-E40483F2CA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F25839-1FAB-0E30-F120-2E843FC9444C}"/>
              </a:ext>
            </a:extLst>
          </p:cNvPr>
          <p:cNvSpPr>
            <a:spLocks noGrp="1"/>
          </p:cNvSpPr>
          <p:nvPr>
            <p:ph type="dt" sz="half" idx="10"/>
          </p:nvPr>
        </p:nvSpPr>
        <p:spPr/>
        <p:txBody>
          <a:bodyPr/>
          <a:lstStyle/>
          <a:p>
            <a:fld id="{7E1F8DEA-029F-42BB-99E9-63E118BEA231}" type="datetimeFigureOut">
              <a:rPr lang="en-US" smtClean="0"/>
              <a:t>8/14/2026</a:t>
            </a:fld>
            <a:endParaRPr lang="en-US"/>
          </a:p>
        </p:txBody>
      </p:sp>
      <p:sp>
        <p:nvSpPr>
          <p:cNvPr id="6" name="Footer Placeholder 5">
            <a:extLst>
              <a:ext uri="{FF2B5EF4-FFF2-40B4-BE49-F238E27FC236}">
                <a16:creationId xmlns:a16="http://schemas.microsoft.com/office/drawing/2014/main" id="{E18A71BA-01BF-1DB4-0BE5-2900C2FF95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FFA46-97A4-086B-8295-5D607AA663F3}"/>
              </a:ext>
            </a:extLst>
          </p:cNvPr>
          <p:cNvSpPr>
            <a:spLocks noGrp="1"/>
          </p:cNvSpPr>
          <p:nvPr>
            <p:ph type="sldNum" sz="quarter" idx="12"/>
          </p:nvPr>
        </p:nvSpPr>
        <p:spPr/>
        <p:txBody>
          <a:bodyPr/>
          <a:lstStyle/>
          <a:p>
            <a:fld id="{5F5B4161-D5EE-447F-8ADC-DA6F99FF5986}" type="slidenum">
              <a:rPr lang="en-US" smtClean="0"/>
              <a:t>‹#›</a:t>
            </a:fld>
            <a:endParaRPr lang="en-US"/>
          </a:p>
        </p:txBody>
      </p:sp>
    </p:spTree>
    <p:extLst>
      <p:ext uri="{BB962C8B-B14F-4D97-AF65-F5344CB8AC3E}">
        <p14:creationId xmlns:p14="http://schemas.microsoft.com/office/powerpoint/2010/main" val="3718477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66ADF-043F-47BF-676B-8541CA1E72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2DCB07-0D9D-7941-B3BB-B153587B4C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C17EC5-AFED-E7E0-F587-8F123FE3B2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5E34DE-7FA9-C2FE-0E4F-70F8991693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FAD4A0-2C55-08BF-3C02-BA89607B09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58A5F0-3698-47BA-A917-2D27C4259A61}"/>
              </a:ext>
            </a:extLst>
          </p:cNvPr>
          <p:cNvSpPr>
            <a:spLocks noGrp="1"/>
          </p:cNvSpPr>
          <p:nvPr>
            <p:ph type="dt" sz="half" idx="10"/>
          </p:nvPr>
        </p:nvSpPr>
        <p:spPr/>
        <p:txBody>
          <a:bodyPr/>
          <a:lstStyle/>
          <a:p>
            <a:fld id="{7E1F8DEA-029F-42BB-99E9-63E118BEA231}" type="datetimeFigureOut">
              <a:rPr lang="en-US" smtClean="0"/>
              <a:t>8/14/2026</a:t>
            </a:fld>
            <a:endParaRPr lang="en-US"/>
          </a:p>
        </p:txBody>
      </p:sp>
      <p:sp>
        <p:nvSpPr>
          <p:cNvPr id="8" name="Footer Placeholder 7">
            <a:extLst>
              <a:ext uri="{FF2B5EF4-FFF2-40B4-BE49-F238E27FC236}">
                <a16:creationId xmlns:a16="http://schemas.microsoft.com/office/drawing/2014/main" id="{79454940-9E97-ECD0-DDB1-4A66A51C33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A3B590-9D25-6CBA-2E9A-E6A40C7E952E}"/>
              </a:ext>
            </a:extLst>
          </p:cNvPr>
          <p:cNvSpPr>
            <a:spLocks noGrp="1"/>
          </p:cNvSpPr>
          <p:nvPr>
            <p:ph type="sldNum" sz="quarter" idx="12"/>
          </p:nvPr>
        </p:nvSpPr>
        <p:spPr/>
        <p:txBody>
          <a:bodyPr/>
          <a:lstStyle/>
          <a:p>
            <a:fld id="{5F5B4161-D5EE-447F-8ADC-DA6F99FF5986}" type="slidenum">
              <a:rPr lang="en-US" smtClean="0"/>
              <a:t>‹#›</a:t>
            </a:fld>
            <a:endParaRPr lang="en-US"/>
          </a:p>
        </p:txBody>
      </p:sp>
    </p:spTree>
    <p:extLst>
      <p:ext uri="{BB962C8B-B14F-4D97-AF65-F5344CB8AC3E}">
        <p14:creationId xmlns:p14="http://schemas.microsoft.com/office/powerpoint/2010/main" val="333998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144E0-6747-A083-EB1B-A4D6B3747C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E36124-D0CE-F824-0FA7-74E0D3AEBF43}"/>
              </a:ext>
            </a:extLst>
          </p:cNvPr>
          <p:cNvSpPr>
            <a:spLocks noGrp="1"/>
          </p:cNvSpPr>
          <p:nvPr>
            <p:ph type="dt" sz="half" idx="10"/>
          </p:nvPr>
        </p:nvSpPr>
        <p:spPr/>
        <p:txBody>
          <a:bodyPr/>
          <a:lstStyle/>
          <a:p>
            <a:fld id="{7E1F8DEA-029F-42BB-99E9-63E118BEA231}" type="datetimeFigureOut">
              <a:rPr lang="en-US" smtClean="0"/>
              <a:t>8/14/2026</a:t>
            </a:fld>
            <a:endParaRPr lang="en-US"/>
          </a:p>
        </p:txBody>
      </p:sp>
      <p:sp>
        <p:nvSpPr>
          <p:cNvPr id="4" name="Footer Placeholder 3">
            <a:extLst>
              <a:ext uri="{FF2B5EF4-FFF2-40B4-BE49-F238E27FC236}">
                <a16:creationId xmlns:a16="http://schemas.microsoft.com/office/drawing/2014/main" id="{69D80D10-B21E-1214-40E6-86097F3862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F4ECAA-EF70-00B6-A403-A167D4EA9557}"/>
              </a:ext>
            </a:extLst>
          </p:cNvPr>
          <p:cNvSpPr>
            <a:spLocks noGrp="1"/>
          </p:cNvSpPr>
          <p:nvPr>
            <p:ph type="sldNum" sz="quarter" idx="12"/>
          </p:nvPr>
        </p:nvSpPr>
        <p:spPr/>
        <p:txBody>
          <a:bodyPr/>
          <a:lstStyle/>
          <a:p>
            <a:fld id="{5F5B4161-D5EE-447F-8ADC-DA6F99FF5986}" type="slidenum">
              <a:rPr lang="en-US" smtClean="0"/>
              <a:t>‹#›</a:t>
            </a:fld>
            <a:endParaRPr lang="en-US"/>
          </a:p>
        </p:txBody>
      </p:sp>
    </p:spTree>
    <p:extLst>
      <p:ext uri="{BB962C8B-B14F-4D97-AF65-F5344CB8AC3E}">
        <p14:creationId xmlns:p14="http://schemas.microsoft.com/office/powerpoint/2010/main" val="1336549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DC796F-929A-FE91-D834-A252AAC3BCE7}"/>
              </a:ext>
            </a:extLst>
          </p:cNvPr>
          <p:cNvSpPr>
            <a:spLocks noGrp="1"/>
          </p:cNvSpPr>
          <p:nvPr>
            <p:ph type="dt" sz="half" idx="10"/>
          </p:nvPr>
        </p:nvSpPr>
        <p:spPr/>
        <p:txBody>
          <a:bodyPr/>
          <a:lstStyle/>
          <a:p>
            <a:fld id="{7E1F8DEA-029F-42BB-99E9-63E118BEA231}" type="datetimeFigureOut">
              <a:rPr lang="en-US" smtClean="0"/>
              <a:t>8/14/2026</a:t>
            </a:fld>
            <a:endParaRPr lang="en-US"/>
          </a:p>
        </p:txBody>
      </p:sp>
      <p:sp>
        <p:nvSpPr>
          <p:cNvPr id="3" name="Footer Placeholder 2">
            <a:extLst>
              <a:ext uri="{FF2B5EF4-FFF2-40B4-BE49-F238E27FC236}">
                <a16:creationId xmlns:a16="http://schemas.microsoft.com/office/drawing/2014/main" id="{1824F1AB-F0BE-332F-BE0B-68528A34C8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9FFEB5-073E-8C78-B8CA-6C23D54C8DA7}"/>
              </a:ext>
            </a:extLst>
          </p:cNvPr>
          <p:cNvSpPr>
            <a:spLocks noGrp="1"/>
          </p:cNvSpPr>
          <p:nvPr>
            <p:ph type="sldNum" sz="quarter" idx="12"/>
          </p:nvPr>
        </p:nvSpPr>
        <p:spPr/>
        <p:txBody>
          <a:bodyPr/>
          <a:lstStyle/>
          <a:p>
            <a:fld id="{5F5B4161-D5EE-447F-8ADC-DA6F99FF5986}" type="slidenum">
              <a:rPr lang="en-US" smtClean="0"/>
              <a:t>‹#›</a:t>
            </a:fld>
            <a:endParaRPr lang="en-US"/>
          </a:p>
        </p:txBody>
      </p:sp>
    </p:spTree>
    <p:extLst>
      <p:ext uri="{BB962C8B-B14F-4D97-AF65-F5344CB8AC3E}">
        <p14:creationId xmlns:p14="http://schemas.microsoft.com/office/powerpoint/2010/main" val="26253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C3DC0-06C4-DCED-9DE6-C9FAEEBF52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FB8AAF-C330-E8A9-9E88-E7399EBAB9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7B676F-A05D-25A3-7D05-6948BAEA9E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A3FBE8-11BF-8AAA-CFD5-748E8AA1F1E7}"/>
              </a:ext>
            </a:extLst>
          </p:cNvPr>
          <p:cNvSpPr>
            <a:spLocks noGrp="1"/>
          </p:cNvSpPr>
          <p:nvPr>
            <p:ph type="dt" sz="half" idx="10"/>
          </p:nvPr>
        </p:nvSpPr>
        <p:spPr/>
        <p:txBody>
          <a:bodyPr/>
          <a:lstStyle/>
          <a:p>
            <a:fld id="{7E1F8DEA-029F-42BB-99E9-63E118BEA231}" type="datetimeFigureOut">
              <a:rPr lang="en-US" smtClean="0"/>
              <a:t>8/14/2026</a:t>
            </a:fld>
            <a:endParaRPr lang="en-US"/>
          </a:p>
        </p:txBody>
      </p:sp>
      <p:sp>
        <p:nvSpPr>
          <p:cNvPr id="6" name="Footer Placeholder 5">
            <a:extLst>
              <a:ext uri="{FF2B5EF4-FFF2-40B4-BE49-F238E27FC236}">
                <a16:creationId xmlns:a16="http://schemas.microsoft.com/office/drawing/2014/main" id="{124DB48F-26E9-4666-7667-6860BC6532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2ADD23-7345-82FD-B48E-65F0285F557E}"/>
              </a:ext>
            </a:extLst>
          </p:cNvPr>
          <p:cNvSpPr>
            <a:spLocks noGrp="1"/>
          </p:cNvSpPr>
          <p:nvPr>
            <p:ph type="sldNum" sz="quarter" idx="12"/>
          </p:nvPr>
        </p:nvSpPr>
        <p:spPr/>
        <p:txBody>
          <a:bodyPr/>
          <a:lstStyle/>
          <a:p>
            <a:fld id="{5F5B4161-D5EE-447F-8ADC-DA6F99FF5986}" type="slidenum">
              <a:rPr lang="en-US" smtClean="0"/>
              <a:t>‹#›</a:t>
            </a:fld>
            <a:endParaRPr lang="en-US"/>
          </a:p>
        </p:txBody>
      </p:sp>
    </p:spTree>
    <p:extLst>
      <p:ext uri="{BB962C8B-B14F-4D97-AF65-F5344CB8AC3E}">
        <p14:creationId xmlns:p14="http://schemas.microsoft.com/office/powerpoint/2010/main" val="4085725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3269-D8EF-0369-C475-2F948D2AAF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486910-8040-9977-6F8B-EE40D132D2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78D4CA-3C28-561A-BE04-979BBB1FC9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5FA0C0-7DAF-D3E0-5B62-E0E4F0AB4A5D}"/>
              </a:ext>
            </a:extLst>
          </p:cNvPr>
          <p:cNvSpPr>
            <a:spLocks noGrp="1"/>
          </p:cNvSpPr>
          <p:nvPr>
            <p:ph type="dt" sz="half" idx="10"/>
          </p:nvPr>
        </p:nvSpPr>
        <p:spPr/>
        <p:txBody>
          <a:bodyPr/>
          <a:lstStyle/>
          <a:p>
            <a:fld id="{7E1F8DEA-029F-42BB-99E9-63E118BEA231}" type="datetimeFigureOut">
              <a:rPr lang="en-US" smtClean="0"/>
              <a:t>8/14/2026</a:t>
            </a:fld>
            <a:endParaRPr lang="en-US"/>
          </a:p>
        </p:txBody>
      </p:sp>
      <p:sp>
        <p:nvSpPr>
          <p:cNvPr id="6" name="Footer Placeholder 5">
            <a:extLst>
              <a:ext uri="{FF2B5EF4-FFF2-40B4-BE49-F238E27FC236}">
                <a16:creationId xmlns:a16="http://schemas.microsoft.com/office/drawing/2014/main" id="{CCA3DFC4-0DE5-C10C-9871-A28A340666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8FDB37-065E-8CF3-4117-EE580C134E4A}"/>
              </a:ext>
            </a:extLst>
          </p:cNvPr>
          <p:cNvSpPr>
            <a:spLocks noGrp="1"/>
          </p:cNvSpPr>
          <p:nvPr>
            <p:ph type="sldNum" sz="quarter" idx="12"/>
          </p:nvPr>
        </p:nvSpPr>
        <p:spPr/>
        <p:txBody>
          <a:bodyPr/>
          <a:lstStyle/>
          <a:p>
            <a:fld id="{5F5B4161-D5EE-447F-8ADC-DA6F99FF5986}" type="slidenum">
              <a:rPr lang="en-US" smtClean="0"/>
              <a:t>‹#›</a:t>
            </a:fld>
            <a:endParaRPr lang="en-US"/>
          </a:p>
        </p:txBody>
      </p:sp>
    </p:spTree>
    <p:extLst>
      <p:ext uri="{BB962C8B-B14F-4D97-AF65-F5344CB8AC3E}">
        <p14:creationId xmlns:p14="http://schemas.microsoft.com/office/powerpoint/2010/main" val="4152289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1306B-01D0-3C28-C2AD-1FAF6901D3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CC7D0B-1F16-E373-E0E3-9DDAFF6BC7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F86E01-8DC7-FF77-3051-F85C8E619BDA}"/>
              </a:ext>
            </a:extLst>
          </p:cNvPr>
          <p:cNvSpPr>
            <a:spLocks noGrp="1"/>
          </p:cNvSpPr>
          <p:nvPr>
            <p:ph type="dt" sz="half" idx="10"/>
          </p:nvPr>
        </p:nvSpPr>
        <p:spPr/>
        <p:txBody>
          <a:bodyPr/>
          <a:lstStyle/>
          <a:p>
            <a:fld id="{7E1F8DEA-029F-42BB-99E9-63E118BEA231}" type="datetimeFigureOut">
              <a:rPr lang="en-US" smtClean="0"/>
              <a:t>8/14/2026</a:t>
            </a:fld>
            <a:endParaRPr lang="en-US"/>
          </a:p>
        </p:txBody>
      </p:sp>
      <p:sp>
        <p:nvSpPr>
          <p:cNvPr id="5" name="Footer Placeholder 4">
            <a:extLst>
              <a:ext uri="{FF2B5EF4-FFF2-40B4-BE49-F238E27FC236}">
                <a16:creationId xmlns:a16="http://schemas.microsoft.com/office/drawing/2014/main" id="{820B37DB-25D1-9F24-2EFE-FD5794DB3A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A17936-981F-0849-0547-0D2DAC6CF50E}"/>
              </a:ext>
            </a:extLst>
          </p:cNvPr>
          <p:cNvSpPr>
            <a:spLocks noGrp="1"/>
          </p:cNvSpPr>
          <p:nvPr>
            <p:ph type="sldNum" sz="quarter" idx="12"/>
          </p:nvPr>
        </p:nvSpPr>
        <p:spPr/>
        <p:txBody>
          <a:bodyPr/>
          <a:lstStyle/>
          <a:p>
            <a:fld id="{5F5B4161-D5EE-447F-8ADC-DA6F99FF5986}" type="slidenum">
              <a:rPr lang="en-US" smtClean="0"/>
              <a:t>‹#›</a:t>
            </a:fld>
            <a:endParaRPr lang="en-US"/>
          </a:p>
        </p:txBody>
      </p:sp>
    </p:spTree>
    <p:extLst>
      <p:ext uri="{BB962C8B-B14F-4D97-AF65-F5344CB8AC3E}">
        <p14:creationId xmlns:p14="http://schemas.microsoft.com/office/powerpoint/2010/main" val="791692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4440E3-08EF-AEC3-DCF6-E8B5874F0D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3BB0C3-3DC8-0369-E3CE-E02535E1D9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8CD6F5-19F1-ED5F-1DBD-6C627DCCCFD2}"/>
              </a:ext>
            </a:extLst>
          </p:cNvPr>
          <p:cNvSpPr>
            <a:spLocks noGrp="1"/>
          </p:cNvSpPr>
          <p:nvPr>
            <p:ph type="dt" sz="half" idx="10"/>
          </p:nvPr>
        </p:nvSpPr>
        <p:spPr/>
        <p:txBody>
          <a:bodyPr/>
          <a:lstStyle/>
          <a:p>
            <a:fld id="{7E1F8DEA-029F-42BB-99E9-63E118BEA231}" type="datetimeFigureOut">
              <a:rPr lang="en-US" smtClean="0"/>
              <a:t>8/14/2026</a:t>
            </a:fld>
            <a:endParaRPr lang="en-US"/>
          </a:p>
        </p:txBody>
      </p:sp>
      <p:sp>
        <p:nvSpPr>
          <p:cNvPr id="5" name="Footer Placeholder 4">
            <a:extLst>
              <a:ext uri="{FF2B5EF4-FFF2-40B4-BE49-F238E27FC236}">
                <a16:creationId xmlns:a16="http://schemas.microsoft.com/office/drawing/2014/main" id="{DC2DB188-F8D1-E5B5-E680-C8DA301F71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B2E4BA-E7B8-DF2B-9211-1C9E05F4E99E}"/>
              </a:ext>
            </a:extLst>
          </p:cNvPr>
          <p:cNvSpPr>
            <a:spLocks noGrp="1"/>
          </p:cNvSpPr>
          <p:nvPr>
            <p:ph type="sldNum" sz="quarter" idx="12"/>
          </p:nvPr>
        </p:nvSpPr>
        <p:spPr/>
        <p:txBody>
          <a:bodyPr/>
          <a:lstStyle/>
          <a:p>
            <a:fld id="{5F5B4161-D5EE-447F-8ADC-DA6F99FF5986}" type="slidenum">
              <a:rPr lang="en-US" smtClean="0"/>
              <a:t>‹#›</a:t>
            </a:fld>
            <a:endParaRPr lang="en-US"/>
          </a:p>
        </p:txBody>
      </p:sp>
    </p:spTree>
    <p:extLst>
      <p:ext uri="{BB962C8B-B14F-4D97-AF65-F5344CB8AC3E}">
        <p14:creationId xmlns:p14="http://schemas.microsoft.com/office/powerpoint/2010/main" val="2067443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E9FC90-123F-345E-9807-CB2A99FFC0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F62E3E-CF7D-71CB-8F98-8903F1246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40E51A-7173-3F4B-CF1F-1EE200158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1F8DEA-029F-42BB-99E9-63E118BEA231}" type="datetimeFigureOut">
              <a:rPr lang="en-US" smtClean="0"/>
              <a:t>8/14/2026</a:t>
            </a:fld>
            <a:endParaRPr lang="en-US"/>
          </a:p>
        </p:txBody>
      </p:sp>
      <p:sp>
        <p:nvSpPr>
          <p:cNvPr id="5" name="Footer Placeholder 4">
            <a:extLst>
              <a:ext uri="{FF2B5EF4-FFF2-40B4-BE49-F238E27FC236}">
                <a16:creationId xmlns:a16="http://schemas.microsoft.com/office/drawing/2014/main" id="{662A2387-74CC-8535-B69E-714D39BF64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8A1CDF7-12C0-7D90-C6F0-9A9093A8F2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5B4161-D5EE-447F-8ADC-DA6F99FF5986}" type="slidenum">
              <a:rPr lang="en-US" smtClean="0"/>
              <a:t>‹#›</a:t>
            </a:fld>
            <a:endParaRPr lang="en-US"/>
          </a:p>
        </p:txBody>
      </p:sp>
    </p:spTree>
    <p:extLst>
      <p:ext uri="{BB962C8B-B14F-4D97-AF65-F5344CB8AC3E}">
        <p14:creationId xmlns:p14="http://schemas.microsoft.com/office/powerpoint/2010/main" val="4173076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NUL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8.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8.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8.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8.jp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NUL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NULL"/></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3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image" Target="NULL"/><Relationship Id="rId16"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NUL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7C5B6-A199-4791-C4AA-875B61E95AE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E61DE22-6F15-5687-FB98-E6C6C58BCCE2}"/>
                  </a:ext>
                </a:extLst>
              </p:cNvPr>
              <p:cNvSpPr>
                <a:spLocks noGrp="1"/>
              </p:cNvSpPr>
              <p:nvPr>
                <p:ph type="ctrTitle"/>
              </p:nvPr>
            </p:nvSpPr>
            <p:spPr>
              <a:xfrm>
                <a:off x="1000496" y="683755"/>
                <a:ext cx="10191008" cy="1720223"/>
              </a:xfrm>
            </p:spPr>
            <p:txBody>
              <a:bodyPr>
                <a:normAutofit fontScale="90000"/>
              </a:bodyPr>
              <a:lstStyle/>
              <a:p>
                <a:r>
                  <a:rPr lang="en-US" dirty="0">
                    <a:solidFill>
                      <a:srgbClr val="C00000"/>
                    </a:solidFill>
                  </a:rPr>
                  <a:t>High Probability Streaming Lower Bounds for </a:t>
                </a:r>
                <a14:m>
                  <m:oMath xmlns:m="http://schemas.openxmlformats.org/officeDocument/2006/math">
                    <m:sSub>
                      <m:sSubPr>
                        <m:ctrlPr>
                          <a:rPr lang="en-US" b="0" i="1" smtClean="0">
                            <a:solidFill>
                              <a:srgbClr val="C00000"/>
                            </a:solidFill>
                            <a:latin typeface="Cambria Math" panose="02040503050406030204" pitchFamily="18" charset="0"/>
                            <a:ea typeface="Cambria Math" panose="02040503050406030204" pitchFamily="18" charset="0"/>
                          </a:rPr>
                        </m:ctrlPr>
                      </m:sSubPr>
                      <m:e>
                        <m:r>
                          <a:rPr lang="en-US" b="0" i="1" smtClean="0">
                            <a:solidFill>
                              <a:srgbClr val="C00000"/>
                            </a:solidFill>
                            <a:latin typeface="Cambria Math" panose="02040503050406030204" pitchFamily="18" charset="0"/>
                            <a:ea typeface="Cambria Math" panose="02040503050406030204" pitchFamily="18" charset="0"/>
                          </a:rPr>
                          <m:t>𝔽</m:t>
                        </m:r>
                      </m:e>
                      <m:sub>
                        <m:r>
                          <a:rPr lang="en-US" b="0" i="1" smtClean="0">
                            <a:solidFill>
                              <a:srgbClr val="C00000"/>
                            </a:solidFill>
                            <a:latin typeface="Cambria Math" panose="02040503050406030204" pitchFamily="18" charset="0"/>
                            <a:ea typeface="Cambria Math" panose="02040503050406030204" pitchFamily="18" charset="0"/>
                          </a:rPr>
                          <m:t>2</m:t>
                        </m:r>
                      </m:sub>
                    </m:sSub>
                  </m:oMath>
                </a14:m>
                <a:r>
                  <a:rPr lang="en-US" dirty="0">
                    <a:solidFill>
                      <a:srgbClr val="C00000"/>
                    </a:solidFill>
                  </a:rPr>
                  <a:t> Estimation</a:t>
                </a:r>
                <a:endParaRPr lang="en-US" dirty="0"/>
              </a:p>
            </p:txBody>
          </p:sp>
        </mc:Choice>
        <mc:Fallback xmlns="">
          <p:sp>
            <p:nvSpPr>
              <p:cNvPr id="2" name="Title 1">
                <a:extLst>
                  <a:ext uri="{FF2B5EF4-FFF2-40B4-BE49-F238E27FC236}">
                    <a16:creationId xmlns:a16="http://schemas.microsoft.com/office/drawing/2014/main" id="{3E61DE22-6F15-5687-FB98-E6C6C58BCCE2}"/>
                  </a:ext>
                </a:extLst>
              </p:cNvPr>
              <p:cNvSpPr>
                <a:spLocks noGrp="1" noRot="1" noChangeAspect="1" noMove="1" noResize="1" noEditPoints="1" noAdjustHandles="1" noChangeArrowheads="1" noChangeShapeType="1" noTextEdit="1"/>
              </p:cNvSpPr>
              <p:nvPr>
                <p:ph type="ctrTitle"/>
              </p:nvPr>
            </p:nvSpPr>
            <p:spPr>
              <a:xfrm>
                <a:off x="1000496" y="683755"/>
                <a:ext cx="10191008" cy="1720223"/>
              </a:xfrm>
              <a:blipFill>
                <a:blip r:embed="rId3"/>
                <a:stretch>
                  <a:fillRect t="-6028" r="-419" b="-2198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B0450BF8-E3E5-B6CB-ED54-F00A183897E2}"/>
              </a:ext>
            </a:extLst>
          </p:cNvPr>
          <p:cNvSpPr txBox="1"/>
          <p:nvPr/>
        </p:nvSpPr>
        <p:spPr>
          <a:xfrm>
            <a:off x="4564380" y="4949352"/>
            <a:ext cx="3154615" cy="830997"/>
          </a:xfrm>
          <a:prstGeom prst="rect">
            <a:avLst/>
          </a:prstGeom>
          <a:noFill/>
        </p:spPr>
        <p:txBody>
          <a:bodyPr wrap="square" rtlCol="0">
            <a:spAutoFit/>
          </a:bodyPr>
          <a:lstStyle/>
          <a:p>
            <a:pPr algn="ctr"/>
            <a:r>
              <a:rPr lang="en-US" sz="2400" dirty="0"/>
              <a:t>David P. Woodruff</a:t>
            </a:r>
          </a:p>
          <a:p>
            <a:pPr algn="ctr"/>
            <a:r>
              <a:rPr lang="en-US" sz="2400" dirty="0"/>
              <a:t>CMU, Google Research</a:t>
            </a:r>
          </a:p>
        </p:txBody>
      </p:sp>
      <p:sp>
        <p:nvSpPr>
          <p:cNvPr id="13" name="TextBox 12">
            <a:extLst>
              <a:ext uri="{FF2B5EF4-FFF2-40B4-BE49-F238E27FC236}">
                <a16:creationId xmlns:a16="http://schemas.microsoft.com/office/drawing/2014/main" id="{DAF3DEB9-7D7A-78D2-FD4E-3C4C98658D93}"/>
              </a:ext>
            </a:extLst>
          </p:cNvPr>
          <p:cNvSpPr txBox="1"/>
          <p:nvPr/>
        </p:nvSpPr>
        <p:spPr>
          <a:xfrm>
            <a:off x="9036777" y="4949622"/>
            <a:ext cx="2926558" cy="830997"/>
          </a:xfrm>
          <a:prstGeom prst="rect">
            <a:avLst/>
          </a:prstGeom>
          <a:noFill/>
        </p:spPr>
        <p:txBody>
          <a:bodyPr wrap="square" rtlCol="0">
            <a:spAutoFit/>
          </a:bodyPr>
          <a:lstStyle/>
          <a:p>
            <a:pPr algn="ctr"/>
            <a:r>
              <a:rPr lang="en-US" sz="2400" dirty="0"/>
              <a:t>Samson Zhou</a:t>
            </a:r>
          </a:p>
          <a:p>
            <a:pPr algn="ctr"/>
            <a:r>
              <a:rPr lang="en-US" sz="2400" dirty="0"/>
              <a:t>T</a:t>
            </a:r>
            <a:r>
              <a:rPr lang="en-US" altLang="zh-CN" sz="2400" dirty="0"/>
              <a:t>exas A&amp;M</a:t>
            </a:r>
            <a:endParaRPr lang="en-US" sz="2400" dirty="0"/>
          </a:p>
        </p:txBody>
      </p:sp>
      <p:sp>
        <p:nvSpPr>
          <p:cNvPr id="3" name="TextBox 2">
            <a:extLst>
              <a:ext uri="{FF2B5EF4-FFF2-40B4-BE49-F238E27FC236}">
                <a16:creationId xmlns:a16="http://schemas.microsoft.com/office/drawing/2014/main" id="{7B62C89E-322F-86A0-5308-49328B68C18C}"/>
              </a:ext>
            </a:extLst>
          </p:cNvPr>
          <p:cNvSpPr txBox="1"/>
          <p:nvPr/>
        </p:nvSpPr>
        <p:spPr>
          <a:xfrm>
            <a:off x="548097" y="4949352"/>
            <a:ext cx="2926558" cy="830997"/>
          </a:xfrm>
          <a:prstGeom prst="rect">
            <a:avLst/>
          </a:prstGeom>
          <a:noFill/>
        </p:spPr>
        <p:txBody>
          <a:bodyPr wrap="square" rtlCol="0">
            <a:spAutoFit/>
          </a:bodyPr>
          <a:lstStyle/>
          <a:p>
            <a:pPr algn="ctr"/>
            <a:r>
              <a:rPr lang="en-US" sz="2400" dirty="0"/>
              <a:t>William </a:t>
            </a:r>
            <a:r>
              <a:rPr lang="en-US" sz="2400" dirty="0" err="1"/>
              <a:t>Swartworth</a:t>
            </a:r>
            <a:endParaRPr lang="en-US" sz="2400" dirty="0"/>
          </a:p>
          <a:p>
            <a:pPr algn="ctr"/>
            <a:r>
              <a:rPr lang="en-US" sz="2400" dirty="0"/>
              <a:t>CMU</a:t>
            </a:r>
          </a:p>
        </p:txBody>
      </p:sp>
      <p:pic>
        <p:nvPicPr>
          <p:cNvPr id="15" name="Picture 14">
            <a:extLst>
              <a:ext uri="{FF2B5EF4-FFF2-40B4-BE49-F238E27FC236}">
                <a16:creationId xmlns:a16="http://schemas.microsoft.com/office/drawing/2014/main" id="{3D1EC0FA-F3AF-AA65-9548-2D91DB728F03}"/>
              </a:ext>
            </a:extLst>
          </p:cNvPr>
          <p:cNvPicPr>
            <a:picLocks noChangeAspect="1"/>
          </p:cNvPicPr>
          <p:nvPr/>
        </p:nvPicPr>
        <p:blipFill>
          <a:blip r:embed="rId4"/>
          <a:stretch>
            <a:fillRect/>
          </a:stretch>
        </p:blipFill>
        <p:spPr>
          <a:xfrm>
            <a:off x="2415507" y="2733801"/>
            <a:ext cx="7863873" cy="1720222"/>
          </a:xfrm>
          <a:prstGeom prst="rect">
            <a:avLst/>
          </a:prstGeom>
        </p:spPr>
      </p:pic>
    </p:spTree>
    <p:extLst>
      <p:ext uri="{BB962C8B-B14F-4D97-AF65-F5344CB8AC3E}">
        <p14:creationId xmlns:p14="http://schemas.microsoft.com/office/powerpoint/2010/main" val="2902529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A6E9D-2727-E042-0B68-61792E3FA8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A3412-385C-1ABB-7392-B73CA76386BF}"/>
              </a:ext>
            </a:extLst>
          </p:cNvPr>
          <p:cNvSpPr>
            <a:spLocks noGrp="1"/>
          </p:cNvSpPr>
          <p:nvPr>
            <p:ph type="title"/>
          </p:nvPr>
        </p:nvSpPr>
        <p:spPr/>
        <p:txBody>
          <a:bodyPr/>
          <a:lstStyle/>
          <a:p>
            <a:r>
              <a:rPr lang="en-US" dirty="0">
                <a:solidFill>
                  <a:srgbClr val="C00000"/>
                </a:solidFill>
              </a:rPr>
              <a:t>Streaming Model</a:t>
            </a:r>
            <a:endParaRPr lang="en-US" dirty="0"/>
          </a:p>
        </p:txBody>
      </p:sp>
      <p:sp>
        <p:nvSpPr>
          <p:cNvPr id="3" name="Content Placeholder 2">
            <a:extLst>
              <a:ext uri="{FF2B5EF4-FFF2-40B4-BE49-F238E27FC236}">
                <a16:creationId xmlns:a16="http://schemas.microsoft.com/office/drawing/2014/main" id="{B8ABF72F-29C7-E4D8-1587-816E526C676E}"/>
              </a:ext>
            </a:extLst>
          </p:cNvPr>
          <p:cNvSpPr>
            <a:spLocks noGrp="1"/>
          </p:cNvSpPr>
          <p:nvPr>
            <p:ph idx="1"/>
          </p:nvPr>
        </p:nvSpPr>
        <p:spPr>
          <a:xfrm>
            <a:off x="1351281" y="5004910"/>
            <a:ext cx="2880000" cy="540000"/>
          </a:xfrm>
        </p:spPr>
        <p:txBody>
          <a:bodyPr>
            <a:normAutofit/>
          </a:bodyPr>
          <a:lstStyle/>
          <a:p>
            <a:pPr marL="0" lvl="1" indent="0" algn="ctr">
              <a:spcBef>
                <a:spcPts val="0"/>
              </a:spcBef>
              <a:buClr>
                <a:schemeClr val="tx1"/>
              </a:buClr>
              <a:buNone/>
            </a:pPr>
            <a:r>
              <a:rPr lang="en-US" sz="2800" dirty="0"/>
              <a:t>Internet traffics</a:t>
            </a:r>
          </a:p>
        </p:txBody>
      </p:sp>
      <p:sp>
        <p:nvSpPr>
          <p:cNvPr id="5" name="Content Placeholder 2">
            <a:extLst>
              <a:ext uri="{FF2B5EF4-FFF2-40B4-BE49-F238E27FC236}">
                <a16:creationId xmlns:a16="http://schemas.microsoft.com/office/drawing/2014/main" id="{1EEB3FB4-BE23-DFF1-48EF-54CD33321AAC}"/>
              </a:ext>
            </a:extLst>
          </p:cNvPr>
          <p:cNvSpPr txBox="1">
            <a:spLocks/>
          </p:cNvSpPr>
          <p:nvPr/>
        </p:nvSpPr>
        <p:spPr>
          <a:xfrm>
            <a:off x="838200" y="1852925"/>
            <a:ext cx="10017840" cy="6534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pPr>
            <a:r>
              <a:rPr lang="en-US" sz="3200" dirty="0">
                <a:solidFill>
                  <a:schemeClr val="accent1"/>
                </a:solidFill>
              </a:rPr>
              <a:t>M</a:t>
            </a:r>
            <a:r>
              <a:rPr lang="en-US" altLang="zh-CN" sz="3200" dirty="0">
                <a:solidFill>
                  <a:schemeClr val="accent1"/>
                </a:solidFill>
              </a:rPr>
              <a:t>assive Data Streams</a:t>
            </a:r>
          </a:p>
        </p:txBody>
      </p:sp>
      <p:sp>
        <p:nvSpPr>
          <p:cNvPr id="9" name="Content Placeholder 2">
            <a:extLst>
              <a:ext uri="{FF2B5EF4-FFF2-40B4-BE49-F238E27FC236}">
                <a16:creationId xmlns:a16="http://schemas.microsoft.com/office/drawing/2014/main" id="{9FC7A024-38F4-DF72-76CE-45AAE8F14F39}"/>
              </a:ext>
            </a:extLst>
          </p:cNvPr>
          <p:cNvSpPr txBox="1">
            <a:spLocks/>
          </p:cNvSpPr>
          <p:nvPr/>
        </p:nvSpPr>
        <p:spPr>
          <a:xfrm>
            <a:off x="4777919" y="5004910"/>
            <a:ext cx="2880000" cy="540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ctr">
              <a:spcBef>
                <a:spcPts val="0"/>
              </a:spcBef>
              <a:buClr>
                <a:schemeClr val="tx1"/>
              </a:buClr>
              <a:buNone/>
            </a:pPr>
            <a:r>
              <a:rPr lang="en-US" sz="2800" dirty="0"/>
              <a:t>Sensor networks</a:t>
            </a:r>
          </a:p>
        </p:txBody>
      </p:sp>
      <p:sp>
        <p:nvSpPr>
          <p:cNvPr id="10" name="Content Placeholder 2">
            <a:extLst>
              <a:ext uri="{FF2B5EF4-FFF2-40B4-BE49-F238E27FC236}">
                <a16:creationId xmlns:a16="http://schemas.microsoft.com/office/drawing/2014/main" id="{1BC1DFAF-E57C-B34A-9887-26C7D69842B5}"/>
              </a:ext>
            </a:extLst>
          </p:cNvPr>
          <p:cNvSpPr txBox="1">
            <a:spLocks/>
          </p:cNvSpPr>
          <p:nvPr/>
        </p:nvSpPr>
        <p:spPr>
          <a:xfrm>
            <a:off x="8204559" y="4966023"/>
            <a:ext cx="2880000" cy="5788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ctr">
              <a:spcBef>
                <a:spcPts val="0"/>
              </a:spcBef>
              <a:buClr>
                <a:schemeClr val="tx1"/>
              </a:buClr>
              <a:buNone/>
            </a:pPr>
            <a:r>
              <a:rPr lang="en-US" altLang="zh-CN" sz="2800" dirty="0"/>
              <a:t>Stock Markets</a:t>
            </a:r>
            <a:endParaRPr lang="en-US" sz="2800" dirty="0"/>
          </a:p>
        </p:txBody>
      </p:sp>
      <p:pic>
        <p:nvPicPr>
          <p:cNvPr id="8" name="图片 7">
            <a:extLst>
              <a:ext uri="{FF2B5EF4-FFF2-40B4-BE49-F238E27FC236}">
                <a16:creationId xmlns:a16="http://schemas.microsoft.com/office/drawing/2014/main" id="{6B408E49-9AE2-8944-6120-0038532B0DEF}"/>
              </a:ext>
            </a:extLst>
          </p:cNvPr>
          <p:cNvPicPr>
            <a:picLocks noChangeAspect="1"/>
          </p:cNvPicPr>
          <p:nvPr/>
        </p:nvPicPr>
        <p:blipFill>
          <a:blip r:embed="rId3"/>
          <a:stretch>
            <a:fillRect/>
          </a:stretch>
        </p:blipFill>
        <p:spPr>
          <a:xfrm>
            <a:off x="1737590" y="3250680"/>
            <a:ext cx="2126581" cy="1715343"/>
          </a:xfrm>
          <a:prstGeom prst="rect">
            <a:avLst/>
          </a:prstGeom>
        </p:spPr>
      </p:pic>
      <p:pic>
        <p:nvPicPr>
          <p:cNvPr id="14" name="图片 13">
            <a:extLst>
              <a:ext uri="{FF2B5EF4-FFF2-40B4-BE49-F238E27FC236}">
                <a16:creationId xmlns:a16="http://schemas.microsoft.com/office/drawing/2014/main" id="{84309971-DDCC-3A1A-A40F-06CF15578A2D}"/>
              </a:ext>
            </a:extLst>
          </p:cNvPr>
          <p:cNvPicPr>
            <a:picLocks noChangeAspect="1"/>
          </p:cNvPicPr>
          <p:nvPr/>
        </p:nvPicPr>
        <p:blipFill rotWithShape="1">
          <a:blip r:embed="rId4">
            <a:extLst>
              <a:ext uri="{28A0092B-C50C-407E-A947-70E740481C1C}">
                <a14:useLocalDpi xmlns:a14="http://schemas.microsoft.com/office/drawing/2010/main" val="0"/>
              </a:ext>
            </a:extLst>
          </a:blip>
          <a:srcRect t="3764" r="58376" b="22816"/>
          <a:stretch/>
        </p:blipFill>
        <p:spPr>
          <a:xfrm>
            <a:off x="8406761" y="3250679"/>
            <a:ext cx="2376621" cy="1715343"/>
          </a:xfrm>
          <a:prstGeom prst="rect">
            <a:avLst/>
          </a:prstGeom>
        </p:spPr>
      </p:pic>
      <p:pic>
        <p:nvPicPr>
          <p:cNvPr id="16" name="图片 15">
            <a:extLst>
              <a:ext uri="{FF2B5EF4-FFF2-40B4-BE49-F238E27FC236}">
                <a16:creationId xmlns:a16="http://schemas.microsoft.com/office/drawing/2014/main" id="{9C6478CB-B78F-849E-F11A-578E47688279}"/>
              </a:ext>
            </a:extLst>
          </p:cNvPr>
          <p:cNvPicPr>
            <a:picLocks noChangeAspect="1"/>
          </p:cNvPicPr>
          <p:nvPr/>
        </p:nvPicPr>
        <p:blipFill rotWithShape="1">
          <a:blip r:embed="rId5">
            <a:extLst>
              <a:ext uri="{28A0092B-C50C-407E-A947-70E740481C1C}">
                <a14:useLocalDpi xmlns:a14="http://schemas.microsoft.com/office/drawing/2010/main" val="0"/>
              </a:ext>
            </a:extLst>
          </a:blip>
          <a:srcRect l="5853" r="18406" b="13034"/>
          <a:stretch/>
        </p:blipFill>
        <p:spPr>
          <a:xfrm>
            <a:off x="4848489" y="3250679"/>
            <a:ext cx="2738862" cy="1715344"/>
          </a:xfrm>
          <a:prstGeom prst="rect">
            <a:avLst/>
          </a:prstGeom>
        </p:spPr>
      </p:pic>
    </p:spTree>
    <p:extLst>
      <p:ext uri="{BB962C8B-B14F-4D97-AF65-F5344CB8AC3E}">
        <p14:creationId xmlns:p14="http://schemas.microsoft.com/office/powerpoint/2010/main" val="1626721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4B7A-8516-47FC-9176-8158CF0B5C45}"/>
              </a:ext>
            </a:extLst>
          </p:cNvPr>
          <p:cNvSpPr>
            <a:spLocks noGrp="1"/>
          </p:cNvSpPr>
          <p:nvPr>
            <p:ph type="title"/>
          </p:nvPr>
        </p:nvSpPr>
        <p:spPr/>
        <p:txBody>
          <a:bodyPr/>
          <a:lstStyle/>
          <a:p>
            <a:r>
              <a:rPr lang="en-US" dirty="0">
                <a:solidFill>
                  <a:srgbClr val="C00000"/>
                </a:solidFill>
              </a:rPr>
              <a:t>Streaming Model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255D49-9D60-44DD-910D-2EBD0529DEC9}"/>
                  </a:ext>
                </a:extLst>
              </p:cNvPr>
              <p:cNvSpPr>
                <a:spLocks noGrp="1"/>
              </p:cNvSpPr>
              <p:nvPr>
                <p:ph idx="1"/>
              </p:nvPr>
            </p:nvSpPr>
            <p:spPr>
              <a:xfrm>
                <a:off x="838201" y="2874978"/>
                <a:ext cx="10841610" cy="3176832"/>
              </a:xfrm>
            </p:spPr>
            <p:txBody>
              <a:bodyPr>
                <a:noAutofit/>
              </a:bodyPr>
              <a:lstStyle/>
              <a:p>
                <a:pPr>
                  <a:lnSpc>
                    <a:spcPct val="150000"/>
                  </a:lnSpc>
                  <a:spcBef>
                    <a:spcPts val="0"/>
                  </a:spcBef>
                  <a:buClr>
                    <a:schemeClr val="tx1"/>
                  </a:buClr>
                </a:pPr>
                <a:r>
                  <a:rPr lang="en-US" altLang="zh-CN" dirty="0"/>
                  <a:t>There is an </a:t>
                </a:r>
                <a:r>
                  <a:rPr lang="en-US" altLang="zh-CN" dirty="0">
                    <a:solidFill>
                      <a:srgbClr val="00B050"/>
                    </a:solidFill>
                  </a:rPr>
                  <a:t>underlying frequency vector </a:t>
                </a:r>
                <a14:m>
                  <m:oMath xmlns:m="http://schemas.openxmlformats.org/officeDocument/2006/math">
                    <m:r>
                      <a:rPr lang="en-US" altLang="zh-CN" b="0" i="1" dirty="0" smtClean="0">
                        <a:solidFill>
                          <a:srgbClr val="C00000"/>
                        </a:solidFill>
                        <a:latin typeface="Cambria Math" panose="02040503050406030204" pitchFamily="18" charset="0"/>
                      </a:rPr>
                      <m:t>𝑥</m:t>
                    </m:r>
                    <m:r>
                      <a:rPr lang="en-US" altLang="zh-CN" b="0" i="1" dirty="0" smtClean="0">
                        <a:solidFill>
                          <a:srgbClr val="C00000"/>
                        </a:solidFill>
                        <a:latin typeface="Cambria Math" panose="02040503050406030204" pitchFamily="18" charset="0"/>
                      </a:rPr>
                      <m:t>∈</m:t>
                    </m:r>
                    <m:sSup>
                      <m:sSupPr>
                        <m:ctrlPr>
                          <a:rPr lang="en-US" b="0" i="1" smtClean="0">
                            <a:solidFill>
                              <a:srgbClr val="C00000"/>
                            </a:solidFill>
                            <a:latin typeface="Cambria Math" panose="02040503050406030204" pitchFamily="18" charset="0"/>
                            <a:ea typeface="Cambria Math" panose="02040503050406030204" pitchFamily="18" charset="0"/>
                          </a:rPr>
                        </m:ctrlPr>
                      </m:sSupPr>
                      <m:e>
                        <m:r>
                          <a:rPr lang="en-US" i="1" smtClean="0">
                            <a:solidFill>
                              <a:srgbClr val="C00000"/>
                            </a:solidFill>
                            <a:latin typeface="Cambria Math" panose="02040503050406030204" pitchFamily="18" charset="0"/>
                            <a:ea typeface="Cambria Math" panose="02040503050406030204" pitchFamily="18" charset="0"/>
                          </a:rPr>
                          <m:t>ℤ</m:t>
                        </m:r>
                      </m:e>
                      <m:sup>
                        <m:r>
                          <a:rPr lang="en-US" b="0" i="1" smtClean="0">
                            <a:solidFill>
                              <a:srgbClr val="C00000"/>
                            </a:solidFill>
                            <a:latin typeface="Cambria Math" panose="02040503050406030204" pitchFamily="18" charset="0"/>
                            <a:ea typeface="Cambria Math" panose="02040503050406030204" pitchFamily="18" charset="0"/>
                          </a:rPr>
                          <m:t>𝑛</m:t>
                        </m:r>
                      </m:sup>
                    </m:sSup>
                  </m:oMath>
                </a14:m>
                <a:r>
                  <a:rPr lang="en-US" dirty="0"/>
                  <a:t> </a:t>
                </a:r>
              </a:p>
              <a:p>
                <a:pPr lvl="1">
                  <a:lnSpc>
                    <a:spcPct val="150000"/>
                  </a:lnSpc>
                  <a:spcBef>
                    <a:spcPts val="0"/>
                  </a:spcBef>
                  <a:buClr>
                    <a:schemeClr val="tx1"/>
                  </a:buClr>
                </a:pPr>
                <a:r>
                  <a:rPr lang="en-US" sz="2800" dirty="0"/>
                  <a:t>Initialized to </a:t>
                </a:r>
                <a14:m>
                  <m:oMath xmlns:m="http://schemas.openxmlformats.org/officeDocument/2006/math">
                    <m:sSup>
                      <m:sSupPr>
                        <m:ctrlPr>
                          <a:rPr lang="en-US" altLang="zh-CN" sz="2800" b="0" i="1" dirty="0" smtClean="0">
                            <a:solidFill>
                              <a:srgbClr val="C00000"/>
                            </a:solidFill>
                            <a:latin typeface="Cambria Math" panose="02040503050406030204" pitchFamily="18" charset="0"/>
                          </a:rPr>
                        </m:ctrlPr>
                      </m:sSupPr>
                      <m:e>
                        <m:r>
                          <a:rPr lang="en-US" altLang="zh-CN" sz="2800" b="0" i="1" dirty="0" smtClean="0">
                            <a:solidFill>
                              <a:srgbClr val="C00000"/>
                            </a:solidFill>
                            <a:latin typeface="Cambria Math" panose="02040503050406030204" pitchFamily="18" charset="0"/>
                          </a:rPr>
                          <m:t>0</m:t>
                        </m:r>
                      </m:e>
                      <m:sup>
                        <m:r>
                          <a:rPr lang="en-US" altLang="zh-CN" sz="2800" b="0" i="1" dirty="0" smtClean="0">
                            <a:solidFill>
                              <a:srgbClr val="C00000"/>
                            </a:solidFill>
                            <a:latin typeface="Cambria Math" panose="02040503050406030204" pitchFamily="18" charset="0"/>
                          </a:rPr>
                          <m:t>𝑛</m:t>
                        </m:r>
                      </m:sup>
                    </m:sSup>
                  </m:oMath>
                </a14:m>
                <a:r>
                  <a:rPr lang="en-US" sz="2800" dirty="0"/>
                  <a:t>;</a:t>
                </a:r>
              </a:p>
              <a:p>
                <a:pPr lvl="1">
                  <a:lnSpc>
                    <a:spcPct val="150000"/>
                  </a:lnSpc>
                  <a:spcBef>
                    <a:spcPts val="0"/>
                  </a:spcBef>
                  <a:buClr>
                    <a:schemeClr val="tx1"/>
                  </a:buClr>
                </a:pPr>
                <a:r>
                  <a:rPr lang="en-US" sz="2800" dirty="0"/>
                  <a:t>Updated in each iteration:</a:t>
                </a:r>
                <a:r>
                  <a:rPr lang="en-US" sz="2800" b="0" dirty="0">
                    <a:solidFill>
                      <a:srgbClr val="C00000"/>
                    </a:solidFill>
                    <a:ea typeface="Cambria Math" panose="02040503050406030204" pitchFamily="18" charset="0"/>
                  </a:rPr>
                  <a:t> </a:t>
                </a:r>
                <a14:m>
                  <m:oMath xmlns:m="http://schemas.openxmlformats.org/officeDocument/2006/math">
                    <m:sSub>
                      <m:sSubPr>
                        <m:ctrlPr>
                          <a:rPr lang="en-US" sz="2800" b="0" i="1" smtClean="0">
                            <a:solidFill>
                              <a:srgbClr val="C00000"/>
                            </a:solidFill>
                            <a:latin typeface="Cambria Math" panose="02040503050406030204" pitchFamily="18" charset="0"/>
                            <a:ea typeface="Cambria Math" panose="02040503050406030204" pitchFamily="18" charset="0"/>
                          </a:rPr>
                        </m:ctrlPr>
                      </m:sSubPr>
                      <m:e>
                        <m:r>
                          <a:rPr lang="en-US" sz="2800" b="0" i="1" smtClean="0">
                            <a:solidFill>
                              <a:srgbClr val="C00000"/>
                            </a:solidFill>
                            <a:latin typeface="Cambria Math" panose="02040503050406030204" pitchFamily="18" charset="0"/>
                            <a:ea typeface="Cambria Math" panose="02040503050406030204" pitchFamily="18" charset="0"/>
                          </a:rPr>
                          <m:t>𝑥</m:t>
                        </m:r>
                      </m:e>
                      <m:sub>
                        <m:sSub>
                          <m:sSubPr>
                            <m:ctrlPr>
                              <a:rPr lang="en-US" sz="2800" b="0" i="1" smtClean="0">
                                <a:solidFill>
                                  <a:srgbClr val="C00000"/>
                                </a:solidFill>
                                <a:latin typeface="Cambria Math" panose="02040503050406030204" pitchFamily="18" charset="0"/>
                                <a:ea typeface="Cambria Math" panose="02040503050406030204" pitchFamily="18" charset="0"/>
                              </a:rPr>
                            </m:ctrlPr>
                          </m:sSubPr>
                          <m:e>
                            <m:r>
                              <a:rPr lang="en-US" sz="2800" b="0" i="1" smtClean="0">
                                <a:solidFill>
                                  <a:srgbClr val="C00000"/>
                                </a:solidFill>
                                <a:latin typeface="Cambria Math" panose="02040503050406030204" pitchFamily="18" charset="0"/>
                                <a:ea typeface="Cambria Math" panose="02040503050406030204" pitchFamily="18" charset="0"/>
                              </a:rPr>
                              <m:t>𝑎</m:t>
                            </m:r>
                          </m:e>
                          <m:sub>
                            <m:r>
                              <a:rPr lang="en-US" sz="2800" b="0" i="1" smtClean="0">
                                <a:solidFill>
                                  <a:srgbClr val="C00000"/>
                                </a:solidFill>
                                <a:latin typeface="Cambria Math" panose="02040503050406030204" pitchFamily="18" charset="0"/>
                                <a:ea typeface="Cambria Math" panose="02040503050406030204" pitchFamily="18" charset="0"/>
                              </a:rPr>
                              <m:t>𝑡</m:t>
                            </m:r>
                          </m:sub>
                        </m:sSub>
                      </m:sub>
                    </m:sSub>
                    <m:r>
                      <a:rPr lang="en-US" sz="2800" b="0" i="1" smtClean="0">
                        <a:solidFill>
                          <a:srgbClr val="C00000"/>
                        </a:solidFill>
                        <a:latin typeface="Cambria Math" panose="02040503050406030204" pitchFamily="18" charset="0"/>
                        <a:ea typeface="Cambria Math" panose="02040503050406030204" pitchFamily="18" charset="0"/>
                      </a:rPr>
                      <m:t>←</m:t>
                    </m:r>
                    <m:sSub>
                      <m:sSubPr>
                        <m:ctrlPr>
                          <a:rPr lang="en-US" sz="2800" b="0" i="1" smtClean="0">
                            <a:solidFill>
                              <a:srgbClr val="C00000"/>
                            </a:solidFill>
                            <a:latin typeface="Cambria Math" panose="02040503050406030204" pitchFamily="18" charset="0"/>
                            <a:ea typeface="Cambria Math" panose="02040503050406030204" pitchFamily="18" charset="0"/>
                          </a:rPr>
                        </m:ctrlPr>
                      </m:sSubPr>
                      <m:e>
                        <m:r>
                          <a:rPr lang="en-US" sz="2800" b="0" i="1" smtClean="0">
                            <a:solidFill>
                              <a:srgbClr val="C00000"/>
                            </a:solidFill>
                            <a:latin typeface="Cambria Math" panose="02040503050406030204" pitchFamily="18" charset="0"/>
                            <a:ea typeface="Cambria Math" panose="02040503050406030204" pitchFamily="18" charset="0"/>
                          </a:rPr>
                          <m:t>𝑥</m:t>
                        </m:r>
                      </m:e>
                      <m:sub>
                        <m:sSub>
                          <m:sSubPr>
                            <m:ctrlPr>
                              <a:rPr lang="en-US" sz="2800" b="0" i="1" smtClean="0">
                                <a:solidFill>
                                  <a:srgbClr val="C00000"/>
                                </a:solidFill>
                                <a:latin typeface="Cambria Math" panose="02040503050406030204" pitchFamily="18" charset="0"/>
                                <a:ea typeface="Cambria Math" panose="02040503050406030204" pitchFamily="18" charset="0"/>
                              </a:rPr>
                            </m:ctrlPr>
                          </m:sSubPr>
                          <m:e>
                            <m:r>
                              <a:rPr lang="en-US" sz="2800" b="0" i="1" smtClean="0">
                                <a:solidFill>
                                  <a:srgbClr val="C00000"/>
                                </a:solidFill>
                                <a:latin typeface="Cambria Math" panose="02040503050406030204" pitchFamily="18" charset="0"/>
                                <a:ea typeface="Cambria Math" panose="02040503050406030204" pitchFamily="18" charset="0"/>
                              </a:rPr>
                              <m:t>𝑎</m:t>
                            </m:r>
                          </m:e>
                          <m:sub>
                            <m:r>
                              <a:rPr lang="en-US" sz="2800" b="0" i="1" smtClean="0">
                                <a:solidFill>
                                  <a:srgbClr val="C00000"/>
                                </a:solidFill>
                                <a:latin typeface="Cambria Math" panose="02040503050406030204" pitchFamily="18" charset="0"/>
                                <a:ea typeface="Cambria Math" panose="02040503050406030204" pitchFamily="18" charset="0"/>
                              </a:rPr>
                              <m:t>𝑡</m:t>
                            </m:r>
                          </m:sub>
                        </m:sSub>
                      </m:sub>
                    </m:sSub>
                    <m:r>
                      <a:rPr lang="en-US" sz="2800" b="0" i="1" smtClean="0">
                        <a:solidFill>
                          <a:srgbClr val="C00000"/>
                        </a:solidFill>
                        <a:latin typeface="Cambria Math" panose="02040503050406030204" pitchFamily="18" charset="0"/>
                        <a:ea typeface="Cambria Math" panose="02040503050406030204" pitchFamily="18" charset="0"/>
                      </a:rPr>
                      <m:t>+</m:t>
                    </m:r>
                    <m:sSub>
                      <m:sSubPr>
                        <m:ctrlPr>
                          <a:rPr lang="en-US" sz="2800" b="0" i="1" smtClean="0">
                            <a:solidFill>
                              <a:srgbClr val="C00000"/>
                            </a:solidFill>
                            <a:latin typeface="Cambria Math" panose="02040503050406030204" pitchFamily="18" charset="0"/>
                            <a:ea typeface="Cambria Math" panose="02040503050406030204" pitchFamily="18" charset="0"/>
                          </a:rPr>
                        </m:ctrlPr>
                      </m:sSubPr>
                      <m:e>
                        <m:r>
                          <a:rPr lang="en-US" sz="2800" b="0" i="1" smtClean="0">
                            <a:solidFill>
                              <a:srgbClr val="C00000"/>
                            </a:solidFill>
                            <a:latin typeface="Cambria Math" panose="02040503050406030204" pitchFamily="18" charset="0"/>
                            <a:ea typeface="Cambria Math" panose="02040503050406030204" pitchFamily="18" charset="0"/>
                          </a:rPr>
                          <m:t>𝑤</m:t>
                        </m:r>
                      </m:e>
                      <m:sub>
                        <m:r>
                          <a:rPr lang="en-US" sz="2800" b="0" i="1" smtClean="0">
                            <a:solidFill>
                              <a:srgbClr val="C00000"/>
                            </a:solidFill>
                            <a:latin typeface="Cambria Math" panose="02040503050406030204" pitchFamily="18" charset="0"/>
                            <a:ea typeface="Cambria Math" panose="02040503050406030204" pitchFamily="18" charset="0"/>
                          </a:rPr>
                          <m:t>𝑡</m:t>
                        </m:r>
                      </m:sub>
                    </m:sSub>
                  </m:oMath>
                </a14:m>
                <a:r>
                  <a:rPr lang="en-US" sz="2800" dirty="0"/>
                  <a:t>.</a:t>
                </a:r>
              </a:p>
              <a:p>
                <a:pPr>
                  <a:lnSpc>
                    <a:spcPct val="150000"/>
                  </a:lnSpc>
                  <a:spcBef>
                    <a:spcPts val="0"/>
                  </a:spcBef>
                  <a:buClr>
                    <a:schemeClr val="tx1"/>
                  </a:buClr>
                </a:pPr>
                <a:r>
                  <a:rPr lang="en-US" altLang="zh-CN" dirty="0">
                    <a:solidFill>
                      <a:srgbClr val="00B050"/>
                    </a:solidFill>
                  </a:rPr>
                  <a:t>Insertion-Only Stream</a:t>
                </a:r>
                <a:r>
                  <a:rPr lang="en-US" altLang="zh-CN" dirty="0"/>
                  <a:t>: when </a:t>
                </a:r>
                <a14:m>
                  <m:oMath xmlns:m="http://schemas.openxmlformats.org/officeDocument/2006/math">
                    <m:sSub>
                      <m:sSubPr>
                        <m:ctrlPr>
                          <a:rPr lang="en-US" altLang="zh-CN" i="1">
                            <a:solidFill>
                              <a:srgbClr val="C00000"/>
                            </a:solidFill>
                            <a:latin typeface="Cambria Math" panose="02040503050406030204" pitchFamily="18" charset="0"/>
                            <a:ea typeface="Cambria Math" panose="02040503050406030204" pitchFamily="18" charset="0"/>
                          </a:rPr>
                        </m:ctrlPr>
                      </m:sSubPr>
                      <m:e>
                        <m:r>
                          <a:rPr lang="en-US" altLang="zh-CN" i="1">
                            <a:solidFill>
                              <a:srgbClr val="C00000"/>
                            </a:solidFill>
                            <a:latin typeface="Cambria Math" panose="02040503050406030204" pitchFamily="18" charset="0"/>
                            <a:ea typeface="Cambria Math" panose="02040503050406030204" pitchFamily="18" charset="0"/>
                          </a:rPr>
                          <m:t>𝑤</m:t>
                        </m:r>
                      </m:e>
                      <m:sub>
                        <m:r>
                          <a:rPr lang="en-US" altLang="zh-CN" i="1">
                            <a:solidFill>
                              <a:srgbClr val="C00000"/>
                            </a:solidFill>
                            <a:latin typeface="Cambria Math" panose="02040503050406030204" pitchFamily="18" charset="0"/>
                            <a:ea typeface="Cambria Math" panose="02040503050406030204" pitchFamily="18" charset="0"/>
                          </a:rPr>
                          <m:t>𝑡</m:t>
                        </m:r>
                      </m:sub>
                    </m:sSub>
                    <m:r>
                      <a:rPr lang="en-US" altLang="zh-CN">
                        <a:solidFill>
                          <a:srgbClr val="C00000"/>
                        </a:solidFill>
                        <a:latin typeface="Cambria Math" panose="02040503050406030204" pitchFamily="18" charset="0"/>
                        <a:ea typeface="Cambria Math" panose="02040503050406030204" pitchFamily="18" charset="0"/>
                      </a:rPr>
                      <m:t> </m:t>
                    </m:r>
                  </m:oMath>
                </a14:m>
                <a:r>
                  <a:rPr lang="en-US" altLang="zh-CN" dirty="0"/>
                  <a:t>can only be positive.</a:t>
                </a:r>
              </a:p>
              <a:p>
                <a:pPr>
                  <a:lnSpc>
                    <a:spcPct val="150000"/>
                  </a:lnSpc>
                  <a:spcBef>
                    <a:spcPts val="0"/>
                  </a:spcBef>
                  <a:buClr>
                    <a:schemeClr val="tx1"/>
                  </a:buClr>
                </a:pPr>
                <a:r>
                  <a:rPr lang="en-US" altLang="zh-CN" dirty="0">
                    <a:solidFill>
                      <a:srgbClr val="00B050"/>
                    </a:solidFill>
                  </a:rPr>
                  <a:t>Insertion-Deletion Stream </a:t>
                </a:r>
                <a:r>
                  <a:rPr lang="en-US" altLang="zh-CN" dirty="0"/>
                  <a:t>: when </a:t>
                </a:r>
                <a14:m>
                  <m:oMath xmlns:m="http://schemas.openxmlformats.org/officeDocument/2006/math">
                    <m:sSub>
                      <m:sSubPr>
                        <m:ctrlPr>
                          <a:rPr lang="en-US" altLang="zh-CN" i="1">
                            <a:solidFill>
                              <a:srgbClr val="C00000"/>
                            </a:solidFill>
                            <a:latin typeface="Cambria Math" panose="02040503050406030204" pitchFamily="18" charset="0"/>
                            <a:ea typeface="Cambria Math" panose="02040503050406030204" pitchFamily="18" charset="0"/>
                          </a:rPr>
                        </m:ctrlPr>
                      </m:sSubPr>
                      <m:e>
                        <m:r>
                          <a:rPr lang="en-US" altLang="zh-CN" i="1">
                            <a:solidFill>
                              <a:srgbClr val="C00000"/>
                            </a:solidFill>
                            <a:latin typeface="Cambria Math" panose="02040503050406030204" pitchFamily="18" charset="0"/>
                            <a:ea typeface="Cambria Math" panose="02040503050406030204" pitchFamily="18" charset="0"/>
                          </a:rPr>
                          <m:t>𝑤</m:t>
                        </m:r>
                      </m:e>
                      <m:sub>
                        <m:r>
                          <a:rPr lang="en-US" altLang="zh-CN" i="1">
                            <a:solidFill>
                              <a:srgbClr val="C00000"/>
                            </a:solidFill>
                            <a:latin typeface="Cambria Math" panose="02040503050406030204" pitchFamily="18" charset="0"/>
                            <a:ea typeface="Cambria Math" panose="02040503050406030204" pitchFamily="18" charset="0"/>
                          </a:rPr>
                          <m:t>𝑡</m:t>
                        </m:r>
                      </m:sub>
                    </m:sSub>
                  </m:oMath>
                </a14:m>
                <a:r>
                  <a:rPr lang="en-US" altLang="zh-CN" dirty="0">
                    <a:solidFill>
                      <a:srgbClr val="C00000"/>
                    </a:solidFill>
                    <a:ea typeface="Cambria Math" panose="02040503050406030204" pitchFamily="18" charset="0"/>
                  </a:rPr>
                  <a:t> </a:t>
                </a:r>
                <a:r>
                  <a:rPr lang="en-US" altLang="zh-CN" dirty="0">
                    <a:ea typeface="Cambria Math" panose="02040503050406030204" pitchFamily="18" charset="0"/>
                  </a:rPr>
                  <a:t>can be either positive or negative.</a:t>
                </a:r>
                <a:endParaRPr lang="en-US" altLang="zh-CN" i="1" dirty="0">
                  <a:solidFill>
                    <a:srgbClr val="C00000"/>
                  </a:solidFill>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15255D49-9D60-44DD-910D-2EBD0529DEC9}"/>
                  </a:ext>
                </a:extLst>
              </p:cNvPr>
              <p:cNvSpPr>
                <a:spLocks noGrp="1" noRot="1" noChangeAspect="1" noMove="1" noResize="1" noEditPoints="1" noAdjustHandles="1" noChangeArrowheads="1" noChangeShapeType="1" noTextEdit="1"/>
              </p:cNvSpPr>
              <p:nvPr>
                <p:ph idx="1"/>
              </p:nvPr>
            </p:nvSpPr>
            <p:spPr>
              <a:xfrm>
                <a:off x="838201" y="2874978"/>
                <a:ext cx="10841610" cy="3176832"/>
              </a:xfrm>
              <a:blipFill>
                <a:blip r:embed="rId3"/>
                <a:stretch>
                  <a:fillRect l="-1012" b="-88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6271C04-46A9-4DC3-B4E5-A351C550B4EB}"/>
                  </a:ext>
                </a:extLst>
              </p:cNvPr>
              <p:cNvSpPr txBox="1">
                <a:spLocks/>
              </p:cNvSpPr>
              <p:nvPr/>
            </p:nvSpPr>
            <p:spPr>
              <a:xfrm>
                <a:off x="1753389" y="1907504"/>
                <a:ext cx="5024488" cy="509047"/>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pPr>
                <a14:m>
                  <m:oMathPara xmlns:m="http://schemas.openxmlformats.org/officeDocument/2006/math">
                    <m:oMathParaPr>
                      <m:jc m:val="centerGroup"/>
                    </m:oMathParaPr>
                    <m:oMath xmlns:m="http://schemas.openxmlformats.org/officeDocument/2006/math">
                      <m:d>
                        <m:dPr>
                          <m:ctrlPr>
                            <a:rPr lang="en-US" sz="3200" b="0" i="1" smtClean="0">
                              <a:solidFill>
                                <a:schemeClr val="tx1"/>
                              </a:solidFill>
                              <a:latin typeface="Cambria Math" panose="02040503050406030204" pitchFamily="18" charset="0"/>
                            </a:rPr>
                          </m:ctrlPr>
                        </m:dPr>
                        <m:e>
                          <m:sSub>
                            <m:sSubPr>
                              <m:ctrlPr>
                                <a:rPr lang="en-US" sz="3200" b="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𝑎</m:t>
                              </m:r>
                            </m:e>
                            <m:sub>
                              <m:r>
                                <a:rPr lang="en-US" sz="3200" b="0" i="1" smtClean="0">
                                  <a:solidFill>
                                    <a:schemeClr val="tx1"/>
                                  </a:solidFill>
                                  <a:latin typeface="Cambria Math" panose="02040503050406030204" pitchFamily="18" charset="0"/>
                                </a:rPr>
                                <m:t>1</m:t>
                              </m:r>
                            </m:sub>
                          </m:sSub>
                          <m:r>
                            <a:rPr lang="en-US" sz="3200" b="0" i="1" smtClean="0">
                              <a:solidFill>
                                <a:schemeClr val="tx1"/>
                              </a:solidFill>
                              <a:latin typeface="Cambria Math" panose="02040503050406030204" pitchFamily="18" charset="0"/>
                            </a:rPr>
                            <m:t>, </m:t>
                          </m:r>
                          <m:sSub>
                            <m:sSubPr>
                              <m:ctrlPr>
                                <a:rPr lang="en-US" sz="3200" b="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𝑤</m:t>
                              </m:r>
                            </m:e>
                            <m:sub>
                              <m:r>
                                <a:rPr lang="en-US" sz="3200" b="0" i="1" smtClean="0">
                                  <a:solidFill>
                                    <a:schemeClr val="tx1"/>
                                  </a:solidFill>
                                  <a:latin typeface="Cambria Math" panose="02040503050406030204" pitchFamily="18" charset="0"/>
                                </a:rPr>
                                <m:t>1</m:t>
                              </m:r>
                            </m:sub>
                          </m:sSub>
                        </m:e>
                      </m:d>
                      <m:r>
                        <a:rPr lang="en-US" sz="3200" b="0" i="1" smtClean="0">
                          <a:solidFill>
                            <a:schemeClr val="tx1"/>
                          </a:solidFill>
                          <a:latin typeface="Cambria Math" panose="02040503050406030204" pitchFamily="18" charset="0"/>
                        </a:rPr>
                        <m:t>, </m:t>
                      </m:r>
                      <m:sSub>
                        <m:sSubPr>
                          <m:ctrlPr>
                            <a:rPr lang="en-US" sz="3200" b="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𝑎</m:t>
                          </m:r>
                        </m:e>
                        <m:sub>
                          <m:r>
                            <a:rPr lang="en-US" sz="3200" b="0" i="1" smtClean="0">
                              <a:solidFill>
                                <a:schemeClr val="tx1"/>
                              </a:solidFill>
                              <a:latin typeface="Cambria Math" panose="02040503050406030204" pitchFamily="18" charset="0"/>
                            </a:rPr>
                            <m:t>2</m:t>
                          </m:r>
                        </m:sub>
                      </m:sSub>
                      <m:r>
                        <a:rPr lang="en-US" sz="3200" b="0" i="1" smtClean="0">
                          <a:solidFill>
                            <a:schemeClr val="tx1"/>
                          </a:solidFill>
                          <a:latin typeface="Cambria Math" panose="02040503050406030204" pitchFamily="18" charset="0"/>
                        </a:rPr>
                        <m:t>, </m:t>
                      </m:r>
                      <m:sSub>
                        <m:sSubPr>
                          <m:ctrlPr>
                            <a:rPr lang="en-US" sz="3200" b="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𝑤</m:t>
                          </m:r>
                        </m:e>
                        <m:sub>
                          <m:r>
                            <a:rPr lang="en-US" sz="3200" b="0" i="1" smtClean="0">
                              <a:solidFill>
                                <a:schemeClr val="tx1"/>
                              </a:solidFill>
                              <a:latin typeface="Cambria Math" panose="02040503050406030204" pitchFamily="18" charset="0"/>
                            </a:rPr>
                            <m:t>2</m:t>
                          </m:r>
                        </m:sub>
                      </m:sSub>
                      <m:r>
                        <a:rPr lang="en-US" sz="3200" b="0" i="1" smtClean="0">
                          <a:solidFill>
                            <a:schemeClr val="tx1"/>
                          </a:solidFill>
                          <a:latin typeface="Cambria Math" panose="02040503050406030204" pitchFamily="18" charset="0"/>
                        </a:rPr>
                        <m:t>), ⋯, </m:t>
                      </m:r>
                      <m:sSub>
                        <m:sSubPr>
                          <m:ctrlPr>
                            <a:rPr lang="en-US" sz="3200" b="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𝑎</m:t>
                          </m:r>
                        </m:e>
                        <m:sub>
                          <m:r>
                            <a:rPr lang="en-US" sz="3200" b="0" i="1" smtClean="0">
                              <a:solidFill>
                                <a:schemeClr val="tx1"/>
                              </a:solidFill>
                              <a:latin typeface="Cambria Math" panose="02040503050406030204" pitchFamily="18" charset="0"/>
                            </a:rPr>
                            <m:t>𝑚</m:t>
                          </m:r>
                        </m:sub>
                      </m:sSub>
                      <m:r>
                        <a:rPr lang="en-US" sz="3200" b="0" i="1" smtClean="0">
                          <a:solidFill>
                            <a:schemeClr val="tx1"/>
                          </a:solidFill>
                          <a:latin typeface="Cambria Math" panose="02040503050406030204" pitchFamily="18" charset="0"/>
                        </a:rPr>
                        <m:t>, </m:t>
                      </m:r>
                      <m:sSub>
                        <m:sSubPr>
                          <m:ctrlPr>
                            <a:rPr lang="en-US" sz="3200" b="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𝑤</m:t>
                          </m:r>
                        </m:e>
                        <m:sub>
                          <m:r>
                            <a:rPr lang="en-US" sz="3200" b="0" i="1" smtClean="0">
                              <a:solidFill>
                                <a:schemeClr val="tx1"/>
                              </a:solidFill>
                              <a:latin typeface="Cambria Math" panose="02040503050406030204" pitchFamily="18" charset="0"/>
                            </a:rPr>
                            <m:t>𝑚</m:t>
                          </m:r>
                        </m:sub>
                      </m:sSub>
                      <m:r>
                        <a:rPr lang="en-US" sz="3200" b="0" i="1" smtClean="0">
                          <a:solidFill>
                            <a:schemeClr val="tx1"/>
                          </a:solidFill>
                          <a:latin typeface="Cambria Math" panose="02040503050406030204" pitchFamily="18" charset="0"/>
                        </a:rPr>
                        <m:t>) </m:t>
                      </m:r>
                    </m:oMath>
                  </m:oMathPara>
                </a14:m>
                <a:endParaRPr lang="en-US" sz="3200" dirty="0">
                  <a:solidFill>
                    <a:srgbClr val="C00000"/>
                  </a:solidFill>
                </a:endParaRPr>
              </a:p>
            </p:txBody>
          </p:sp>
        </mc:Choice>
        <mc:Fallback xmlns="">
          <p:sp>
            <p:nvSpPr>
              <p:cNvPr id="4" name="Content Placeholder 2">
                <a:extLst>
                  <a:ext uri="{FF2B5EF4-FFF2-40B4-BE49-F238E27FC236}">
                    <a16:creationId xmlns:a16="http://schemas.microsoft.com/office/drawing/2014/main" id="{26271C04-46A9-4DC3-B4E5-A351C550B4EB}"/>
                  </a:ext>
                </a:extLst>
              </p:cNvPr>
              <p:cNvSpPr txBox="1">
                <a:spLocks noRot="1" noChangeAspect="1" noMove="1" noResize="1" noEditPoints="1" noAdjustHandles="1" noChangeArrowheads="1" noChangeShapeType="1" noTextEdit="1"/>
              </p:cNvSpPr>
              <p:nvPr/>
            </p:nvSpPr>
            <p:spPr>
              <a:xfrm>
                <a:off x="1753389" y="1907504"/>
                <a:ext cx="5024488" cy="509047"/>
              </a:xfrm>
              <a:prstGeom prst="rect">
                <a:avLst/>
              </a:prstGeom>
              <a:blipFill>
                <a:blip r:embed="rId4"/>
                <a:stretch>
                  <a:fillRect b="-10843"/>
                </a:stretch>
              </a:blipFill>
            </p:spPr>
            <p:txBody>
              <a:bodyPr/>
              <a:lstStyle/>
              <a:p>
                <a:r>
                  <a:rPr lang="zh-CN" altLang="en-US">
                    <a:noFill/>
                  </a:rPr>
                  <a:t> </a:t>
                </a:r>
              </a:p>
            </p:txBody>
          </p:sp>
        </mc:Fallback>
      </mc:AlternateContent>
      <p:sp>
        <p:nvSpPr>
          <p:cNvPr id="5" name="箭头: 右 4">
            <a:extLst>
              <a:ext uri="{FF2B5EF4-FFF2-40B4-BE49-F238E27FC236}">
                <a16:creationId xmlns:a16="http://schemas.microsoft.com/office/drawing/2014/main" id="{072FE10D-5532-45AB-9648-AD03A979FEAF}"/>
              </a:ext>
            </a:extLst>
          </p:cNvPr>
          <p:cNvSpPr/>
          <p:nvPr/>
        </p:nvSpPr>
        <p:spPr>
          <a:xfrm>
            <a:off x="6777877" y="1907503"/>
            <a:ext cx="961534" cy="5090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54BEDA1A-04A7-4D78-9E01-3E76C4ACF5A9}"/>
              </a:ext>
            </a:extLst>
          </p:cNvPr>
          <p:cNvPicPr>
            <a:picLocks noChangeAspect="1"/>
          </p:cNvPicPr>
          <p:nvPr/>
        </p:nvPicPr>
        <p:blipFill>
          <a:blip r:embed="rId5"/>
          <a:stretch>
            <a:fillRect/>
          </a:stretch>
        </p:blipFill>
        <p:spPr>
          <a:xfrm>
            <a:off x="8212071" y="1549415"/>
            <a:ext cx="1922396" cy="1325563"/>
          </a:xfrm>
          <a:prstGeom prst="rect">
            <a:avLst/>
          </a:prstGeom>
        </p:spPr>
      </p:pic>
    </p:spTree>
    <p:extLst>
      <p:ext uri="{BB962C8B-B14F-4D97-AF65-F5344CB8AC3E}">
        <p14:creationId xmlns:p14="http://schemas.microsoft.com/office/powerpoint/2010/main" val="3524760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419AC-DCE6-4371-8DE2-D617E99D653D}"/>
              </a:ext>
            </a:extLst>
          </p:cNvPr>
          <p:cNvSpPr>
            <a:spLocks noGrp="1"/>
          </p:cNvSpPr>
          <p:nvPr>
            <p:ph type="title"/>
          </p:nvPr>
        </p:nvSpPr>
        <p:spPr/>
        <p:txBody>
          <a:bodyPr/>
          <a:lstStyle/>
          <a:p>
            <a:r>
              <a:rPr lang="en-US" dirty="0">
                <a:solidFill>
                  <a:srgbClr val="C00000"/>
                </a:solidFill>
              </a:rPr>
              <a:t>Lots of problems…</a:t>
            </a:r>
            <a:endParaRPr lang="en-US" dirty="0"/>
          </a:p>
        </p:txBody>
      </p:sp>
      <p:sp>
        <p:nvSpPr>
          <p:cNvPr id="5" name="Content Placeholder 3">
            <a:extLst>
              <a:ext uri="{FF2B5EF4-FFF2-40B4-BE49-F238E27FC236}">
                <a16:creationId xmlns:a16="http://schemas.microsoft.com/office/drawing/2014/main" id="{46EDD9D9-1338-4BC5-9D28-964A84C143C2}"/>
              </a:ext>
            </a:extLst>
          </p:cNvPr>
          <p:cNvSpPr>
            <a:spLocks noGrp="1"/>
          </p:cNvSpPr>
          <p:nvPr>
            <p:ph idx="1"/>
          </p:nvPr>
        </p:nvSpPr>
        <p:spPr>
          <a:xfrm>
            <a:off x="838200" y="1825625"/>
            <a:ext cx="10242755" cy="4351338"/>
          </a:xfrm>
        </p:spPr>
        <p:txBody>
          <a:bodyPr>
            <a:normAutofit/>
          </a:bodyPr>
          <a:lstStyle/>
          <a:p>
            <a:pPr>
              <a:buClr>
                <a:schemeClr val="tx1"/>
              </a:buClr>
            </a:pPr>
            <a:r>
              <a:rPr lang="en-US" sz="3200" dirty="0">
                <a:solidFill>
                  <a:srgbClr val="00B050"/>
                </a:solidFill>
              </a:rPr>
              <a:t>Graph problems</a:t>
            </a:r>
            <a:r>
              <a:rPr lang="en-US" sz="3200" dirty="0"/>
              <a:t>: Matchings, MST, MAX-CUT</a:t>
            </a:r>
          </a:p>
          <a:p>
            <a:pPr>
              <a:buClr>
                <a:schemeClr val="tx1"/>
              </a:buClr>
            </a:pPr>
            <a:r>
              <a:rPr lang="en-US" sz="3200" dirty="0">
                <a:solidFill>
                  <a:srgbClr val="00B050"/>
                </a:solidFill>
              </a:rPr>
              <a:t>Geometric problems</a:t>
            </a:r>
            <a:r>
              <a:rPr lang="en-US" sz="3200" dirty="0"/>
              <a:t>: Clustering, facility location</a:t>
            </a:r>
          </a:p>
          <a:p>
            <a:pPr>
              <a:buClr>
                <a:schemeClr val="tx1"/>
              </a:buClr>
            </a:pPr>
            <a:r>
              <a:rPr lang="en-US" sz="3200" dirty="0">
                <a:solidFill>
                  <a:srgbClr val="00B050"/>
                </a:solidFill>
              </a:rPr>
              <a:t>Statistical problems</a:t>
            </a:r>
            <a:r>
              <a:rPr lang="en-US" sz="3200" dirty="0"/>
              <a:t>: Heavy-hitters, norm/moment estimation, quantile estimation</a:t>
            </a:r>
          </a:p>
          <a:p>
            <a:pPr>
              <a:buClr>
                <a:schemeClr val="tx1"/>
              </a:buClr>
            </a:pPr>
            <a:r>
              <a:rPr lang="en-US" sz="3200" dirty="0">
                <a:solidFill>
                  <a:srgbClr val="00B050"/>
                </a:solidFill>
              </a:rPr>
              <a:t>Algebraic problems</a:t>
            </a:r>
            <a:r>
              <a:rPr lang="en-US" sz="3200" dirty="0"/>
              <a:t>: Subspace embeddings, regression, low-rank approximation</a:t>
            </a:r>
          </a:p>
          <a:p>
            <a:pPr>
              <a:buClr>
                <a:schemeClr val="tx1"/>
              </a:buClr>
            </a:pPr>
            <a:r>
              <a:rPr lang="en-US" sz="3200" dirty="0">
                <a:solidFill>
                  <a:srgbClr val="00B050"/>
                </a:solidFill>
              </a:rPr>
              <a:t>String problems</a:t>
            </a:r>
            <a:r>
              <a:rPr lang="en-US" sz="3200" dirty="0"/>
              <a:t>: pattern matching, periodicity</a:t>
            </a:r>
          </a:p>
          <a:p>
            <a:pPr>
              <a:buClr>
                <a:schemeClr val="tx1"/>
              </a:buClr>
            </a:pPr>
            <a:r>
              <a:rPr lang="en-US" sz="3200" dirty="0">
                <a:solidFill>
                  <a:srgbClr val="00B050"/>
                </a:solidFill>
              </a:rPr>
              <a:t>Others</a:t>
            </a:r>
            <a:r>
              <a:rPr lang="en-US" sz="3200" dirty="0"/>
              <a:t>: CSPs, coding theory, submodular optimization, </a:t>
            </a:r>
            <a:r>
              <a:rPr lang="en-US" sz="3200" dirty="0" err="1"/>
              <a:t>etc</a:t>
            </a:r>
            <a:endParaRPr lang="en-US" sz="3200" dirty="0"/>
          </a:p>
        </p:txBody>
      </p:sp>
    </p:spTree>
    <p:extLst>
      <p:ext uri="{BB962C8B-B14F-4D97-AF65-F5344CB8AC3E}">
        <p14:creationId xmlns:p14="http://schemas.microsoft.com/office/powerpoint/2010/main" val="3874442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419AC-DCE6-4371-8DE2-D617E99D653D}"/>
              </a:ext>
            </a:extLst>
          </p:cNvPr>
          <p:cNvSpPr>
            <a:spLocks noGrp="1"/>
          </p:cNvSpPr>
          <p:nvPr>
            <p:ph type="title"/>
          </p:nvPr>
        </p:nvSpPr>
        <p:spPr/>
        <p:txBody>
          <a:bodyPr/>
          <a:lstStyle/>
          <a:p>
            <a:r>
              <a:rPr lang="en-US" dirty="0">
                <a:solidFill>
                  <a:srgbClr val="C00000"/>
                </a:solidFill>
              </a:rPr>
              <a:t>Frequency Moments</a:t>
            </a:r>
            <a:endParaRPr 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46EDD9D9-1338-4BC5-9D28-964A84C143C2}"/>
                  </a:ext>
                </a:extLst>
              </p:cNvPr>
              <p:cNvSpPr>
                <a:spLocks noGrp="1"/>
              </p:cNvSpPr>
              <p:nvPr>
                <p:ph idx="1"/>
              </p:nvPr>
            </p:nvSpPr>
            <p:spPr>
              <a:xfrm>
                <a:off x="838200" y="1825624"/>
                <a:ext cx="10242755" cy="4734973"/>
              </a:xfrm>
            </p:spPr>
            <p:txBody>
              <a:bodyPr>
                <a:normAutofit/>
              </a:bodyPr>
              <a:lstStyle/>
              <a:p>
                <a:pPr>
                  <a:buClr>
                    <a:schemeClr val="tx1"/>
                  </a:buClr>
                </a:pPr>
                <a:r>
                  <a:rPr lang="en-US" dirty="0"/>
                  <a:t>Given a set </a:t>
                </a:r>
                <a14:m>
                  <m:oMath xmlns:m="http://schemas.openxmlformats.org/officeDocument/2006/math">
                    <m:r>
                      <a:rPr lang="en-US" i="1" smtClean="0">
                        <a:solidFill>
                          <a:srgbClr val="C00000"/>
                        </a:solidFill>
                        <a:latin typeface="Cambria Math" panose="02040503050406030204" pitchFamily="18" charset="0"/>
                      </a:rPr>
                      <m:t>𝑆</m:t>
                    </m:r>
                  </m:oMath>
                </a14:m>
                <a:r>
                  <a:rPr lang="en-US" dirty="0"/>
                  <a:t> of </a:t>
                </a:r>
                <a14:m>
                  <m:oMath xmlns:m="http://schemas.openxmlformats.org/officeDocument/2006/math">
                    <m:r>
                      <a:rPr lang="en-US" i="1" smtClean="0">
                        <a:solidFill>
                          <a:srgbClr val="C00000"/>
                        </a:solidFill>
                        <a:latin typeface="Cambria Math" panose="02040503050406030204" pitchFamily="18" charset="0"/>
                      </a:rPr>
                      <m:t>𝑚</m:t>
                    </m:r>
                  </m:oMath>
                </a14:m>
                <a:r>
                  <a:rPr lang="en-US" dirty="0"/>
                  <a:t> elements from </a:t>
                </a:r>
                <a14:m>
                  <m:oMath xmlns:m="http://schemas.openxmlformats.org/officeDocument/2006/math">
                    <m:r>
                      <a:rPr lang="en-US" i="1" smtClean="0">
                        <a:solidFill>
                          <a:srgbClr val="C00000"/>
                        </a:solidFill>
                        <a:latin typeface="Cambria Math" panose="02040503050406030204" pitchFamily="18" charset="0"/>
                      </a:rPr>
                      <m:t>[</m:t>
                    </m:r>
                    <m:r>
                      <a:rPr lang="en-US" i="1" smtClean="0">
                        <a:solidFill>
                          <a:srgbClr val="C00000"/>
                        </a:solidFill>
                        <a:latin typeface="Cambria Math" panose="02040503050406030204" pitchFamily="18" charset="0"/>
                      </a:rPr>
                      <m:t>𝑛</m:t>
                    </m:r>
                    <m:r>
                      <a:rPr lang="en-US" i="1" smtClean="0">
                        <a:solidFill>
                          <a:srgbClr val="C00000"/>
                        </a:solidFill>
                        <a:latin typeface="Cambria Math" panose="02040503050406030204" pitchFamily="18" charset="0"/>
                      </a:rPr>
                      <m:t>]</m:t>
                    </m:r>
                  </m:oMath>
                </a14:m>
                <a:r>
                  <a:rPr lang="en-US" dirty="0"/>
                  <a:t>, let </a:t>
                </a:r>
                <a14:m>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𝑓</m:t>
                        </m:r>
                      </m:e>
                      <m:sub>
                        <m:r>
                          <a:rPr lang="en-US" b="0" i="1" smtClean="0">
                            <a:solidFill>
                              <a:srgbClr val="C00000"/>
                            </a:solidFill>
                            <a:latin typeface="Cambria Math" panose="02040503050406030204" pitchFamily="18" charset="0"/>
                          </a:rPr>
                          <m:t>𝑖</m:t>
                        </m:r>
                      </m:sub>
                    </m:sSub>
                  </m:oMath>
                </a14:m>
                <a:r>
                  <a:rPr lang="en-US" dirty="0">
                    <a:solidFill>
                      <a:srgbClr val="C00000"/>
                    </a:solidFill>
                  </a:rPr>
                  <a:t> </a:t>
                </a:r>
                <a:r>
                  <a:rPr lang="en-US" dirty="0">
                    <a:solidFill>
                      <a:schemeClr val="tx1"/>
                    </a:solidFill>
                  </a:rPr>
                  <a:t>be the frequency of element </a:t>
                </a:r>
                <a14:m>
                  <m:oMath xmlns:m="http://schemas.openxmlformats.org/officeDocument/2006/math">
                    <m:r>
                      <a:rPr lang="en-US" b="0" i="1" smtClean="0">
                        <a:solidFill>
                          <a:srgbClr val="C00000"/>
                        </a:solidFill>
                        <a:latin typeface="Cambria Math" panose="02040503050406030204" pitchFamily="18" charset="0"/>
                      </a:rPr>
                      <m:t>𝑖</m:t>
                    </m:r>
                  </m:oMath>
                </a14:m>
                <a:r>
                  <a:rPr lang="en-US" dirty="0">
                    <a:solidFill>
                      <a:schemeClr val="tx1"/>
                    </a:solidFill>
                  </a:rPr>
                  <a:t>. (How often it appears)</a:t>
                </a:r>
              </a:p>
              <a:p>
                <a:pPr>
                  <a:buClr>
                    <a:schemeClr val="tx1"/>
                  </a:buClr>
                </a:pPr>
                <a:r>
                  <a:rPr lang="en-US" dirty="0">
                    <a:solidFill>
                      <a:schemeClr val="tx1"/>
                    </a:solidFill>
                  </a:rPr>
                  <a:t>Let </a:t>
                </a:r>
                <a14:m>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𝑝</m:t>
                        </m:r>
                      </m:sub>
                    </m:sSub>
                  </m:oMath>
                </a14:m>
                <a:r>
                  <a:rPr lang="en-US" dirty="0"/>
                  <a:t> be the frequency moment of the vector:</a:t>
                </a:r>
              </a:p>
              <a:p>
                <a:pPr lvl="1">
                  <a:buClr>
                    <a:schemeClr val="tx1"/>
                  </a:buClr>
                </a:pPr>
                <a:endParaRPr lang="en-US" dirty="0">
                  <a:solidFill>
                    <a:schemeClr val="tx1"/>
                  </a:solidFill>
                </a:endParaRPr>
              </a:p>
              <a:p>
                <a:pPr lvl="1">
                  <a:buClr>
                    <a:schemeClr val="tx1"/>
                  </a:buClr>
                </a:pPr>
                <a:endParaRPr lang="en-US" dirty="0"/>
              </a:p>
              <a:p>
                <a:pPr lvl="1">
                  <a:buClr>
                    <a:schemeClr val="tx1"/>
                  </a:buClr>
                </a:pPr>
                <a:endParaRPr lang="en-US" dirty="0">
                  <a:solidFill>
                    <a:schemeClr val="tx1"/>
                  </a:solidFill>
                </a:endParaRPr>
              </a:p>
              <a:p>
                <a:pPr>
                  <a:buClr>
                    <a:schemeClr val="tx1"/>
                  </a:buClr>
                </a:pPr>
                <a:r>
                  <a:rPr lang="en-US" dirty="0">
                    <a:solidFill>
                      <a:srgbClr val="00B050"/>
                    </a:solidFill>
                  </a:rPr>
                  <a:t>Goal</a:t>
                </a:r>
                <a:r>
                  <a:rPr lang="en-US" dirty="0"/>
                  <a:t>: </a:t>
                </a:r>
                <a:r>
                  <a:rPr lang="en-US" dirty="0">
                    <a:solidFill>
                      <a:schemeClr val="tx1"/>
                    </a:solidFill>
                  </a:rPr>
                  <a:t>Given a set </a:t>
                </a:r>
                <a14:m>
                  <m:oMath xmlns:m="http://schemas.openxmlformats.org/officeDocument/2006/math">
                    <m:r>
                      <a:rPr lang="en-US" b="0" i="1" smtClean="0">
                        <a:solidFill>
                          <a:srgbClr val="C00000"/>
                        </a:solidFill>
                        <a:latin typeface="Cambria Math" panose="02040503050406030204" pitchFamily="18" charset="0"/>
                      </a:rPr>
                      <m:t>𝑆</m:t>
                    </m:r>
                  </m:oMath>
                </a14:m>
                <a:r>
                  <a:rPr lang="en-US" dirty="0">
                    <a:solidFill>
                      <a:schemeClr val="tx1"/>
                    </a:solidFill>
                  </a:rPr>
                  <a:t> of </a:t>
                </a:r>
                <a14:m>
                  <m:oMath xmlns:m="http://schemas.openxmlformats.org/officeDocument/2006/math">
                    <m:r>
                      <a:rPr lang="en-US" b="0" i="1" smtClean="0">
                        <a:solidFill>
                          <a:srgbClr val="C00000"/>
                        </a:solidFill>
                        <a:latin typeface="Cambria Math" panose="02040503050406030204" pitchFamily="18" charset="0"/>
                      </a:rPr>
                      <m:t>𝑚</m:t>
                    </m:r>
                  </m:oMath>
                </a14:m>
                <a:r>
                  <a:rPr lang="en-US" dirty="0">
                    <a:solidFill>
                      <a:schemeClr val="tx1"/>
                    </a:solidFill>
                  </a:rPr>
                  <a:t> elements from </a:t>
                </a:r>
                <a14:m>
                  <m:oMath xmlns:m="http://schemas.openxmlformats.org/officeDocument/2006/math">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𝑛</m:t>
                    </m:r>
                    <m:r>
                      <a:rPr lang="en-US" b="0" i="1" smtClean="0">
                        <a:solidFill>
                          <a:srgbClr val="C00000"/>
                        </a:solidFill>
                        <a:latin typeface="Cambria Math" panose="02040503050406030204" pitchFamily="18" charset="0"/>
                      </a:rPr>
                      <m:t>]</m:t>
                    </m:r>
                  </m:oMath>
                </a14:m>
                <a:r>
                  <a:rPr lang="en-US" dirty="0">
                    <a:solidFill>
                      <a:srgbClr val="C00000"/>
                    </a:solidFill>
                  </a:rPr>
                  <a:t> </a:t>
                </a:r>
                <a:r>
                  <a:rPr lang="en-US" dirty="0">
                    <a:solidFill>
                      <a:schemeClr val="tx1"/>
                    </a:solidFill>
                  </a:rPr>
                  <a:t>and an accuracy parameter </a:t>
                </a:r>
                <a14:m>
                  <m:oMath xmlns:m="http://schemas.openxmlformats.org/officeDocument/2006/math">
                    <m:r>
                      <a:rPr lang="en-US" b="0" i="1" smtClean="0">
                        <a:solidFill>
                          <a:srgbClr val="C00000"/>
                        </a:solidFill>
                        <a:latin typeface="Cambria Math" panose="02040503050406030204" pitchFamily="18" charset="0"/>
                      </a:rPr>
                      <m:t>𝜀</m:t>
                    </m:r>
                  </m:oMath>
                </a14:m>
                <a:r>
                  <a:rPr lang="en-US" dirty="0">
                    <a:solidFill>
                      <a:schemeClr val="tx1"/>
                    </a:solidFill>
                  </a:rPr>
                  <a:t>, output a </a:t>
                </a:r>
                <a14:m>
                  <m:oMath xmlns:m="http://schemas.openxmlformats.org/officeDocument/2006/math">
                    <m:r>
                      <a:rPr lang="en-US" b="0" i="0" smtClean="0">
                        <a:solidFill>
                          <a:srgbClr val="C00000"/>
                        </a:solidFill>
                        <a:latin typeface="Cambria Math" panose="02040503050406030204" pitchFamily="18" charset="0"/>
                      </a:rPr>
                      <m:t>(1+</m:t>
                    </m:r>
                    <m:r>
                      <a:rPr lang="en-US" i="1" smtClean="0">
                        <a:solidFill>
                          <a:srgbClr val="C00000"/>
                        </a:solidFill>
                        <a:latin typeface="Cambria Math" panose="02040503050406030204" pitchFamily="18" charset="0"/>
                      </a:rPr>
                      <m:t>𝜀</m:t>
                    </m:r>
                    <m:r>
                      <a:rPr lang="en-US" b="0" i="1" smtClean="0">
                        <a:solidFill>
                          <a:srgbClr val="C00000"/>
                        </a:solidFill>
                        <a:latin typeface="Cambria Math" panose="02040503050406030204" pitchFamily="18" charset="0"/>
                      </a:rPr>
                      <m:t>)</m:t>
                    </m:r>
                  </m:oMath>
                </a14:m>
                <a:r>
                  <a:rPr lang="en-US" dirty="0">
                    <a:solidFill>
                      <a:schemeClr val="tx1"/>
                    </a:solidFill>
                  </a:rPr>
                  <a:t>-approximation to </a:t>
                </a:r>
                <a14:m>
                  <m:oMath xmlns:m="http://schemas.openxmlformats.org/officeDocument/2006/math">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𝐹</m:t>
                        </m:r>
                      </m:e>
                      <m:sub>
                        <m:r>
                          <a:rPr lang="en-US" i="1">
                            <a:solidFill>
                              <a:srgbClr val="C00000"/>
                            </a:solidFill>
                            <a:latin typeface="Cambria Math" panose="02040503050406030204" pitchFamily="18" charset="0"/>
                          </a:rPr>
                          <m:t>𝑝</m:t>
                        </m:r>
                      </m:sub>
                    </m:sSub>
                  </m:oMath>
                </a14:m>
                <a:endParaRPr lang="en-US" dirty="0"/>
              </a:p>
              <a:p>
                <a:pPr>
                  <a:buClr>
                    <a:schemeClr val="tx1"/>
                  </a:buClr>
                </a:pPr>
                <a:r>
                  <a:rPr lang="en-US" dirty="0">
                    <a:solidFill>
                      <a:srgbClr val="00B050"/>
                    </a:solidFill>
                  </a:rPr>
                  <a:t>Motivation</a:t>
                </a:r>
                <a:r>
                  <a:rPr lang="en-US" dirty="0"/>
                  <a:t>: Entropy estimation, linear regression</a:t>
                </a:r>
              </a:p>
            </p:txBody>
          </p:sp>
        </mc:Choice>
        <mc:Fallback xmlns="">
          <p:sp>
            <p:nvSpPr>
              <p:cNvPr id="5" name="Content Placeholder 3">
                <a:extLst>
                  <a:ext uri="{FF2B5EF4-FFF2-40B4-BE49-F238E27FC236}">
                    <a16:creationId xmlns:a16="http://schemas.microsoft.com/office/drawing/2014/main" id="{46EDD9D9-1338-4BC5-9D28-964A84C143C2}"/>
                  </a:ext>
                </a:extLst>
              </p:cNvPr>
              <p:cNvSpPr>
                <a:spLocks noGrp="1" noRot="1" noChangeAspect="1" noMove="1" noResize="1" noEditPoints="1" noAdjustHandles="1" noChangeArrowheads="1" noChangeShapeType="1" noTextEdit="1"/>
              </p:cNvSpPr>
              <p:nvPr>
                <p:ph idx="1"/>
              </p:nvPr>
            </p:nvSpPr>
            <p:spPr>
              <a:xfrm>
                <a:off x="838200" y="1825624"/>
                <a:ext cx="10242755" cy="4734973"/>
              </a:xfrm>
              <a:blipFill>
                <a:blip r:embed="rId2"/>
                <a:stretch>
                  <a:fillRect l="-1071" t="-20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B2FD8736-F162-41C2-9CE0-9BF3ADDC3736}"/>
                  </a:ext>
                </a:extLst>
              </p:cNvPr>
              <p:cNvSpPr/>
              <p:nvPr/>
            </p:nvSpPr>
            <p:spPr>
              <a:xfrm>
                <a:off x="3263654" y="3369518"/>
                <a:ext cx="6253315" cy="63177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solidFill>
                                <a:srgbClr val="C00000"/>
                              </a:solidFill>
                              <a:latin typeface="Cambria Math" panose="02040503050406030204" pitchFamily="18" charset="0"/>
                            </a:rPr>
                          </m:ctrlPr>
                        </m:sSubPr>
                        <m:e>
                          <m:r>
                            <a:rPr lang="en-US" sz="3200" i="1" smtClean="0">
                              <a:solidFill>
                                <a:srgbClr val="C00000"/>
                              </a:solidFill>
                              <a:latin typeface="Cambria Math" panose="02040503050406030204" pitchFamily="18" charset="0"/>
                            </a:rPr>
                            <m:t>𝐹</m:t>
                          </m:r>
                        </m:e>
                        <m:sub>
                          <m:r>
                            <a:rPr lang="en-US" sz="3200" b="0" i="1" smtClean="0">
                              <a:solidFill>
                                <a:srgbClr val="C00000"/>
                              </a:solidFill>
                              <a:latin typeface="Cambria Math" panose="02040503050406030204" pitchFamily="18" charset="0"/>
                            </a:rPr>
                            <m:t>𝑝</m:t>
                          </m:r>
                        </m:sub>
                      </m:sSub>
                      <m:r>
                        <a:rPr lang="en-US" sz="3200" b="0" i="1" smtClean="0">
                          <a:solidFill>
                            <a:srgbClr val="C00000"/>
                          </a:solidFill>
                          <a:latin typeface="Cambria Math" panose="02040503050406030204" pitchFamily="18" charset="0"/>
                        </a:rPr>
                        <m:t>=</m:t>
                      </m:r>
                      <m:sSup>
                        <m:sSupPr>
                          <m:ctrlPr>
                            <a:rPr lang="en-US" sz="3200" i="1" dirty="0">
                              <a:solidFill>
                                <a:srgbClr val="C00000"/>
                              </a:solidFill>
                              <a:latin typeface="Cambria Math" panose="02040503050406030204" pitchFamily="18" charset="0"/>
                            </a:rPr>
                          </m:ctrlPr>
                        </m:sSupPr>
                        <m:e>
                          <m:d>
                            <m:dPr>
                              <m:begChr m:val="|"/>
                              <m:endChr m:val="|"/>
                              <m:ctrlPr>
                                <a:rPr lang="en-US" sz="3200" i="1" dirty="0">
                                  <a:solidFill>
                                    <a:srgbClr val="C00000"/>
                                  </a:solidFill>
                                  <a:latin typeface="Cambria Math" panose="02040503050406030204" pitchFamily="18" charset="0"/>
                                </a:rPr>
                              </m:ctrlPr>
                            </m:dPr>
                            <m:e>
                              <m:sSub>
                                <m:sSubPr>
                                  <m:ctrlPr>
                                    <a:rPr lang="en-US" sz="3200" i="1" dirty="0">
                                      <a:solidFill>
                                        <a:srgbClr val="C00000"/>
                                      </a:solidFill>
                                      <a:latin typeface="Cambria Math" panose="02040503050406030204" pitchFamily="18" charset="0"/>
                                    </a:rPr>
                                  </m:ctrlPr>
                                </m:sSubPr>
                                <m:e>
                                  <m:r>
                                    <a:rPr lang="en-US" sz="3200" i="1" dirty="0">
                                      <a:solidFill>
                                        <a:srgbClr val="C00000"/>
                                      </a:solidFill>
                                      <a:latin typeface="Cambria Math" panose="02040503050406030204" pitchFamily="18" charset="0"/>
                                    </a:rPr>
                                    <m:t>𝑓</m:t>
                                  </m:r>
                                </m:e>
                                <m:sub>
                                  <m:r>
                                    <a:rPr lang="en-US" sz="3200" b="0" i="1" dirty="0" smtClean="0">
                                      <a:solidFill>
                                        <a:srgbClr val="C00000"/>
                                      </a:solidFill>
                                      <a:latin typeface="Cambria Math" panose="02040503050406030204" pitchFamily="18" charset="0"/>
                                    </a:rPr>
                                    <m:t>1</m:t>
                                  </m:r>
                                </m:sub>
                              </m:sSub>
                            </m:e>
                          </m:d>
                        </m:e>
                        <m:sup>
                          <m:r>
                            <a:rPr lang="en-US" sz="3200" i="1" dirty="0">
                              <a:solidFill>
                                <a:srgbClr val="C00000"/>
                              </a:solidFill>
                              <a:latin typeface="Cambria Math" panose="02040503050406030204" pitchFamily="18" charset="0"/>
                            </a:rPr>
                            <m:t>𝑝</m:t>
                          </m:r>
                        </m:sup>
                      </m:sSup>
                      <m:r>
                        <a:rPr lang="en-US" sz="3200" b="0" i="1" dirty="0" smtClean="0">
                          <a:solidFill>
                            <a:srgbClr val="C00000"/>
                          </a:solidFill>
                          <a:latin typeface="Cambria Math" panose="02040503050406030204" pitchFamily="18" charset="0"/>
                        </a:rPr>
                        <m:t>+</m:t>
                      </m:r>
                      <m:sSup>
                        <m:sSupPr>
                          <m:ctrlPr>
                            <a:rPr lang="en-US" sz="3200" i="1" dirty="0">
                              <a:solidFill>
                                <a:srgbClr val="C00000"/>
                              </a:solidFill>
                              <a:latin typeface="Cambria Math" panose="02040503050406030204" pitchFamily="18" charset="0"/>
                            </a:rPr>
                          </m:ctrlPr>
                        </m:sSupPr>
                        <m:e>
                          <m:d>
                            <m:dPr>
                              <m:begChr m:val="|"/>
                              <m:endChr m:val="|"/>
                              <m:ctrlPr>
                                <a:rPr lang="en-US" sz="3200" i="1" dirty="0">
                                  <a:solidFill>
                                    <a:srgbClr val="C00000"/>
                                  </a:solidFill>
                                  <a:latin typeface="Cambria Math" panose="02040503050406030204" pitchFamily="18" charset="0"/>
                                </a:rPr>
                              </m:ctrlPr>
                            </m:dPr>
                            <m:e>
                              <m:sSub>
                                <m:sSubPr>
                                  <m:ctrlPr>
                                    <a:rPr lang="en-US" sz="3200" i="1" dirty="0">
                                      <a:solidFill>
                                        <a:srgbClr val="C00000"/>
                                      </a:solidFill>
                                      <a:latin typeface="Cambria Math" panose="02040503050406030204" pitchFamily="18" charset="0"/>
                                    </a:rPr>
                                  </m:ctrlPr>
                                </m:sSubPr>
                                <m:e>
                                  <m:r>
                                    <a:rPr lang="en-US" sz="3200" i="1" dirty="0">
                                      <a:solidFill>
                                        <a:srgbClr val="C00000"/>
                                      </a:solidFill>
                                      <a:latin typeface="Cambria Math" panose="02040503050406030204" pitchFamily="18" charset="0"/>
                                    </a:rPr>
                                    <m:t>𝑓</m:t>
                                  </m:r>
                                </m:e>
                                <m:sub>
                                  <m:r>
                                    <a:rPr lang="en-US" sz="3200" b="0" i="1" dirty="0" smtClean="0">
                                      <a:solidFill>
                                        <a:srgbClr val="C00000"/>
                                      </a:solidFill>
                                      <a:latin typeface="Cambria Math" panose="02040503050406030204" pitchFamily="18" charset="0"/>
                                    </a:rPr>
                                    <m:t>2</m:t>
                                  </m:r>
                                </m:sub>
                              </m:sSub>
                            </m:e>
                          </m:d>
                        </m:e>
                        <m:sup>
                          <m:r>
                            <a:rPr lang="en-US" sz="3200" i="1" dirty="0">
                              <a:solidFill>
                                <a:srgbClr val="C00000"/>
                              </a:solidFill>
                              <a:latin typeface="Cambria Math" panose="02040503050406030204" pitchFamily="18" charset="0"/>
                            </a:rPr>
                            <m:t>𝑝</m:t>
                          </m:r>
                        </m:sup>
                      </m:sSup>
                      <m:r>
                        <a:rPr lang="en-US" sz="3200" b="0" i="1" dirty="0" smtClean="0">
                          <a:solidFill>
                            <a:srgbClr val="C00000"/>
                          </a:solidFill>
                          <a:latin typeface="Cambria Math" panose="02040503050406030204" pitchFamily="18" charset="0"/>
                        </a:rPr>
                        <m:t>+ …+</m:t>
                      </m:r>
                      <m:sSup>
                        <m:sSupPr>
                          <m:ctrlPr>
                            <a:rPr lang="en-US" sz="3200" b="0" i="1" dirty="0" smtClean="0">
                              <a:solidFill>
                                <a:srgbClr val="C00000"/>
                              </a:solidFill>
                              <a:latin typeface="Cambria Math" panose="02040503050406030204" pitchFamily="18" charset="0"/>
                            </a:rPr>
                          </m:ctrlPr>
                        </m:sSupPr>
                        <m:e>
                          <m:d>
                            <m:dPr>
                              <m:begChr m:val="|"/>
                              <m:endChr m:val="|"/>
                              <m:ctrlPr>
                                <a:rPr lang="en-US" sz="3200" b="0" i="1" dirty="0" smtClean="0">
                                  <a:solidFill>
                                    <a:srgbClr val="C00000"/>
                                  </a:solidFill>
                                  <a:latin typeface="Cambria Math" panose="02040503050406030204" pitchFamily="18" charset="0"/>
                                </a:rPr>
                              </m:ctrlPr>
                            </m:dPr>
                            <m:e>
                              <m:sSub>
                                <m:sSubPr>
                                  <m:ctrlPr>
                                    <a:rPr lang="en-US" sz="3200" b="0" i="1" dirty="0" smtClean="0">
                                      <a:solidFill>
                                        <a:srgbClr val="C00000"/>
                                      </a:solidFill>
                                      <a:latin typeface="Cambria Math" panose="02040503050406030204" pitchFamily="18" charset="0"/>
                                    </a:rPr>
                                  </m:ctrlPr>
                                </m:sSubPr>
                                <m:e>
                                  <m:r>
                                    <a:rPr lang="en-US" sz="3200" b="0" i="1" dirty="0" smtClean="0">
                                      <a:solidFill>
                                        <a:srgbClr val="C00000"/>
                                      </a:solidFill>
                                      <a:latin typeface="Cambria Math" panose="02040503050406030204" pitchFamily="18" charset="0"/>
                                    </a:rPr>
                                    <m:t>𝑓</m:t>
                                  </m:r>
                                </m:e>
                                <m:sub>
                                  <m:r>
                                    <a:rPr lang="en-US" sz="3200" b="0" i="1" dirty="0" smtClean="0">
                                      <a:solidFill>
                                        <a:srgbClr val="C00000"/>
                                      </a:solidFill>
                                      <a:latin typeface="Cambria Math" panose="02040503050406030204" pitchFamily="18" charset="0"/>
                                    </a:rPr>
                                    <m:t>𝑛</m:t>
                                  </m:r>
                                </m:sub>
                              </m:sSub>
                            </m:e>
                          </m:d>
                        </m:e>
                        <m:sup>
                          <m:r>
                            <a:rPr lang="en-US" sz="3200" b="0" i="1" dirty="0" smtClean="0">
                              <a:solidFill>
                                <a:srgbClr val="C00000"/>
                              </a:solidFill>
                              <a:latin typeface="Cambria Math" panose="02040503050406030204" pitchFamily="18" charset="0"/>
                            </a:rPr>
                            <m:t>𝑝</m:t>
                          </m:r>
                        </m:sup>
                      </m:sSup>
                    </m:oMath>
                  </m:oMathPara>
                </a14:m>
                <a:endParaRPr lang="en-US" sz="3200" dirty="0"/>
              </a:p>
            </p:txBody>
          </p:sp>
        </mc:Choice>
        <mc:Fallback xmlns="">
          <p:sp>
            <p:nvSpPr>
              <p:cNvPr id="6" name="Rectangle 5">
                <a:extLst>
                  <a:ext uri="{FF2B5EF4-FFF2-40B4-BE49-F238E27FC236}">
                    <a16:creationId xmlns:a16="http://schemas.microsoft.com/office/drawing/2014/main" id="{B2FD8736-F162-41C2-9CE0-9BF3ADDC3736}"/>
                  </a:ext>
                </a:extLst>
              </p:cNvPr>
              <p:cNvSpPr>
                <a:spLocks noRot="1" noChangeAspect="1" noMove="1" noResize="1" noEditPoints="1" noAdjustHandles="1" noChangeArrowheads="1" noChangeShapeType="1" noTextEdit="1"/>
              </p:cNvSpPr>
              <p:nvPr/>
            </p:nvSpPr>
            <p:spPr>
              <a:xfrm>
                <a:off x="3263654" y="3369518"/>
                <a:ext cx="6253315" cy="63177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65986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12EC6-547B-C347-C7F1-226941E14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273DF-F19F-F63D-4723-67B87DA2032F}"/>
              </a:ext>
            </a:extLst>
          </p:cNvPr>
          <p:cNvSpPr>
            <a:spLocks noGrp="1"/>
          </p:cNvSpPr>
          <p:nvPr>
            <p:ph type="title"/>
          </p:nvPr>
        </p:nvSpPr>
        <p:spPr/>
        <p:txBody>
          <a:bodyPr/>
          <a:lstStyle/>
          <a:p>
            <a:r>
              <a:rPr lang="en-US" dirty="0" err="1">
                <a:solidFill>
                  <a:srgbClr val="C00000"/>
                </a:solidFill>
              </a:rPr>
              <a:t>Adversarially</a:t>
            </a:r>
            <a:r>
              <a:rPr lang="en-US" dirty="0">
                <a:solidFill>
                  <a:srgbClr val="C00000"/>
                </a:solidFill>
              </a:rPr>
              <a:t> Robust Streaming</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89533C-F249-9891-03DA-7BE3E3CD39B7}"/>
                  </a:ext>
                </a:extLst>
              </p:cNvPr>
              <p:cNvSpPr>
                <a:spLocks noGrp="1"/>
              </p:cNvSpPr>
              <p:nvPr>
                <p:ph idx="1"/>
              </p:nvPr>
            </p:nvSpPr>
            <p:spPr/>
            <p:txBody>
              <a:bodyPr>
                <a:normAutofit/>
              </a:bodyPr>
              <a:lstStyle/>
              <a:p>
                <a:pPr>
                  <a:buClr>
                    <a:schemeClr val="tx1"/>
                  </a:buClr>
                </a:pPr>
                <a:r>
                  <a:rPr lang="en-US" sz="3200" dirty="0">
                    <a:solidFill>
                      <a:srgbClr val="00B050"/>
                    </a:solidFill>
                  </a:rPr>
                  <a:t>Input</a:t>
                </a:r>
                <a:r>
                  <a:rPr lang="en-US" sz="3200" dirty="0"/>
                  <a:t>: Updates to an underlying vector </a:t>
                </a:r>
                <a14:m>
                  <m:oMath xmlns:m="http://schemas.openxmlformats.org/officeDocument/2006/math">
                    <m:r>
                      <a:rPr lang="en-US" sz="3200" b="0" i="1" smtClean="0">
                        <a:solidFill>
                          <a:srgbClr val="C00000"/>
                        </a:solidFill>
                        <a:latin typeface="Cambria Math" panose="02040503050406030204" pitchFamily="18" charset="0"/>
                      </a:rPr>
                      <m:t>𝑥</m:t>
                    </m:r>
                  </m:oMath>
                </a14:m>
                <a:r>
                  <a:rPr lang="en-US" sz="3200" dirty="0"/>
                  <a:t>, which arrive sequentially and </a:t>
                </a:r>
                <a:r>
                  <a:rPr lang="en-US" sz="3200" i="1" dirty="0" err="1">
                    <a:solidFill>
                      <a:srgbClr val="C00000"/>
                    </a:solidFill>
                  </a:rPr>
                  <a:t>adversarially</a:t>
                </a:r>
                <a:endParaRPr lang="en-US" sz="3200" i="1" dirty="0"/>
              </a:p>
              <a:p>
                <a:pPr>
                  <a:buClr>
                    <a:schemeClr val="tx1"/>
                  </a:buClr>
                </a:pPr>
                <a:r>
                  <a:rPr lang="en-US" sz="3200" dirty="0">
                    <a:solidFill>
                      <a:srgbClr val="00B050"/>
                    </a:solidFill>
                  </a:rPr>
                  <a:t>Output</a:t>
                </a:r>
                <a:r>
                  <a:rPr lang="en-US" sz="3200" dirty="0"/>
                  <a:t>: Evaluation (or approximation) of a given function</a:t>
                </a:r>
              </a:p>
              <a:p>
                <a:pPr>
                  <a:buClr>
                    <a:schemeClr val="tx1"/>
                  </a:buClr>
                </a:pPr>
                <a:r>
                  <a:rPr lang="en-US" sz="3200" dirty="0">
                    <a:solidFill>
                      <a:srgbClr val="00B050"/>
                    </a:solidFill>
                  </a:rPr>
                  <a:t>Goal</a:t>
                </a:r>
                <a:r>
                  <a:rPr lang="en-US" sz="3200" dirty="0"/>
                  <a:t>: Use space </a:t>
                </a:r>
                <a:r>
                  <a:rPr lang="en-US" sz="3200" i="1" dirty="0">
                    <a:solidFill>
                      <a:srgbClr val="7030A0"/>
                    </a:solidFill>
                  </a:rPr>
                  <a:t>sublinear</a:t>
                </a:r>
                <a:r>
                  <a:rPr lang="en-US" sz="3200" i="1" dirty="0"/>
                  <a:t> </a:t>
                </a:r>
                <a:r>
                  <a:rPr lang="en-US" sz="3200" dirty="0"/>
                  <a:t>in the size </a:t>
                </a:r>
                <a14:m>
                  <m:oMath xmlns:m="http://schemas.openxmlformats.org/officeDocument/2006/math">
                    <m:r>
                      <a:rPr lang="en-US" sz="3200" b="0" i="1" smtClean="0">
                        <a:solidFill>
                          <a:srgbClr val="C00000"/>
                        </a:solidFill>
                        <a:latin typeface="Cambria Math" panose="02040503050406030204" pitchFamily="18" charset="0"/>
                      </a:rPr>
                      <m:t>𝑚</m:t>
                    </m:r>
                  </m:oMath>
                </a14:m>
                <a:r>
                  <a:rPr lang="en-US" sz="3200" dirty="0">
                    <a:solidFill>
                      <a:srgbClr val="C00000"/>
                    </a:solidFill>
                  </a:rPr>
                  <a:t> </a:t>
                </a:r>
                <a:r>
                  <a:rPr lang="en-US" sz="3200" dirty="0"/>
                  <a:t>of the input </a:t>
                </a:r>
                <a14:m>
                  <m:oMath xmlns:m="http://schemas.openxmlformats.org/officeDocument/2006/math">
                    <m:r>
                      <a:rPr lang="en-US" sz="3200" b="0" i="1" smtClean="0">
                        <a:solidFill>
                          <a:srgbClr val="C00000"/>
                        </a:solidFill>
                        <a:latin typeface="Cambria Math" panose="02040503050406030204" pitchFamily="18" charset="0"/>
                      </a:rPr>
                      <m:t>𝑆</m:t>
                    </m:r>
                  </m:oMath>
                </a14:m>
                <a:endParaRPr lang="en-US" sz="3200" dirty="0">
                  <a:solidFill>
                    <a:srgbClr val="C00000"/>
                  </a:solidFill>
                </a:endParaRPr>
              </a:p>
              <a:p>
                <a:pPr>
                  <a:buClr>
                    <a:schemeClr val="tx1"/>
                  </a:buClr>
                </a:pPr>
                <a:endParaRPr lang="en-US" sz="3200" dirty="0">
                  <a:solidFill>
                    <a:srgbClr val="C00000"/>
                  </a:solidFill>
                </a:endParaRPr>
              </a:p>
              <a:p>
                <a:pPr>
                  <a:buClr>
                    <a:schemeClr val="tx1"/>
                  </a:buClr>
                </a:pPr>
                <a:r>
                  <a:rPr lang="en-US" sz="3200" dirty="0">
                    <a:solidFill>
                      <a:srgbClr val="00B050"/>
                    </a:solidFill>
                  </a:rPr>
                  <a:t>Adversarial robustness</a:t>
                </a:r>
                <a:r>
                  <a:rPr lang="en-US" sz="3200" dirty="0"/>
                  <a:t>: “Future queries may depend on previous queries”</a:t>
                </a:r>
              </a:p>
              <a:p>
                <a:pPr>
                  <a:buClr>
                    <a:schemeClr val="tx1"/>
                  </a:buClr>
                </a:pPr>
                <a:r>
                  <a:rPr lang="en-US" sz="3200" dirty="0">
                    <a:solidFill>
                      <a:srgbClr val="00B050"/>
                    </a:solidFill>
                  </a:rPr>
                  <a:t>Motivation</a:t>
                </a:r>
                <a:r>
                  <a:rPr lang="en-US" sz="3200" dirty="0"/>
                  <a:t>: Database queries, adversarial ML</a:t>
                </a:r>
              </a:p>
              <a:p>
                <a:pPr>
                  <a:buClr>
                    <a:schemeClr val="tx1"/>
                  </a:buClr>
                </a:pPr>
                <a:endParaRPr lang="en-US" sz="3200" dirty="0"/>
              </a:p>
            </p:txBody>
          </p:sp>
        </mc:Choice>
        <mc:Fallback xmlns="">
          <p:sp>
            <p:nvSpPr>
              <p:cNvPr id="3" name="Content Placeholder 2">
                <a:extLst>
                  <a:ext uri="{FF2B5EF4-FFF2-40B4-BE49-F238E27FC236}">
                    <a16:creationId xmlns:a16="http://schemas.microsoft.com/office/drawing/2014/main" id="{5A89533C-F249-9891-03DA-7BE3E3CD39B7}"/>
                  </a:ext>
                </a:extLst>
              </p:cNvPr>
              <p:cNvSpPr>
                <a:spLocks noGrp="1" noRot="1" noChangeAspect="1" noMove="1" noResize="1" noEditPoints="1" noAdjustHandles="1" noChangeArrowheads="1" noChangeShapeType="1" noTextEdit="1"/>
              </p:cNvSpPr>
              <p:nvPr>
                <p:ph idx="1"/>
              </p:nvPr>
            </p:nvSpPr>
            <p:spPr>
              <a:blipFill>
                <a:blip r:embed="rId3"/>
                <a:stretch>
                  <a:fillRect l="-1333" t="-2801" b="-2101"/>
                </a:stretch>
              </a:blipFill>
            </p:spPr>
            <p:txBody>
              <a:bodyPr/>
              <a:lstStyle/>
              <a:p>
                <a:r>
                  <a:rPr lang="en-US">
                    <a:noFill/>
                  </a:rPr>
                  <a:t> </a:t>
                </a:r>
              </a:p>
            </p:txBody>
          </p:sp>
        </mc:Fallback>
      </mc:AlternateContent>
    </p:spTree>
    <p:extLst>
      <p:ext uri="{BB962C8B-B14F-4D97-AF65-F5344CB8AC3E}">
        <p14:creationId xmlns:p14="http://schemas.microsoft.com/office/powerpoint/2010/main" val="3821986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8C069-201A-B5A1-7F38-6A2ED3630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CF10C-8443-CDA3-D334-CDEE8A8DF590}"/>
              </a:ext>
            </a:extLst>
          </p:cNvPr>
          <p:cNvSpPr>
            <a:spLocks noGrp="1"/>
          </p:cNvSpPr>
          <p:nvPr>
            <p:ph type="title"/>
          </p:nvPr>
        </p:nvSpPr>
        <p:spPr/>
        <p:txBody>
          <a:bodyPr/>
          <a:lstStyle/>
          <a:p>
            <a:r>
              <a:rPr lang="en-US" dirty="0" err="1">
                <a:solidFill>
                  <a:srgbClr val="C00000"/>
                </a:solidFill>
              </a:rPr>
              <a:t>Adversarially</a:t>
            </a:r>
            <a:r>
              <a:rPr lang="en-US" dirty="0">
                <a:solidFill>
                  <a:srgbClr val="C00000"/>
                </a:solidFill>
              </a:rPr>
              <a:t> Robust Streaming</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A08FB-8AF4-B14B-6DF9-123285B40EB1}"/>
                  </a:ext>
                </a:extLst>
              </p:cNvPr>
              <p:cNvSpPr>
                <a:spLocks noGrp="1"/>
              </p:cNvSpPr>
              <p:nvPr>
                <p:ph idx="1"/>
              </p:nvPr>
            </p:nvSpPr>
            <p:spPr/>
            <p:txBody>
              <a:bodyPr>
                <a:normAutofit/>
              </a:bodyPr>
              <a:lstStyle/>
              <a:p>
                <a:pPr>
                  <a:buClr>
                    <a:schemeClr val="tx1"/>
                  </a:buClr>
                </a:pPr>
                <a:r>
                  <a:rPr lang="en-US" sz="3200" dirty="0">
                    <a:solidFill>
                      <a:srgbClr val="00B050"/>
                    </a:solidFill>
                  </a:rPr>
                  <a:t>Input</a:t>
                </a:r>
                <a:r>
                  <a:rPr lang="en-US" sz="3200" dirty="0"/>
                  <a:t>: Updates to an underlying vector </a:t>
                </a:r>
                <a14:m>
                  <m:oMath xmlns:m="http://schemas.openxmlformats.org/officeDocument/2006/math">
                    <m:r>
                      <a:rPr lang="en-US" sz="3200" b="0" i="1" smtClean="0">
                        <a:solidFill>
                          <a:srgbClr val="C00000"/>
                        </a:solidFill>
                        <a:latin typeface="Cambria Math" panose="02040503050406030204" pitchFamily="18" charset="0"/>
                      </a:rPr>
                      <m:t>𝑥</m:t>
                    </m:r>
                  </m:oMath>
                </a14:m>
                <a:r>
                  <a:rPr lang="en-US" sz="3200" dirty="0"/>
                  <a:t>, which arrive sequentially and </a:t>
                </a:r>
                <a:r>
                  <a:rPr lang="en-US" sz="3200" i="1" dirty="0" err="1">
                    <a:solidFill>
                      <a:srgbClr val="C00000"/>
                    </a:solidFill>
                  </a:rPr>
                  <a:t>adversarially</a:t>
                </a:r>
                <a:endParaRPr lang="en-US" sz="3200" i="1" dirty="0"/>
              </a:p>
              <a:p>
                <a:pPr>
                  <a:buClr>
                    <a:schemeClr val="tx1"/>
                  </a:buClr>
                </a:pPr>
                <a:r>
                  <a:rPr lang="en-US" sz="3200" dirty="0">
                    <a:solidFill>
                      <a:srgbClr val="00B050"/>
                    </a:solidFill>
                  </a:rPr>
                  <a:t>Output</a:t>
                </a:r>
                <a:r>
                  <a:rPr lang="en-US" sz="3200" dirty="0"/>
                  <a:t>: Evaluation (or approximation) of a given function</a:t>
                </a:r>
              </a:p>
              <a:p>
                <a:pPr>
                  <a:buClr>
                    <a:schemeClr val="tx1"/>
                  </a:buClr>
                </a:pPr>
                <a:r>
                  <a:rPr lang="en-US" sz="3200" dirty="0">
                    <a:solidFill>
                      <a:srgbClr val="00B050"/>
                    </a:solidFill>
                  </a:rPr>
                  <a:t>Goal</a:t>
                </a:r>
                <a:r>
                  <a:rPr lang="en-US" sz="3200" dirty="0"/>
                  <a:t>: Use space </a:t>
                </a:r>
                <a:r>
                  <a:rPr lang="en-US" sz="3200" i="1" dirty="0">
                    <a:solidFill>
                      <a:srgbClr val="7030A0"/>
                    </a:solidFill>
                  </a:rPr>
                  <a:t>sublinear</a:t>
                </a:r>
                <a:r>
                  <a:rPr lang="en-US" sz="3200" i="1" dirty="0"/>
                  <a:t> </a:t>
                </a:r>
                <a:r>
                  <a:rPr lang="en-US" sz="3200" dirty="0"/>
                  <a:t>in the size </a:t>
                </a:r>
                <a14:m>
                  <m:oMath xmlns:m="http://schemas.openxmlformats.org/officeDocument/2006/math">
                    <m:r>
                      <a:rPr lang="en-US" sz="3200" b="0" i="1" smtClean="0">
                        <a:solidFill>
                          <a:srgbClr val="C00000"/>
                        </a:solidFill>
                        <a:latin typeface="Cambria Math" panose="02040503050406030204" pitchFamily="18" charset="0"/>
                      </a:rPr>
                      <m:t>𝑚</m:t>
                    </m:r>
                  </m:oMath>
                </a14:m>
                <a:r>
                  <a:rPr lang="en-US" sz="3200" dirty="0">
                    <a:solidFill>
                      <a:srgbClr val="C00000"/>
                    </a:solidFill>
                  </a:rPr>
                  <a:t> </a:t>
                </a:r>
                <a:r>
                  <a:rPr lang="en-US" sz="3200" dirty="0"/>
                  <a:t>of the input </a:t>
                </a:r>
                <a14:m>
                  <m:oMath xmlns:m="http://schemas.openxmlformats.org/officeDocument/2006/math">
                    <m:r>
                      <a:rPr lang="en-US" sz="3200" b="0" i="1" smtClean="0">
                        <a:solidFill>
                          <a:srgbClr val="C00000"/>
                        </a:solidFill>
                        <a:latin typeface="Cambria Math" panose="02040503050406030204" pitchFamily="18" charset="0"/>
                      </a:rPr>
                      <m:t>𝑆</m:t>
                    </m:r>
                  </m:oMath>
                </a14:m>
                <a:endParaRPr lang="en-US" sz="3200" dirty="0">
                  <a:solidFill>
                    <a:srgbClr val="C00000"/>
                  </a:solidFill>
                </a:endParaRPr>
              </a:p>
            </p:txBody>
          </p:sp>
        </mc:Choice>
        <mc:Fallback xmlns="">
          <p:sp>
            <p:nvSpPr>
              <p:cNvPr id="3" name="Content Placeholder 2">
                <a:extLst>
                  <a:ext uri="{FF2B5EF4-FFF2-40B4-BE49-F238E27FC236}">
                    <a16:creationId xmlns:a16="http://schemas.microsoft.com/office/drawing/2014/main" id="{15255D49-9D60-44DD-910D-2EBD0529DEC9}"/>
                  </a:ext>
                </a:extLst>
              </p:cNvPr>
              <p:cNvSpPr>
                <a:spLocks noGrp="1" noRot="1" noChangeAspect="1" noMove="1" noResize="1" noEditPoints="1" noAdjustHandles="1" noChangeArrowheads="1" noChangeShapeType="1" noTextEdit="1"/>
              </p:cNvSpPr>
              <p:nvPr>
                <p:ph idx="1"/>
              </p:nvPr>
            </p:nvSpPr>
            <p:spPr>
              <a:blipFill>
                <a:blip r:embed="rId3"/>
                <a:stretch>
                  <a:fillRect l="-1333" t="-2801"/>
                </a:stretch>
              </a:blipFill>
            </p:spPr>
            <p:txBody>
              <a:bodyPr/>
              <a:lstStyle/>
              <a:p>
                <a:r>
                  <a:rPr lang="en-US">
                    <a:noFill/>
                  </a:rPr>
                  <a:t> </a:t>
                </a:r>
              </a:p>
            </p:txBody>
          </p:sp>
        </mc:Fallback>
      </mc:AlternateContent>
      <p:pic>
        <p:nvPicPr>
          <p:cNvPr id="1026" name="Picture 2" descr="Image result for hacker clipart">
            <a:extLst>
              <a:ext uri="{FF2B5EF4-FFF2-40B4-BE49-F238E27FC236}">
                <a16:creationId xmlns:a16="http://schemas.microsoft.com/office/drawing/2014/main" id="{C93DFF4B-DB56-8D6A-D49E-CE82757CFE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081" y="4158264"/>
            <a:ext cx="1743075" cy="17907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icture containing clipart&#10;&#10;Description automatically generated">
            <a:extLst>
              <a:ext uri="{FF2B5EF4-FFF2-40B4-BE49-F238E27FC236}">
                <a16:creationId xmlns:a16="http://schemas.microsoft.com/office/drawing/2014/main" id="{B8355AFC-196B-7F4B-95A7-39C5AB537D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0078" y="4001294"/>
            <a:ext cx="1620520" cy="2025650"/>
          </a:xfrm>
          <a:prstGeom prst="rect">
            <a:avLst/>
          </a:prstGeom>
        </p:spPr>
      </p:pic>
      <p:sp>
        <p:nvSpPr>
          <p:cNvPr id="12" name="TextBox 11">
            <a:extLst>
              <a:ext uri="{FF2B5EF4-FFF2-40B4-BE49-F238E27FC236}">
                <a16:creationId xmlns:a16="http://schemas.microsoft.com/office/drawing/2014/main" id="{E6F31DD6-34A0-BA43-A54A-9A057F15A51E}"/>
              </a:ext>
            </a:extLst>
          </p:cNvPr>
          <p:cNvSpPr txBox="1"/>
          <p:nvPr/>
        </p:nvSpPr>
        <p:spPr>
          <a:xfrm>
            <a:off x="8350326" y="4699671"/>
            <a:ext cx="184731"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805BFE22-E8F0-63FD-1DEB-5CACDDA11250}"/>
              </a:ext>
            </a:extLst>
          </p:cNvPr>
          <p:cNvSpPr txBox="1"/>
          <p:nvPr/>
        </p:nvSpPr>
        <p:spPr>
          <a:xfrm>
            <a:off x="1230581" y="6101570"/>
            <a:ext cx="6095010" cy="400110"/>
          </a:xfrm>
          <a:prstGeom prst="rect">
            <a:avLst/>
          </a:prstGeom>
          <a:noFill/>
        </p:spPr>
        <p:txBody>
          <a:bodyPr wrap="square">
            <a:spAutoFit/>
          </a:bodyPr>
          <a:lstStyle/>
          <a:p>
            <a:r>
              <a:rPr lang="en-US" sz="2000" dirty="0">
                <a:solidFill>
                  <a:srgbClr val="C00000"/>
                </a:solidFill>
              </a:rPr>
              <a:t>Attacker</a:t>
            </a:r>
          </a:p>
        </p:txBody>
      </p:sp>
      <p:sp>
        <p:nvSpPr>
          <p:cNvPr id="5" name="TextBox 4">
            <a:extLst>
              <a:ext uri="{FF2B5EF4-FFF2-40B4-BE49-F238E27FC236}">
                <a16:creationId xmlns:a16="http://schemas.microsoft.com/office/drawing/2014/main" id="{A376FF7E-F87A-6E27-FA5C-CFE5FA39254C}"/>
              </a:ext>
            </a:extLst>
          </p:cNvPr>
          <p:cNvSpPr txBox="1"/>
          <p:nvPr/>
        </p:nvSpPr>
        <p:spPr>
          <a:xfrm>
            <a:off x="9390078" y="6118310"/>
            <a:ext cx="1620520" cy="400110"/>
          </a:xfrm>
          <a:prstGeom prst="rect">
            <a:avLst/>
          </a:prstGeom>
          <a:noFill/>
        </p:spPr>
        <p:txBody>
          <a:bodyPr wrap="square">
            <a:spAutoFit/>
          </a:bodyPr>
          <a:lstStyle/>
          <a:p>
            <a:r>
              <a:rPr lang="en-US" sz="2000" dirty="0">
                <a:solidFill>
                  <a:srgbClr val="C00000"/>
                </a:solidFill>
              </a:rPr>
              <a:t>   Algorithm</a:t>
            </a:r>
          </a:p>
        </p:txBody>
      </p:sp>
      <p:sp>
        <p:nvSpPr>
          <p:cNvPr id="6" name="TextBox 5">
            <a:extLst>
              <a:ext uri="{FF2B5EF4-FFF2-40B4-BE49-F238E27FC236}">
                <a16:creationId xmlns:a16="http://schemas.microsoft.com/office/drawing/2014/main" id="{C7C4BDE4-847A-D5AD-D3A3-3218ADCED76B}"/>
              </a:ext>
            </a:extLst>
          </p:cNvPr>
          <p:cNvSpPr txBox="1"/>
          <p:nvPr/>
        </p:nvSpPr>
        <p:spPr>
          <a:xfrm>
            <a:off x="3045700" y="4148739"/>
            <a:ext cx="184731"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8881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iterate type="lt">
                                    <p:tmAbs val="1000"/>
                                  </p:iterate>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4B7A-8516-47FC-9176-8158CF0B5C45}"/>
              </a:ext>
            </a:extLst>
          </p:cNvPr>
          <p:cNvSpPr>
            <a:spLocks noGrp="1"/>
          </p:cNvSpPr>
          <p:nvPr>
            <p:ph type="title"/>
          </p:nvPr>
        </p:nvSpPr>
        <p:spPr/>
        <p:txBody>
          <a:bodyPr/>
          <a:lstStyle/>
          <a:p>
            <a:r>
              <a:rPr lang="en-US" dirty="0" err="1">
                <a:solidFill>
                  <a:srgbClr val="C00000"/>
                </a:solidFill>
              </a:rPr>
              <a:t>Adversarially</a:t>
            </a:r>
            <a:r>
              <a:rPr lang="en-US" dirty="0">
                <a:solidFill>
                  <a:srgbClr val="C00000"/>
                </a:solidFill>
              </a:rPr>
              <a:t> Robust Streaming</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255D49-9D60-44DD-910D-2EBD0529DEC9}"/>
                  </a:ext>
                </a:extLst>
              </p:cNvPr>
              <p:cNvSpPr>
                <a:spLocks noGrp="1"/>
              </p:cNvSpPr>
              <p:nvPr>
                <p:ph idx="1"/>
              </p:nvPr>
            </p:nvSpPr>
            <p:spPr/>
            <p:txBody>
              <a:bodyPr>
                <a:normAutofit/>
              </a:bodyPr>
              <a:lstStyle/>
              <a:p>
                <a:pPr>
                  <a:buClr>
                    <a:schemeClr val="tx1"/>
                  </a:buClr>
                </a:pPr>
                <a:r>
                  <a:rPr lang="en-US" sz="3200" dirty="0">
                    <a:solidFill>
                      <a:srgbClr val="00B050"/>
                    </a:solidFill>
                  </a:rPr>
                  <a:t>Input</a:t>
                </a:r>
                <a:r>
                  <a:rPr lang="en-US" sz="3200" dirty="0"/>
                  <a:t>: Updates to an underlying vector </a:t>
                </a:r>
                <a14:m>
                  <m:oMath xmlns:m="http://schemas.openxmlformats.org/officeDocument/2006/math">
                    <m:r>
                      <a:rPr lang="en-US" sz="3200" b="0" i="1" smtClean="0">
                        <a:solidFill>
                          <a:srgbClr val="C00000"/>
                        </a:solidFill>
                        <a:latin typeface="Cambria Math" panose="02040503050406030204" pitchFamily="18" charset="0"/>
                      </a:rPr>
                      <m:t>𝑥</m:t>
                    </m:r>
                  </m:oMath>
                </a14:m>
                <a:r>
                  <a:rPr lang="en-US" sz="3200" dirty="0"/>
                  <a:t>, which arrive sequentially and </a:t>
                </a:r>
                <a:r>
                  <a:rPr lang="en-US" sz="3200" i="1" dirty="0" err="1">
                    <a:solidFill>
                      <a:srgbClr val="C00000"/>
                    </a:solidFill>
                  </a:rPr>
                  <a:t>adversarially</a:t>
                </a:r>
                <a:endParaRPr lang="en-US" sz="3200" i="1" dirty="0"/>
              </a:p>
              <a:p>
                <a:pPr>
                  <a:buClr>
                    <a:schemeClr val="tx1"/>
                  </a:buClr>
                </a:pPr>
                <a:r>
                  <a:rPr lang="en-US" sz="3200" dirty="0">
                    <a:solidFill>
                      <a:srgbClr val="00B050"/>
                    </a:solidFill>
                  </a:rPr>
                  <a:t>Output</a:t>
                </a:r>
                <a:r>
                  <a:rPr lang="en-US" sz="3200" dirty="0"/>
                  <a:t>: Evaluation (or approximation) of a given function</a:t>
                </a:r>
              </a:p>
              <a:p>
                <a:pPr>
                  <a:buClr>
                    <a:schemeClr val="tx1"/>
                  </a:buClr>
                </a:pPr>
                <a:r>
                  <a:rPr lang="en-US" sz="3200" dirty="0">
                    <a:solidFill>
                      <a:srgbClr val="00B050"/>
                    </a:solidFill>
                  </a:rPr>
                  <a:t>Goal</a:t>
                </a:r>
                <a:r>
                  <a:rPr lang="en-US" sz="3200" dirty="0"/>
                  <a:t>: Use space </a:t>
                </a:r>
                <a:r>
                  <a:rPr lang="en-US" sz="3200" i="1" dirty="0">
                    <a:solidFill>
                      <a:srgbClr val="7030A0"/>
                    </a:solidFill>
                  </a:rPr>
                  <a:t>sublinear</a:t>
                </a:r>
                <a:r>
                  <a:rPr lang="en-US" sz="3200" i="1" dirty="0"/>
                  <a:t> </a:t>
                </a:r>
                <a:r>
                  <a:rPr lang="en-US" sz="3200" dirty="0"/>
                  <a:t>in the size </a:t>
                </a:r>
                <a14:m>
                  <m:oMath xmlns:m="http://schemas.openxmlformats.org/officeDocument/2006/math">
                    <m:r>
                      <a:rPr lang="en-US" sz="3200" b="0" i="1" smtClean="0">
                        <a:solidFill>
                          <a:srgbClr val="C00000"/>
                        </a:solidFill>
                        <a:latin typeface="Cambria Math" panose="02040503050406030204" pitchFamily="18" charset="0"/>
                      </a:rPr>
                      <m:t>𝑚</m:t>
                    </m:r>
                  </m:oMath>
                </a14:m>
                <a:r>
                  <a:rPr lang="en-US" sz="3200" dirty="0">
                    <a:solidFill>
                      <a:srgbClr val="C00000"/>
                    </a:solidFill>
                  </a:rPr>
                  <a:t> </a:t>
                </a:r>
                <a:r>
                  <a:rPr lang="en-US" sz="3200" dirty="0"/>
                  <a:t>of the input </a:t>
                </a:r>
                <a14:m>
                  <m:oMath xmlns:m="http://schemas.openxmlformats.org/officeDocument/2006/math">
                    <m:r>
                      <a:rPr lang="en-US" sz="3200" b="0" i="1" smtClean="0">
                        <a:solidFill>
                          <a:srgbClr val="C00000"/>
                        </a:solidFill>
                        <a:latin typeface="Cambria Math" panose="02040503050406030204" pitchFamily="18" charset="0"/>
                      </a:rPr>
                      <m:t>𝑆</m:t>
                    </m:r>
                  </m:oMath>
                </a14:m>
                <a:endParaRPr lang="en-US" sz="3200" dirty="0">
                  <a:solidFill>
                    <a:srgbClr val="C00000"/>
                  </a:solidFill>
                </a:endParaRPr>
              </a:p>
            </p:txBody>
          </p:sp>
        </mc:Choice>
        <mc:Fallback xmlns="">
          <p:sp>
            <p:nvSpPr>
              <p:cNvPr id="3" name="Content Placeholder 2">
                <a:extLst>
                  <a:ext uri="{FF2B5EF4-FFF2-40B4-BE49-F238E27FC236}">
                    <a16:creationId xmlns:a16="http://schemas.microsoft.com/office/drawing/2014/main" id="{15255D49-9D60-44DD-910D-2EBD0529DEC9}"/>
                  </a:ext>
                </a:extLst>
              </p:cNvPr>
              <p:cNvSpPr>
                <a:spLocks noGrp="1" noRot="1" noChangeAspect="1" noMove="1" noResize="1" noEditPoints="1" noAdjustHandles="1" noChangeArrowheads="1" noChangeShapeType="1" noTextEdit="1"/>
              </p:cNvSpPr>
              <p:nvPr>
                <p:ph idx="1"/>
              </p:nvPr>
            </p:nvSpPr>
            <p:spPr>
              <a:blipFill>
                <a:blip r:embed="rId3"/>
                <a:stretch>
                  <a:fillRect l="-1333" t="-2801"/>
                </a:stretch>
              </a:blipFill>
            </p:spPr>
            <p:txBody>
              <a:bodyPr/>
              <a:lstStyle/>
              <a:p>
                <a:r>
                  <a:rPr lang="en-US">
                    <a:noFill/>
                  </a:rPr>
                  <a:t> </a:t>
                </a:r>
              </a:p>
            </p:txBody>
          </p:sp>
        </mc:Fallback>
      </mc:AlternateContent>
      <p:pic>
        <p:nvPicPr>
          <p:cNvPr id="1026" name="Picture 2" descr="Image result for hacker clipart">
            <a:extLst>
              <a:ext uri="{FF2B5EF4-FFF2-40B4-BE49-F238E27FC236}">
                <a16:creationId xmlns:a16="http://schemas.microsoft.com/office/drawing/2014/main" id="{6157BAA3-7F96-4ED9-BBF4-8361607E3A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081" y="4158264"/>
            <a:ext cx="1743075" cy="17907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icture containing clipart&#10;&#10;Description automatically generated">
            <a:extLst>
              <a:ext uri="{FF2B5EF4-FFF2-40B4-BE49-F238E27FC236}">
                <a16:creationId xmlns:a16="http://schemas.microsoft.com/office/drawing/2014/main" id="{8DC6FE31-B607-4356-85E4-A2BE83D9C9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0078" y="4001294"/>
            <a:ext cx="1620520" cy="2025650"/>
          </a:xfrm>
          <a:prstGeom prst="rect">
            <a:avLst/>
          </a:prstGeom>
        </p:spPr>
      </p:pic>
      <p:sp>
        <p:nvSpPr>
          <p:cNvPr id="12" name="TextBox 11">
            <a:extLst>
              <a:ext uri="{FF2B5EF4-FFF2-40B4-BE49-F238E27FC236}">
                <a16:creationId xmlns:a16="http://schemas.microsoft.com/office/drawing/2014/main" id="{353B686B-0020-4DE7-BA6E-01AEFC87D6C2}"/>
              </a:ext>
            </a:extLst>
          </p:cNvPr>
          <p:cNvSpPr txBox="1"/>
          <p:nvPr/>
        </p:nvSpPr>
        <p:spPr>
          <a:xfrm>
            <a:off x="8350326" y="4699671"/>
            <a:ext cx="444352"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B050"/>
                </a:solidFill>
                <a:effectLst/>
                <a:uLnTx/>
                <a:uFillTx/>
                <a:latin typeface="Calibri" panose="020F0502020204030204"/>
                <a:ea typeface="+mn-ea"/>
                <a:cs typeface="+mn-cs"/>
              </a:rPr>
              <a:t>1</a:t>
            </a:r>
          </a:p>
        </p:txBody>
      </p:sp>
      <p:sp>
        <p:nvSpPr>
          <p:cNvPr id="4" name="TextBox 3">
            <a:extLst>
              <a:ext uri="{FF2B5EF4-FFF2-40B4-BE49-F238E27FC236}">
                <a16:creationId xmlns:a16="http://schemas.microsoft.com/office/drawing/2014/main" id="{58C131A2-31AE-9F1C-C609-179F2DF4B0B0}"/>
              </a:ext>
            </a:extLst>
          </p:cNvPr>
          <p:cNvSpPr txBox="1"/>
          <p:nvPr/>
        </p:nvSpPr>
        <p:spPr>
          <a:xfrm>
            <a:off x="1230581" y="6101570"/>
            <a:ext cx="6095010" cy="400110"/>
          </a:xfrm>
          <a:prstGeom prst="rect">
            <a:avLst/>
          </a:prstGeom>
          <a:noFill/>
        </p:spPr>
        <p:txBody>
          <a:bodyPr wrap="square">
            <a:spAutoFit/>
          </a:bodyPr>
          <a:lstStyle/>
          <a:p>
            <a:r>
              <a:rPr lang="en-US" sz="2000" dirty="0">
                <a:solidFill>
                  <a:srgbClr val="C00000"/>
                </a:solidFill>
              </a:rPr>
              <a:t>Attacker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324A105-6D7C-A36E-FCFA-0F165901C845}"/>
                  </a:ext>
                </a:extLst>
              </p:cNvPr>
              <p:cNvSpPr txBox="1"/>
              <p:nvPr/>
            </p:nvSpPr>
            <p:spPr>
              <a:xfrm>
                <a:off x="3045700" y="4148739"/>
                <a:ext cx="2224327" cy="9541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8324A105-6D7C-A36E-FCFA-0F165901C845}"/>
                  </a:ext>
                </a:extLst>
              </p:cNvPr>
              <p:cNvSpPr txBox="1">
                <a:spLocks noRot="1" noChangeAspect="1" noMove="1" noResize="1" noEditPoints="1" noAdjustHandles="1" noChangeArrowheads="1" noChangeShapeType="1" noTextEdit="1"/>
              </p:cNvSpPr>
              <p:nvPr/>
            </p:nvSpPr>
            <p:spPr>
              <a:xfrm>
                <a:off x="3045700" y="4148739"/>
                <a:ext cx="2224327" cy="954107"/>
              </a:xfrm>
              <a:prstGeom prst="rect">
                <a:avLst/>
              </a:prstGeom>
              <a:blipFill>
                <a:blip r:embed="rId6"/>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47FAE90-EC2F-6A0D-CB92-C3413DD857EA}"/>
              </a:ext>
            </a:extLst>
          </p:cNvPr>
          <p:cNvSpPr txBox="1"/>
          <p:nvPr/>
        </p:nvSpPr>
        <p:spPr>
          <a:xfrm>
            <a:off x="9390078" y="6118310"/>
            <a:ext cx="1620520" cy="400110"/>
          </a:xfrm>
          <a:prstGeom prst="rect">
            <a:avLst/>
          </a:prstGeom>
          <a:noFill/>
        </p:spPr>
        <p:txBody>
          <a:bodyPr wrap="square">
            <a:spAutoFit/>
          </a:bodyPr>
          <a:lstStyle/>
          <a:p>
            <a:r>
              <a:rPr lang="en-US" sz="2000" dirty="0">
                <a:solidFill>
                  <a:srgbClr val="C00000"/>
                </a:solidFill>
              </a:rPr>
              <a:t>   Algorithm</a:t>
            </a:r>
          </a:p>
        </p:txBody>
      </p:sp>
    </p:spTree>
    <p:extLst>
      <p:ext uri="{BB962C8B-B14F-4D97-AF65-F5344CB8AC3E}">
        <p14:creationId xmlns:p14="http://schemas.microsoft.com/office/powerpoint/2010/main" val="159100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1000"/>
                                  </p:iterate>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4B7A-8516-47FC-9176-8158CF0B5C45}"/>
              </a:ext>
            </a:extLst>
          </p:cNvPr>
          <p:cNvSpPr>
            <a:spLocks noGrp="1"/>
          </p:cNvSpPr>
          <p:nvPr>
            <p:ph type="title"/>
          </p:nvPr>
        </p:nvSpPr>
        <p:spPr/>
        <p:txBody>
          <a:bodyPr/>
          <a:lstStyle/>
          <a:p>
            <a:r>
              <a:rPr lang="en-US" dirty="0" err="1">
                <a:solidFill>
                  <a:srgbClr val="C00000"/>
                </a:solidFill>
              </a:rPr>
              <a:t>Adversarially</a:t>
            </a:r>
            <a:r>
              <a:rPr lang="en-US" dirty="0">
                <a:solidFill>
                  <a:srgbClr val="C00000"/>
                </a:solidFill>
              </a:rPr>
              <a:t> Robust Streaming</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255D49-9D60-44DD-910D-2EBD0529DEC9}"/>
                  </a:ext>
                </a:extLst>
              </p:cNvPr>
              <p:cNvSpPr>
                <a:spLocks noGrp="1"/>
              </p:cNvSpPr>
              <p:nvPr>
                <p:ph idx="1"/>
              </p:nvPr>
            </p:nvSpPr>
            <p:spPr/>
            <p:txBody>
              <a:bodyPr>
                <a:normAutofit/>
              </a:bodyPr>
              <a:lstStyle/>
              <a:p>
                <a:pPr>
                  <a:buClr>
                    <a:schemeClr val="tx1"/>
                  </a:buClr>
                </a:pPr>
                <a:r>
                  <a:rPr lang="en-US" sz="3200" dirty="0">
                    <a:solidFill>
                      <a:srgbClr val="00B050"/>
                    </a:solidFill>
                  </a:rPr>
                  <a:t>Input</a:t>
                </a:r>
                <a:r>
                  <a:rPr lang="en-US" sz="3200" dirty="0"/>
                  <a:t>: Updates to an underlying vector </a:t>
                </a:r>
                <a14:m>
                  <m:oMath xmlns:m="http://schemas.openxmlformats.org/officeDocument/2006/math">
                    <m:r>
                      <a:rPr lang="en-US" sz="3200" b="0" i="1" smtClean="0">
                        <a:solidFill>
                          <a:srgbClr val="C00000"/>
                        </a:solidFill>
                        <a:latin typeface="Cambria Math" panose="02040503050406030204" pitchFamily="18" charset="0"/>
                      </a:rPr>
                      <m:t>𝑥</m:t>
                    </m:r>
                  </m:oMath>
                </a14:m>
                <a:r>
                  <a:rPr lang="en-US" sz="3200" dirty="0"/>
                  <a:t>, which arrive sequentially and </a:t>
                </a:r>
                <a:r>
                  <a:rPr lang="en-US" sz="3200" i="1" dirty="0" err="1">
                    <a:solidFill>
                      <a:srgbClr val="C00000"/>
                    </a:solidFill>
                  </a:rPr>
                  <a:t>adversarially</a:t>
                </a:r>
                <a:endParaRPr lang="en-US" sz="3200" i="1" dirty="0"/>
              </a:p>
              <a:p>
                <a:pPr>
                  <a:buClr>
                    <a:schemeClr val="tx1"/>
                  </a:buClr>
                </a:pPr>
                <a:r>
                  <a:rPr lang="en-US" sz="3200" dirty="0">
                    <a:solidFill>
                      <a:srgbClr val="00B050"/>
                    </a:solidFill>
                  </a:rPr>
                  <a:t>Output</a:t>
                </a:r>
                <a:r>
                  <a:rPr lang="en-US" sz="3200" dirty="0"/>
                  <a:t>: Evaluation (or approximation) of a given function</a:t>
                </a:r>
              </a:p>
              <a:p>
                <a:pPr>
                  <a:buClr>
                    <a:schemeClr val="tx1"/>
                  </a:buClr>
                </a:pPr>
                <a:r>
                  <a:rPr lang="en-US" sz="3200" dirty="0">
                    <a:solidFill>
                      <a:srgbClr val="00B050"/>
                    </a:solidFill>
                  </a:rPr>
                  <a:t>Goal</a:t>
                </a:r>
                <a:r>
                  <a:rPr lang="en-US" sz="3200" dirty="0"/>
                  <a:t>: Use space </a:t>
                </a:r>
                <a:r>
                  <a:rPr lang="en-US" sz="3200" i="1" dirty="0">
                    <a:solidFill>
                      <a:srgbClr val="7030A0"/>
                    </a:solidFill>
                  </a:rPr>
                  <a:t>sublinear</a:t>
                </a:r>
                <a:r>
                  <a:rPr lang="en-US" sz="3200" i="1" dirty="0"/>
                  <a:t> </a:t>
                </a:r>
                <a:r>
                  <a:rPr lang="en-US" sz="3200" dirty="0"/>
                  <a:t>in the size </a:t>
                </a:r>
                <a14:m>
                  <m:oMath xmlns:m="http://schemas.openxmlformats.org/officeDocument/2006/math">
                    <m:r>
                      <a:rPr lang="en-US" sz="3200" i="1">
                        <a:solidFill>
                          <a:srgbClr val="C00000"/>
                        </a:solidFill>
                        <a:latin typeface="Cambria Math" panose="02040503050406030204" pitchFamily="18" charset="0"/>
                      </a:rPr>
                      <m:t>𝑚</m:t>
                    </m:r>
                    <m:r>
                      <a:rPr lang="en-US" sz="3200" i="1">
                        <a:solidFill>
                          <a:srgbClr val="C00000"/>
                        </a:solidFill>
                        <a:latin typeface="Cambria Math" panose="02040503050406030204" pitchFamily="18" charset="0"/>
                      </a:rPr>
                      <m:t> </m:t>
                    </m:r>
                  </m:oMath>
                </a14:m>
                <a:r>
                  <a:rPr lang="en-US" sz="3200" dirty="0"/>
                  <a:t>of the input </a:t>
                </a:r>
                <a14:m>
                  <m:oMath xmlns:m="http://schemas.openxmlformats.org/officeDocument/2006/math">
                    <m:r>
                      <a:rPr lang="en-US" sz="3200" i="1">
                        <a:solidFill>
                          <a:srgbClr val="C00000"/>
                        </a:solidFill>
                        <a:latin typeface="Cambria Math" panose="02040503050406030204" pitchFamily="18" charset="0"/>
                      </a:rPr>
                      <m:t>𝑆</m:t>
                    </m:r>
                  </m:oMath>
                </a14:m>
                <a:endParaRPr lang="en-US" sz="3200" dirty="0">
                  <a:solidFill>
                    <a:srgbClr val="C00000"/>
                  </a:solidFill>
                </a:endParaRPr>
              </a:p>
            </p:txBody>
          </p:sp>
        </mc:Choice>
        <mc:Fallback xmlns="">
          <p:sp>
            <p:nvSpPr>
              <p:cNvPr id="3" name="Content Placeholder 2">
                <a:extLst>
                  <a:ext uri="{FF2B5EF4-FFF2-40B4-BE49-F238E27FC236}">
                    <a16:creationId xmlns:a16="http://schemas.microsoft.com/office/drawing/2014/main" id="{15255D49-9D60-44DD-910D-2EBD0529DEC9}"/>
                  </a:ext>
                </a:extLst>
              </p:cNvPr>
              <p:cNvSpPr>
                <a:spLocks noGrp="1" noRot="1" noChangeAspect="1" noMove="1" noResize="1" noEditPoints="1" noAdjustHandles="1" noChangeArrowheads="1" noChangeShapeType="1" noTextEdit="1"/>
              </p:cNvSpPr>
              <p:nvPr>
                <p:ph idx="1"/>
              </p:nvPr>
            </p:nvSpPr>
            <p:spPr>
              <a:blipFill>
                <a:blip r:embed="rId3"/>
                <a:stretch>
                  <a:fillRect l="-1333" t="-2801"/>
                </a:stretch>
              </a:blipFill>
            </p:spPr>
            <p:txBody>
              <a:bodyPr/>
              <a:lstStyle/>
              <a:p>
                <a:r>
                  <a:rPr lang="en-US">
                    <a:noFill/>
                  </a:rPr>
                  <a:t> </a:t>
                </a:r>
              </a:p>
            </p:txBody>
          </p:sp>
        </mc:Fallback>
      </mc:AlternateContent>
      <p:pic>
        <p:nvPicPr>
          <p:cNvPr id="1026" name="Picture 2" descr="Image result for hacker clipart">
            <a:extLst>
              <a:ext uri="{FF2B5EF4-FFF2-40B4-BE49-F238E27FC236}">
                <a16:creationId xmlns:a16="http://schemas.microsoft.com/office/drawing/2014/main" id="{6157BAA3-7F96-4ED9-BBF4-8361607E3A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081" y="4158264"/>
            <a:ext cx="1743075" cy="17907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icture containing clipart&#10;&#10;Description automatically generated">
            <a:extLst>
              <a:ext uri="{FF2B5EF4-FFF2-40B4-BE49-F238E27FC236}">
                <a16:creationId xmlns:a16="http://schemas.microsoft.com/office/drawing/2014/main" id="{8DC6FE31-B607-4356-85E4-A2BE83D9C9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0078" y="4001294"/>
            <a:ext cx="1620520" cy="2025650"/>
          </a:xfrm>
          <a:prstGeom prst="rect">
            <a:avLst/>
          </a:prstGeom>
        </p:spPr>
      </p:pic>
      <p:sp>
        <p:nvSpPr>
          <p:cNvPr id="12" name="TextBox 11">
            <a:extLst>
              <a:ext uri="{FF2B5EF4-FFF2-40B4-BE49-F238E27FC236}">
                <a16:creationId xmlns:a16="http://schemas.microsoft.com/office/drawing/2014/main" id="{353B686B-0020-4DE7-BA6E-01AEFC87D6C2}"/>
              </a:ext>
            </a:extLst>
          </p:cNvPr>
          <p:cNvSpPr txBox="1"/>
          <p:nvPr/>
        </p:nvSpPr>
        <p:spPr>
          <a:xfrm>
            <a:off x="8350326" y="4699671"/>
            <a:ext cx="444352"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B050"/>
                </a:solidFill>
                <a:effectLst/>
                <a:uLnTx/>
                <a:uFillTx/>
                <a:latin typeface="Calibri" panose="020F0502020204030204"/>
                <a:ea typeface="+mn-ea"/>
                <a:cs typeface="+mn-cs"/>
              </a:rPr>
              <a:t>2</a:t>
            </a:r>
          </a:p>
        </p:txBody>
      </p:sp>
      <p:sp>
        <p:nvSpPr>
          <p:cNvPr id="4" name="TextBox 3">
            <a:extLst>
              <a:ext uri="{FF2B5EF4-FFF2-40B4-BE49-F238E27FC236}">
                <a16:creationId xmlns:a16="http://schemas.microsoft.com/office/drawing/2014/main" id="{972A141C-F6E7-C714-85A3-50F9711E3531}"/>
              </a:ext>
            </a:extLst>
          </p:cNvPr>
          <p:cNvSpPr txBox="1"/>
          <p:nvPr/>
        </p:nvSpPr>
        <p:spPr>
          <a:xfrm>
            <a:off x="1230581" y="6101570"/>
            <a:ext cx="6095010" cy="400110"/>
          </a:xfrm>
          <a:prstGeom prst="rect">
            <a:avLst/>
          </a:prstGeom>
          <a:noFill/>
        </p:spPr>
        <p:txBody>
          <a:bodyPr wrap="square">
            <a:spAutoFit/>
          </a:bodyPr>
          <a:lstStyle/>
          <a:p>
            <a:r>
              <a:rPr lang="en-US" sz="2000" dirty="0">
                <a:solidFill>
                  <a:srgbClr val="C00000"/>
                </a:solidFill>
              </a:rPr>
              <a:t>Attacker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9C0DADA-B53F-7DEA-5284-AB906BD830DD}"/>
                  </a:ext>
                </a:extLst>
              </p:cNvPr>
              <p:cNvSpPr txBox="1"/>
              <p:nvPr/>
            </p:nvSpPr>
            <p:spPr>
              <a:xfrm>
                <a:off x="3045700" y="4148739"/>
                <a:ext cx="2232599" cy="13849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B9C0DADA-B53F-7DEA-5284-AB906BD830DD}"/>
                  </a:ext>
                </a:extLst>
              </p:cNvPr>
              <p:cNvSpPr txBox="1">
                <a:spLocks noRot="1" noChangeAspect="1" noMove="1" noResize="1" noEditPoints="1" noAdjustHandles="1" noChangeArrowheads="1" noChangeShapeType="1" noTextEdit="1"/>
              </p:cNvSpPr>
              <p:nvPr/>
            </p:nvSpPr>
            <p:spPr>
              <a:xfrm>
                <a:off x="3045700" y="4148739"/>
                <a:ext cx="2232599" cy="1384995"/>
              </a:xfrm>
              <a:prstGeom prst="rect">
                <a:avLst/>
              </a:prstGeom>
              <a:blipFill>
                <a:blip r:embed="rId6"/>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B08B76F-6C4C-1C76-CB00-CDDF8F044E34}"/>
              </a:ext>
            </a:extLst>
          </p:cNvPr>
          <p:cNvSpPr txBox="1"/>
          <p:nvPr/>
        </p:nvSpPr>
        <p:spPr>
          <a:xfrm>
            <a:off x="9390078" y="6118310"/>
            <a:ext cx="1620520" cy="400110"/>
          </a:xfrm>
          <a:prstGeom prst="rect">
            <a:avLst/>
          </a:prstGeom>
          <a:noFill/>
        </p:spPr>
        <p:txBody>
          <a:bodyPr wrap="square">
            <a:spAutoFit/>
          </a:bodyPr>
          <a:lstStyle/>
          <a:p>
            <a:r>
              <a:rPr lang="en-US" sz="2000" dirty="0">
                <a:solidFill>
                  <a:srgbClr val="C00000"/>
                </a:solidFill>
              </a:rPr>
              <a:t>   Algorithm</a:t>
            </a:r>
          </a:p>
        </p:txBody>
      </p:sp>
    </p:spTree>
    <p:extLst>
      <p:ext uri="{BB962C8B-B14F-4D97-AF65-F5344CB8AC3E}">
        <p14:creationId xmlns:p14="http://schemas.microsoft.com/office/powerpoint/2010/main" val="2111256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1000"/>
                                  </p:iterate>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4B7A-8516-47FC-9176-8158CF0B5C45}"/>
              </a:ext>
            </a:extLst>
          </p:cNvPr>
          <p:cNvSpPr>
            <a:spLocks noGrp="1"/>
          </p:cNvSpPr>
          <p:nvPr>
            <p:ph type="title"/>
          </p:nvPr>
        </p:nvSpPr>
        <p:spPr/>
        <p:txBody>
          <a:bodyPr/>
          <a:lstStyle/>
          <a:p>
            <a:r>
              <a:rPr lang="en-US" dirty="0" err="1">
                <a:solidFill>
                  <a:srgbClr val="C00000"/>
                </a:solidFill>
              </a:rPr>
              <a:t>Adversarially</a:t>
            </a:r>
            <a:r>
              <a:rPr lang="en-US" dirty="0">
                <a:solidFill>
                  <a:srgbClr val="C00000"/>
                </a:solidFill>
              </a:rPr>
              <a:t> Robust Streaming</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255D49-9D60-44DD-910D-2EBD0529DEC9}"/>
                  </a:ext>
                </a:extLst>
              </p:cNvPr>
              <p:cNvSpPr>
                <a:spLocks noGrp="1"/>
              </p:cNvSpPr>
              <p:nvPr>
                <p:ph idx="1"/>
              </p:nvPr>
            </p:nvSpPr>
            <p:spPr/>
            <p:txBody>
              <a:bodyPr>
                <a:normAutofit/>
              </a:bodyPr>
              <a:lstStyle/>
              <a:p>
                <a:pPr>
                  <a:buClr>
                    <a:schemeClr val="tx1"/>
                  </a:buClr>
                </a:pPr>
                <a:r>
                  <a:rPr lang="en-US" sz="3200" dirty="0">
                    <a:solidFill>
                      <a:srgbClr val="00B050"/>
                    </a:solidFill>
                  </a:rPr>
                  <a:t>Input</a:t>
                </a:r>
                <a:r>
                  <a:rPr lang="en-US" sz="3200" dirty="0"/>
                  <a:t>: Updates to an underlying vector </a:t>
                </a:r>
                <a14:m>
                  <m:oMath xmlns:m="http://schemas.openxmlformats.org/officeDocument/2006/math">
                    <m:r>
                      <a:rPr lang="en-US" sz="3200" b="0" i="1" smtClean="0">
                        <a:solidFill>
                          <a:srgbClr val="C00000"/>
                        </a:solidFill>
                        <a:latin typeface="Cambria Math" panose="02040503050406030204" pitchFamily="18" charset="0"/>
                      </a:rPr>
                      <m:t>𝑥</m:t>
                    </m:r>
                  </m:oMath>
                </a14:m>
                <a:r>
                  <a:rPr lang="en-US" sz="3200" dirty="0"/>
                  <a:t>, which arrive sequentially and </a:t>
                </a:r>
                <a:r>
                  <a:rPr lang="en-US" sz="3200" i="1" dirty="0" err="1">
                    <a:solidFill>
                      <a:srgbClr val="C00000"/>
                    </a:solidFill>
                  </a:rPr>
                  <a:t>adversarially</a:t>
                </a:r>
                <a:endParaRPr lang="en-US" sz="3200" i="1" dirty="0"/>
              </a:p>
              <a:p>
                <a:pPr>
                  <a:buClr>
                    <a:schemeClr val="tx1"/>
                  </a:buClr>
                </a:pPr>
                <a:r>
                  <a:rPr lang="en-US" sz="3200" dirty="0">
                    <a:solidFill>
                      <a:srgbClr val="00B050"/>
                    </a:solidFill>
                  </a:rPr>
                  <a:t>Output</a:t>
                </a:r>
                <a:r>
                  <a:rPr lang="en-US" sz="3200" dirty="0"/>
                  <a:t>: Evaluation (or approximation) of a given function</a:t>
                </a:r>
              </a:p>
              <a:p>
                <a:pPr>
                  <a:buClr>
                    <a:schemeClr val="tx1"/>
                  </a:buClr>
                </a:pPr>
                <a:r>
                  <a:rPr lang="en-US" sz="3200" dirty="0">
                    <a:solidFill>
                      <a:srgbClr val="00B050"/>
                    </a:solidFill>
                  </a:rPr>
                  <a:t>Goal</a:t>
                </a:r>
                <a:r>
                  <a:rPr lang="en-US" sz="3200" dirty="0"/>
                  <a:t>: Use space </a:t>
                </a:r>
                <a:r>
                  <a:rPr lang="en-US" sz="3200" i="1" dirty="0">
                    <a:solidFill>
                      <a:srgbClr val="7030A0"/>
                    </a:solidFill>
                  </a:rPr>
                  <a:t>sublinear</a:t>
                </a:r>
                <a:r>
                  <a:rPr lang="en-US" sz="3200" i="1" dirty="0"/>
                  <a:t> </a:t>
                </a:r>
                <a:r>
                  <a:rPr lang="en-US" sz="3200" dirty="0"/>
                  <a:t>in the size </a:t>
                </a:r>
                <a14:m>
                  <m:oMath xmlns:m="http://schemas.openxmlformats.org/officeDocument/2006/math">
                    <m:r>
                      <a:rPr lang="en-US" sz="3200" i="1">
                        <a:solidFill>
                          <a:srgbClr val="C00000"/>
                        </a:solidFill>
                        <a:latin typeface="Cambria Math" panose="02040503050406030204" pitchFamily="18" charset="0"/>
                      </a:rPr>
                      <m:t>𝑚</m:t>
                    </m:r>
                    <m:r>
                      <a:rPr lang="en-US" sz="3200" i="1">
                        <a:solidFill>
                          <a:srgbClr val="C00000"/>
                        </a:solidFill>
                        <a:latin typeface="Cambria Math" panose="02040503050406030204" pitchFamily="18" charset="0"/>
                      </a:rPr>
                      <m:t> </m:t>
                    </m:r>
                  </m:oMath>
                </a14:m>
                <a:r>
                  <a:rPr lang="en-US" sz="3200" dirty="0"/>
                  <a:t>of the input </a:t>
                </a:r>
                <a14:m>
                  <m:oMath xmlns:m="http://schemas.openxmlformats.org/officeDocument/2006/math">
                    <m:r>
                      <a:rPr lang="en-US" sz="3200" i="1">
                        <a:solidFill>
                          <a:srgbClr val="C00000"/>
                        </a:solidFill>
                        <a:latin typeface="Cambria Math" panose="02040503050406030204" pitchFamily="18" charset="0"/>
                      </a:rPr>
                      <m:t>𝑆</m:t>
                    </m:r>
                  </m:oMath>
                </a14:m>
                <a:endParaRPr lang="en-US" sz="3200" dirty="0">
                  <a:solidFill>
                    <a:srgbClr val="C00000"/>
                  </a:solidFill>
                </a:endParaRPr>
              </a:p>
            </p:txBody>
          </p:sp>
        </mc:Choice>
        <mc:Fallback xmlns="">
          <p:sp>
            <p:nvSpPr>
              <p:cNvPr id="3" name="Content Placeholder 2">
                <a:extLst>
                  <a:ext uri="{FF2B5EF4-FFF2-40B4-BE49-F238E27FC236}">
                    <a16:creationId xmlns:a16="http://schemas.microsoft.com/office/drawing/2014/main" id="{15255D49-9D60-44DD-910D-2EBD0529DEC9}"/>
                  </a:ext>
                </a:extLst>
              </p:cNvPr>
              <p:cNvSpPr>
                <a:spLocks noGrp="1" noRot="1" noChangeAspect="1" noMove="1" noResize="1" noEditPoints="1" noAdjustHandles="1" noChangeArrowheads="1" noChangeShapeType="1" noTextEdit="1"/>
              </p:cNvSpPr>
              <p:nvPr>
                <p:ph idx="1"/>
              </p:nvPr>
            </p:nvSpPr>
            <p:spPr>
              <a:blipFill>
                <a:blip r:embed="rId3"/>
                <a:stretch>
                  <a:fillRect l="-1333" t="-2801"/>
                </a:stretch>
              </a:blipFill>
            </p:spPr>
            <p:txBody>
              <a:bodyPr/>
              <a:lstStyle/>
              <a:p>
                <a:r>
                  <a:rPr lang="en-US">
                    <a:noFill/>
                  </a:rPr>
                  <a:t> </a:t>
                </a:r>
              </a:p>
            </p:txBody>
          </p:sp>
        </mc:Fallback>
      </mc:AlternateContent>
      <p:pic>
        <p:nvPicPr>
          <p:cNvPr id="1026" name="Picture 2" descr="Image result for hacker clipart">
            <a:extLst>
              <a:ext uri="{FF2B5EF4-FFF2-40B4-BE49-F238E27FC236}">
                <a16:creationId xmlns:a16="http://schemas.microsoft.com/office/drawing/2014/main" id="{6157BAA3-7F96-4ED9-BBF4-8361607E3A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081" y="4158264"/>
            <a:ext cx="1743075" cy="17907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icture containing clipart&#10;&#10;Description automatically generated">
            <a:extLst>
              <a:ext uri="{FF2B5EF4-FFF2-40B4-BE49-F238E27FC236}">
                <a16:creationId xmlns:a16="http://schemas.microsoft.com/office/drawing/2014/main" id="{8DC6FE31-B607-4356-85E4-A2BE83D9C9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0078" y="4001294"/>
            <a:ext cx="1620520" cy="2025650"/>
          </a:xfrm>
          <a:prstGeom prst="rect">
            <a:avLst/>
          </a:prstGeom>
        </p:spPr>
      </p:pic>
      <p:sp>
        <p:nvSpPr>
          <p:cNvPr id="12" name="TextBox 11">
            <a:extLst>
              <a:ext uri="{FF2B5EF4-FFF2-40B4-BE49-F238E27FC236}">
                <a16:creationId xmlns:a16="http://schemas.microsoft.com/office/drawing/2014/main" id="{353B686B-0020-4DE7-BA6E-01AEFC87D6C2}"/>
              </a:ext>
            </a:extLst>
          </p:cNvPr>
          <p:cNvSpPr txBox="1"/>
          <p:nvPr/>
        </p:nvSpPr>
        <p:spPr>
          <a:xfrm>
            <a:off x="8350326" y="4699671"/>
            <a:ext cx="444352"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B050"/>
                </a:solidFill>
                <a:effectLst/>
                <a:uLnTx/>
                <a:uFillTx/>
                <a:latin typeface="Calibri" panose="020F0502020204030204"/>
                <a:ea typeface="+mn-ea"/>
                <a:cs typeface="+mn-cs"/>
              </a:rPr>
              <a:t>3</a:t>
            </a:r>
          </a:p>
        </p:txBody>
      </p:sp>
      <p:sp>
        <p:nvSpPr>
          <p:cNvPr id="4" name="TextBox 3">
            <a:extLst>
              <a:ext uri="{FF2B5EF4-FFF2-40B4-BE49-F238E27FC236}">
                <a16:creationId xmlns:a16="http://schemas.microsoft.com/office/drawing/2014/main" id="{3A499367-F113-8797-541D-C4279C2F94C7}"/>
              </a:ext>
            </a:extLst>
          </p:cNvPr>
          <p:cNvSpPr txBox="1"/>
          <p:nvPr/>
        </p:nvSpPr>
        <p:spPr>
          <a:xfrm>
            <a:off x="1230581" y="6101570"/>
            <a:ext cx="6095010" cy="400110"/>
          </a:xfrm>
          <a:prstGeom prst="rect">
            <a:avLst/>
          </a:prstGeom>
          <a:noFill/>
        </p:spPr>
        <p:txBody>
          <a:bodyPr wrap="square">
            <a:spAutoFit/>
          </a:bodyPr>
          <a:lstStyle/>
          <a:p>
            <a:r>
              <a:rPr lang="en-US" sz="2000" dirty="0">
                <a:solidFill>
                  <a:srgbClr val="C00000"/>
                </a:solidFill>
              </a:rPr>
              <a:t>Attacker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DAB833F-94DE-ADFD-3B09-C746DD3CBE26}"/>
                  </a:ext>
                </a:extLst>
              </p:cNvPr>
              <p:cNvSpPr txBox="1"/>
              <p:nvPr/>
            </p:nvSpPr>
            <p:spPr>
              <a:xfrm>
                <a:off x="3045700" y="4148739"/>
                <a:ext cx="2232599" cy="18158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5DAB833F-94DE-ADFD-3B09-C746DD3CBE26}"/>
                  </a:ext>
                </a:extLst>
              </p:cNvPr>
              <p:cNvSpPr txBox="1">
                <a:spLocks noRot="1" noChangeAspect="1" noMove="1" noResize="1" noEditPoints="1" noAdjustHandles="1" noChangeArrowheads="1" noChangeShapeType="1" noTextEdit="1"/>
              </p:cNvSpPr>
              <p:nvPr/>
            </p:nvSpPr>
            <p:spPr>
              <a:xfrm>
                <a:off x="3045700" y="4148739"/>
                <a:ext cx="2232599" cy="1815882"/>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584EC464-04DF-363E-8B58-FA86A58598E4}"/>
              </a:ext>
            </a:extLst>
          </p:cNvPr>
          <p:cNvSpPr txBox="1"/>
          <p:nvPr/>
        </p:nvSpPr>
        <p:spPr>
          <a:xfrm>
            <a:off x="9601093" y="6101570"/>
            <a:ext cx="1620520" cy="400110"/>
          </a:xfrm>
          <a:prstGeom prst="rect">
            <a:avLst/>
          </a:prstGeom>
          <a:noFill/>
        </p:spPr>
        <p:txBody>
          <a:bodyPr wrap="square">
            <a:spAutoFit/>
          </a:bodyPr>
          <a:lstStyle/>
          <a:p>
            <a:r>
              <a:rPr lang="en-US" sz="2000" dirty="0">
                <a:solidFill>
                  <a:srgbClr val="C00000"/>
                </a:solidFill>
              </a:rPr>
              <a:t>Algorithm</a:t>
            </a:r>
          </a:p>
        </p:txBody>
      </p:sp>
    </p:spTree>
    <p:extLst>
      <p:ext uri="{BB962C8B-B14F-4D97-AF65-F5344CB8AC3E}">
        <p14:creationId xmlns:p14="http://schemas.microsoft.com/office/powerpoint/2010/main" val="1283439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1000"/>
                                  </p:iterate>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4B7A-8516-47FC-9176-8158CF0B5C45}"/>
              </a:ext>
            </a:extLst>
          </p:cNvPr>
          <p:cNvSpPr>
            <a:spLocks noGrp="1"/>
          </p:cNvSpPr>
          <p:nvPr>
            <p:ph type="title"/>
          </p:nvPr>
        </p:nvSpPr>
        <p:spPr/>
        <p:txBody>
          <a:bodyPr/>
          <a:lstStyle/>
          <a:p>
            <a:r>
              <a:rPr lang="en-US" dirty="0" err="1">
                <a:solidFill>
                  <a:srgbClr val="C00000"/>
                </a:solidFill>
              </a:rPr>
              <a:t>Adversarially</a:t>
            </a:r>
            <a:r>
              <a:rPr lang="en-US" dirty="0">
                <a:solidFill>
                  <a:srgbClr val="C00000"/>
                </a:solidFill>
              </a:rPr>
              <a:t> Robust Streaming</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255D49-9D60-44DD-910D-2EBD0529DEC9}"/>
                  </a:ext>
                </a:extLst>
              </p:cNvPr>
              <p:cNvSpPr>
                <a:spLocks noGrp="1"/>
              </p:cNvSpPr>
              <p:nvPr>
                <p:ph idx="1"/>
              </p:nvPr>
            </p:nvSpPr>
            <p:spPr/>
            <p:txBody>
              <a:bodyPr>
                <a:normAutofit/>
              </a:bodyPr>
              <a:lstStyle/>
              <a:p>
                <a:pPr>
                  <a:buClr>
                    <a:schemeClr val="tx1"/>
                  </a:buClr>
                </a:pPr>
                <a:r>
                  <a:rPr lang="en-US" sz="3200" dirty="0">
                    <a:solidFill>
                      <a:srgbClr val="00B050"/>
                    </a:solidFill>
                  </a:rPr>
                  <a:t>Input</a:t>
                </a:r>
                <a:r>
                  <a:rPr lang="en-US" sz="3200" dirty="0"/>
                  <a:t>: Updates to an underlying vector </a:t>
                </a:r>
                <a14:m>
                  <m:oMath xmlns:m="http://schemas.openxmlformats.org/officeDocument/2006/math">
                    <m:r>
                      <a:rPr lang="en-US" sz="3200" b="0" i="1" smtClean="0">
                        <a:solidFill>
                          <a:srgbClr val="C00000"/>
                        </a:solidFill>
                        <a:latin typeface="Cambria Math" panose="02040503050406030204" pitchFamily="18" charset="0"/>
                      </a:rPr>
                      <m:t>𝑥</m:t>
                    </m:r>
                  </m:oMath>
                </a14:m>
                <a:r>
                  <a:rPr lang="en-US" sz="3200" dirty="0"/>
                  <a:t>, which arrive sequentially and </a:t>
                </a:r>
                <a:r>
                  <a:rPr lang="en-US" sz="3200" i="1" dirty="0" err="1">
                    <a:solidFill>
                      <a:srgbClr val="C00000"/>
                    </a:solidFill>
                  </a:rPr>
                  <a:t>adversarially</a:t>
                </a:r>
                <a:endParaRPr lang="en-US" sz="3200" dirty="0"/>
              </a:p>
              <a:p>
                <a:pPr>
                  <a:buClr>
                    <a:schemeClr val="tx1"/>
                  </a:buClr>
                </a:pPr>
                <a:r>
                  <a:rPr lang="en-US" sz="3200" dirty="0">
                    <a:solidFill>
                      <a:srgbClr val="00B050"/>
                    </a:solidFill>
                  </a:rPr>
                  <a:t>Output</a:t>
                </a:r>
                <a:r>
                  <a:rPr lang="en-US" sz="3200" dirty="0"/>
                  <a:t>: Evaluation (or approximation) of a given function</a:t>
                </a:r>
              </a:p>
              <a:p>
                <a:pPr>
                  <a:buClr>
                    <a:schemeClr val="tx1"/>
                  </a:buClr>
                </a:pPr>
                <a:r>
                  <a:rPr lang="en-US" sz="3200" dirty="0">
                    <a:solidFill>
                      <a:srgbClr val="00B050"/>
                    </a:solidFill>
                  </a:rPr>
                  <a:t>Goal</a:t>
                </a:r>
                <a:r>
                  <a:rPr lang="en-US" sz="3200" dirty="0"/>
                  <a:t>: Use space </a:t>
                </a:r>
                <a:r>
                  <a:rPr lang="en-US" sz="3200" i="1" dirty="0">
                    <a:solidFill>
                      <a:srgbClr val="7030A0"/>
                    </a:solidFill>
                  </a:rPr>
                  <a:t>sublinear</a:t>
                </a:r>
                <a:r>
                  <a:rPr lang="en-US" sz="3200" i="1" dirty="0"/>
                  <a:t> </a:t>
                </a:r>
                <a:r>
                  <a:rPr lang="en-US" sz="3200" dirty="0"/>
                  <a:t>in the size </a:t>
                </a:r>
                <a14:m>
                  <m:oMath xmlns:m="http://schemas.openxmlformats.org/officeDocument/2006/math">
                    <m:r>
                      <a:rPr lang="en-US" sz="3200" i="1">
                        <a:solidFill>
                          <a:srgbClr val="C00000"/>
                        </a:solidFill>
                        <a:latin typeface="Cambria Math" panose="02040503050406030204" pitchFamily="18" charset="0"/>
                      </a:rPr>
                      <m:t>𝑚</m:t>
                    </m:r>
                    <m:r>
                      <a:rPr lang="en-US" sz="3200" i="1">
                        <a:solidFill>
                          <a:srgbClr val="C00000"/>
                        </a:solidFill>
                        <a:latin typeface="Cambria Math" panose="02040503050406030204" pitchFamily="18" charset="0"/>
                      </a:rPr>
                      <m:t> </m:t>
                    </m:r>
                  </m:oMath>
                </a14:m>
                <a:r>
                  <a:rPr lang="en-US" sz="3200" dirty="0"/>
                  <a:t>of the input </a:t>
                </a:r>
                <a14:m>
                  <m:oMath xmlns:m="http://schemas.openxmlformats.org/officeDocument/2006/math">
                    <m:r>
                      <a:rPr lang="en-US" sz="3200" i="1">
                        <a:solidFill>
                          <a:srgbClr val="C00000"/>
                        </a:solidFill>
                        <a:latin typeface="Cambria Math" panose="02040503050406030204" pitchFamily="18" charset="0"/>
                      </a:rPr>
                      <m:t>𝑆</m:t>
                    </m:r>
                  </m:oMath>
                </a14:m>
                <a:endParaRPr lang="en-US" sz="3200" dirty="0">
                  <a:solidFill>
                    <a:srgbClr val="C00000"/>
                  </a:solidFill>
                </a:endParaRPr>
              </a:p>
            </p:txBody>
          </p:sp>
        </mc:Choice>
        <mc:Fallback xmlns="">
          <p:sp>
            <p:nvSpPr>
              <p:cNvPr id="3" name="Content Placeholder 2">
                <a:extLst>
                  <a:ext uri="{FF2B5EF4-FFF2-40B4-BE49-F238E27FC236}">
                    <a16:creationId xmlns:a16="http://schemas.microsoft.com/office/drawing/2014/main" id="{15255D49-9D60-44DD-910D-2EBD0529DEC9}"/>
                  </a:ext>
                </a:extLst>
              </p:cNvPr>
              <p:cNvSpPr>
                <a:spLocks noGrp="1" noRot="1" noChangeAspect="1" noMove="1" noResize="1" noEditPoints="1" noAdjustHandles="1" noChangeArrowheads="1" noChangeShapeType="1" noTextEdit="1"/>
              </p:cNvSpPr>
              <p:nvPr>
                <p:ph idx="1"/>
              </p:nvPr>
            </p:nvSpPr>
            <p:spPr>
              <a:blipFill>
                <a:blip r:embed="rId3"/>
                <a:stretch>
                  <a:fillRect l="-1333" t="-2801"/>
                </a:stretch>
              </a:blipFill>
            </p:spPr>
            <p:txBody>
              <a:bodyPr/>
              <a:lstStyle/>
              <a:p>
                <a:r>
                  <a:rPr lang="en-US">
                    <a:noFill/>
                  </a:rPr>
                  <a:t> </a:t>
                </a:r>
              </a:p>
            </p:txBody>
          </p:sp>
        </mc:Fallback>
      </mc:AlternateContent>
      <p:pic>
        <p:nvPicPr>
          <p:cNvPr id="1026" name="Picture 2" descr="Image result for hacker clipart">
            <a:extLst>
              <a:ext uri="{FF2B5EF4-FFF2-40B4-BE49-F238E27FC236}">
                <a16:creationId xmlns:a16="http://schemas.microsoft.com/office/drawing/2014/main" id="{6157BAA3-7F96-4ED9-BBF4-8361607E3A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081" y="4158264"/>
            <a:ext cx="1743075" cy="17907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53B686B-0020-4DE7-BA6E-01AEFC87D6C2}"/>
              </a:ext>
            </a:extLst>
          </p:cNvPr>
          <p:cNvSpPr txBox="1"/>
          <p:nvPr/>
        </p:nvSpPr>
        <p:spPr>
          <a:xfrm>
            <a:off x="8350326" y="4699671"/>
            <a:ext cx="444352"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C00000"/>
                </a:solidFill>
                <a:effectLst/>
                <a:uLnTx/>
                <a:uFillTx/>
                <a:latin typeface="Calibri" panose="020F0502020204030204"/>
                <a:ea typeface="+mn-ea"/>
                <a:cs typeface="+mn-cs"/>
              </a:rPr>
              <a:t>4</a:t>
            </a:r>
          </a:p>
        </p:txBody>
      </p:sp>
      <p:pic>
        <p:nvPicPr>
          <p:cNvPr id="11" name="Picture 10" descr="A picture containing clipart&#10;&#10;Description automatically generated">
            <a:extLst>
              <a:ext uri="{FF2B5EF4-FFF2-40B4-BE49-F238E27FC236}">
                <a16:creationId xmlns:a16="http://schemas.microsoft.com/office/drawing/2014/main" id="{FF55506B-922C-4AEF-A5DD-6475EFA331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0078" y="4001294"/>
            <a:ext cx="1620520" cy="2025650"/>
          </a:xfrm>
          <a:prstGeom prst="rect">
            <a:avLst/>
          </a:prstGeom>
        </p:spPr>
      </p:pic>
      <p:sp>
        <p:nvSpPr>
          <p:cNvPr id="7" name="TextBox 6">
            <a:extLst>
              <a:ext uri="{FF2B5EF4-FFF2-40B4-BE49-F238E27FC236}">
                <a16:creationId xmlns:a16="http://schemas.microsoft.com/office/drawing/2014/main" id="{17348A47-62D3-EBBF-B9C1-02560B2095DA}"/>
              </a:ext>
            </a:extLst>
          </p:cNvPr>
          <p:cNvSpPr txBox="1"/>
          <p:nvPr/>
        </p:nvSpPr>
        <p:spPr>
          <a:xfrm>
            <a:off x="1230581" y="6101570"/>
            <a:ext cx="6095010" cy="400110"/>
          </a:xfrm>
          <a:prstGeom prst="rect">
            <a:avLst/>
          </a:prstGeom>
          <a:noFill/>
        </p:spPr>
        <p:txBody>
          <a:bodyPr wrap="square">
            <a:spAutoFit/>
          </a:bodyPr>
          <a:lstStyle/>
          <a:p>
            <a:r>
              <a:rPr lang="en-US" sz="2000" dirty="0">
                <a:solidFill>
                  <a:srgbClr val="C00000"/>
                </a:solidFill>
              </a:rPr>
              <a:t>Attacker</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623A94C-4190-A2E1-E7D1-FE2849A3A835}"/>
                  </a:ext>
                </a:extLst>
              </p:cNvPr>
              <p:cNvSpPr txBox="1"/>
              <p:nvPr/>
            </p:nvSpPr>
            <p:spPr>
              <a:xfrm>
                <a:off x="3045700" y="4148739"/>
                <a:ext cx="2260683" cy="224676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9" name="TextBox 8">
                <a:extLst>
                  <a:ext uri="{FF2B5EF4-FFF2-40B4-BE49-F238E27FC236}">
                    <a16:creationId xmlns:a16="http://schemas.microsoft.com/office/drawing/2014/main" id="{D623A94C-4190-A2E1-E7D1-FE2849A3A835}"/>
                  </a:ext>
                </a:extLst>
              </p:cNvPr>
              <p:cNvSpPr txBox="1">
                <a:spLocks noRot="1" noChangeAspect="1" noMove="1" noResize="1" noEditPoints="1" noAdjustHandles="1" noChangeArrowheads="1" noChangeShapeType="1" noTextEdit="1"/>
              </p:cNvSpPr>
              <p:nvPr/>
            </p:nvSpPr>
            <p:spPr>
              <a:xfrm>
                <a:off x="3045700" y="4148739"/>
                <a:ext cx="2260683" cy="2246769"/>
              </a:xfrm>
              <a:prstGeom prst="rect">
                <a:avLst/>
              </a:prstGeom>
              <a:blipFill>
                <a:blip r:embed="rId6"/>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7D30272D-240F-61A0-52F3-D5F009F63757}"/>
              </a:ext>
            </a:extLst>
          </p:cNvPr>
          <p:cNvSpPr txBox="1"/>
          <p:nvPr/>
        </p:nvSpPr>
        <p:spPr>
          <a:xfrm>
            <a:off x="9390078" y="6118310"/>
            <a:ext cx="1620520" cy="400110"/>
          </a:xfrm>
          <a:prstGeom prst="rect">
            <a:avLst/>
          </a:prstGeom>
          <a:noFill/>
        </p:spPr>
        <p:txBody>
          <a:bodyPr wrap="square">
            <a:spAutoFit/>
          </a:bodyPr>
          <a:lstStyle/>
          <a:p>
            <a:r>
              <a:rPr lang="en-US" sz="2000" dirty="0">
                <a:solidFill>
                  <a:srgbClr val="C00000"/>
                </a:solidFill>
              </a:rPr>
              <a:t>   Algorithm</a:t>
            </a:r>
          </a:p>
        </p:txBody>
      </p:sp>
    </p:spTree>
    <p:extLst>
      <p:ext uri="{BB962C8B-B14F-4D97-AF65-F5344CB8AC3E}">
        <p14:creationId xmlns:p14="http://schemas.microsoft.com/office/powerpoint/2010/main" val="361157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1000"/>
                                  </p:iterate>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4B7A-8516-47FC-9176-8158CF0B5C45}"/>
              </a:ext>
            </a:extLst>
          </p:cNvPr>
          <p:cNvSpPr>
            <a:spLocks noGrp="1"/>
          </p:cNvSpPr>
          <p:nvPr>
            <p:ph type="title"/>
          </p:nvPr>
        </p:nvSpPr>
        <p:spPr/>
        <p:txBody>
          <a:bodyPr/>
          <a:lstStyle/>
          <a:p>
            <a:r>
              <a:rPr lang="en-US" dirty="0" err="1">
                <a:solidFill>
                  <a:srgbClr val="C00000"/>
                </a:solidFill>
              </a:rPr>
              <a:t>Adversarially</a:t>
            </a:r>
            <a:r>
              <a:rPr lang="en-US" dirty="0">
                <a:solidFill>
                  <a:srgbClr val="C00000"/>
                </a:solidFill>
              </a:rPr>
              <a:t> Robust Streaming</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255D49-9D60-44DD-910D-2EBD0529DEC9}"/>
                  </a:ext>
                </a:extLst>
              </p:cNvPr>
              <p:cNvSpPr>
                <a:spLocks noGrp="1"/>
              </p:cNvSpPr>
              <p:nvPr>
                <p:ph idx="1"/>
              </p:nvPr>
            </p:nvSpPr>
            <p:spPr/>
            <p:txBody>
              <a:bodyPr>
                <a:normAutofit/>
              </a:bodyPr>
              <a:lstStyle/>
              <a:p>
                <a:pPr>
                  <a:buClr>
                    <a:schemeClr val="tx1"/>
                  </a:buClr>
                </a:pPr>
                <a:r>
                  <a:rPr lang="en-US" sz="3200" dirty="0">
                    <a:solidFill>
                      <a:srgbClr val="00B050"/>
                    </a:solidFill>
                  </a:rPr>
                  <a:t>Input</a:t>
                </a:r>
                <a:r>
                  <a:rPr lang="en-US" sz="3200" dirty="0"/>
                  <a:t>: Updates to an underlying vector </a:t>
                </a:r>
                <a14:m>
                  <m:oMath xmlns:m="http://schemas.openxmlformats.org/officeDocument/2006/math">
                    <m:r>
                      <a:rPr lang="en-US" sz="3200" b="0" i="1" smtClean="0">
                        <a:solidFill>
                          <a:srgbClr val="C00000"/>
                        </a:solidFill>
                        <a:latin typeface="Cambria Math" panose="02040503050406030204" pitchFamily="18" charset="0"/>
                      </a:rPr>
                      <m:t>𝑥</m:t>
                    </m:r>
                  </m:oMath>
                </a14:m>
                <a:r>
                  <a:rPr lang="en-US" sz="3200" dirty="0"/>
                  <a:t>, which arrive sequentially and </a:t>
                </a:r>
                <a:r>
                  <a:rPr lang="en-US" sz="3200" i="1" dirty="0" err="1">
                    <a:solidFill>
                      <a:srgbClr val="C00000"/>
                    </a:solidFill>
                  </a:rPr>
                  <a:t>adversarially</a:t>
                </a:r>
                <a:endParaRPr lang="en-US" sz="3200" i="1" dirty="0"/>
              </a:p>
              <a:p>
                <a:pPr>
                  <a:buClr>
                    <a:schemeClr val="tx1"/>
                  </a:buClr>
                </a:pPr>
                <a:r>
                  <a:rPr lang="en-US" sz="3200" dirty="0">
                    <a:solidFill>
                      <a:srgbClr val="00B050"/>
                    </a:solidFill>
                  </a:rPr>
                  <a:t>Output</a:t>
                </a:r>
                <a:r>
                  <a:rPr lang="en-US" sz="3200" dirty="0"/>
                  <a:t>: Evaluation (or approximation) of a given function</a:t>
                </a:r>
              </a:p>
              <a:p>
                <a:pPr>
                  <a:buClr>
                    <a:schemeClr val="tx1"/>
                  </a:buClr>
                </a:pPr>
                <a:r>
                  <a:rPr lang="en-US" sz="3200" dirty="0">
                    <a:solidFill>
                      <a:srgbClr val="00B050"/>
                    </a:solidFill>
                  </a:rPr>
                  <a:t>Goal</a:t>
                </a:r>
                <a:r>
                  <a:rPr lang="en-US" sz="3200" dirty="0"/>
                  <a:t>: Use space </a:t>
                </a:r>
                <a:r>
                  <a:rPr lang="en-US" sz="3200" i="1" dirty="0">
                    <a:solidFill>
                      <a:srgbClr val="7030A0"/>
                    </a:solidFill>
                  </a:rPr>
                  <a:t>sublinear</a:t>
                </a:r>
                <a:r>
                  <a:rPr lang="en-US" sz="3200" i="1" dirty="0"/>
                  <a:t> </a:t>
                </a:r>
                <a:r>
                  <a:rPr lang="en-US" sz="3200" dirty="0"/>
                  <a:t>in the size </a:t>
                </a:r>
                <a14:m>
                  <m:oMath xmlns:m="http://schemas.openxmlformats.org/officeDocument/2006/math">
                    <m:r>
                      <a:rPr lang="en-US" sz="3200" b="0" i="1" smtClean="0">
                        <a:solidFill>
                          <a:srgbClr val="C00000"/>
                        </a:solidFill>
                        <a:latin typeface="Cambria Math" panose="02040503050406030204" pitchFamily="18" charset="0"/>
                      </a:rPr>
                      <m:t>𝑚</m:t>
                    </m:r>
                    <m:r>
                      <a:rPr lang="en-US" sz="3200" b="0" i="1" smtClean="0">
                        <a:solidFill>
                          <a:srgbClr val="C00000"/>
                        </a:solidFill>
                        <a:latin typeface="Cambria Math" panose="02040503050406030204" pitchFamily="18" charset="0"/>
                      </a:rPr>
                      <m:t> </m:t>
                    </m:r>
                  </m:oMath>
                </a14:m>
                <a:r>
                  <a:rPr lang="en-US" sz="3200" dirty="0"/>
                  <a:t>of the input </a:t>
                </a:r>
                <a14:m>
                  <m:oMath xmlns:m="http://schemas.openxmlformats.org/officeDocument/2006/math">
                    <m:r>
                      <a:rPr lang="en-US" sz="3200" i="1" smtClean="0">
                        <a:solidFill>
                          <a:srgbClr val="C00000"/>
                        </a:solidFill>
                        <a:latin typeface="Cambria Math" panose="02040503050406030204" pitchFamily="18" charset="0"/>
                      </a:rPr>
                      <m:t>𝑆</m:t>
                    </m:r>
                  </m:oMath>
                </a14:m>
                <a:endParaRPr lang="en-US" sz="3200" dirty="0">
                  <a:solidFill>
                    <a:srgbClr val="C00000"/>
                  </a:solidFill>
                </a:endParaRPr>
              </a:p>
            </p:txBody>
          </p:sp>
        </mc:Choice>
        <mc:Fallback xmlns="">
          <p:sp>
            <p:nvSpPr>
              <p:cNvPr id="3" name="Content Placeholder 2">
                <a:extLst>
                  <a:ext uri="{FF2B5EF4-FFF2-40B4-BE49-F238E27FC236}">
                    <a16:creationId xmlns:a16="http://schemas.microsoft.com/office/drawing/2014/main" id="{15255D49-9D60-44DD-910D-2EBD0529DEC9}"/>
                  </a:ext>
                </a:extLst>
              </p:cNvPr>
              <p:cNvSpPr>
                <a:spLocks noGrp="1" noRot="1" noChangeAspect="1" noMove="1" noResize="1" noEditPoints="1" noAdjustHandles="1" noChangeArrowheads="1" noChangeShapeType="1" noTextEdit="1"/>
              </p:cNvSpPr>
              <p:nvPr>
                <p:ph idx="1"/>
              </p:nvPr>
            </p:nvSpPr>
            <p:spPr>
              <a:blipFill>
                <a:blip r:embed="rId3"/>
                <a:stretch>
                  <a:fillRect l="-1333" t="-2801"/>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353B686B-0020-4DE7-BA6E-01AEFC87D6C2}"/>
              </a:ext>
            </a:extLst>
          </p:cNvPr>
          <p:cNvSpPr txBox="1"/>
          <p:nvPr/>
        </p:nvSpPr>
        <p:spPr>
          <a:xfrm>
            <a:off x="8350326" y="4699671"/>
            <a:ext cx="444352"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C00000"/>
                </a:solidFill>
                <a:effectLst/>
                <a:uLnTx/>
                <a:uFillTx/>
                <a:latin typeface="Calibri" panose="020F0502020204030204"/>
                <a:ea typeface="+mn-ea"/>
                <a:cs typeface="+mn-cs"/>
              </a:rPr>
              <a:t>4</a:t>
            </a:r>
          </a:p>
        </p:txBody>
      </p:sp>
      <p:pic>
        <p:nvPicPr>
          <p:cNvPr id="2050" name="Picture 2" descr="Image result for &quot;d'oh&quot; clipart">
            <a:extLst>
              <a:ext uri="{FF2B5EF4-FFF2-40B4-BE49-F238E27FC236}">
                <a16:creationId xmlns:a16="http://schemas.microsoft.com/office/drawing/2014/main" id="{B3CAF929-30F7-4105-91DA-601005364E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86769" y="4148739"/>
            <a:ext cx="1962150" cy="18097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C9B71F9-9313-733C-F572-AF996E031A69}"/>
                  </a:ext>
                </a:extLst>
              </p:cNvPr>
              <p:cNvSpPr txBox="1"/>
              <p:nvPr/>
            </p:nvSpPr>
            <p:spPr>
              <a:xfrm>
                <a:off x="3045700" y="4148739"/>
                <a:ext cx="2260683" cy="224676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oMath>
                  </m:oMathPara>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9C9B71F9-9313-733C-F572-AF996E031A69}"/>
                  </a:ext>
                </a:extLst>
              </p:cNvPr>
              <p:cNvSpPr txBox="1">
                <a:spLocks noRot="1" noChangeAspect="1" noMove="1" noResize="1" noEditPoints="1" noAdjustHandles="1" noChangeArrowheads="1" noChangeShapeType="1" noTextEdit="1"/>
              </p:cNvSpPr>
              <p:nvPr/>
            </p:nvSpPr>
            <p:spPr>
              <a:xfrm>
                <a:off x="3045700" y="4148739"/>
                <a:ext cx="2260683" cy="2246769"/>
              </a:xfrm>
              <a:prstGeom prst="rect">
                <a:avLst/>
              </a:prstGeom>
              <a:blipFill>
                <a:blip r:embed="rId5"/>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2AA4171C-A5B2-452E-A3AD-CEEEF6C974E0}"/>
              </a:ext>
            </a:extLst>
          </p:cNvPr>
          <p:cNvSpPr txBox="1"/>
          <p:nvPr/>
        </p:nvSpPr>
        <p:spPr>
          <a:xfrm>
            <a:off x="1230581" y="6101570"/>
            <a:ext cx="6095010" cy="400110"/>
          </a:xfrm>
          <a:prstGeom prst="rect">
            <a:avLst/>
          </a:prstGeom>
          <a:noFill/>
        </p:spPr>
        <p:txBody>
          <a:bodyPr wrap="square">
            <a:spAutoFit/>
          </a:bodyPr>
          <a:lstStyle/>
          <a:p>
            <a:r>
              <a:rPr lang="en-US" sz="2000" dirty="0">
                <a:solidFill>
                  <a:srgbClr val="C00000"/>
                </a:solidFill>
              </a:rPr>
              <a:t>Attacker</a:t>
            </a:r>
          </a:p>
        </p:txBody>
      </p:sp>
      <p:pic>
        <p:nvPicPr>
          <p:cNvPr id="9" name="Picture 2" descr="Image result for hacker clipart">
            <a:extLst>
              <a:ext uri="{FF2B5EF4-FFF2-40B4-BE49-F238E27FC236}">
                <a16:creationId xmlns:a16="http://schemas.microsoft.com/office/drawing/2014/main" id="{96A5E48B-E03F-D050-9966-9AD8B59326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3081" y="4158264"/>
            <a:ext cx="1743075" cy="179070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C3427A8F-3307-ED87-62A3-ECC4A610F3FF}"/>
              </a:ext>
            </a:extLst>
          </p:cNvPr>
          <p:cNvSpPr txBox="1"/>
          <p:nvPr/>
        </p:nvSpPr>
        <p:spPr>
          <a:xfrm>
            <a:off x="9390078" y="6118310"/>
            <a:ext cx="1620520" cy="400110"/>
          </a:xfrm>
          <a:prstGeom prst="rect">
            <a:avLst/>
          </a:prstGeom>
          <a:noFill/>
        </p:spPr>
        <p:txBody>
          <a:bodyPr wrap="square">
            <a:spAutoFit/>
          </a:bodyPr>
          <a:lstStyle/>
          <a:p>
            <a:r>
              <a:rPr lang="en-US" sz="2000" dirty="0">
                <a:solidFill>
                  <a:srgbClr val="C00000"/>
                </a:solidFill>
              </a:rPr>
              <a:t>   Algorithm</a:t>
            </a:r>
          </a:p>
        </p:txBody>
      </p:sp>
    </p:spTree>
    <p:extLst>
      <p:ext uri="{BB962C8B-B14F-4D97-AF65-F5344CB8AC3E}">
        <p14:creationId xmlns:p14="http://schemas.microsoft.com/office/powerpoint/2010/main" val="1973750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49F98-FC53-4C98-8C23-550048D4FCF9}"/>
              </a:ext>
            </a:extLst>
          </p:cNvPr>
          <p:cNvSpPr>
            <a:spLocks noGrp="1"/>
          </p:cNvSpPr>
          <p:nvPr>
            <p:ph type="title"/>
          </p:nvPr>
        </p:nvSpPr>
        <p:spPr/>
        <p:txBody>
          <a:bodyPr/>
          <a:lstStyle/>
          <a:p>
            <a:r>
              <a:rPr lang="en-US" dirty="0">
                <a:solidFill>
                  <a:srgbClr val="C00000"/>
                </a:solidFill>
              </a:rPr>
              <a:t>Insertion-Only Streams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D298EE-232A-4602-BB51-FA680B6EA672}"/>
                  </a:ext>
                </a:extLst>
              </p:cNvPr>
              <p:cNvSpPr>
                <a:spLocks noGrp="1"/>
              </p:cNvSpPr>
              <p:nvPr>
                <p:ph idx="1"/>
              </p:nvPr>
            </p:nvSpPr>
            <p:spPr>
              <a:xfrm>
                <a:off x="838200" y="1825624"/>
                <a:ext cx="10515600" cy="4788239"/>
              </a:xfrm>
            </p:spPr>
            <p:txBody>
              <a:bodyPr>
                <a:normAutofit/>
              </a:bodyPr>
              <a:lstStyle/>
              <a:p>
                <a:r>
                  <a:rPr lang="en-US" sz="3000" dirty="0"/>
                  <a:t>Space </a:t>
                </a:r>
                <a14:m>
                  <m:oMath xmlns:m="http://schemas.openxmlformats.org/officeDocument/2006/math">
                    <m:acc>
                      <m:accPr>
                        <m:chr m:val="̃"/>
                        <m:ctrlPr>
                          <a:rPr lang="en-US" sz="3000" i="1" dirty="0">
                            <a:solidFill>
                              <a:srgbClr val="C00000"/>
                            </a:solidFill>
                            <a:latin typeface="Cambria Math" panose="02040503050406030204" pitchFamily="18" charset="0"/>
                          </a:rPr>
                        </m:ctrlPr>
                      </m:accPr>
                      <m:e>
                        <m:r>
                          <a:rPr lang="en-US" sz="3000" i="1">
                            <a:solidFill>
                              <a:srgbClr val="C00000"/>
                            </a:solidFill>
                            <a:latin typeface="Cambria Math" panose="02040503050406030204" pitchFamily="18" charset="0"/>
                          </a:rPr>
                          <m:t>𝑂</m:t>
                        </m:r>
                      </m:e>
                    </m:acc>
                    <m:d>
                      <m:dPr>
                        <m:ctrlPr>
                          <a:rPr lang="en-US" sz="3000" i="1">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𝜀</m:t>
                                </m:r>
                              </m:e>
                              <m:sup>
                                <m:r>
                                  <a:rPr lang="en-US" sz="3000" i="1">
                                    <a:solidFill>
                                      <a:srgbClr val="C00000"/>
                                    </a:solidFill>
                                    <a:latin typeface="Cambria Math" panose="02040503050406030204" pitchFamily="18" charset="0"/>
                                  </a:rPr>
                                  <m:t>2</m:t>
                                </m:r>
                              </m:sup>
                            </m:sSup>
                          </m:den>
                        </m:f>
                        <m:func>
                          <m:funcPr>
                            <m:ctrlPr>
                              <a:rPr lang="en-US" sz="3000" i="1">
                                <a:solidFill>
                                  <a:srgbClr val="C00000"/>
                                </a:solidFill>
                                <a:latin typeface="Cambria Math" panose="02040503050406030204" pitchFamily="18" charset="0"/>
                              </a:rPr>
                            </m:ctrlPr>
                          </m:funcPr>
                          <m:fName>
                            <m:r>
                              <m:rPr>
                                <m:sty m:val="p"/>
                              </m:rPr>
                              <a:rPr lang="en-US" sz="3000">
                                <a:solidFill>
                                  <a:srgbClr val="C00000"/>
                                </a:solidFill>
                                <a:latin typeface="Cambria Math" panose="02040503050406030204" pitchFamily="18" charset="0"/>
                              </a:rPr>
                              <m:t>log</m:t>
                            </m:r>
                          </m:fName>
                          <m:e>
                            <m:r>
                              <a:rPr lang="en-US" sz="3000" i="1">
                                <a:solidFill>
                                  <a:srgbClr val="C00000"/>
                                </a:solidFill>
                                <a:latin typeface="Cambria Math" panose="02040503050406030204" pitchFamily="18" charset="0"/>
                              </a:rPr>
                              <m:t>𝑛</m:t>
                            </m:r>
                          </m:e>
                        </m:func>
                      </m:e>
                    </m:d>
                  </m:oMath>
                </a14:m>
                <a:r>
                  <a:rPr lang="en-US" sz="3000" dirty="0"/>
                  <a:t> algorithm for </a:t>
                </a:r>
                <a14:m>
                  <m:oMath xmlns:m="http://schemas.openxmlformats.org/officeDocument/2006/math">
                    <m:d>
                      <m:dPr>
                        <m:ctrlPr>
                          <a:rPr lang="en-US" sz="3000" i="1">
                            <a:solidFill>
                              <a:srgbClr val="C00000"/>
                            </a:solidFill>
                            <a:latin typeface="Cambria Math" panose="02040503050406030204" pitchFamily="18" charset="0"/>
                          </a:rPr>
                        </m:ctrlPr>
                      </m:dPr>
                      <m:e>
                        <m:r>
                          <a:rPr lang="en-US" sz="3000">
                            <a:solidFill>
                              <a:srgbClr val="C00000"/>
                            </a:solidFill>
                            <a:latin typeface="Cambria Math" panose="02040503050406030204" pitchFamily="18" charset="0"/>
                          </a:rPr>
                          <m:t>1+</m:t>
                        </m:r>
                        <m:r>
                          <a:rPr lang="en-US" sz="3000" i="1">
                            <a:solidFill>
                              <a:srgbClr val="C00000"/>
                            </a:solidFill>
                            <a:latin typeface="Cambria Math" panose="02040503050406030204" pitchFamily="18" charset="0"/>
                          </a:rPr>
                          <m:t>𝜀</m:t>
                        </m:r>
                      </m:e>
                    </m:d>
                  </m:oMath>
                </a14:m>
                <a:r>
                  <a:rPr lang="en-US" sz="3000" dirty="0"/>
                  <a:t>-approximation to </a:t>
                </a:r>
                <a14:m>
                  <m:oMath xmlns:m="http://schemas.openxmlformats.org/officeDocument/2006/math">
                    <m:sSub>
                      <m:sSubPr>
                        <m:ctrlPr>
                          <a:rPr lang="en-US" sz="3000" i="1" smtClean="0">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𝐹</m:t>
                        </m:r>
                      </m:e>
                      <m:sub>
                        <m:r>
                          <a:rPr lang="en-US" sz="3000" b="0" i="1" smtClean="0">
                            <a:solidFill>
                              <a:srgbClr val="C00000"/>
                            </a:solidFill>
                            <a:latin typeface="Cambria Math" panose="02040503050406030204" pitchFamily="18" charset="0"/>
                          </a:rPr>
                          <m:t>2</m:t>
                        </m:r>
                      </m:sub>
                    </m:sSub>
                  </m:oMath>
                </a14:m>
                <a:r>
                  <a:rPr lang="en-US" sz="3000" dirty="0"/>
                  <a:t> moment </a:t>
                </a:r>
                <a:r>
                  <a:rPr lang="en-US" sz="3000" dirty="0">
                    <a:solidFill>
                      <a:srgbClr val="0070C0"/>
                    </a:solidFill>
                  </a:rPr>
                  <a:t>[AlonMatiasSzegedy99, BlasiokDingNelson17]</a:t>
                </a:r>
              </a:p>
              <a:p>
                <a:endParaRPr lang="en-US" sz="3000" dirty="0">
                  <a:solidFill>
                    <a:srgbClr val="0070C0"/>
                  </a:solidFill>
                </a:endParaRPr>
              </a:p>
              <a:p>
                <a:r>
                  <a:rPr lang="en-US" sz="3000" dirty="0"/>
                  <a:t>Space </a:t>
                </a:r>
                <a14:m>
                  <m:oMath xmlns:m="http://schemas.openxmlformats.org/officeDocument/2006/math">
                    <m:acc>
                      <m:accPr>
                        <m:chr m:val="̃"/>
                        <m:ctrlPr>
                          <a:rPr lang="en-US" sz="3000" b="0" i="1" dirty="0" smtClean="0">
                            <a:solidFill>
                              <a:srgbClr val="C00000"/>
                            </a:solidFill>
                            <a:latin typeface="Cambria Math" panose="02040503050406030204" pitchFamily="18" charset="0"/>
                          </a:rPr>
                        </m:ctrlPr>
                      </m:accPr>
                      <m:e>
                        <m:r>
                          <a:rPr lang="en-US" sz="3000" i="1">
                            <a:solidFill>
                              <a:srgbClr val="C00000"/>
                            </a:solidFill>
                            <a:latin typeface="Cambria Math" panose="02040503050406030204" pitchFamily="18" charset="0"/>
                          </a:rPr>
                          <m:t>𝑂</m:t>
                        </m:r>
                      </m:e>
                    </m:acc>
                    <m:d>
                      <m:dPr>
                        <m:ctrlPr>
                          <a:rPr lang="en-US" sz="3000" i="1">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𝜀</m:t>
                                </m:r>
                              </m:e>
                              <m:sup>
                                <m:r>
                                  <a:rPr lang="en-US" sz="3000" i="1">
                                    <a:solidFill>
                                      <a:srgbClr val="C00000"/>
                                    </a:solidFill>
                                    <a:latin typeface="Cambria Math" panose="02040503050406030204" pitchFamily="18" charset="0"/>
                                  </a:rPr>
                                  <m:t>2</m:t>
                                </m:r>
                              </m:sup>
                            </m:sSup>
                          </m:den>
                        </m:f>
                        <m:func>
                          <m:funcPr>
                            <m:ctrlPr>
                              <a:rPr lang="en-US" sz="3000" i="1">
                                <a:solidFill>
                                  <a:srgbClr val="C00000"/>
                                </a:solidFill>
                                <a:latin typeface="Cambria Math" panose="02040503050406030204" pitchFamily="18" charset="0"/>
                              </a:rPr>
                            </m:ctrlPr>
                          </m:funcPr>
                          <m:fName>
                            <m:r>
                              <m:rPr>
                                <m:sty m:val="p"/>
                              </m:rPr>
                              <a:rPr lang="en-US" sz="3000">
                                <a:solidFill>
                                  <a:srgbClr val="C00000"/>
                                </a:solidFill>
                                <a:latin typeface="Cambria Math" panose="02040503050406030204" pitchFamily="18" charset="0"/>
                              </a:rPr>
                              <m:t>log</m:t>
                            </m:r>
                          </m:fName>
                          <m:e>
                            <m:r>
                              <a:rPr lang="en-US" sz="3000" i="1">
                                <a:solidFill>
                                  <a:srgbClr val="C00000"/>
                                </a:solidFill>
                                <a:latin typeface="Cambria Math" panose="02040503050406030204" pitchFamily="18" charset="0"/>
                              </a:rPr>
                              <m:t>𝑛</m:t>
                            </m:r>
                          </m:e>
                        </m:func>
                      </m:e>
                    </m:d>
                  </m:oMath>
                </a14:m>
                <a:r>
                  <a:rPr lang="en-US" sz="3000" dirty="0"/>
                  <a:t> robust algorithm for </a:t>
                </a:r>
                <a14:m>
                  <m:oMath xmlns:m="http://schemas.openxmlformats.org/officeDocument/2006/math">
                    <m:d>
                      <m:dPr>
                        <m:ctrlPr>
                          <a:rPr lang="en-US" sz="3000" i="1">
                            <a:solidFill>
                              <a:srgbClr val="C00000"/>
                            </a:solidFill>
                            <a:latin typeface="Cambria Math" panose="02040503050406030204" pitchFamily="18" charset="0"/>
                          </a:rPr>
                        </m:ctrlPr>
                      </m:dPr>
                      <m:e>
                        <m:r>
                          <a:rPr lang="en-US" sz="3000">
                            <a:solidFill>
                              <a:srgbClr val="C00000"/>
                            </a:solidFill>
                            <a:latin typeface="Cambria Math" panose="02040503050406030204" pitchFamily="18" charset="0"/>
                          </a:rPr>
                          <m:t>1+</m:t>
                        </m:r>
                        <m:r>
                          <a:rPr lang="en-US" sz="3000" i="1">
                            <a:solidFill>
                              <a:srgbClr val="C00000"/>
                            </a:solidFill>
                            <a:latin typeface="Cambria Math" panose="02040503050406030204" pitchFamily="18" charset="0"/>
                          </a:rPr>
                          <m:t>𝜀</m:t>
                        </m:r>
                      </m:e>
                    </m:d>
                  </m:oMath>
                </a14:m>
                <a:r>
                  <a:rPr lang="en-US" sz="3000" dirty="0"/>
                  <a:t>-approximation to </a:t>
                </a:r>
                <a14:m>
                  <m:oMath xmlns:m="http://schemas.openxmlformats.org/officeDocument/2006/math">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𝐹</m:t>
                        </m:r>
                      </m:e>
                      <m:sub>
                        <m:r>
                          <a:rPr lang="en-US" sz="3000" i="1">
                            <a:solidFill>
                              <a:srgbClr val="C00000"/>
                            </a:solidFill>
                            <a:latin typeface="Cambria Math" panose="02040503050406030204" pitchFamily="18" charset="0"/>
                          </a:rPr>
                          <m:t>2</m:t>
                        </m:r>
                      </m:sub>
                    </m:sSub>
                  </m:oMath>
                </a14:m>
                <a:r>
                  <a:rPr lang="en-US" sz="3000" dirty="0"/>
                  <a:t> moment </a:t>
                </a:r>
                <a:r>
                  <a:rPr lang="en-US" sz="3000" dirty="0">
                    <a:solidFill>
                      <a:srgbClr val="0070C0"/>
                    </a:solidFill>
                  </a:rPr>
                  <a:t>[WoodruffZhou21]</a:t>
                </a:r>
              </a:p>
              <a:p>
                <a:endParaRPr lang="en-US" sz="3000" dirty="0"/>
              </a:p>
            </p:txBody>
          </p:sp>
        </mc:Choice>
        <mc:Fallback xmlns="">
          <p:sp>
            <p:nvSpPr>
              <p:cNvPr id="3" name="Content Placeholder 2">
                <a:extLst>
                  <a:ext uri="{FF2B5EF4-FFF2-40B4-BE49-F238E27FC236}">
                    <a16:creationId xmlns:a16="http://schemas.microsoft.com/office/drawing/2014/main" id="{3CD298EE-232A-4602-BB51-FA680B6EA672}"/>
                  </a:ext>
                </a:extLst>
              </p:cNvPr>
              <p:cNvSpPr>
                <a:spLocks noGrp="1" noRot="1" noChangeAspect="1" noMove="1" noResize="1" noEditPoints="1" noAdjustHandles="1" noChangeArrowheads="1" noChangeShapeType="1" noTextEdit="1"/>
              </p:cNvSpPr>
              <p:nvPr>
                <p:ph idx="1"/>
              </p:nvPr>
            </p:nvSpPr>
            <p:spPr>
              <a:xfrm>
                <a:off x="838200" y="1825624"/>
                <a:ext cx="10515600" cy="4788239"/>
              </a:xfrm>
              <a:blipFill>
                <a:blip r:embed="rId3"/>
                <a:stretch>
                  <a:fillRect l="-1217" t="-127" r="-1913"/>
                </a:stretch>
              </a:blipFill>
            </p:spPr>
            <p:txBody>
              <a:bodyPr/>
              <a:lstStyle/>
              <a:p>
                <a:r>
                  <a:rPr lang="en-US">
                    <a:noFill/>
                  </a:rPr>
                  <a:t> </a:t>
                </a:r>
              </a:p>
            </p:txBody>
          </p:sp>
        </mc:Fallback>
      </mc:AlternateContent>
    </p:spTree>
    <p:extLst>
      <p:ext uri="{BB962C8B-B14F-4D97-AF65-F5344CB8AC3E}">
        <p14:creationId xmlns:p14="http://schemas.microsoft.com/office/powerpoint/2010/main" val="998647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CE265-0410-7B5F-3E06-2512B3CCE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226AE-43D7-0C81-A216-BB13EBC22146}"/>
              </a:ext>
            </a:extLst>
          </p:cNvPr>
          <p:cNvSpPr>
            <a:spLocks noGrp="1"/>
          </p:cNvSpPr>
          <p:nvPr>
            <p:ph type="title"/>
          </p:nvPr>
        </p:nvSpPr>
        <p:spPr/>
        <p:txBody>
          <a:bodyPr/>
          <a:lstStyle/>
          <a:p>
            <a:r>
              <a:rPr lang="en-US" dirty="0">
                <a:solidFill>
                  <a:srgbClr val="C00000"/>
                </a:solidFill>
              </a:rPr>
              <a:t>Insertion-Deletion Streams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BAB54A-507D-FC68-9904-DD98D6BBBB9D}"/>
                  </a:ext>
                </a:extLst>
              </p:cNvPr>
              <p:cNvSpPr>
                <a:spLocks noGrp="1"/>
              </p:cNvSpPr>
              <p:nvPr>
                <p:ph idx="1"/>
              </p:nvPr>
            </p:nvSpPr>
            <p:spPr>
              <a:xfrm>
                <a:off x="838200" y="1825624"/>
                <a:ext cx="10515600" cy="4788239"/>
              </a:xfrm>
            </p:spPr>
            <p:txBody>
              <a:bodyPr>
                <a:normAutofit/>
              </a:bodyPr>
              <a:lstStyle/>
              <a:p>
                <a:r>
                  <a:rPr lang="en-US" sz="3000" dirty="0"/>
                  <a:t>Space </a:t>
                </a:r>
                <a14:m>
                  <m:oMath xmlns:m="http://schemas.openxmlformats.org/officeDocument/2006/math">
                    <m:r>
                      <a:rPr lang="en-US" sz="3000" b="0" i="1" smtClean="0">
                        <a:solidFill>
                          <a:srgbClr val="C00000"/>
                        </a:solidFill>
                        <a:latin typeface="Cambria Math" panose="02040503050406030204" pitchFamily="18" charset="0"/>
                      </a:rPr>
                      <m:t>𝑂</m:t>
                    </m:r>
                    <m:d>
                      <m:dPr>
                        <m:ctrlPr>
                          <a:rPr lang="en-US" sz="3000" i="1">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𝜀</m:t>
                                </m:r>
                              </m:e>
                              <m:sup>
                                <m:r>
                                  <a:rPr lang="en-US" sz="3000" i="1">
                                    <a:solidFill>
                                      <a:srgbClr val="C00000"/>
                                    </a:solidFill>
                                    <a:latin typeface="Cambria Math" panose="02040503050406030204" pitchFamily="18" charset="0"/>
                                  </a:rPr>
                                  <m:t>2</m:t>
                                </m:r>
                              </m:sup>
                            </m:sSup>
                          </m:den>
                        </m:f>
                        <m:func>
                          <m:funcPr>
                            <m:ctrlPr>
                              <a:rPr lang="en-US" sz="3000" i="1">
                                <a:solidFill>
                                  <a:srgbClr val="C00000"/>
                                </a:solidFill>
                                <a:latin typeface="Cambria Math" panose="02040503050406030204" pitchFamily="18" charset="0"/>
                              </a:rPr>
                            </m:ctrlPr>
                          </m:funcPr>
                          <m:fName>
                            <m:sSup>
                              <m:sSupPr>
                                <m:ctrlPr>
                                  <a:rPr lang="en-US" sz="3000" b="0" i="1" smtClean="0">
                                    <a:solidFill>
                                      <a:srgbClr val="C00000"/>
                                    </a:solidFill>
                                    <a:latin typeface="Cambria Math" panose="02040503050406030204" pitchFamily="18" charset="0"/>
                                  </a:rPr>
                                </m:ctrlPr>
                              </m:sSupPr>
                              <m:e>
                                <m:r>
                                  <m:rPr>
                                    <m:sty m:val="p"/>
                                  </m:rPr>
                                  <a:rPr lang="en-US" sz="3000">
                                    <a:solidFill>
                                      <a:srgbClr val="C00000"/>
                                    </a:solidFill>
                                    <a:latin typeface="Cambria Math" panose="02040503050406030204" pitchFamily="18" charset="0"/>
                                  </a:rPr>
                                  <m:t>log</m:t>
                                </m:r>
                              </m:e>
                              <m:sup>
                                <m:r>
                                  <a:rPr lang="en-US" sz="3000" b="0" i="1" smtClean="0">
                                    <a:solidFill>
                                      <a:srgbClr val="C00000"/>
                                    </a:solidFill>
                                    <a:latin typeface="Cambria Math" panose="02040503050406030204" pitchFamily="18" charset="0"/>
                                  </a:rPr>
                                  <m:t>2</m:t>
                                </m:r>
                              </m:sup>
                            </m:sSup>
                          </m:fName>
                          <m:e>
                            <m:r>
                              <a:rPr lang="en-US" sz="3000" i="1">
                                <a:solidFill>
                                  <a:srgbClr val="C00000"/>
                                </a:solidFill>
                                <a:latin typeface="Cambria Math" panose="02040503050406030204" pitchFamily="18" charset="0"/>
                              </a:rPr>
                              <m:t>𝑛</m:t>
                            </m:r>
                          </m:e>
                        </m:func>
                      </m:e>
                    </m:d>
                  </m:oMath>
                </a14:m>
                <a:r>
                  <a:rPr lang="en-US" sz="3000" dirty="0"/>
                  <a:t> algorithm for </a:t>
                </a:r>
                <a14:m>
                  <m:oMath xmlns:m="http://schemas.openxmlformats.org/officeDocument/2006/math">
                    <m:d>
                      <m:dPr>
                        <m:ctrlPr>
                          <a:rPr lang="en-US" sz="3000" i="1">
                            <a:solidFill>
                              <a:srgbClr val="C00000"/>
                            </a:solidFill>
                            <a:latin typeface="Cambria Math" panose="02040503050406030204" pitchFamily="18" charset="0"/>
                          </a:rPr>
                        </m:ctrlPr>
                      </m:dPr>
                      <m:e>
                        <m:r>
                          <a:rPr lang="en-US" sz="3000">
                            <a:solidFill>
                              <a:srgbClr val="C00000"/>
                            </a:solidFill>
                            <a:latin typeface="Cambria Math" panose="02040503050406030204" pitchFamily="18" charset="0"/>
                          </a:rPr>
                          <m:t>1+</m:t>
                        </m:r>
                        <m:r>
                          <a:rPr lang="en-US" sz="3000" i="1">
                            <a:solidFill>
                              <a:srgbClr val="C00000"/>
                            </a:solidFill>
                            <a:latin typeface="Cambria Math" panose="02040503050406030204" pitchFamily="18" charset="0"/>
                          </a:rPr>
                          <m:t>𝜀</m:t>
                        </m:r>
                      </m:e>
                    </m:d>
                  </m:oMath>
                </a14:m>
                <a:r>
                  <a:rPr lang="en-US" sz="3000" dirty="0"/>
                  <a:t>-approximation to </a:t>
                </a:r>
                <a14:m>
                  <m:oMath xmlns:m="http://schemas.openxmlformats.org/officeDocument/2006/math">
                    <m:sSub>
                      <m:sSubPr>
                        <m:ctrlPr>
                          <a:rPr lang="en-US" sz="3000" i="1" smtClean="0">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𝐹</m:t>
                        </m:r>
                      </m:e>
                      <m:sub>
                        <m:r>
                          <a:rPr lang="en-US" sz="3000" b="0" i="1" smtClean="0">
                            <a:solidFill>
                              <a:srgbClr val="C00000"/>
                            </a:solidFill>
                            <a:latin typeface="Cambria Math" panose="02040503050406030204" pitchFamily="18" charset="0"/>
                          </a:rPr>
                          <m:t>2</m:t>
                        </m:r>
                      </m:sub>
                    </m:sSub>
                  </m:oMath>
                </a14:m>
                <a:r>
                  <a:rPr lang="en-US" sz="3000" dirty="0"/>
                  <a:t> moment </a:t>
                </a:r>
                <a:r>
                  <a:rPr lang="en-US" sz="3000" dirty="0">
                    <a:solidFill>
                      <a:srgbClr val="0070C0"/>
                    </a:solidFill>
                  </a:rPr>
                  <a:t>[AlonMatiasSzegedy99]</a:t>
                </a:r>
              </a:p>
              <a:p>
                <a:endParaRPr lang="en-US" sz="3000" dirty="0">
                  <a:solidFill>
                    <a:srgbClr val="0070C0"/>
                  </a:solidFill>
                </a:endParaRPr>
              </a:p>
              <a:p>
                <a:endParaRPr lang="en-US" sz="3000" dirty="0">
                  <a:solidFill>
                    <a:srgbClr val="0070C0"/>
                  </a:solidFill>
                </a:endParaRPr>
              </a:p>
              <a:p>
                <a:r>
                  <a:rPr lang="en-US" sz="3000" dirty="0"/>
                  <a:t>Space for robust streaming algorithm for approximation to </a:t>
                </a:r>
                <a14:m>
                  <m:oMath xmlns:m="http://schemas.openxmlformats.org/officeDocument/2006/math">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𝐹</m:t>
                        </m:r>
                      </m:e>
                      <m:sub>
                        <m:r>
                          <a:rPr lang="en-US" sz="3000" i="1">
                            <a:solidFill>
                              <a:srgbClr val="C00000"/>
                            </a:solidFill>
                            <a:latin typeface="Cambria Math" panose="02040503050406030204" pitchFamily="18" charset="0"/>
                          </a:rPr>
                          <m:t>2</m:t>
                        </m:r>
                      </m:sub>
                    </m:sSub>
                  </m:oMath>
                </a14:m>
                <a:r>
                  <a:rPr lang="en-US" sz="3000" dirty="0"/>
                  <a:t> moment?</a:t>
                </a:r>
                <a:endParaRPr lang="en-US" sz="3000" dirty="0">
                  <a:solidFill>
                    <a:srgbClr val="0070C0"/>
                  </a:solidFill>
                </a:endParaRPr>
              </a:p>
              <a:p>
                <a:endParaRPr lang="en-US" sz="3000" dirty="0"/>
              </a:p>
            </p:txBody>
          </p:sp>
        </mc:Choice>
        <mc:Fallback xmlns="">
          <p:sp>
            <p:nvSpPr>
              <p:cNvPr id="3" name="Content Placeholder 2">
                <a:extLst>
                  <a:ext uri="{FF2B5EF4-FFF2-40B4-BE49-F238E27FC236}">
                    <a16:creationId xmlns:a16="http://schemas.microsoft.com/office/drawing/2014/main" id="{37BAB54A-507D-FC68-9904-DD98D6BBBB9D}"/>
                  </a:ext>
                </a:extLst>
              </p:cNvPr>
              <p:cNvSpPr>
                <a:spLocks noGrp="1" noRot="1" noChangeAspect="1" noMove="1" noResize="1" noEditPoints="1" noAdjustHandles="1" noChangeArrowheads="1" noChangeShapeType="1" noTextEdit="1"/>
              </p:cNvSpPr>
              <p:nvPr>
                <p:ph idx="1"/>
              </p:nvPr>
            </p:nvSpPr>
            <p:spPr>
              <a:xfrm>
                <a:off x="838200" y="1825624"/>
                <a:ext cx="10515600" cy="4788239"/>
              </a:xfrm>
              <a:blipFill>
                <a:blip r:embed="rId3"/>
                <a:stretch>
                  <a:fillRect l="-1217" t="-127"/>
                </a:stretch>
              </a:blipFill>
            </p:spPr>
            <p:txBody>
              <a:bodyPr/>
              <a:lstStyle/>
              <a:p>
                <a:r>
                  <a:rPr lang="en-US">
                    <a:noFill/>
                  </a:rPr>
                  <a:t> </a:t>
                </a:r>
              </a:p>
            </p:txBody>
          </p:sp>
        </mc:Fallback>
      </mc:AlternateContent>
    </p:spTree>
    <p:extLst>
      <p:ext uri="{BB962C8B-B14F-4D97-AF65-F5344CB8AC3E}">
        <p14:creationId xmlns:p14="http://schemas.microsoft.com/office/powerpoint/2010/main" val="2302289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4B52E-BC3E-78A6-2102-CAC42DE1D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2A442-46F4-5EC2-538B-71C2F2302815}"/>
              </a:ext>
            </a:extLst>
          </p:cNvPr>
          <p:cNvSpPr>
            <a:spLocks noGrp="1"/>
          </p:cNvSpPr>
          <p:nvPr>
            <p:ph type="title"/>
          </p:nvPr>
        </p:nvSpPr>
        <p:spPr/>
        <p:txBody>
          <a:bodyPr/>
          <a:lstStyle/>
          <a:p>
            <a:r>
              <a:rPr lang="en-US" dirty="0">
                <a:solidFill>
                  <a:srgbClr val="C00000"/>
                </a:solidFill>
              </a:rPr>
              <a:t>Linear Sketch</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0105A2-8F4D-F4C5-0DEB-FB496D01D280}"/>
                  </a:ext>
                </a:extLst>
              </p:cNvPr>
              <p:cNvSpPr>
                <a:spLocks noGrp="1"/>
              </p:cNvSpPr>
              <p:nvPr>
                <p:ph idx="1"/>
              </p:nvPr>
            </p:nvSpPr>
            <p:spPr>
              <a:xfrm>
                <a:off x="838200" y="1789999"/>
                <a:ext cx="10684397" cy="4955185"/>
              </a:xfrm>
            </p:spPr>
            <p:txBody>
              <a:bodyPr>
                <a:normAutofit fontScale="92500" lnSpcReduction="20000"/>
              </a:bodyPr>
              <a:lstStyle/>
              <a:p>
                <a:pPr>
                  <a:buClr>
                    <a:schemeClr val="tx1"/>
                  </a:buClr>
                </a:pPr>
                <a:r>
                  <a:rPr lang="en-US" sz="3200" dirty="0"/>
                  <a:t>Algorithm maintains </a:t>
                </a:r>
                <a14:m>
                  <m:oMath xmlns:m="http://schemas.openxmlformats.org/officeDocument/2006/math">
                    <m:r>
                      <a:rPr lang="en-US" sz="3200" b="0" i="1" smtClean="0">
                        <a:solidFill>
                          <a:srgbClr val="C00000"/>
                        </a:solidFill>
                        <a:latin typeface="Cambria Math" panose="02040503050406030204" pitchFamily="18" charset="0"/>
                      </a:rPr>
                      <m:t>𝐴𝑥</m:t>
                    </m:r>
                  </m:oMath>
                </a14:m>
                <a:r>
                  <a:rPr lang="en-US" sz="3200" dirty="0"/>
                  <a:t> for a matrix </a:t>
                </a:r>
                <a14:m>
                  <m:oMath xmlns:m="http://schemas.openxmlformats.org/officeDocument/2006/math">
                    <m:r>
                      <a:rPr lang="en-US" sz="3200" b="0" i="1" smtClean="0">
                        <a:solidFill>
                          <a:srgbClr val="C00000"/>
                        </a:solidFill>
                        <a:latin typeface="Cambria Math" panose="02040503050406030204" pitchFamily="18" charset="0"/>
                      </a:rPr>
                      <m:t>𝐴</m:t>
                    </m:r>
                  </m:oMath>
                </a14:m>
                <a:r>
                  <a:rPr lang="en-US" sz="3200" dirty="0"/>
                  <a:t> throughout the stream</a:t>
                </a:r>
              </a:p>
              <a:p>
                <a:pPr marL="457200" lvl="1" indent="0">
                  <a:buClr>
                    <a:schemeClr val="tx1"/>
                  </a:buClr>
                  <a:buNone/>
                </a:pPr>
                <a:endParaRPr lang="en-US" sz="3200" dirty="0"/>
              </a:p>
              <a:p>
                <a:pPr>
                  <a:buClr>
                    <a:schemeClr val="tx1"/>
                  </a:buClr>
                </a:pPr>
                <a:r>
                  <a:rPr lang="en-US" sz="3200" dirty="0"/>
                  <a:t>All insertion-deletion streaming algorithms on a sufficiently long stream might as well be linear sketches </a:t>
                </a:r>
                <a:r>
                  <a:rPr lang="en-US" sz="3200" dirty="0">
                    <a:solidFill>
                      <a:srgbClr val="0070C0"/>
                    </a:solidFill>
                  </a:rPr>
                  <a:t>[LiNguyenWoodruff14, AiHuLiWoodruff16]</a:t>
                </a:r>
              </a:p>
              <a:p>
                <a:pPr>
                  <a:buClr>
                    <a:schemeClr val="tx1"/>
                  </a:buClr>
                </a:pPr>
                <a:endParaRPr lang="en-US" sz="3200" dirty="0">
                  <a:solidFill>
                    <a:srgbClr val="0070C0"/>
                  </a:solidFill>
                </a:endParaRPr>
              </a:p>
              <a:p>
                <a:pPr>
                  <a:buClr>
                    <a:schemeClr val="tx1"/>
                  </a:buClr>
                </a:pPr>
                <a:r>
                  <a:rPr lang="en-US" sz="3200" dirty="0"/>
                  <a:t>Any multiplicative approximation algorithm for </a:t>
                </a:r>
                <a14:m>
                  <m:oMath xmlns:m="http://schemas.openxmlformats.org/officeDocument/2006/math">
                    <m:sSub>
                      <m:sSubPr>
                        <m:ctrlPr>
                          <a:rPr lang="en-US" sz="3200" i="1">
                            <a:solidFill>
                              <a:srgbClr val="C00000"/>
                            </a:solidFill>
                            <a:latin typeface="Cambria Math" panose="02040503050406030204" pitchFamily="18" charset="0"/>
                          </a:rPr>
                        </m:ctrlPr>
                      </m:sSubPr>
                      <m:e>
                        <m:r>
                          <a:rPr lang="en-US" sz="3200" i="1">
                            <a:solidFill>
                              <a:srgbClr val="C00000"/>
                            </a:solidFill>
                            <a:latin typeface="Cambria Math" panose="02040503050406030204" pitchFamily="18" charset="0"/>
                          </a:rPr>
                          <m:t>𝐹</m:t>
                        </m:r>
                      </m:e>
                      <m:sub>
                        <m:r>
                          <a:rPr lang="en-US" sz="3200" b="0" i="1" smtClean="0">
                            <a:solidFill>
                              <a:srgbClr val="C00000"/>
                            </a:solidFill>
                            <a:latin typeface="Cambria Math" panose="02040503050406030204" pitchFamily="18" charset="0"/>
                          </a:rPr>
                          <m:t>𝑝</m:t>
                        </m:r>
                      </m:sub>
                    </m:sSub>
                  </m:oMath>
                </a14:m>
                <a:r>
                  <a:rPr lang="en-US" sz="3200" dirty="0"/>
                  <a:t> estimation based on a linear sketch requires </a:t>
                </a:r>
                <a14:m>
                  <m:oMath xmlns:m="http://schemas.openxmlformats.org/officeDocument/2006/math">
                    <m:r>
                      <m:rPr>
                        <m:sty m:val="p"/>
                      </m:rPr>
                      <a:rPr lang="en-US" sz="3200" b="0" i="0" smtClean="0">
                        <a:solidFill>
                          <a:srgbClr val="C00000"/>
                        </a:solidFill>
                        <a:latin typeface="Cambria Math" panose="02040503050406030204" pitchFamily="18" charset="0"/>
                      </a:rPr>
                      <m:t>Ω</m:t>
                    </m:r>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𝑛</m:t>
                    </m:r>
                    <m:r>
                      <a:rPr lang="en-US" sz="3200" b="0" i="1" smtClean="0">
                        <a:solidFill>
                          <a:srgbClr val="C00000"/>
                        </a:solidFill>
                        <a:latin typeface="Cambria Math" panose="02040503050406030204" pitchFamily="18" charset="0"/>
                      </a:rPr>
                      <m:t>)</m:t>
                    </m:r>
                  </m:oMath>
                </a14:m>
                <a:r>
                  <a:rPr lang="en-US" sz="3200" dirty="0"/>
                  <a:t> space </a:t>
                </a:r>
                <a:r>
                  <a:rPr lang="en-US" sz="3200" dirty="0">
                    <a:solidFill>
                      <a:srgbClr val="0070C0"/>
                    </a:solidFill>
                  </a:rPr>
                  <a:t>[HardtWoodruff13, GribelyukLinWoodruffYuZhou25]</a:t>
                </a:r>
              </a:p>
              <a:p>
                <a:pPr>
                  <a:buClr>
                    <a:schemeClr val="tx1"/>
                  </a:buClr>
                </a:pPr>
                <a:endParaRPr lang="en-US" sz="3200" dirty="0">
                  <a:solidFill>
                    <a:srgbClr val="0070C0"/>
                  </a:solidFill>
                </a:endParaRPr>
              </a:p>
              <a:p>
                <a:pPr>
                  <a:buClr>
                    <a:schemeClr val="tx1"/>
                  </a:buClr>
                </a:pPr>
                <a:r>
                  <a:rPr lang="en-US" sz="3200" dirty="0"/>
                  <a:t>Conjecture: </a:t>
                </a:r>
                <a14:m>
                  <m:oMath xmlns:m="http://schemas.openxmlformats.org/officeDocument/2006/math">
                    <m:r>
                      <m:rPr>
                        <m:sty m:val="p"/>
                      </m:rPr>
                      <a:rPr lang="en-US" sz="3200">
                        <a:solidFill>
                          <a:srgbClr val="C00000"/>
                        </a:solidFill>
                        <a:latin typeface="Cambria Math" panose="02040503050406030204" pitchFamily="18" charset="0"/>
                      </a:rPr>
                      <m:t>Ω</m:t>
                    </m:r>
                    <m:r>
                      <a:rPr lang="en-US" sz="3200" i="1">
                        <a:solidFill>
                          <a:srgbClr val="C00000"/>
                        </a:solidFill>
                        <a:latin typeface="Cambria Math" panose="02040503050406030204" pitchFamily="18" charset="0"/>
                      </a:rPr>
                      <m:t>(</m:t>
                    </m:r>
                    <m:r>
                      <a:rPr lang="en-US" sz="3200" i="1">
                        <a:solidFill>
                          <a:srgbClr val="C00000"/>
                        </a:solidFill>
                        <a:latin typeface="Cambria Math" panose="02040503050406030204" pitchFamily="18" charset="0"/>
                      </a:rPr>
                      <m:t>𝑛</m:t>
                    </m:r>
                    <m:r>
                      <a:rPr lang="en-US" sz="3200" i="1">
                        <a:solidFill>
                          <a:srgbClr val="C00000"/>
                        </a:solidFill>
                        <a:latin typeface="Cambria Math" panose="02040503050406030204" pitchFamily="18" charset="0"/>
                      </a:rPr>
                      <m:t>)</m:t>
                    </m:r>
                  </m:oMath>
                </a14:m>
                <a:r>
                  <a:rPr lang="en-US" sz="3200" dirty="0"/>
                  <a:t> space is necessary for any </a:t>
                </a:r>
                <a:r>
                  <a:rPr lang="en-US" sz="3200" dirty="0" err="1"/>
                  <a:t>adversarially</a:t>
                </a:r>
                <a:r>
                  <a:rPr lang="en-US" sz="3200" dirty="0"/>
                  <a:t> robust insertion deletion algorithm</a:t>
                </a:r>
                <a:endParaRPr lang="en-US" sz="3200" dirty="0">
                  <a:solidFill>
                    <a:srgbClr val="0070C0"/>
                  </a:solidFill>
                </a:endParaRPr>
              </a:p>
            </p:txBody>
          </p:sp>
        </mc:Choice>
        <mc:Fallback xmlns="">
          <p:sp>
            <p:nvSpPr>
              <p:cNvPr id="3" name="Content Placeholder 2">
                <a:extLst>
                  <a:ext uri="{FF2B5EF4-FFF2-40B4-BE49-F238E27FC236}">
                    <a16:creationId xmlns:a16="http://schemas.microsoft.com/office/drawing/2014/main" id="{980105A2-8F4D-F4C5-0DEB-FB496D01D280}"/>
                  </a:ext>
                </a:extLst>
              </p:cNvPr>
              <p:cNvSpPr>
                <a:spLocks noGrp="1" noRot="1" noChangeAspect="1" noMove="1" noResize="1" noEditPoints="1" noAdjustHandles="1" noChangeArrowheads="1" noChangeShapeType="1" noTextEdit="1"/>
              </p:cNvSpPr>
              <p:nvPr>
                <p:ph idx="1"/>
              </p:nvPr>
            </p:nvSpPr>
            <p:spPr>
              <a:xfrm>
                <a:off x="838200" y="1789999"/>
                <a:ext cx="10684397" cy="4955185"/>
              </a:xfrm>
              <a:blipFill>
                <a:blip r:embed="rId3"/>
                <a:stretch>
                  <a:fillRect l="-1199" t="-3941"/>
                </a:stretch>
              </a:blipFill>
            </p:spPr>
            <p:txBody>
              <a:bodyPr/>
              <a:lstStyle/>
              <a:p>
                <a:r>
                  <a:rPr lang="en-US">
                    <a:noFill/>
                  </a:rPr>
                  <a:t> </a:t>
                </a:r>
              </a:p>
            </p:txBody>
          </p:sp>
        </mc:Fallback>
      </mc:AlternateContent>
    </p:spTree>
    <p:extLst>
      <p:ext uri="{BB962C8B-B14F-4D97-AF65-F5344CB8AC3E}">
        <p14:creationId xmlns:p14="http://schemas.microsoft.com/office/powerpoint/2010/main" val="3044203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58E4E-422F-01C8-6146-C37AAA816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00072-3A2D-E9FD-D71F-5FA113A941AF}"/>
              </a:ext>
            </a:extLst>
          </p:cNvPr>
          <p:cNvSpPr>
            <a:spLocks noGrp="1"/>
          </p:cNvSpPr>
          <p:nvPr>
            <p:ph type="title"/>
          </p:nvPr>
        </p:nvSpPr>
        <p:spPr>
          <a:xfrm>
            <a:off x="838200" y="244137"/>
            <a:ext cx="10515600" cy="1325563"/>
          </a:xfrm>
        </p:spPr>
        <p:txBody>
          <a:bodyPr/>
          <a:lstStyle/>
          <a:p>
            <a:r>
              <a:rPr lang="en-US" dirty="0">
                <a:solidFill>
                  <a:srgbClr val="C00000"/>
                </a:solidFill>
              </a:rPr>
              <a:t>Our Results, Adversarial Robustness on  Insertion-Deletion Streams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32EE6F-0B6D-65E2-E943-0859D3B9F97F}"/>
                  </a:ext>
                </a:extLst>
              </p:cNvPr>
              <p:cNvSpPr>
                <a:spLocks noGrp="1"/>
              </p:cNvSpPr>
              <p:nvPr>
                <p:ph idx="1"/>
              </p:nvPr>
            </p:nvSpPr>
            <p:spPr>
              <a:xfrm>
                <a:off x="838200" y="1825624"/>
                <a:ext cx="10515600" cy="4788239"/>
              </a:xfrm>
            </p:spPr>
            <p:txBody>
              <a:bodyPr>
                <a:normAutofit fontScale="92500" lnSpcReduction="10000"/>
              </a:bodyPr>
              <a:lstStyle/>
              <a:p>
                <a:r>
                  <a:rPr lang="en-US" sz="3000" dirty="0"/>
                  <a:t>We refute the </a:t>
                </a:r>
                <a14:m>
                  <m:oMath xmlns:m="http://schemas.openxmlformats.org/officeDocument/2006/math">
                    <m:r>
                      <m:rPr>
                        <m:sty m:val="p"/>
                      </m:rPr>
                      <a:rPr lang="en-US" sz="3000" b="0" i="0" smtClean="0">
                        <a:solidFill>
                          <a:srgbClr val="C00000"/>
                        </a:solidFill>
                        <a:latin typeface="Cambria Math" panose="02040503050406030204" pitchFamily="18" charset="0"/>
                      </a:rPr>
                      <m:t>Ω</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𝑛</m:t>
                    </m:r>
                    <m:r>
                      <a:rPr lang="en-US" sz="3000" b="0" i="1" smtClean="0">
                        <a:solidFill>
                          <a:srgbClr val="C00000"/>
                        </a:solidFill>
                        <a:latin typeface="Cambria Math" panose="02040503050406030204" pitchFamily="18" charset="0"/>
                      </a:rPr>
                      <m:t>)</m:t>
                    </m:r>
                  </m:oMath>
                </a14:m>
                <a:r>
                  <a:rPr lang="en-US" sz="3000" dirty="0"/>
                  <a:t> conjecture!! We use a non-linear sketch!!</a:t>
                </a:r>
              </a:p>
              <a:p>
                <a:endParaRPr lang="en-US" sz="3000" dirty="0"/>
              </a:p>
              <a:p>
                <a:r>
                  <a:rPr lang="en-US" sz="3000" dirty="0"/>
                  <a:t>Space </a:t>
                </a:r>
                <a14:m>
                  <m:oMath xmlns:m="http://schemas.openxmlformats.org/officeDocument/2006/math">
                    <m:r>
                      <m:rPr>
                        <m:sty m:val="p"/>
                      </m:rPr>
                      <a:rPr lang="en-US" sz="3000" b="0" i="0" smtClean="0">
                        <a:solidFill>
                          <a:srgbClr val="C00000"/>
                        </a:solidFill>
                        <a:latin typeface="Cambria Math" panose="02040503050406030204" pitchFamily="18" charset="0"/>
                      </a:rPr>
                      <m:t>poly</m:t>
                    </m:r>
                    <m:d>
                      <m:dPr>
                        <m:ctrlPr>
                          <a:rPr lang="en-US" sz="3000" i="1">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r>
                              <a:rPr lang="en-US" sz="3000" b="0" i="1" smtClean="0">
                                <a:solidFill>
                                  <a:srgbClr val="C00000"/>
                                </a:solidFill>
                                <a:latin typeface="Cambria Math" panose="02040503050406030204" pitchFamily="18" charset="0"/>
                              </a:rPr>
                              <m:t>𝜀</m:t>
                            </m:r>
                          </m:den>
                        </m:f>
                        <m:r>
                          <a:rPr lang="en-US" sz="3000" b="0" i="1" smtClean="0">
                            <a:solidFill>
                              <a:srgbClr val="C00000"/>
                            </a:solidFill>
                            <a:latin typeface="Cambria Math" panose="02040503050406030204" pitchFamily="18" charset="0"/>
                          </a:rPr>
                          <m:t>,</m:t>
                        </m:r>
                        <m:func>
                          <m:funcPr>
                            <m:ctrlPr>
                              <a:rPr lang="en-US" sz="3000" b="0" i="1" smtClean="0">
                                <a:solidFill>
                                  <a:srgbClr val="C00000"/>
                                </a:solidFill>
                                <a:latin typeface="Cambria Math" panose="02040503050406030204" pitchFamily="18" charset="0"/>
                              </a:rPr>
                            </m:ctrlPr>
                          </m:funcPr>
                          <m:fName>
                            <m:r>
                              <m:rPr>
                                <m:sty m:val="p"/>
                              </m:rPr>
                              <a:rPr lang="en-US" sz="3000" i="0" smtClean="0">
                                <a:solidFill>
                                  <a:srgbClr val="C00000"/>
                                </a:solidFill>
                                <a:latin typeface="Cambria Math" panose="02040503050406030204" pitchFamily="18" charset="0"/>
                              </a:rPr>
                              <m:t>log</m:t>
                            </m:r>
                          </m:fName>
                          <m:e>
                            <m:r>
                              <a:rPr lang="en-US" sz="3000" b="0" i="1" smtClean="0">
                                <a:solidFill>
                                  <a:srgbClr val="C00000"/>
                                </a:solidFill>
                                <a:latin typeface="Cambria Math" panose="02040503050406030204" pitchFamily="18" charset="0"/>
                              </a:rPr>
                              <m:t>𝑛</m:t>
                            </m:r>
                          </m:e>
                        </m:func>
                      </m:e>
                    </m:d>
                  </m:oMath>
                </a14:m>
                <a:r>
                  <a:rPr lang="en-US" sz="3000" dirty="0"/>
                  <a:t> algorithm for </a:t>
                </a:r>
                <a14:m>
                  <m:oMath xmlns:m="http://schemas.openxmlformats.org/officeDocument/2006/math">
                    <m:d>
                      <m:dPr>
                        <m:ctrlPr>
                          <a:rPr lang="en-US" sz="3000" i="1">
                            <a:solidFill>
                              <a:srgbClr val="C00000"/>
                            </a:solidFill>
                            <a:latin typeface="Cambria Math" panose="02040503050406030204" pitchFamily="18" charset="0"/>
                          </a:rPr>
                        </m:ctrlPr>
                      </m:dPr>
                      <m:e>
                        <m:r>
                          <a:rPr lang="en-US" sz="3000">
                            <a:solidFill>
                              <a:srgbClr val="C00000"/>
                            </a:solidFill>
                            <a:latin typeface="Cambria Math" panose="02040503050406030204" pitchFamily="18" charset="0"/>
                          </a:rPr>
                          <m:t>1+</m:t>
                        </m:r>
                        <m:r>
                          <a:rPr lang="en-US" sz="3000" i="1">
                            <a:solidFill>
                              <a:srgbClr val="C00000"/>
                            </a:solidFill>
                            <a:latin typeface="Cambria Math" panose="02040503050406030204" pitchFamily="18" charset="0"/>
                          </a:rPr>
                          <m:t>𝜀</m:t>
                        </m:r>
                      </m:e>
                    </m:d>
                  </m:oMath>
                </a14:m>
                <a:r>
                  <a:rPr lang="en-US" sz="3000" dirty="0"/>
                  <a:t>-approximation to </a:t>
                </a:r>
                <a14:m>
                  <m:oMath xmlns:m="http://schemas.openxmlformats.org/officeDocument/2006/math">
                    <m:sSub>
                      <m:sSubPr>
                        <m:ctrlPr>
                          <a:rPr lang="en-US" sz="3000" i="1" smtClean="0">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𝐹</m:t>
                        </m:r>
                      </m:e>
                      <m:sub>
                        <m:r>
                          <a:rPr lang="en-US" sz="3000" b="0" i="1" smtClean="0">
                            <a:solidFill>
                              <a:srgbClr val="C00000"/>
                            </a:solidFill>
                            <a:latin typeface="Cambria Math" panose="02040503050406030204" pitchFamily="18" charset="0"/>
                          </a:rPr>
                          <m:t>2</m:t>
                        </m:r>
                      </m:sub>
                    </m:sSub>
                  </m:oMath>
                </a14:m>
                <a:r>
                  <a:rPr lang="en-US" sz="3000" dirty="0"/>
                  <a:t> moment</a:t>
                </a:r>
                <a:endParaRPr lang="en-US" sz="3000" dirty="0">
                  <a:solidFill>
                    <a:srgbClr val="0070C0"/>
                  </a:solidFill>
                </a:endParaRPr>
              </a:p>
              <a:p>
                <a:endParaRPr lang="en-US" sz="3000" dirty="0">
                  <a:solidFill>
                    <a:srgbClr val="0070C0"/>
                  </a:solidFill>
                </a:endParaRPr>
              </a:p>
              <a:p>
                <a:r>
                  <a:rPr lang="en-US" sz="3000" dirty="0"/>
                  <a:t>Space </a:t>
                </a:r>
                <a14:m>
                  <m:oMath xmlns:m="http://schemas.openxmlformats.org/officeDocument/2006/math">
                    <m:r>
                      <m:rPr>
                        <m:sty m:val="p"/>
                      </m:rPr>
                      <a:rPr lang="en-US" sz="3000">
                        <a:solidFill>
                          <a:srgbClr val="C00000"/>
                        </a:solidFill>
                        <a:latin typeface="Cambria Math" panose="02040503050406030204" pitchFamily="18" charset="0"/>
                      </a:rPr>
                      <m:t>poly</m:t>
                    </m:r>
                    <m:d>
                      <m:dPr>
                        <m:ctrlPr>
                          <a:rPr lang="en-US" sz="3000" i="1">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r>
                              <a:rPr lang="en-US" sz="3000" i="1">
                                <a:solidFill>
                                  <a:srgbClr val="C00000"/>
                                </a:solidFill>
                                <a:latin typeface="Cambria Math" panose="02040503050406030204" pitchFamily="18" charset="0"/>
                              </a:rPr>
                              <m:t>𝜀</m:t>
                            </m:r>
                          </m:den>
                        </m:f>
                        <m:r>
                          <a:rPr lang="en-US" sz="3000" i="1">
                            <a:solidFill>
                              <a:srgbClr val="C00000"/>
                            </a:solidFill>
                            <a:latin typeface="Cambria Math" panose="02040503050406030204" pitchFamily="18" charset="0"/>
                          </a:rPr>
                          <m:t>,</m:t>
                        </m:r>
                        <m:func>
                          <m:funcPr>
                            <m:ctrlPr>
                              <a:rPr lang="en-US" sz="3000" i="1">
                                <a:solidFill>
                                  <a:srgbClr val="C00000"/>
                                </a:solidFill>
                                <a:latin typeface="Cambria Math" panose="02040503050406030204" pitchFamily="18" charset="0"/>
                              </a:rPr>
                            </m:ctrlPr>
                          </m:funcPr>
                          <m:fName>
                            <m:r>
                              <m:rPr>
                                <m:sty m:val="p"/>
                              </m:rPr>
                              <a:rPr lang="en-US" sz="3000">
                                <a:solidFill>
                                  <a:srgbClr val="C00000"/>
                                </a:solidFill>
                                <a:latin typeface="Cambria Math" panose="02040503050406030204" pitchFamily="18" charset="0"/>
                              </a:rPr>
                              <m:t>log</m:t>
                            </m:r>
                          </m:fName>
                          <m:e>
                            <m:r>
                              <a:rPr lang="en-US" sz="3000" i="1">
                                <a:solidFill>
                                  <a:srgbClr val="C00000"/>
                                </a:solidFill>
                                <a:latin typeface="Cambria Math" panose="02040503050406030204" pitchFamily="18" charset="0"/>
                              </a:rPr>
                              <m:t>𝑛</m:t>
                            </m:r>
                          </m:e>
                        </m:func>
                      </m:e>
                    </m:d>
                  </m:oMath>
                </a14:m>
                <a:r>
                  <a:rPr lang="en-US" sz="3000" dirty="0"/>
                  <a:t> algorithm for </a:t>
                </a:r>
                <a14:m>
                  <m:oMath xmlns:m="http://schemas.openxmlformats.org/officeDocument/2006/math">
                    <m:sSub>
                      <m:sSubPr>
                        <m:ctrlPr>
                          <a:rPr lang="en-US" sz="3000" b="0" i="1" smtClean="0">
                            <a:solidFill>
                              <a:srgbClr val="C00000"/>
                            </a:solidFill>
                            <a:latin typeface="Cambria Math" panose="02040503050406030204" pitchFamily="18" charset="0"/>
                          </a:rPr>
                        </m:ctrlPr>
                      </m:sSubPr>
                      <m:e>
                        <m:r>
                          <a:rPr lang="en-US" sz="3000" b="0" i="1" smtClean="0">
                            <a:solidFill>
                              <a:srgbClr val="C00000"/>
                            </a:solidFill>
                            <a:latin typeface="Cambria Math" panose="02040503050406030204" pitchFamily="18" charset="0"/>
                          </a:rPr>
                          <m:t>𝐿</m:t>
                        </m:r>
                      </m:e>
                      <m:sub>
                        <m:r>
                          <a:rPr lang="en-US" sz="3000" b="0" i="1" smtClean="0">
                            <a:solidFill>
                              <a:srgbClr val="C00000"/>
                            </a:solidFill>
                            <a:latin typeface="Cambria Math" panose="02040503050406030204" pitchFamily="18" charset="0"/>
                          </a:rPr>
                          <m:t>2</m:t>
                        </m:r>
                      </m:sub>
                    </m:sSub>
                  </m:oMath>
                </a14:m>
                <a:r>
                  <a:rPr lang="en-US" sz="3000" dirty="0"/>
                  <a:t> heavy-hitters</a:t>
                </a:r>
              </a:p>
              <a:p>
                <a:endParaRPr lang="en-US" sz="3000" dirty="0">
                  <a:solidFill>
                    <a:srgbClr val="0070C0"/>
                  </a:solidFill>
                </a:endParaRPr>
              </a:p>
              <a:p>
                <a:r>
                  <a:rPr lang="en-US" sz="3000" dirty="0"/>
                  <a:t>Space </a:t>
                </a:r>
                <a14:m>
                  <m:oMath xmlns:m="http://schemas.openxmlformats.org/officeDocument/2006/math">
                    <m:sSup>
                      <m:sSupPr>
                        <m:ctrlPr>
                          <a:rPr lang="en-US" sz="3000" b="0" i="1" smtClean="0">
                            <a:solidFill>
                              <a:srgbClr val="C00000"/>
                            </a:solidFill>
                            <a:latin typeface="Cambria Math" panose="02040503050406030204" pitchFamily="18" charset="0"/>
                          </a:rPr>
                        </m:ctrlPr>
                      </m:sSupPr>
                      <m:e>
                        <m:r>
                          <a:rPr lang="en-US" sz="3000" b="0" i="1" smtClean="0">
                            <a:solidFill>
                              <a:srgbClr val="C00000"/>
                            </a:solidFill>
                            <a:latin typeface="Cambria Math" panose="02040503050406030204" pitchFamily="18" charset="0"/>
                          </a:rPr>
                          <m:t>𝑛</m:t>
                        </m:r>
                      </m:e>
                      <m:sup>
                        <m:r>
                          <a:rPr lang="en-US" sz="3000" b="0" i="1" smtClean="0">
                            <a:solidFill>
                              <a:srgbClr val="C00000"/>
                            </a:solidFill>
                            <a:latin typeface="Cambria Math" panose="02040503050406030204" pitchFamily="18" charset="0"/>
                          </a:rPr>
                          <m:t>1/</m:t>
                        </m:r>
                        <m:r>
                          <a:rPr lang="en-US" sz="3000" b="0" i="1" smtClean="0">
                            <a:solidFill>
                              <a:srgbClr val="C00000"/>
                            </a:solidFill>
                            <a:latin typeface="Cambria Math" panose="02040503050406030204" pitchFamily="18" charset="0"/>
                          </a:rPr>
                          <m:t>𝐶</m:t>
                        </m:r>
                      </m:sup>
                    </m:sSup>
                  </m:oMath>
                </a14:m>
                <a:r>
                  <a:rPr lang="en-US" sz="3000" dirty="0">
                    <a:solidFill>
                      <a:srgbClr val="7030A0"/>
                    </a:solidFill>
                  </a:rPr>
                  <a:t> </a:t>
                </a:r>
                <a:r>
                  <a:rPr lang="en-US" sz="3000" dirty="0"/>
                  <a:t>overhead</a:t>
                </a:r>
                <a:r>
                  <a:rPr lang="en-US" sz="3000" dirty="0">
                    <a:solidFill>
                      <a:srgbClr val="7030A0"/>
                    </a:solidFill>
                  </a:rPr>
                  <a:t> </a:t>
                </a:r>
                <a:r>
                  <a:rPr lang="en-US" sz="3000" dirty="0"/>
                  <a:t>for algorithm for </a:t>
                </a:r>
                <a14:m>
                  <m:oMath xmlns:m="http://schemas.openxmlformats.org/officeDocument/2006/math">
                    <m:sSup>
                      <m:sSupPr>
                        <m:ctrlPr>
                          <a:rPr lang="en-US" sz="3000" b="0" i="1" smtClean="0">
                            <a:solidFill>
                              <a:srgbClr val="C00000"/>
                            </a:solidFill>
                            <a:latin typeface="Cambria Math" panose="02040503050406030204" pitchFamily="18" charset="0"/>
                          </a:rPr>
                        </m:ctrlPr>
                      </m:sSupPr>
                      <m:e>
                        <m:r>
                          <a:rPr lang="en-US" sz="3000" b="0" i="1" smtClean="0">
                            <a:solidFill>
                              <a:srgbClr val="C00000"/>
                            </a:solidFill>
                            <a:latin typeface="Cambria Math" panose="02040503050406030204" pitchFamily="18" charset="0"/>
                          </a:rPr>
                          <m:t>2</m:t>
                        </m:r>
                      </m:e>
                      <m:sup>
                        <m:r>
                          <a:rPr lang="en-US" sz="3000" b="0" i="1" smtClean="0">
                            <a:solidFill>
                              <a:srgbClr val="C00000"/>
                            </a:solidFill>
                            <a:latin typeface="Cambria Math" panose="02040503050406030204" pitchFamily="18" charset="0"/>
                          </a:rPr>
                          <m:t>𝑂</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𝐶</m:t>
                        </m:r>
                        <m:r>
                          <a:rPr lang="en-US" sz="3000" b="0" i="1" smtClean="0">
                            <a:solidFill>
                              <a:srgbClr val="C00000"/>
                            </a:solidFill>
                            <a:latin typeface="Cambria Math" panose="02040503050406030204" pitchFamily="18" charset="0"/>
                          </a:rPr>
                          <m:t>)</m:t>
                        </m:r>
                      </m:sup>
                    </m:sSup>
                  </m:oMath>
                </a14:m>
                <a:r>
                  <a:rPr lang="en-US" sz="3000" dirty="0"/>
                  <a:t>-approximation to functions with approximate triangle inequality; trade-off between space blow-up and approximation factor</a:t>
                </a:r>
              </a:p>
              <a:p>
                <a:pPr marL="0" indent="0">
                  <a:buNone/>
                </a:pPr>
                <a:endParaRPr lang="en-US" sz="3000" i="1" dirty="0">
                  <a:solidFill>
                    <a:srgbClr val="7030A0"/>
                  </a:solidFill>
                </a:endParaRPr>
              </a:p>
            </p:txBody>
          </p:sp>
        </mc:Choice>
        <mc:Fallback xmlns="">
          <p:sp>
            <p:nvSpPr>
              <p:cNvPr id="3" name="Content Placeholder 2">
                <a:extLst>
                  <a:ext uri="{FF2B5EF4-FFF2-40B4-BE49-F238E27FC236}">
                    <a16:creationId xmlns:a16="http://schemas.microsoft.com/office/drawing/2014/main" id="{D632EE6F-0B6D-65E2-E943-0859D3B9F97F}"/>
                  </a:ext>
                </a:extLst>
              </p:cNvPr>
              <p:cNvSpPr>
                <a:spLocks noGrp="1" noRot="1" noChangeAspect="1" noMove="1" noResize="1" noEditPoints="1" noAdjustHandles="1" noChangeArrowheads="1" noChangeShapeType="1" noTextEdit="1"/>
              </p:cNvSpPr>
              <p:nvPr>
                <p:ph idx="1"/>
              </p:nvPr>
            </p:nvSpPr>
            <p:spPr>
              <a:xfrm>
                <a:off x="838200" y="1825624"/>
                <a:ext cx="10515600" cy="4788239"/>
              </a:xfrm>
              <a:blipFill>
                <a:blip r:embed="rId3"/>
                <a:stretch>
                  <a:fillRect l="-1043" t="-2799" b="-254"/>
                </a:stretch>
              </a:blipFill>
            </p:spPr>
            <p:txBody>
              <a:bodyPr/>
              <a:lstStyle/>
              <a:p>
                <a:r>
                  <a:rPr lang="en-US">
                    <a:noFill/>
                  </a:rPr>
                  <a:t> </a:t>
                </a:r>
              </a:p>
            </p:txBody>
          </p:sp>
        </mc:Fallback>
      </mc:AlternateContent>
    </p:spTree>
    <p:extLst>
      <p:ext uri="{BB962C8B-B14F-4D97-AF65-F5344CB8AC3E}">
        <p14:creationId xmlns:p14="http://schemas.microsoft.com/office/powerpoint/2010/main" val="280465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E2B3C-7E22-B923-74F8-6C09AE0E6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3E8E9-499F-0667-5A2D-B72FBFED3984}"/>
              </a:ext>
            </a:extLst>
          </p:cNvPr>
          <p:cNvSpPr>
            <a:spLocks noGrp="1"/>
          </p:cNvSpPr>
          <p:nvPr>
            <p:ph type="title"/>
          </p:nvPr>
        </p:nvSpPr>
        <p:spPr/>
        <p:txBody>
          <a:bodyPr/>
          <a:lstStyle/>
          <a:p>
            <a:r>
              <a:rPr lang="en-US" dirty="0">
                <a:solidFill>
                  <a:srgbClr val="C00000"/>
                </a:solidFill>
              </a:rPr>
              <a:t>Bounded Computation Paths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0DF906-0959-A952-2B5D-48DF7EE1923A}"/>
                  </a:ext>
                </a:extLst>
              </p:cNvPr>
              <p:cNvSpPr>
                <a:spLocks noGrp="1"/>
              </p:cNvSpPr>
              <p:nvPr>
                <p:ph idx="1"/>
              </p:nvPr>
            </p:nvSpPr>
            <p:spPr>
              <a:xfrm>
                <a:off x="838200" y="1825624"/>
                <a:ext cx="10515600" cy="4788239"/>
              </a:xfrm>
            </p:spPr>
            <p:txBody>
              <a:bodyPr>
                <a:normAutofit fontScale="92500"/>
              </a:bodyPr>
              <a:lstStyle/>
              <a:p>
                <a:pPr>
                  <a:buClr>
                    <a:schemeClr val="tx1"/>
                  </a:buClr>
                </a:pPr>
                <a:r>
                  <a:rPr lang="en-US" sz="3000" b="0" dirty="0"/>
                  <a:t>Suppose you have a randomized algorithm that, given an adaptively chosen stream of length </a:t>
                </a:r>
                <a14:m>
                  <m:oMath xmlns:m="http://schemas.openxmlformats.org/officeDocument/2006/math">
                    <m:r>
                      <a:rPr lang="en-US" sz="3000" b="0" i="1" smtClean="0">
                        <a:solidFill>
                          <a:srgbClr val="C00000"/>
                        </a:solidFill>
                        <a:latin typeface="Cambria Math" panose="02040503050406030204" pitchFamily="18" charset="0"/>
                      </a:rPr>
                      <m:t>𝑚</m:t>
                    </m:r>
                  </m:oMath>
                </a14:m>
                <a:r>
                  <a:rPr lang="en-US" sz="3000" b="0" dirty="0"/>
                  <a:t>, outputs a </a:t>
                </a:r>
                <a14:m>
                  <m:oMath xmlns:m="http://schemas.openxmlformats.org/officeDocument/2006/math">
                    <m:r>
                      <a:rPr lang="en-US" sz="3000" b="0" i="1" smtClean="0">
                        <a:solidFill>
                          <a:srgbClr val="C00000"/>
                        </a:solidFill>
                        <a:latin typeface="Cambria Math" panose="02040503050406030204" pitchFamily="18" charset="0"/>
                      </a:rPr>
                      <m:t>𝑏</m:t>
                    </m:r>
                  </m:oMath>
                </a14:m>
                <a:r>
                  <a:rPr lang="en-US" sz="3000" b="0" dirty="0"/>
                  <a:t>-bit number on each update, which changes at most </a:t>
                </a:r>
                <a14:m>
                  <m:oMath xmlns:m="http://schemas.openxmlformats.org/officeDocument/2006/math">
                    <m:r>
                      <a:rPr lang="en-US" sz="3000" i="1">
                        <a:solidFill>
                          <a:srgbClr val="C00000"/>
                        </a:solidFill>
                        <a:latin typeface="Cambria Math" panose="02040503050406030204" pitchFamily="18" charset="0"/>
                      </a:rPr>
                      <m:t>𝑇</m:t>
                    </m:r>
                  </m:oMath>
                </a14:m>
                <a:r>
                  <a:rPr lang="en-US" sz="3000" b="0" dirty="0"/>
                  <a:t> times</a:t>
                </a:r>
              </a:p>
              <a:p>
                <a:pPr>
                  <a:buClr>
                    <a:schemeClr val="tx1"/>
                  </a:buClr>
                </a:pPr>
                <a:endParaRPr lang="en-US" sz="3000" dirty="0"/>
              </a:p>
              <a:p>
                <a:pPr>
                  <a:buClr>
                    <a:schemeClr val="tx1"/>
                  </a:buClr>
                </a:pPr>
                <a:r>
                  <a:rPr lang="en-US" sz="3000" dirty="0">
                    <a:solidFill>
                      <a:srgbClr val="00B050"/>
                    </a:solidFill>
                  </a:rPr>
                  <a:t>Intuition</a:t>
                </a:r>
                <a:r>
                  <a:rPr lang="en-US" sz="3000" dirty="0"/>
                  <a:t>: </a:t>
                </a:r>
                <a14:m>
                  <m:oMath xmlns:m="http://schemas.openxmlformats.org/officeDocument/2006/math">
                    <m:r>
                      <a:rPr lang="en-US" sz="3000" i="1">
                        <a:solidFill>
                          <a:srgbClr val="C00000"/>
                        </a:solidFill>
                        <a:latin typeface="Cambria Math" panose="02040503050406030204" pitchFamily="18" charset="0"/>
                      </a:rPr>
                      <m:t>𝑇</m:t>
                    </m:r>
                  </m:oMath>
                </a14:m>
                <a:r>
                  <a:rPr lang="en-US" sz="3000" dirty="0"/>
                  <a:t> positions in stream where adversary learns something</a:t>
                </a:r>
              </a:p>
              <a:p>
                <a:pPr>
                  <a:buClr>
                    <a:schemeClr val="tx1"/>
                  </a:buClr>
                </a:pPr>
                <a:endParaRPr lang="en-US" sz="3000" dirty="0"/>
              </a:p>
              <a:p>
                <a:pPr>
                  <a:buClr>
                    <a:schemeClr val="tx1"/>
                  </a:buClr>
                </a:pPr>
                <a:r>
                  <a:rPr lang="en-US" sz="3000" dirty="0"/>
                  <a:t>Set failure probability of algorithm to be </a:t>
                </a:r>
                <a14:m>
                  <m:oMath xmlns:m="http://schemas.openxmlformats.org/officeDocument/2006/math">
                    <m:r>
                      <a:rPr lang="en-US" sz="3000" b="0" i="1" smtClean="0">
                        <a:solidFill>
                          <a:srgbClr val="C00000"/>
                        </a:solidFill>
                        <a:latin typeface="Cambria Math" panose="02040503050406030204" pitchFamily="18" charset="0"/>
                      </a:rPr>
                      <m:t>≤</m:t>
                    </m:r>
                    <m:f>
                      <m:fPr>
                        <m:ctrlPr>
                          <a:rPr lang="en-US" sz="3000" b="0" i="1" smtClean="0">
                            <a:solidFill>
                              <a:srgbClr val="C00000"/>
                            </a:solidFill>
                            <a:latin typeface="Cambria Math" panose="02040503050406030204" pitchFamily="18" charset="0"/>
                          </a:rPr>
                        </m:ctrlPr>
                      </m:fPr>
                      <m:num>
                        <m:r>
                          <a:rPr lang="en-US" sz="3000" b="0" i="0" smtClean="0">
                            <a:solidFill>
                              <a:srgbClr val="C00000"/>
                            </a:solidFill>
                            <a:latin typeface="Cambria Math" panose="02040503050406030204" pitchFamily="18" charset="0"/>
                          </a:rPr>
                          <m:t>1</m:t>
                        </m:r>
                      </m:num>
                      <m:den>
                        <m:d>
                          <m:dPr>
                            <m:ctrlPr>
                              <a:rPr lang="en-US" sz="3000" b="0" i="1" smtClean="0">
                                <a:solidFill>
                                  <a:srgbClr val="C00000"/>
                                </a:solidFill>
                                <a:latin typeface="Cambria Math" panose="02040503050406030204" pitchFamily="18" charset="0"/>
                              </a:rPr>
                            </m:ctrlPr>
                          </m:dPr>
                          <m:e>
                            <m:f>
                              <m:fPr>
                                <m:type m:val="noBar"/>
                                <m:ctrlPr>
                                  <a:rPr lang="en-US" sz="3000" b="0" i="1" smtClean="0">
                                    <a:solidFill>
                                      <a:srgbClr val="C00000"/>
                                    </a:solidFill>
                                    <a:latin typeface="Cambria Math" panose="02040503050406030204" pitchFamily="18" charset="0"/>
                                  </a:rPr>
                                </m:ctrlPr>
                              </m:fPr>
                              <m:num>
                                <m:r>
                                  <a:rPr lang="en-US" sz="3000" b="0" i="1" smtClean="0">
                                    <a:solidFill>
                                      <a:srgbClr val="C00000"/>
                                    </a:solidFill>
                                    <a:latin typeface="Cambria Math" panose="02040503050406030204" pitchFamily="18" charset="0"/>
                                  </a:rPr>
                                  <m:t>𝑚</m:t>
                                </m:r>
                              </m:num>
                              <m:den>
                                <m:r>
                                  <a:rPr lang="en-US" sz="3000" b="0" i="1" smtClean="0">
                                    <a:solidFill>
                                      <a:srgbClr val="C00000"/>
                                    </a:solidFill>
                                    <a:latin typeface="Cambria Math" panose="02040503050406030204" pitchFamily="18" charset="0"/>
                                  </a:rPr>
                                  <m:t>𝑇</m:t>
                                </m:r>
                              </m:den>
                            </m:f>
                          </m:e>
                        </m:d>
                        <m:r>
                          <a:rPr lang="en-US" sz="3000" b="0" i="1" smtClean="0">
                            <a:solidFill>
                              <a:srgbClr val="C00000"/>
                            </a:solidFill>
                            <a:latin typeface="Cambria Math" panose="02040503050406030204" pitchFamily="18" charset="0"/>
                          </a:rPr>
                          <m:t> </m:t>
                        </m:r>
                        <m:sSup>
                          <m:sSupPr>
                            <m:ctrlPr>
                              <a:rPr lang="en-US" sz="3000" b="0" i="1" smtClean="0">
                                <a:solidFill>
                                  <a:srgbClr val="C00000"/>
                                </a:solidFill>
                                <a:latin typeface="Cambria Math" panose="02040503050406030204" pitchFamily="18" charset="0"/>
                              </a:rPr>
                            </m:ctrlPr>
                          </m:sSupPr>
                          <m:e>
                            <m:r>
                              <a:rPr lang="en-US" sz="3000" b="0" i="1" smtClean="0">
                                <a:solidFill>
                                  <a:srgbClr val="C00000"/>
                                </a:solidFill>
                                <a:latin typeface="Cambria Math" panose="02040503050406030204" pitchFamily="18" charset="0"/>
                              </a:rPr>
                              <m:t>2</m:t>
                            </m:r>
                          </m:e>
                          <m:sup>
                            <m:r>
                              <a:rPr lang="en-US" sz="3000" b="0" i="1" smtClean="0">
                                <a:solidFill>
                                  <a:srgbClr val="C00000"/>
                                </a:solidFill>
                                <a:latin typeface="Cambria Math" panose="02040503050406030204" pitchFamily="18" charset="0"/>
                              </a:rPr>
                              <m:t>𝑏𝑇</m:t>
                            </m:r>
                          </m:sup>
                        </m:sSup>
                      </m:den>
                    </m:f>
                  </m:oMath>
                </a14:m>
                <a:endParaRPr lang="en-US" sz="3000" dirty="0"/>
              </a:p>
              <a:p>
                <a:pPr>
                  <a:buClr>
                    <a:schemeClr val="tx1"/>
                  </a:buClr>
                </a:pPr>
                <a:endParaRPr lang="en-US" sz="3000" dirty="0"/>
              </a:p>
              <a:p>
                <a:pPr>
                  <a:buClr>
                    <a:schemeClr val="tx1"/>
                  </a:buClr>
                </a:pPr>
                <a:r>
                  <a:rPr lang="en-US" sz="3000" dirty="0"/>
                  <a:t>Only an </a:t>
                </a:r>
                <a14:m>
                  <m:oMath xmlns:m="http://schemas.openxmlformats.org/officeDocument/2006/math">
                    <m:r>
                      <a:rPr lang="en-US" sz="3000" b="0" i="1" smtClean="0">
                        <a:solidFill>
                          <a:srgbClr val="C00000"/>
                        </a:solidFill>
                        <a:latin typeface="Cambria Math" panose="02040503050406030204" pitchFamily="18" charset="0"/>
                      </a:rPr>
                      <m:t>𝑂</m:t>
                    </m:r>
                    <m:d>
                      <m:dPr>
                        <m:ctrlPr>
                          <a:rPr lang="en-US" sz="3000" b="0" i="1" smtClean="0">
                            <a:solidFill>
                              <a:srgbClr val="C00000"/>
                            </a:solidFill>
                            <a:latin typeface="Cambria Math" panose="02040503050406030204" pitchFamily="18" charset="0"/>
                          </a:rPr>
                        </m:ctrlPr>
                      </m:dPr>
                      <m:e>
                        <m:r>
                          <a:rPr lang="en-US" sz="3000" b="0" i="1" smtClean="0">
                            <a:solidFill>
                              <a:srgbClr val="C00000"/>
                            </a:solidFill>
                            <a:latin typeface="Cambria Math" panose="02040503050406030204" pitchFamily="18" charset="0"/>
                          </a:rPr>
                          <m:t>𝑇</m:t>
                        </m:r>
                        <m:d>
                          <m:dPr>
                            <m:ctrlPr>
                              <a:rPr lang="en-US" sz="3000" b="0" i="1" smtClean="0">
                                <a:solidFill>
                                  <a:srgbClr val="C00000"/>
                                </a:solidFill>
                                <a:latin typeface="Cambria Math" panose="02040503050406030204" pitchFamily="18" charset="0"/>
                              </a:rPr>
                            </m:ctrlPr>
                          </m:dPr>
                          <m:e>
                            <m:func>
                              <m:funcPr>
                                <m:ctrlPr>
                                  <a:rPr lang="en-US" sz="3000" b="0" i="1" smtClean="0">
                                    <a:solidFill>
                                      <a:srgbClr val="C00000"/>
                                    </a:solidFill>
                                    <a:latin typeface="Cambria Math" panose="02040503050406030204" pitchFamily="18" charset="0"/>
                                  </a:rPr>
                                </m:ctrlPr>
                              </m:funcPr>
                              <m:fName>
                                <m:r>
                                  <m:rPr>
                                    <m:sty m:val="p"/>
                                  </m:rPr>
                                  <a:rPr lang="en-US" sz="3000" b="0" i="0" smtClean="0">
                                    <a:solidFill>
                                      <a:srgbClr val="C00000"/>
                                    </a:solidFill>
                                    <a:latin typeface="Cambria Math" panose="02040503050406030204" pitchFamily="18" charset="0"/>
                                  </a:rPr>
                                  <m:t>log</m:t>
                                </m:r>
                              </m:fName>
                              <m:e>
                                <m:r>
                                  <a:rPr lang="en-US" sz="3000" b="0" i="1" smtClean="0">
                                    <a:solidFill>
                                      <a:srgbClr val="C00000"/>
                                    </a:solidFill>
                                    <a:latin typeface="Cambria Math" panose="02040503050406030204" pitchFamily="18" charset="0"/>
                                  </a:rPr>
                                  <m:t>𝑚</m:t>
                                </m:r>
                              </m:e>
                            </m:func>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𝑏</m:t>
                            </m:r>
                          </m:e>
                        </m:d>
                      </m:e>
                    </m:d>
                  </m:oMath>
                </a14:m>
                <a:r>
                  <a:rPr lang="en-US" sz="3000" dirty="0"/>
                  <a:t> space overhead</a:t>
                </a:r>
              </a:p>
              <a:p>
                <a:pPr>
                  <a:buClr>
                    <a:schemeClr val="tx1"/>
                  </a:buClr>
                </a:pPr>
                <a:endParaRPr lang="en-US" sz="3000" dirty="0"/>
              </a:p>
            </p:txBody>
          </p:sp>
        </mc:Choice>
        <mc:Fallback xmlns="">
          <p:sp>
            <p:nvSpPr>
              <p:cNvPr id="3" name="Content Placeholder 2">
                <a:extLst>
                  <a:ext uri="{FF2B5EF4-FFF2-40B4-BE49-F238E27FC236}">
                    <a16:creationId xmlns:a16="http://schemas.microsoft.com/office/drawing/2014/main" id="{990DF906-0959-A952-2B5D-48DF7EE1923A}"/>
                  </a:ext>
                </a:extLst>
              </p:cNvPr>
              <p:cNvSpPr>
                <a:spLocks noGrp="1" noRot="1" noChangeAspect="1" noMove="1" noResize="1" noEditPoints="1" noAdjustHandles="1" noChangeArrowheads="1" noChangeShapeType="1" noTextEdit="1"/>
              </p:cNvSpPr>
              <p:nvPr>
                <p:ph idx="1"/>
              </p:nvPr>
            </p:nvSpPr>
            <p:spPr>
              <a:xfrm>
                <a:off x="838200" y="1825624"/>
                <a:ext cx="10515600" cy="4788239"/>
              </a:xfrm>
              <a:blipFill>
                <a:blip r:embed="rId3"/>
                <a:stretch>
                  <a:fillRect l="-1043" t="-2036"/>
                </a:stretch>
              </a:blipFill>
            </p:spPr>
            <p:txBody>
              <a:bodyPr/>
              <a:lstStyle/>
              <a:p>
                <a:r>
                  <a:rPr lang="en-US">
                    <a:noFill/>
                  </a:rPr>
                  <a:t> </a:t>
                </a:r>
              </a:p>
            </p:txBody>
          </p:sp>
        </mc:Fallback>
      </mc:AlternateContent>
    </p:spTree>
    <p:extLst>
      <p:ext uri="{BB962C8B-B14F-4D97-AF65-F5344CB8AC3E}">
        <p14:creationId xmlns:p14="http://schemas.microsoft.com/office/powerpoint/2010/main" val="130310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029E0-80E2-63DD-738A-BD7BA206B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7E787-E8FD-E498-CF82-274C28246797}"/>
              </a:ext>
            </a:extLst>
          </p:cNvPr>
          <p:cNvSpPr>
            <a:spLocks noGrp="1"/>
          </p:cNvSpPr>
          <p:nvPr>
            <p:ph type="title"/>
          </p:nvPr>
        </p:nvSpPr>
        <p:spPr/>
        <p:txBody>
          <a:bodyPr/>
          <a:lstStyle/>
          <a:p>
            <a:r>
              <a:rPr lang="en-US" dirty="0">
                <a:solidFill>
                  <a:srgbClr val="C00000"/>
                </a:solidFill>
              </a:rPr>
              <a:t>Intuition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6B2AAD-07A3-DF6D-BD39-2519C6D097C1}"/>
                  </a:ext>
                </a:extLst>
              </p:cNvPr>
              <p:cNvSpPr>
                <a:spLocks noGrp="1"/>
              </p:cNvSpPr>
              <p:nvPr>
                <p:ph idx="1"/>
              </p:nvPr>
            </p:nvSpPr>
            <p:spPr>
              <a:xfrm>
                <a:off x="838200" y="1825624"/>
                <a:ext cx="10515600" cy="4788239"/>
              </a:xfrm>
            </p:spPr>
            <p:txBody>
              <a:bodyPr>
                <a:normAutofit/>
              </a:bodyPr>
              <a:lstStyle/>
              <a:p>
                <a:pPr>
                  <a:buClr>
                    <a:schemeClr val="tx1"/>
                  </a:buClr>
                </a:pPr>
                <a:r>
                  <a:rPr lang="en-US" sz="3000" dirty="0"/>
                  <a:t>Decompose frequency vector </a:t>
                </a:r>
                <a14:m>
                  <m:oMath xmlns:m="http://schemas.openxmlformats.org/officeDocument/2006/math">
                    <m:r>
                      <a:rPr lang="en-US" sz="3000" b="0" i="1" smtClean="0">
                        <a:solidFill>
                          <a:srgbClr val="C00000"/>
                        </a:solidFill>
                        <a:latin typeface="Cambria Math" panose="02040503050406030204" pitchFamily="18" charset="0"/>
                      </a:rPr>
                      <m:t>𝑥</m:t>
                    </m:r>
                  </m:oMath>
                </a14:m>
                <a:r>
                  <a:rPr lang="en-US" sz="3000" dirty="0"/>
                  <a:t> as </a:t>
                </a:r>
                <a14:m>
                  <m:oMath xmlns:m="http://schemas.openxmlformats.org/officeDocument/2006/math">
                    <m:r>
                      <a:rPr lang="en-US" sz="3000" b="0" i="1" smtClean="0">
                        <a:solidFill>
                          <a:srgbClr val="C00000"/>
                        </a:solidFill>
                        <a:latin typeface="Cambria Math" panose="02040503050406030204" pitchFamily="18" charset="0"/>
                      </a:rPr>
                      <m:t>𝑥</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𝑧</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𝑞</m:t>
                    </m:r>
                  </m:oMath>
                </a14:m>
                <a:endParaRPr lang="en-US" sz="3000" dirty="0"/>
              </a:p>
              <a:p>
                <a:pPr>
                  <a:buClr>
                    <a:schemeClr val="tx1"/>
                  </a:buClr>
                </a:pPr>
                <a:r>
                  <a:rPr lang="en-US" sz="3000" dirty="0"/>
                  <a:t>Use sketch matrix </a:t>
                </a:r>
                <a14:m>
                  <m:oMath xmlns:m="http://schemas.openxmlformats.org/officeDocument/2006/math">
                    <m:r>
                      <a:rPr lang="en-US" sz="3000" b="0" i="1" smtClean="0">
                        <a:solidFill>
                          <a:srgbClr val="C00000"/>
                        </a:solidFill>
                        <a:latin typeface="Cambria Math" panose="02040503050406030204" pitchFamily="18" charset="0"/>
                      </a:rPr>
                      <m:t>𝐴𝑧</m:t>
                    </m:r>
                  </m:oMath>
                </a14:m>
                <a:r>
                  <a:rPr lang="en-US" sz="3000" dirty="0"/>
                  <a:t> for </a:t>
                </a:r>
                <a14:m>
                  <m:oMath xmlns:m="http://schemas.openxmlformats.org/officeDocument/2006/math">
                    <m:r>
                      <a:rPr lang="en-US" sz="3000" b="0" i="1" smtClean="0">
                        <a:solidFill>
                          <a:srgbClr val="C00000"/>
                        </a:solidFill>
                        <a:latin typeface="Cambria Math" panose="02040503050406030204" pitchFamily="18" charset="0"/>
                      </a:rPr>
                      <m:t>𝑧</m:t>
                    </m:r>
                  </m:oMath>
                </a14:m>
                <a:r>
                  <a:rPr lang="en-US" sz="3000" dirty="0"/>
                  <a:t> and sketch matrix </a:t>
                </a:r>
                <a14:m>
                  <m:oMath xmlns:m="http://schemas.openxmlformats.org/officeDocument/2006/math">
                    <m:r>
                      <a:rPr lang="en-US" sz="3000" b="0" i="1" smtClean="0">
                        <a:solidFill>
                          <a:srgbClr val="C00000"/>
                        </a:solidFill>
                        <a:latin typeface="Cambria Math" panose="02040503050406030204" pitchFamily="18" charset="0"/>
                      </a:rPr>
                      <m:t>𝐵𝑞</m:t>
                    </m:r>
                  </m:oMath>
                </a14:m>
                <a:r>
                  <a:rPr lang="en-US" sz="3000" dirty="0"/>
                  <a:t> for </a:t>
                </a:r>
                <a14:m>
                  <m:oMath xmlns:m="http://schemas.openxmlformats.org/officeDocument/2006/math">
                    <m:r>
                      <a:rPr lang="en-US" sz="3000" b="0" i="1" smtClean="0">
                        <a:solidFill>
                          <a:srgbClr val="C00000"/>
                        </a:solidFill>
                        <a:latin typeface="Cambria Math" panose="02040503050406030204" pitchFamily="18" charset="0"/>
                      </a:rPr>
                      <m:t>𝑞</m:t>
                    </m:r>
                  </m:oMath>
                </a14:m>
                <a:r>
                  <a:rPr lang="en-US" sz="3000" dirty="0"/>
                  <a:t> (independent </a:t>
                </a:r>
                <a14:m>
                  <m:oMath xmlns:m="http://schemas.openxmlformats.org/officeDocument/2006/math">
                    <m:sSub>
                      <m:sSubPr>
                        <m:ctrlPr>
                          <a:rPr lang="en-US" sz="3000" b="0" i="1" smtClean="0">
                            <a:solidFill>
                              <a:srgbClr val="C00000"/>
                            </a:solidFill>
                            <a:latin typeface="Cambria Math" panose="02040503050406030204" pitchFamily="18" charset="0"/>
                          </a:rPr>
                        </m:ctrlPr>
                      </m:sSubPr>
                      <m:e>
                        <m:r>
                          <a:rPr lang="en-US" sz="3000" b="0" i="1" smtClean="0">
                            <a:solidFill>
                              <a:srgbClr val="C00000"/>
                            </a:solidFill>
                            <a:latin typeface="Cambria Math" panose="02040503050406030204" pitchFamily="18" charset="0"/>
                          </a:rPr>
                          <m:t>𝐿</m:t>
                        </m:r>
                      </m:e>
                      <m:sub>
                        <m:r>
                          <a:rPr lang="en-US" sz="3000" b="0" i="1" smtClean="0">
                            <a:solidFill>
                              <a:srgbClr val="C00000"/>
                            </a:solidFill>
                            <a:latin typeface="Cambria Math" panose="02040503050406030204" pitchFamily="18" charset="0"/>
                          </a:rPr>
                          <m:t>2</m:t>
                        </m:r>
                      </m:sub>
                    </m:sSub>
                  </m:oMath>
                </a14:m>
                <a:r>
                  <a:rPr lang="en-US" sz="3000" dirty="0"/>
                  <a:t> sketches)</a:t>
                </a:r>
              </a:p>
              <a:p>
                <a:pPr marL="0" indent="0">
                  <a:buClr>
                    <a:schemeClr val="tx1"/>
                  </a:buClr>
                  <a:buNone/>
                </a:pPr>
                <a:endParaRPr lang="en-US" sz="3000" dirty="0"/>
              </a:p>
              <a:p>
                <a:pPr>
                  <a:buClr>
                    <a:schemeClr val="tx1"/>
                  </a:buClr>
                </a:pPr>
                <a:endParaRPr lang="en-US" sz="3000" dirty="0"/>
              </a:p>
              <a:p>
                <a:pPr>
                  <a:buClr>
                    <a:schemeClr val="tx1"/>
                  </a:buClr>
                </a:pPr>
                <a:endParaRPr lang="en-US" sz="3000" dirty="0"/>
              </a:p>
            </p:txBody>
          </p:sp>
        </mc:Choice>
        <mc:Fallback xmlns="">
          <p:sp>
            <p:nvSpPr>
              <p:cNvPr id="3" name="Content Placeholder 2">
                <a:extLst>
                  <a:ext uri="{FF2B5EF4-FFF2-40B4-BE49-F238E27FC236}">
                    <a16:creationId xmlns:a16="http://schemas.microsoft.com/office/drawing/2014/main" id="{976B2AAD-07A3-DF6D-BD39-2519C6D097C1}"/>
                  </a:ext>
                </a:extLst>
              </p:cNvPr>
              <p:cNvSpPr>
                <a:spLocks noGrp="1" noRot="1" noChangeAspect="1" noMove="1" noResize="1" noEditPoints="1" noAdjustHandles="1" noChangeArrowheads="1" noChangeShapeType="1" noTextEdit="1"/>
              </p:cNvSpPr>
              <p:nvPr>
                <p:ph idx="1"/>
              </p:nvPr>
            </p:nvSpPr>
            <p:spPr>
              <a:xfrm>
                <a:off x="838200" y="1825624"/>
                <a:ext cx="10515600" cy="4788239"/>
              </a:xfrm>
              <a:blipFill>
                <a:blip r:embed="rId3"/>
                <a:stretch>
                  <a:fillRect l="-1217" t="-2545"/>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5E64746D-99B5-A881-2E86-558E5E682EE8}"/>
              </a:ext>
            </a:extLst>
          </p:cNvPr>
          <p:cNvCxnSpPr/>
          <p:nvPr/>
        </p:nvCxnSpPr>
        <p:spPr>
          <a:xfrm>
            <a:off x="1714501" y="4779805"/>
            <a:ext cx="780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AFEAD35-9F56-9203-1776-C99AC34D1D97}"/>
                  </a:ext>
                </a:extLst>
              </p:cNvPr>
              <p:cNvSpPr txBox="1"/>
              <p:nvPr/>
            </p:nvSpPr>
            <p:spPr>
              <a:xfrm>
                <a:off x="3672838" y="3152649"/>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𝑧</m:t>
                      </m:r>
                    </m:oMath>
                  </m:oMathPara>
                </a14:m>
                <a:endParaRPr lang="en-US" sz="2800" dirty="0"/>
              </a:p>
            </p:txBody>
          </p:sp>
        </mc:Choice>
        <mc:Fallback xmlns="">
          <p:sp>
            <p:nvSpPr>
              <p:cNvPr id="7" name="TextBox 6">
                <a:extLst>
                  <a:ext uri="{FF2B5EF4-FFF2-40B4-BE49-F238E27FC236}">
                    <a16:creationId xmlns:a16="http://schemas.microsoft.com/office/drawing/2014/main" id="{4AFEAD35-9F56-9203-1776-C99AC34D1D97}"/>
                  </a:ext>
                </a:extLst>
              </p:cNvPr>
              <p:cNvSpPr txBox="1">
                <a:spLocks noRot="1" noChangeAspect="1" noMove="1" noResize="1" noEditPoints="1" noAdjustHandles="1" noChangeArrowheads="1" noChangeShapeType="1" noTextEdit="1"/>
              </p:cNvSpPr>
              <p:nvPr/>
            </p:nvSpPr>
            <p:spPr>
              <a:xfrm>
                <a:off x="3672838" y="3152649"/>
                <a:ext cx="1219200" cy="523220"/>
              </a:xfrm>
              <a:prstGeom prst="rect">
                <a:avLst/>
              </a:prstGeom>
              <a:blipFill>
                <a:blip r:embed="rId4"/>
                <a:stretch>
                  <a:fillRect/>
                </a:stretch>
              </a:blipFill>
            </p:spPr>
            <p:txBody>
              <a:bodyPr/>
              <a:lstStyle/>
              <a:p>
                <a:r>
                  <a:rPr lang="en-US">
                    <a:noFill/>
                  </a:rPr>
                  <a:t> </a:t>
                </a:r>
              </a:p>
            </p:txBody>
          </p:sp>
        </mc:Fallback>
      </mc:AlternateContent>
      <p:sp>
        <p:nvSpPr>
          <p:cNvPr id="8" name="Left Brace 7">
            <a:extLst>
              <a:ext uri="{FF2B5EF4-FFF2-40B4-BE49-F238E27FC236}">
                <a16:creationId xmlns:a16="http://schemas.microsoft.com/office/drawing/2014/main" id="{AC3769E9-F9CF-651A-978A-477BDCD4C4B6}"/>
              </a:ext>
            </a:extLst>
          </p:cNvPr>
          <p:cNvSpPr/>
          <p:nvPr/>
        </p:nvSpPr>
        <p:spPr>
          <a:xfrm rot="16200000">
            <a:off x="5374796" y="1743251"/>
            <a:ext cx="413711" cy="773430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 name="TextBox 9">
            <a:extLst>
              <a:ext uri="{FF2B5EF4-FFF2-40B4-BE49-F238E27FC236}">
                <a16:creationId xmlns:a16="http://schemas.microsoft.com/office/drawing/2014/main" id="{3D666827-96FF-D26A-6922-FE0356B56118}"/>
              </a:ext>
            </a:extLst>
          </p:cNvPr>
          <p:cNvSpPr txBox="1"/>
          <p:nvPr/>
        </p:nvSpPr>
        <p:spPr>
          <a:xfrm>
            <a:off x="9715506" y="4548972"/>
            <a:ext cx="1314452" cy="461665"/>
          </a:xfrm>
          <a:prstGeom prst="rect">
            <a:avLst/>
          </a:prstGeom>
          <a:noFill/>
        </p:spPr>
        <p:txBody>
          <a:bodyPr wrap="square">
            <a:spAutoFit/>
          </a:bodyPr>
          <a:lstStyle/>
          <a:p>
            <a:r>
              <a:rPr lang="en-US" sz="2400" dirty="0"/>
              <a:t>Stream</a:t>
            </a:r>
          </a:p>
        </p:txBody>
      </p:sp>
      <p:sp>
        <p:nvSpPr>
          <p:cNvPr id="11" name="TextBox 10">
            <a:extLst>
              <a:ext uri="{FF2B5EF4-FFF2-40B4-BE49-F238E27FC236}">
                <a16:creationId xmlns:a16="http://schemas.microsoft.com/office/drawing/2014/main" id="{A32B9508-CBCF-129A-F867-8CC02821AC99}"/>
              </a:ext>
            </a:extLst>
          </p:cNvPr>
          <p:cNvSpPr txBox="1"/>
          <p:nvPr/>
        </p:nvSpPr>
        <p:spPr>
          <a:xfrm>
            <a:off x="1714500" y="4961763"/>
            <a:ext cx="7734301" cy="369332"/>
          </a:xfrm>
          <a:prstGeom prst="rect">
            <a:avLst/>
          </a:prstGeom>
          <a:solidFill>
            <a:schemeClr val="accent1">
              <a:lumMod val="60000"/>
              <a:lumOff val="40000"/>
            </a:schemeClr>
          </a:solidFill>
        </p:spPr>
        <p:txBody>
          <a:bodyPr wrap="square" rtlCol="0">
            <a:spAutoFit/>
          </a:bodyPr>
          <a:lstStyle/>
          <a:p>
            <a:r>
              <a:rPr lang="en-US" dirty="0">
                <a:highlight>
                  <a:srgbClr val="FF0000"/>
                </a:highlight>
              </a:rPr>
              <a:t> </a:t>
            </a:r>
          </a:p>
        </p:txBody>
      </p:sp>
      <p:sp>
        <p:nvSpPr>
          <p:cNvPr id="12" name="TextBox 11">
            <a:extLst>
              <a:ext uri="{FF2B5EF4-FFF2-40B4-BE49-F238E27FC236}">
                <a16:creationId xmlns:a16="http://schemas.microsoft.com/office/drawing/2014/main" id="{7CF4D4EC-6431-3785-2E85-3CD558A64EF9}"/>
              </a:ext>
            </a:extLst>
          </p:cNvPr>
          <p:cNvSpPr txBox="1"/>
          <p:nvPr/>
        </p:nvSpPr>
        <p:spPr>
          <a:xfrm>
            <a:off x="1714500" y="4199089"/>
            <a:ext cx="5135881" cy="369332"/>
          </a:xfrm>
          <a:prstGeom prst="rect">
            <a:avLst/>
          </a:prstGeom>
          <a:solidFill>
            <a:schemeClr val="accent2">
              <a:lumMod val="60000"/>
              <a:lumOff val="40000"/>
            </a:schemeClr>
          </a:solidFill>
        </p:spPr>
        <p:txBody>
          <a:bodyPr wrap="square" rtlCol="0">
            <a:spAutoFit/>
          </a:bodyPr>
          <a:lstStyle/>
          <a:p>
            <a:r>
              <a:rPr lang="en-US" dirty="0">
                <a:highlight>
                  <a:srgbClr val="FF0000"/>
                </a:highlight>
              </a:rPr>
              <a:t> </a:t>
            </a:r>
          </a:p>
        </p:txBody>
      </p:sp>
      <p:sp>
        <p:nvSpPr>
          <p:cNvPr id="13" name="TextBox 12">
            <a:extLst>
              <a:ext uri="{FF2B5EF4-FFF2-40B4-BE49-F238E27FC236}">
                <a16:creationId xmlns:a16="http://schemas.microsoft.com/office/drawing/2014/main" id="{14BA7903-A25C-8A97-0EEE-7DA6DF2C53FB}"/>
              </a:ext>
            </a:extLst>
          </p:cNvPr>
          <p:cNvSpPr txBox="1"/>
          <p:nvPr/>
        </p:nvSpPr>
        <p:spPr>
          <a:xfrm>
            <a:off x="6850382" y="4199089"/>
            <a:ext cx="2598420" cy="369332"/>
          </a:xfrm>
          <a:prstGeom prst="rect">
            <a:avLst/>
          </a:prstGeom>
          <a:solidFill>
            <a:schemeClr val="accent6">
              <a:lumMod val="60000"/>
              <a:lumOff val="40000"/>
            </a:schemeClr>
          </a:solidFill>
        </p:spPr>
        <p:txBody>
          <a:bodyPr wrap="square" rtlCol="0">
            <a:spAutoFit/>
          </a:bodyPr>
          <a:lstStyle/>
          <a:p>
            <a:r>
              <a:rPr lang="en-US" dirty="0">
                <a:highlight>
                  <a:srgbClr val="FF0000"/>
                </a:highlight>
              </a:rPr>
              <a:t> </a:t>
            </a:r>
          </a:p>
        </p:txBody>
      </p:sp>
      <p:sp>
        <p:nvSpPr>
          <p:cNvPr id="14" name="Left Brace 13">
            <a:extLst>
              <a:ext uri="{FF2B5EF4-FFF2-40B4-BE49-F238E27FC236}">
                <a16:creationId xmlns:a16="http://schemas.microsoft.com/office/drawing/2014/main" id="{3DCDED33-FE21-6DB8-3FFF-2D65F8228409}"/>
              </a:ext>
            </a:extLst>
          </p:cNvPr>
          <p:cNvSpPr/>
          <p:nvPr/>
        </p:nvSpPr>
        <p:spPr>
          <a:xfrm rot="5400000">
            <a:off x="4075583" y="1314785"/>
            <a:ext cx="413711" cy="513588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 name="Left Brace 14">
            <a:extLst>
              <a:ext uri="{FF2B5EF4-FFF2-40B4-BE49-F238E27FC236}">
                <a16:creationId xmlns:a16="http://schemas.microsoft.com/office/drawing/2014/main" id="{034483A0-F9A5-CD7A-5511-E5D780432E8E}"/>
              </a:ext>
            </a:extLst>
          </p:cNvPr>
          <p:cNvSpPr/>
          <p:nvPr/>
        </p:nvSpPr>
        <p:spPr>
          <a:xfrm rot="5400000">
            <a:off x="7942735" y="2592862"/>
            <a:ext cx="413711" cy="25984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A93B5C1-7551-CCC4-F946-8CD29B6498A1}"/>
                  </a:ext>
                </a:extLst>
              </p:cNvPr>
              <p:cNvSpPr txBox="1"/>
              <p:nvPr/>
            </p:nvSpPr>
            <p:spPr>
              <a:xfrm>
                <a:off x="5124453" y="5969657"/>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𝑥</m:t>
                      </m:r>
                    </m:oMath>
                  </m:oMathPara>
                </a14:m>
                <a:endParaRPr lang="en-US" sz="2800" dirty="0"/>
              </a:p>
            </p:txBody>
          </p:sp>
        </mc:Choice>
        <mc:Fallback xmlns="">
          <p:sp>
            <p:nvSpPr>
              <p:cNvPr id="16" name="TextBox 15">
                <a:extLst>
                  <a:ext uri="{FF2B5EF4-FFF2-40B4-BE49-F238E27FC236}">
                    <a16:creationId xmlns:a16="http://schemas.microsoft.com/office/drawing/2014/main" id="{FA93B5C1-7551-CCC4-F946-8CD29B6498A1}"/>
                  </a:ext>
                </a:extLst>
              </p:cNvPr>
              <p:cNvSpPr txBox="1">
                <a:spLocks noRot="1" noChangeAspect="1" noMove="1" noResize="1" noEditPoints="1" noAdjustHandles="1" noChangeArrowheads="1" noChangeShapeType="1" noTextEdit="1"/>
              </p:cNvSpPr>
              <p:nvPr/>
            </p:nvSpPr>
            <p:spPr>
              <a:xfrm>
                <a:off x="5124453" y="5969657"/>
                <a:ext cx="1219200"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BB92A28-C6F1-A826-984F-E2D78D461709}"/>
                  </a:ext>
                </a:extLst>
              </p:cNvPr>
              <p:cNvSpPr txBox="1"/>
              <p:nvPr/>
            </p:nvSpPr>
            <p:spPr>
              <a:xfrm>
                <a:off x="7539990" y="3152649"/>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𝑞</m:t>
                      </m:r>
                    </m:oMath>
                  </m:oMathPara>
                </a14:m>
                <a:endParaRPr lang="en-US" sz="2800" dirty="0"/>
              </a:p>
            </p:txBody>
          </p:sp>
        </mc:Choice>
        <mc:Fallback xmlns="">
          <p:sp>
            <p:nvSpPr>
              <p:cNvPr id="17" name="TextBox 16">
                <a:extLst>
                  <a:ext uri="{FF2B5EF4-FFF2-40B4-BE49-F238E27FC236}">
                    <a16:creationId xmlns:a16="http://schemas.microsoft.com/office/drawing/2014/main" id="{6BB92A28-C6F1-A826-984F-E2D78D461709}"/>
                  </a:ext>
                </a:extLst>
              </p:cNvPr>
              <p:cNvSpPr txBox="1">
                <a:spLocks noRot="1" noChangeAspect="1" noMove="1" noResize="1" noEditPoints="1" noAdjustHandles="1" noChangeArrowheads="1" noChangeShapeType="1" noTextEdit="1"/>
              </p:cNvSpPr>
              <p:nvPr/>
            </p:nvSpPr>
            <p:spPr>
              <a:xfrm>
                <a:off x="7539990" y="3152649"/>
                <a:ext cx="1219200" cy="52322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77111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76758-A870-5DE8-681B-47C4C1303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3A950-5F6D-4E41-1694-0AEF1AA50FF5}"/>
              </a:ext>
            </a:extLst>
          </p:cNvPr>
          <p:cNvSpPr>
            <a:spLocks noGrp="1"/>
          </p:cNvSpPr>
          <p:nvPr>
            <p:ph type="title"/>
          </p:nvPr>
        </p:nvSpPr>
        <p:spPr/>
        <p:txBody>
          <a:bodyPr/>
          <a:lstStyle/>
          <a:p>
            <a:r>
              <a:rPr lang="en-US" dirty="0">
                <a:solidFill>
                  <a:srgbClr val="C00000"/>
                </a:solidFill>
              </a:rPr>
              <a:t>Intuition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C85183-D4F9-4DBB-8D08-C7A0DFB4B53D}"/>
                  </a:ext>
                </a:extLst>
              </p:cNvPr>
              <p:cNvSpPr>
                <a:spLocks noGrp="1"/>
              </p:cNvSpPr>
              <p:nvPr>
                <p:ph idx="1"/>
              </p:nvPr>
            </p:nvSpPr>
            <p:spPr>
              <a:xfrm>
                <a:off x="838200" y="1825624"/>
                <a:ext cx="10515600" cy="4788239"/>
              </a:xfrm>
            </p:spPr>
            <p:txBody>
              <a:bodyPr>
                <a:normAutofit/>
              </a:bodyPr>
              <a:lstStyle/>
              <a:p>
                <a:pPr>
                  <a:buClr>
                    <a:schemeClr val="tx1"/>
                  </a:buClr>
                </a:pPr>
                <a:r>
                  <a:rPr lang="en-US" sz="3000" dirty="0"/>
                  <a:t>Since </a:t>
                </a:r>
                <a14:m>
                  <m:oMath xmlns:m="http://schemas.openxmlformats.org/officeDocument/2006/math">
                    <m:r>
                      <a:rPr lang="en-US" sz="3000" b="0" i="1" smtClean="0">
                        <a:solidFill>
                          <a:srgbClr val="C00000"/>
                        </a:solidFill>
                        <a:latin typeface="Cambria Math" panose="02040503050406030204" pitchFamily="18" charset="0"/>
                      </a:rPr>
                      <m:t>𝑥</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𝑧</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𝑞</m:t>
                    </m:r>
                  </m:oMath>
                </a14:m>
                <a:r>
                  <a:rPr lang="en-US" sz="3000" dirty="0"/>
                  <a:t>, then </a:t>
                </a:r>
                <a14:m>
                  <m:oMath xmlns:m="http://schemas.openxmlformats.org/officeDocument/2006/math">
                    <m:r>
                      <a:rPr lang="en-US" sz="3000" b="0" i="1" smtClean="0">
                        <a:solidFill>
                          <a:srgbClr val="C00000"/>
                        </a:solidFill>
                        <a:latin typeface="Cambria Math" panose="02040503050406030204" pitchFamily="18" charset="0"/>
                      </a:rPr>
                      <m:t>𝐵𝑥</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𝐵𝑧</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𝐵𝑞</m:t>
                    </m:r>
                  </m:oMath>
                </a14:m>
                <a:endParaRPr lang="en-US" sz="3000" b="0" i="1" dirty="0">
                  <a:solidFill>
                    <a:srgbClr val="C00000"/>
                  </a:solidFill>
                  <a:latin typeface="Cambria Math" panose="02040503050406030204" pitchFamily="18" charset="0"/>
                </a:endParaRPr>
              </a:p>
              <a:p>
                <a:pPr>
                  <a:buClr>
                    <a:schemeClr val="tx1"/>
                  </a:buClr>
                </a:pPr>
                <a:r>
                  <a:rPr lang="en-US" sz="3000" dirty="0"/>
                  <a:t>Initialized and maintained </a:t>
                </a:r>
                <a14:m>
                  <m:oMath xmlns:m="http://schemas.openxmlformats.org/officeDocument/2006/math">
                    <m:r>
                      <a:rPr lang="en-US" sz="3000" i="1">
                        <a:solidFill>
                          <a:srgbClr val="C00000"/>
                        </a:solidFill>
                        <a:latin typeface="Cambria Math" panose="02040503050406030204" pitchFamily="18" charset="0"/>
                      </a:rPr>
                      <m:t>𝐵𝑞</m:t>
                    </m:r>
                  </m:oMath>
                </a14:m>
                <a:r>
                  <a:rPr lang="en-US" sz="3000" dirty="0"/>
                  <a:t> at the beginning of the block</a:t>
                </a:r>
              </a:p>
              <a:p>
                <a:pPr>
                  <a:buClr>
                    <a:schemeClr val="tx1"/>
                  </a:buClr>
                </a:pPr>
                <a14:m>
                  <m:oMath xmlns:m="http://schemas.openxmlformats.org/officeDocument/2006/math">
                    <m:r>
                      <m:rPr>
                        <m:sty m:val="p"/>
                      </m:rPr>
                      <a:rPr lang="en-US" sz="3000">
                        <a:latin typeface="Cambria Math" panose="02040503050406030204" pitchFamily="18" charset="0"/>
                      </a:rPr>
                      <m:t>D</m:t>
                    </m:r>
                    <m:r>
                      <m:rPr>
                        <m:sty m:val="p"/>
                      </m:rPr>
                      <a:rPr lang="en-US" sz="3000" b="0" i="0" smtClean="0">
                        <a:solidFill>
                          <a:schemeClr val="tx1"/>
                        </a:solidFill>
                        <a:latin typeface="Cambria Math" panose="02040503050406030204" pitchFamily="18" charset="0"/>
                      </a:rPr>
                      <m:t>o</m:t>
                    </m:r>
                    <m:sSup>
                      <m:sSupPr>
                        <m:ctrlPr>
                          <a:rPr lang="en-US" sz="3000" b="0" i="1" smtClean="0">
                            <a:solidFill>
                              <a:schemeClr val="tx1"/>
                            </a:solidFill>
                            <a:latin typeface="Cambria Math" panose="02040503050406030204" pitchFamily="18" charset="0"/>
                          </a:rPr>
                        </m:ctrlPr>
                      </m:sSupPr>
                      <m:e>
                        <m:r>
                          <m:rPr>
                            <m:sty m:val="p"/>
                          </m:rPr>
                          <a:rPr lang="en-US" sz="3000" b="0" i="0" smtClean="0">
                            <a:solidFill>
                              <a:schemeClr val="tx1"/>
                            </a:solidFill>
                            <a:latin typeface="Cambria Math" panose="02040503050406030204" pitchFamily="18" charset="0"/>
                          </a:rPr>
                          <m:t>n</m:t>
                        </m:r>
                      </m:e>
                      <m:sup>
                        <m:r>
                          <a:rPr lang="en-US" sz="3000" b="0" i="0" smtClean="0">
                            <a:solidFill>
                              <a:schemeClr val="tx1"/>
                            </a:solidFill>
                            <a:latin typeface="Cambria Math" panose="02040503050406030204" pitchFamily="18" charset="0"/>
                          </a:rPr>
                          <m:t>′</m:t>
                        </m:r>
                      </m:sup>
                    </m:sSup>
                    <m:r>
                      <m:rPr>
                        <m:sty m:val="p"/>
                      </m:rPr>
                      <a:rPr lang="en-US" sz="3000" b="0" i="0" smtClean="0">
                        <a:solidFill>
                          <a:schemeClr val="tx1"/>
                        </a:solidFill>
                        <a:latin typeface="Cambria Math" panose="02040503050406030204" pitchFamily="18" charset="0"/>
                      </a:rPr>
                      <m:t>t</m:t>
                    </m:r>
                    <m:r>
                      <a:rPr lang="en-US" sz="3000" b="0" i="0" smtClean="0">
                        <a:solidFill>
                          <a:schemeClr val="tx1"/>
                        </a:solidFill>
                        <a:latin typeface="Cambria Math" panose="02040503050406030204" pitchFamily="18" charset="0"/>
                      </a:rPr>
                      <m:t> </m:t>
                    </m:r>
                    <m:r>
                      <m:rPr>
                        <m:sty m:val="p"/>
                      </m:rPr>
                      <a:rPr lang="en-US" sz="3000" b="0" i="0" smtClean="0">
                        <a:solidFill>
                          <a:schemeClr val="tx1"/>
                        </a:solidFill>
                        <a:latin typeface="Cambria Math" panose="02040503050406030204" pitchFamily="18" charset="0"/>
                      </a:rPr>
                      <m:t>have</m:t>
                    </m:r>
                    <m:r>
                      <a:rPr lang="en-US" sz="3000" b="0" i="0" smtClean="0">
                        <a:solidFill>
                          <a:schemeClr val="tx1"/>
                        </a:solidFill>
                        <a:latin typeface="Cambria Math" panose="02040503050406030204" pitchFamily="18" charset="0"/>
                      </a:rPr>
                      <m:t> </m:t>
                    </m:r>
                    <m:r>
                      <a:rPr lang="en-US" sz="3000" i="1">
                        <a:solidFill>
                          <a:srgbClr val="C00000"/>
                        </a:solidFill>
                        <a:latin typeface="Cambria Math" panose="02040503050406030204" pitchFamily="18" charset="0"/>
                      </a:rPr>
                      <m:t>𝐵</m:t>
                    </m:r>
                    <m:r>
                      <a:rPr lang="en-US" sz="3000" b="0" i="1" smtClean="0">
                        <a:solidFill>
                          <a:srgbClr val="C00000"/>
                        </a:solidFill>
                        <a:latin typeface="Cambria Math" panose="02040503050406030204" pitchFamily="18" charset="0"/>
                      </a:rPr>
                      <m:t>𝑧</m:t>
                    </m:r>
                  </m:oMath>
                </a14:m>
                <a:r>
                  <a:rPr lang="en-US" sz="3000" dirty="0"/>
                  <a:t>, so how to estimate </a:t>
                </a:r>
                <a14:m>
                  <m:oMath xmlns:m="http://schemas.openxmlformats.org/officeDocument/2006/math">
                    <m:sSubSup>
                      <m:sSubSupPr>
                        <m:ctrlPr>
                          <a:rPr lang="en-US" sz="3200" b="0" i="1" smtClean="0">
                            <a:solidFill>
                              <a:srgbClr val="C00000"/>
                            </a:solidFill>
                            <a:latin typeface="Cambria Math" panose="02040503050406030204" pitchFamily="18" charset="0"/>
                          </a:rPr>
                        </m:ctrlPr>
                      </m:sSubSupPr>
                      <m:e>
                        <m:r>
                          <a:rPr lang="en-US" sz="3200" b="0" i="1" smtClean="0">
                            <a:solidFill>
                              <a:srgbClr val="C00000"/>
                            </a:solidFill>
                            <a:latin typeface="Cambria Math" panose="02040503050406030204" pitchFamily="18" charset="0"/>
                          </a:rPr>
                          <m:t>|</m:t>
                        </m:r>
                        <m:d>
                          <m:dPr>
                            <m:begChr m:val="|"/>
                            <m:endChr m:val="|"/>
                            <m:ctrlPr>
                              <a:rPr lang="en-US" sz="3200" b="0" i="1" smtClean="0">
                                <a:solidFill>
                                  <a:srgbClr val="C00000"/>
                                </a:solidFill>
                                <a:latin typeface="Cambria Math" panose="02040503050406030204" pitchFamily="18" charset="0"/>
                              </a:rPr>
                            </m:ctrlPr>
                          </m:dPr>
                          <m:e>
                            <m:r>
                              <a:rPr lang="en-US" sz="3200" i="1">
                                <a:solidFill>
                                  <a:srgbClr val="C00000"/>
                                </a:solidFill>
                                <a:latin typeface="Cambria Math" panose="02040503050406030204" pitchFamily="18" charset="0"/>
                              </a:rPr>
                              <m:t>𝑥</m:t>
                            </m:r>
                            <m:r>
                              <a:rPr lang="en-US" sz="3200" b="0" i="1" smtClean="0">
                                <a:solidFill>
                                  <a:srgbClr val="C00000"/>
                                </a:solidFill>
                                <a:latin typeface="Cambria Math" panose="02040503050406030204" pitchFamily="18" charset="0"/>
                              </a:rPr>
                              <m:t>|</m:t>
                            </m:r>
                          </m:e>
                        </m:d>
                      </m:e>
                      <m:sub>
                        <m:r>
                          <a:rPr lang="en-US" sz="3200" b="0" i="1" smtClean="0">
                            <a:solidFill>
                              <a:srgbClr val="C00000"/>
                            </a:solidFill>
                            <a:latin typeface="Cambria Math" panose="02040503050406030204" pitchFamily="18" charset="0"/>
                          </a:rPr>
                          <m:t>2</m:t>
                        </m:r>
                      </m:sub>
                      <m:sup>
                        <m:r>
                          <a:rPr lang="en-US" sz="3200" b="0" i="1" smtClean="0">
                            <a:solidFill>
                              <a:srgbClr val="C00000"/>
                            </a:solidFill>
                            <a:latin typeface="Cambria Math" panose="02040503050406030204" pitchFamily="18" charset="0"/>
                          </a:rPr>
                          <m:t>2</m:t>
                        </m:r>
                      </m:sup>
                    </m:sSubSup>
                  </m:oMath>
                </a14:m>
                <a:r>
                  <a:rPr lang="en-US" sz="3200" dirty="0"/>
                  <a:t>?</a:t>
                </a:r>
              </a:p>
              <a:p>
                <a:pPr>
                  <a:buClr>
                    <a:schemeClr val="tx1"/>
                  </a:buClr>
                </a:pPr>
                <a:endParaRPr lang="en-US" sz="3000" dirty="0"/>
              </a:p>
            </p:txBody>
          </p:sp>
        </mc:Choice>
        <mc:Fallback xmlns="">
          <p:sp>
            <p:nvSpPr>
              <p:cNvPr id="3" name="Content Placeholder 2">
                <a:extLst>
                  <a:ext uri="{FF2B5EF4-FFF2-40B4-BE49-F238E27FC236}">
                    <a16:creationId xmlns:a16="http://schemas.microsoft.com/office/drawing/2014/main" id="{44C85183-D4F9-4DBB-8D08-C7A0DFB4B53D}"/>
                  </a:ext>
                </a:extLst>
              </p:cNvPr>
              <p:cNvSpPr>
                <a:spLocks noGrp="1" noRot="1" noChangeAspect="1" noMove="1" noResize="1" noEditPoints="1" noAdjustHandles="1" noChangeArrowheads="1" noChangeShapeType="1" noTextEdit="1"/>
              </p:cNvSpPr>
              <p:nvPr>
                <p:ph idx="1"/>
              </p:nvPr>
            </p:nvSpPr>
            <p:spPr>
              <a:xfrm>
                <a:off x="838200" y="1825624"/>
                <a:ext cx="10515600" cy="4788239"/>
              </a:xfrm>
              <a:blipFill>
                <a:blip r:embed="rId3"/>
                <a:stretch>
                  <a:fillRect l="-1217" t="-2545"/>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B64D1619-73D8-CC13-D492-544AC909DC4E}"/>
              </a:ext>
            </a:extLst>
          </p:cNvPr>
          <p:cNvCxnSpPr/>
          <p:nvPr/>
        </p:nvCxnSpPr>
        <p:spPr>
          <a:xfrm>
            <a:off x="1714501" y="4779805"/>
            <a:ext cx="780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B8D1C4B-8E08-13CE-7FD4-CC9192769AB3}"/>
                  </a:ext>
                </a:extLst>
              </p:cNvPr>
              <p:cNvSpPr txBox="1"/>
              <p:nvPr/>
            </p:nvSpPr>
            <p:spPr>
              <a:xfrm>
                <a:off x="3672838" y="3152649"/>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𝑧</m:t>
                      </m:r>
                    </m:oMath>
                  </m:oMathPara>
                </a14:m>
                <a:endParaRPr lang="en-US" sz="2800" dirty="0"/>
              </a:p>
            </p:txBody>
          </p:sp>
        </mc:Choice>
        <mc:Fallback xmlns="">
          <p:sp>
            <p:nvSpPr>
              <p:cNvPr id="7" name="TextBox 6">
                <a:extLst>
                  <a:ext uri="{FF2B5EF4-FFF2-40B4-BE49-F238E27FC236}">
                    <a16:creationId xmlns:a16="http://schemas.microsoft.com/office/drawing/2014/main" id="{2B8D1C4B-8E08-13CE-7FD4-CC9192769AB3}"/>
                  </a:ext>
                </a:extLst>
              </p:cNvPr>
              <p:cNvSpPr txBox="1">
                <a:spLocks noRot="1" noChangeAspect="1" noMove="1" noResize="1" noEditPoints="1" noAdjustHandles="1" noChangeArrowheads="1" noChangeShapeType="1" noTextEdit="1"/>
              </p:cNvSpPr>
              <p:nvPr/>
            </p:nvSpPr>
            <p:spPr>
              <a:xfrm>
                <a:off x="3672838" y="3152649"/>
                <a:ext cx="1219200" cy="523220"/>
              </a:xfrm>
              <a:prstGeom prst="rect">
                <a:avLst/>
              </a:prstGeom>
              <a:blipFill>
                <a:blip r:embed="rId4"/>
                <a:stretch>
                  <a:fillRect/>
                </a:stretch>
              </a:blipFill>
            </p:spPr>
            <p:txBody>
              <a:bodyPr/>
              <a:lstStyle/>
              <a:p>
                <a:r>
                  <a:rPr lang="en-US">
                    <a:noFill/>
                  </a:rPr>
                  <a:t> </a:t>
                </a:r>
              </a:p>
            </p:txBody>
          </p:sp>
        </mc:Fallback>
      </mc:AlternateContent>
      <p:sp>
        <p:nvSpPr>
          <p:cNvPr id="8" name="Left Brace 7">
            <a:extLst>
              <a:ext uri="{FF2B5EF4-FFF2-40B4-BE49-F238E27FC236}">
                <a16:creationId xmlns:a16="http://schemas.microsoft.com/office/drawing/2014/main" id="{D82C2871-F0DC-FE69-99C1-5BB78F47E321}"/>
              </a:ext>
            </a:extLst>
          </p:cNvPr>
          <p:cNvSpPr/>
          <p:nvPr/>
        </p:nvSpPr>
        <p:spPr>
          <a:xfrm rot="16200000">
            <a:off x="5374796" y="1743251"/>
            <a:ext cx="413711" cy="773430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 name="TextBox 9">
            <a:extLst>
              <a:ext uri="{FF2B5EF4-FFF2-40B4-BE49-F238E27FC236}">
                <a16:creationId xmlns:a16="http://schemas.microsoft.com/office/drawing/2014/main" id="{ADAF5997-C27B-2756-0FA5-379338B90026}"/>
              </a:ext>
            </a:extLst>
          </p:cNvPr>
          <p:cNvSpPr txBox="1"/>
          <p:nvPr/>
        </p:nvSpPr>
        <p:spPr>
          <a:xfrm>
            <a:off x="9715506" y="4548972"/>
            <a:ext cx="1314452" cy="461665"/>
          </a:xfrm>
          <a:prstGeom prst="rect">
            <a:avLst/>
          </a:prstGeom>
          <a:noFill/>
        </p:spPr>
        <p:txBody>
          <a:bodyPr wrap="square">
            <a:spAutoFit/>
          </a:bodyPr>
          <a:lstStyle/>
          <a:p>
            <a:r>
              <a:rPr lang="en-US" sz="2400" dirty="0"/>
              <a:t>Stream</a:t>
            </a:r>
          </a:p>
        </p:txBody>
      </p:sp>
      <p:sp>
        <p:nvSpPr>
          <p:cNvPr id="11" name="TextBox 10">
            <a:extLst>
              <a:ext uri="{FF2B5EF4-FFF2-40B4-BE49-F238E27FC236}">
                <a16:creationId xmlns:a16="http://schemas.microsoft.com/office/drawing/2014/main" id="{2A1C6BFC-015A-0D25-EFAF-16886357DE96}"/>
              </a:ext>
            </a:extLst>
          </p:cNvPr>
          <p:cNvSpPr txBox="1"/>
          <p:nvPr/>
        </p:nvSpPr>
        <p:spPr>
          <a:xfrm>
            <a:off x="1714500" y="4961763"/>
            <a:ext cx="7734301" cy="369332"/>
          </a:xfrm>
          <a:prstGeom prst="rect">
            <a:avLst/>
          </a:prstGeom>
          <a:solidFill>
            <a:schemeClr val="accent1">
              <a:lumMod val="60000"/>
              <a:lumOff val="40000"/>
            </a:schemeClr>
          </a:solidFill>
        </p:spPr>
        <p:txBody>
          <a:bodyPr wrap="square" rtlCol="0">
            <a:spAutoFit/>
          </a:bodyPr>
          <a:lstStyle/>
          <a:p>
            <a:r>
              <a:rPr lang="en-US" dirty="0">
                <a:highlight>
                  <a:srgbClr val="FF0000"/>
                </a:highlight>
              </a:rPr>
              <a:t> </a:t>
            </a:r>
          </a:p>
        </p:txBody>
      </p:sp>
      <p:sp>
        <p:nvSpPr>
          <p:cNvPr id="12" name="TextBox 11">
            <a:extLst>
              <a:ext uri="{FF2B5EF4-FFF2-40B4-BE49-F238E27FC236}">
                <a16:creationId xmlns:a16="http://schemas.microsoft.com/office/drawing/2014/main" id="{747E34B0-AA87-E99D-0E4A-1CCC148A8250}"/>
              </a:ext>
            </a:extLst>
          </p:cNvPr>
          <p:cNvSpPr txBox="1"/>
          <p:nvPr/>
        </p:nvSpPr>
        <p:spPr>
          <a:xfrm>
            <a:off x="1714500" y="4199089"/>
            <a:ext cx="5135881" cy="369332"/>
          </a:xfrm>
          <a:prstGeom prst="rect">
            <a:avLst/>
          </a:prstGeom>
          <a:solidFill>
            <a:schemeClr val="accent2">
              <a:lumMod val="60000"/>
              <a:lumOff val="40000"/>
            </a:schemeClr>
          </a:solidFill>
        </p:spPr>
        <p:txBody>
          <a:bodyPr wrap="square" rtlCol="0">
            <a:spAutoFit/>
          </a:bodyPr>
          <a:lstStyle/>
          <a:p>
            <a:r>
              <a:rPr lang="en-US" dirty="0">
                <a:highlight>
                  <a:srgbClr val="FF0000"/>
                </a:highlight>
              </a:rPr>
              <a:t> </a:t>
            </a:r>
          </a:p>
        </p:txBody>
      </p:sp>
      <p:sp>
        <p:nvSpPr>
          <p:cNvPr id="13" name="TextBox 12">
            <a:extLst>
              <a:ext uri="{FF2B5EF4-FFF2-40B4-BE49-F238E27FC236}">
                <a16:creationId xmlns:a16="http://schemas.microsoft.com/office/drawing/2014/main" id="{B919B4FA-801C-647C-3B66-28F83C15E8CD}"/>
              </a:ext>
            </a:extLst>
          </p:cNvPr>
          <p:cNvSpPr txBox="1"/>
          <p:nvPr/>
        </p:nvSpPr>
        <p:spPr>
          <a:xfrm>
            <a:off x="6850382" y="4199089"/>
            <a:ext cx="2598420" cy="369332"/>
          </a:xfrm>
          <a:prstGeom prst="rect">
            <a:avLst/>
          </a:prstGeom>
          <a:solidFill>
            <a:schemeClr val="accent6">
              <a:lumMod val="60000"/>
              <a:lumOff val="40000"/>
            </a:schemeClr>
          </a:solidFill>
        </p:spPr>
        <p:txBody>
          <a:bodyPr wrap="square" rtlCol="0">
            <a:spAutoFit/>
          </a:bodyPr>
          <a:lstStyle/>
          <a:p>
            <a:r>
              <a:rPr lang="en-US" dirty="0">
                <a:highlight>
                  <a:srgbClr val="FF0000"/>
                </a:highlight>
              </a:rPr>
              <a:t> </a:t>
            </a:r>
          </a:p>
        </p:txBody>
      </p:sp>
      <p:sp>
        <p:nvSpPr>
          <p:cNvPr id="14" name="Left Brace 13">
            <a:extLst>
              <a:ext uri="{FF2B5EF4-FFF2-40B4-BE49-F238E27FC236}">
                <a16:creationId xmlns:a16="http://schemas.microsoft.com/office/drawing/2014/main" id="{FA008075-34B2-0289-4560-5D5F96969A5F}"/>
              </a:ext>
            </a:extLst>
          </p:cNvPr>
          <p:cNvSpPr/>
          <p:nvPr/>
        </p:nvSpPr>
        <p:spPr>
          <a:xfrm rot="5400000">
            <a:off x="4075583" y="1314785"/>
            <a:ext cx="413711" cy="513588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 name="Left Brace 14">
            <a:extLst>
              <a:ext uri="{FF2B5EF4-FFF2-40B4-BE49-F238E27FC236}">
                <a16:creationId xmlns:a16="http://schemas.microsoft.com/office/drawing/2014/main" id="{3EB05A85-9B30-D676-39ED-43ACAFEF4F59}"/>
              </a:ext>
            </a:extLst>
          </p:cNvPr>
          <p:cNvSpPr/>
          <p:nvPr/>
        </p:nvSpPr>
        <p:spPr>
          <a:xfrm rot="5400000">
            <a:off x="7942735" y="2592862"/>
            <a:ext cx="413711" cy="25984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A643B42-F1B6-3282-3047-7B8A0843F74A}"/>
                  </a:ext>
                </a:extLst>
              </p:cNvPr>
              <p:cNvSpPr txBox="1"/>
              <p:nvPr/>
            </p:nvSpPr>
            <p:spPr>
              <a:xfrm>
                <a:off x="5124453" y="5969657"/>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𝑥</m:t>
                      </m:r>
                    </m:oMath>
                  </m:oMathPara>
                </a14:m>
                <a:endParaRPr lang="en-US" sz="2800" dirty="0"/>
              </a:p>
            </p:txBody>
          </p:sp>
        </mc:Choice>
        <mc:Fallback xmlns="">
          <p:sp>
            <p:nvSpPr>
              <p:cNvPr id="16" name="TextBox 15">
                <a:extLst>
                  <a:ext uri="{FF2B5EF4-FFF2-40B4-BE49-F238E27FC236}">
                    <a16:creationId xmlns:a16="http://schemas.microsoft.com/office/drawing/2014/main" id="{4A643B42-F1B6-3282-3047-7B8A0843F74A}"/>
                  </a:ext>
                </a:extLst>
              </p:cNvPr>
              <p:cNvSpPr txBox="1">
                <a:spLocks noRot="1" noChangeAspect="1" noMove="1" noResize="1" noEditPoints="1" noAdjustHandles="1" noChangeArrowheads="1" noChangeShapeType="1" noTextEdit="1"/>
              </p:cNvSpPr>
              <p:nvPr/>
            </p:nvSpPr>
            <p:spPr>
              <a:xfrm>
                <a:off x="5124453" y="5969657"/>
                <a:ext cx="1219200"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934CD9E-FADA-9BA7-C4A0-9223A2EA377A}"/>
                  </a:ext>
                </a:extLst>
              </p:cNvPr>
              <p:cNvSpPr txBox="1"/>
              <p:nvPr/>
            </p:nvSpPr>
            <p:spPr>
              <a:xfrm>
                <a:off x="7539990" y="3152649"/>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𝑞</m:t>
                      </m:r>
                    </m:oMath>
                  </m:oMathPara>
                </a14:m>
                <a:endParaRPr lang="en-US" sz="2800" dirty="0"/>
              </a:p>
            </p:txBody>
          </p:sp>
        </mc:Choice>
        <mc:Fallback xmlns="">
          <p:sp>
            <p:nvSpPr>
              <p:cNvPr id="17" name="TextBox 16">
                <a:extLst>
                  <a:ext uri="{FF2B5EF4-FFF2-40B4-BE49-F238E27FC236}">
                    <a16:creationId xmlns:a16="http://schemas.microsoft.com/office/drawing/2014/main" id="{1934CD9E-FADA-9BA7-C4A0-9223A2EA377A}"/>
                  </a:ext>
                </a:extLst>
              </p:cNvPr>
              <p:cNvSpPr txBox="1">
                <a:spLocks noRot="1" noChangeAspect="1" noMove="1" noResize="1" noEditPoints="1" noAdjustHandles="1" noChangeArrowheads="1" noChangeShapeType="1" noTextEdit="1"/>
              </p:cNvSpPr>
              <p:nvPr/>
            </p:nvSpPr>
            <p:spPr>
              <a:xfrm>
                <a:off x="7539990" y="3152649"/>
                <a:ext cx="1219200" cy="52322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30574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5315B-4DCE-6BDB-6513-042058A3B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A1FD2-4EBF-A050-38B0-18733521A1F6}"/>
              </a:ext>
            </a:extLst>
          </p:cNvPr>
          <p:cNvSpPr>
            <a:spLocks noGrp="1"/>
          </p:cNvSpPr>
          <p:nvPr>
            <p:ph type="title"/>
          </p:nvPr>
        </p:nvSpPr>
        <p:spPr/>
        <p:txBody>
          <a:bodyPr/>
          <a:lstStyle/>
          <a:p>
            <a:r>
              <a:rPr lang="en-US" dirty="0">
                <a:solidFill>
                  <a:srgbClr val="C00000"/>
                </a:solidFill>
              </a:rPr>
              <a:t>Intuition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B9228E-4598-EB4E-8FA0-46D84697EA31}"/>
                  </a:ext>
                </a:extLst>
              </p:cNvPr>
              <p:cNvSpPr>
                <a:spLocks noGrp="1"/>
              </p:cNvSpPr>
              <p:nvPr>
                <p:ph idx="1"/>
              </p:nvPr>
            </p:nvSpPr>
            <p:spPr>
              <a:xfrm>
                <a:off x="838200" y="1825624"/>
                <a:ext cx="10515600" cy="4788239"/>
              </a:xfrm>
            </p:spPr>
            <p:txBody>
              <a:bodyPr>
                <a:normAutofit/>
              </a:bodyPr>
              <a:lstStyle/>
              <a:p>
                <a:pPr>
                  <a:buClr>
                    <a:schemeClr val="tx1"/>
                  </a:buClr>
                </a:pPr>
                <a:r>
                  <a:rPr lang="en-US" dirty="0"/>
                  <a:t>Since </a:t>
                </a:r>
                <a14:m>
                  <m:oMath xmlns:m="http://schemas.openxmlformats.org/officeDocument/2006/math">
                    <m:r>
                      <a:rPr lang="en-US" i="1">
                        <a:solidFill>
                          <a:srgbClr val="C00000"/>
                        </a:solidFill>
                        <a:latin typeface="Cambria Math" panose="02040503050406030204" pitchFamily="18" charset="0"/>
                      </a:rPr>
                      <m:t>𝑥</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𝑧</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𝑞</m:t>
                    </m:r>
                  </m:oMath>
                </a14:m>
                <a:r>
                  <a:rPr lang="en-US" dirty="0"/>
                  <a:t>, then </a:t>
                </a:r>
                <a14:m>
                  <m:oMath xmlns:m="http://schemas.openxmlformats.org/officeDocument/2006/math">
                    <m:sSubSup>
                      <m:sSubSupPr>
                        <m:ctrlPr>
                          <a:rPr lang="en-US" i="1">
                            <a:solidFill>
                              <a:srgbClr val="C00000"/>
                            </a:solidFill>
                            <a:latin typeface="Cambria Math" panose="02040503050406030204" pitchFamily="18" charset="0"/>
                          </a:rPr>
                        </m:ctrlPr>
                      </m:sSubSupPr>
                      <m:e>
                        <m:d>
                          <m:dPr>
                            <m:begChr m:val="‖"/>
                            <m:endChr m:val="‖"/>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𝑥</m:t>
                            </m:r>
                          </m:e>
                        </m:d>
                      </m:e>
                      <m:sub>
                        <m:r>
                          <a:rPr lang="en-US" i="1">
                            <a:solidFill>
                              <a:srgbClr val="C00000"/>
                            </a:solidFill>
                            <a:latin typeface="Cambria Math" panose="02040503050406030204" pitchFamily="18" charset="0"/>
                          </a:rPr>
                          <m:t>2</m:t>
                        </m:r>
                      </m:sub>
                      <m:sup>
                        <m:r>
                          <a:rPr lang="en-US" i="1">
                            <a:solidFill>
                              <a:srgbClr val="C00000"/>
                            </a:solidFill>
                            <a:latin typeface="Cambria Math" panose="02040503050406030204" pitchFamily="18" charset="0"/>
                          </a:rPr>
                          <m:t>2</m:t>
                        </m:r>
                      </m:sup>
                    </m:sSubSup>
                    <m:r>
                      <a:rPr lang="en-US" i="1">
                        <a:solidFill>
                          <a:srgbClr val="C00000"/>
                        </a:solidFill>
                        <a:latin typeface="Cambria Math" panose="02040503050406030204" pitchFamily="18" charset="0"/>
                      </a:rPr>
                      <m:t>=</m:t>
                    </m:r>
                    <m:sSubSup>
                      <m:sSubSupPr>
                        <m:ctrlPr>
                          <a:rPr lang="en-US" i="1">
                            <a:solidFill>
                              <a:srgbClr val="C00000"/>
                            </a:solidFill>
                            <a:latin typeface="Cambria Math" panose="02040503050406030204" pitchFamily="18" charset="0"/>
                          </a:rPr>
                        </m:ctrlPr>
                      </m:sSubSupPr>
                      <m:e>
                        <m:d>
                          <m:dPr>
                            <m:begChr m:val="‖"/>
                            <m:endChr m:val="‖"/>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𝑧</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𝑞</m:t>
                            </m:r>
                          </m:e>
                        </m:d>
                      </m:e>
                      <m:sub>
                        <m:r>
                          <a:rPr lang="en-US" i="1">
                            <a:solidFill>
                              <a:srgbClr val="C00000"/>
                            </a:solidFill>
                            <a:latin typeface="Cambria Math" panose="02040503050406030204" pitchFamily="18" charset="0"/>
                          </a:rPr>
                          <m:t>2</m:t>
                        </m:r>
                      </m:sub>
                      <m:sup>
                        <m:r>
                          <a:rPr lang="en-US" i="1">
                            <a:solidFill>
                              <a:srgbClr val="C00000"/>
                            </a:solidFill>
                            <a:latin typeface="Cambria Math" panose="02040503050406030204" pitchFamily="18" charset="0"/>
                          </a:rPr>
                          <m:t>2</m:t>
                        </m:r>
                      </m:sup>
                    </m:sSubSup>
                    <m:r>
                      <a:rPr lang="en-US" i="1">
                        <a:solidFill>
                          <a:srgbClr val="C00000"/>
                        </a:solidFill>
                        <a:latin typeface="Cambria Math" panose="02040503050406030204" pitchFamily="18" charset="0"/>
                      </a:rPr>
                      <m:t>=</m:t>
                    </m:r>
                    <m:sSubSup>
                      <m:sSubSupPr>
                        <m:ctrlPr>
                          <a:rPr lang="en-US" i="1">
                            <a:solidFill>
                              <a:srgbClr val="C00000"/>
                            </a:solidFill>
                            <a:latin typeface="Cambria Math" panose="02040503050406030204" pitchFamily="18" charset="0"/>
                          </a:rPr>
                        </m:ctrlPr>
                      </m:sSubSupPr>
                      <m:e>
                        <m:d>
                          <m:dPr>
                            <m:begChr m:val="‖"/>
                            <m:endChr m:val="‖"/>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𝑧</m:t>
                            </m:r>
                          </m:e>
                        </m:d>
                      </m:e>
                      <m:sub>
                        <m:r>
                          <a:rPr lang="en-US" i="1">
                            <a:solidFill>
                              <a:srgbClr val="C00000"/>
                            </a:solidFill>
                            <a:latin typeface="Cambria Math" panose="02040503050406030204" pitchFamily="18" charset="0"/>
                          </a:rPr>
                          <m:t>2</m:t>
                        </m:r>
                      </m:sub>
                      <m:sup>
                        <m:r>
                          <a:rPr lang="en-US" i="1">
                            <a:solidFill>
                              <a:srgbClr val="C00000"/>
                            </a:solidFill>
                            <a:latin typeface="Cambria Math" panose="02040503050406030204" pitchFamily="18" charset="0"/>
                          </a:rPr>
                          <m:t>2</m:t>
                        </m:r>
                      </m:sup>
                    </m:sSubSup>
                    <m:r>
                      <a:rPr lang="en-US"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2</m:t>
                    </m:r>
                    <m:d>
                      <m:dPr>
                        <m:begChr m:val="⟨"/>
                        <m:endChr m:val="⟩"/>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𝑧</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𝑞</m:t>
                        </m:r>
                      </m:e>
                    </m:d>
                    <m:r>
                      <a:rPr lang="en-US" i="1">
                        <a:solidFill>
                          <a:srgbClr val="C00000"/>
                        </a:solidFill>
                        <a:latin typeface="Cambria Math" panose="02040503050406030204" pitchFamily="18" charset="0"/>
                      </a:rPr>
                      <m:t>+</m:t>
                    </m:r>
                    <m:sSubSup>
                      <m:sSubSupPr>
                        <m:ctrlPr>
                          <a:rPr lang="en-US" i="1">
                            <a:solidFill>
                              <a:srgbClr val="C00000"/>
                            </a:solidFill>
                            <a:latin typeface="Cambria Math" panose="02040503050406030204" pitchFamily="18" charset="0"/>
                          </a:rPr>
                        </m:ctrlPr>
                      </m:sSubSupPr>
                      <m:e>
                        <m:d>
                          <m:dPr>
                            <m:begChr m:val="‖"/>
                            <m:endChr m:val="‖"/>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𝑞</m:t>
                            </m:r>
                          </m:e>
                        </m:d>
                      </m:e>
                      <m:sub>
                        <m:r>
                          <a:rPr lang="en-US" i="1">
                            <a:solidFill>
                              <a:srgbClr val="C00000"/>
                            </a:solidFill>
                            <a:latin typeface="Cambria Math" panose="02040503050406030204" pitchFamily="18" charset="0"/>
                          </a:rPr>
                          <m:t>2</m:t>
                        </m:r>
                      </m:sub>
                      <m:sup>
                        <m:r>
                          <a:rPr lang="en-US" i="1">
                            <a:solidFill>
                              <a:srgbClr val="C00000"/>
                            </a:solidFill>
                            <a:latin typeface="Cambria Math" panose="02040503050406030204" pitchFamily="18" charset="0"/>
                          </a:rPr>
                          <m:t>2</m:t>
                        </m:r>
                      </m:sup>
                    </m:sSubSup>
                  </m:oMath>
                </a14:m>
                <a:endParaRPr lang="en-US" dirty="0"/>
              </a:p>
            </p:txBody>
          </p:sp>
        </mc:Choice>
        <mc:Fallback xmlns="">
          <p:sp>
            <p:nvSpPr>
              <p:cNvPr id="3" name="Content Placeholder 2">
                <a:extLst>
                  <a:ext uri="{FF2B5EF4-FFF2-40B4-BE49-F238E27FC236}">
                    <a16:creationId xmlns:a16="http://schemas.microsoft.com/office/drawing/2014/main" id="{9EB9228E-4598-EB4E-8FA0-46D84697EA31}"/>
                  </a:ext>
                </a:extLst>
              </p:cNvPr>
              <p:cNvSpPr>
                <a:spLocks noGrp="1" noRot="1" noChangeAspect="1" noMove="1" noResize="1" noEditPoints="1" noAdjustHandles="1" noChangeArrowheads="1" noChangeShapeType="1" noTextEdit="1"/>
              </p:cNvSpPr>
              <p:nvPr>
                <p:ph idx="1"/>
              </p:nvPr>
            </p:nvSpPr>
            <p:spPr>
              <a:xfrm>
                <a:off x="838200" y="1825624"/>
                <a:ext cx="10515600" cy="4788239"/>
              </a:xfrm>
              <a:blipFill>
                <a:blip r:embed="rId3"/>
                <a:stretch>
                  <a:fillRect l="-1043" t="-1908"/>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17C1B7BF-3BB0-BB74-C5BC-385B6B9C9096}"/>
              </a:ext>
            </a:extLst>
          </p:cNvPr>
          <p:cNvCxnSpPr/>
          <p:nvPr/>
        </p:nvCxnSpPr>
        <p:spPr>
          <a:xfrm>
            <a:off x="1714501" y="4779805"/>
            <a:ext cx="780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D241320-D18B-5A01-7749-6CF5ED2C6AE7}"/>
                  </a:ext>
                </a:extLst>
              </p:cNvPr>
              <p:cNvSpPr txBox="1"/>
              <p:nvPr/>
            </p:nvSpPr>
            <p:spPr>
              <a:xfrm>
                <a:off x="3672838" y="3152649"/>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𝑧</m:t>
                      </m:r>
                    </m:oMath>
                  </m:oMathPara>
                </a14:m>
                <a:endParaRPr lang="en-US" sz="2800" dirty="0"/>
              </a:p>
            </p:txBody>
          </p:sp>
        </mc:Choice>
        <mc:Fallback xmlns="">
          <p:sp>
            <p:nvSpPr>
              <p:cNvPr id="7" name="TextBox 6">
                <a:extLst>
                  <a:ext uri="{FF2B5EF4-FFF2-40B4-BE49-F238E27FC236}">
                    <a16:creationId xmlns:a16="http://schemas.microsoft.com/office/drawing/2014/main" id="{6D241320-D18B-5A01-7749-6CF5ED2C6AE7}"/>
                  </a:ext>
                </a:extLst>
              </p:cNvPr>
              <p:cNvSpPr txBox="1">
                <a:spLocks noRot="1" noChangeAspect="1" noMove="1" noResize="1" noEditPoints="1" noAdjustHandles="1" noChangeArrowheads="1" noChangeShapeType="1" noTextEdit="1"/>
              </p:cNvSpPr>
              <p:nvPr/>
            </p:nvSpPr>
            <p:spPr>
              <a:xfrm>
                <a:off x="3672838" y="3152649"/>
                <a:ext cx="1219200" cy="523220"/>
              </a:xfrm>
              <a:prstGeom prst="rect">
                <a:avLst/>
              </a:prstGeom>
              <a:blipFill>
                <a:blip r:embed="rId4"/>
                <a:stretch>
                  <a:fillRect/>
                </a:stretch>
              </a:blipFill>
            </p:spPr>
            <p:txBody>
              <a:bodyPr/>
              <a:lstStyle/>
              <a:p>
                <a:r>
                  <a:rPr lang="en-US">
                    <a:noFill/>
                  </a:rPr>
                  <a:t> </a:t>
                </a:r>
              </a:p>
            </p:txBody>
          </p:sp>
        </mc:Fallback>
      </mc:AlternateContent>
      <p:sp>
        <p:nvSpPr>
          <p:cNvPr id="8" name="Left Brace 7">
            <a:extLst>
              <a:ext uri="{FF2B5EF4-FFF2-40B4-BE49-F238E27FC236}">
                <a16:creationId xmlns:a16="http://schemas.microsoft.com/office/drawing/2014/main" id="{34D5AD7B-555F-20A0-74A1-CD4809ED0FD6}"/>
              </a:ext>
            </a:extLst>
          </p:cNvPr>
          <p:cNvSpPr/>
          <p:nvPr/>
        </p:nvSpPr>
        <p:spPr>
          <a:xfrm rot="16200000">
            <a:off x="5374796" y="1743251"/>
            <a:ext cx="413711" cy="773430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 name="TextBox 9">
            <a:extLst>
              <a:ext uri="{FF2B5EF4-FFF2-40B4-BE49-F238E27FC236}">
                <a16:creationId xmlns:a16="http://schemas.microsoft.com/office/drawing/2014/main" id="{B0481FD9-6F55-F77B-9CB3-843EBF09D008}"/>
              </a:ext>
            </a:extLst>
          </p:cNvPr>
          <p:cNvSpPr txBox="1"/>
          <p:nvPr/>
        </p:nvSpPr>
        <p:spPr>
          <a:xfrm>
            <a:off x="9715506" y="4548972"/>
            <a:ext cx="1314452" cy="461665"/>
          </a:xfrm>
          <a:prstGeom prst="rect">
            <a:avLst/>
          </a:prstGeom>
          <a:noFill/>
        </p:spPr>
        <p:txBody>
          <a:bodyPr wrap="square">
            <a:spAutoFit/>
          </a:bodyPr>
          <a:lstStyle/>
          <a:p>
            <a:r>
              <a:rPr lang="en-US" sz="2400" dirty="0"/>
              <a:t>Stream</a:t>
            </a:r>
          </a:p>
        </p:txBody>
      </p:sp>
      <p:sp>
        <p:nvSpPr>
          <p:cNvPr id="11" name="TextBox 10">
            <a:extLst>
              <a:ext uri="{FF2B5EF4-FFF2-40B4-BE49-F238E27FC236}">
                <a16:creationId xmlns:a16="http://schemas.microsoft.com/office/drawing/2014/main" id="{C132C21D-419B-F7CC-3AB4-4DB560B3B6A9}"/>
              </a:ext>
            </a:extLst>
          </p:cNvPr>
          <p:cNvSpPr txBox="1"/>
          <p:nvPr/>
        </p:nvSpPr>
        <p:spPr>
          <a:xfrm>
            <a:off x="1714500" y="4961763"/>
            <a:ext cx="7734301" cy="369332"/>
          </a:xfrm>
          <a:prstGeom prst="rect">
            <a:avLst/>
          </a:prstGeom>
          <a:solidFill>
            <a:schemeClr val="accent1">
              <a:lumMod val="60000"/>
              <a:lumOff val="40000"/>
            </a:schemeClr>
          </a:solidFill>
        </p:spPr>
        <p:txBody>
          <a:bodyPr wrap="square" rtlCol="0">
            <a:spAutoFit/>
          </a:bodyPr>
          <a:lstStyle/>
          <a:p>
            <a:r>
              <a:rPr lang="en-US" dirty="0">
                <a:highlight>
                  <a:srgbClr val="FF0000"/>
                </a:highlight>
              </a:rPr>
              <a:t> </a:t>
            </a:r>
          </a:p>
        </p:txBody>
      </p:sp>
      <p:sp>
        <p:nvSpPr>
          <p:cNvPr id="12" name="TextBox 11">
            <a:extLst>
              <a:ext uri="{FF2B5EF4-FFF2-40B4-BE49-F238E27FC236}">
                <a16:creationId xmlns:a16="http://schemas.microsoft.com/office/drawing/2014/main" id="{086B386A-C6E1-543E-4EE8-0406627448F0}"/>
              </a:ext>
            </a:extLst>
          </p:cNvPr>
          <p:cNvSpPr txBox="1"/>
          <p:nvPr/>
        </p:nvSpPr>
        <p:spPr>
          <a:xfrm>
            <a:off x="1714500" y="4199089"/>
            <a:ext cx="5135881" cy="369332"/>
          </a:xfrm>
          <a:prstGeom prst="rect">
            <a:avLst/>
          </a:prstGeom>
          <a:solidFill>
            <a:schemeClr val="accent2">
              <a:lumMod val="60000"/>
              <a:lumOff val="40000"/>
            </a:schemeClr>
          </a:solidFill>
        </p:spPr>
        <p:txBody>
          <a:bodyPr wrap="square" rtlCol="0">
            <a:spAutoFit/>
          </a:bodyPr>
          <a:lstStyle/>
          <a:p>
            <a:r>
              <a:rPr lang="en-US" dirty="0">
                <a:highlight>
                  <a:srgbClr val="FF0000"/>
                </a:highlight>
              </a:rPr>
              <a:t> </a:t>
            </a:r>
          </a:p>
        </p:txBody>
      </p:sp>
      <p:sp>
        <p:nvSpPr>
          <p:cNvPr id="13" name="TextBox 12">
            <a:extLst>
              <a:ext uri="{FF2B5EF4-FFF2-40B4-BE49-F238E27FC236}">
                <a16:creationId xmlns:a16="http://schemas.microsoft.com/office/drawing/2014/main" id="{0CB8291E-E063-FAEF-787F-2637D8DCFFDA}"/>
              </a:ext>
            </a:extLst>
          </p:cNvPr>
          <p:cNvSpPr txBox="1"/>
          <p:nvPr/>
        </p:nvSpPr>
        <p:spPr>
          <a:xfrm>
            <a:off x="6850382" y="4199089"/>
            <a:ext cx="2598420" cy="369332"/>
          </a:xfrm>
          <a:prstGeom prst="rect">
            <a:avLst/>
          </a:prstGeom>
          <a:solidFill>
            <a:schemeClr val="accent6">
              <a:lumMod val="60000"/>
              <a:lumOff val="40000"/>
            </a:schemeClr>
          </a:solidFill>
        </p:spPr>
        <p:txBody>
          <a:bodyPr wrap="square" rtlCol="0">
            <a:spAutoFit/>
          </a:bodyPr>
          <a:lstStyle/>
          <a:p>
            <a:r>
              <a:rPr lang="en-US" dirty="0">
                <a:highlight>
                  <a:srgbClr val="FF0000"/>
                </a:highlight>
              </a:rPr>
              <a:t> </a:t>
            </a:r>
          </a:p>
        </p:txBody>
      </p:sp>
      <p:sp>
        <p:nvSpPr>
          <p:cNvPr id="14" name="Left Brace 13">
            <a:extLst>
              <a:ext uri="{FF2B5EF4-FFF2-40B4-BE49-F238E27FC236}">
                <a16:creationId xmlns:a16="http://schemas.microsoft.com/office/drawing/2014/main" id="{52D15D32-CFAA-5825-1759-CAFFD4115F4D}"/>
              </a:ext>
            </a:extLst>
          </p:cNvPr>
          <p:cNvSpPr/>
          <p:nvPr/>
        </p:nvSpPr>
        <p:spPr>
          <a:xfrm rot="5400000">
            <a:off x="4075583" y="1314785"/>
            <a:ext cx="413711" cy="513588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 name="Left Brace 14">
            <a:extLst>
              <a:ext uri="{FF2B5EF4-FFF2-40B4-BE49-F238E27FC236}">
                <a16:creationId xmlns:a16="http://schemas.microsoft.com/office/drawing/2014/main" id="{2C70F84C-8FBE-85B3-40A1-6C786D2473AC}"/>
              </a:ext>
            </a:extLst>
          </p:cNvPr>
          <p:cNvSpPr/>
          <p:nvPr/>
        </p:nvSpPr>
        <p:spPr>
          <a:xfrm rot="5400000">
            <a:off x="7942735" y="2592862"/>
            <a:ext cx="413711" cy="25984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3B29C8E-8781-C15E-8246-616F89B4D5B6}"/>
                  </a:ext>
                </a:extLst>
              </p:cNvPr>
              <p:cNvSpPr txBox="1"/>
              <p:nvPr/>
            </p:nvSpPr>
            <p:spPr>
              <a:xfrm>
                <a:off x="5124453" y="5969657"/>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𝑥</m:t>
                      </m:r>
                    </m:oMath>
                  </m:oMathPara>
                </a14:m>
                <a:endParaRPr lang="en-US" sz="2800" dirty="0"/>
              </a:p>
            </p:txBody>
          </p:sp>
        </mc:Choice>
        <mc:Fallback xmlns="">
          <p:sp>
            <p:nvSpPr>
              <p:cNvPr id="16" name="TextBox 15">
                <a:extLst>
                  <a:ext uri="{FF2B5EF4-FFF2-40B4-BE49-F238E27FC236}">
                    <a16:creationId xmlns:a16="http://schemas.microsoft.com/office/drawing/2014/main" id="{E3B29C8E-8781-C15E-8246-616F89B4D5B6}"/>
                  </a:ext>
                </a:extLst>
              </p:cNvPr>
              <p:cNvSpPr txBox="1">
                <a:spLocks noRot="1" noChangeAspect="1" noMove="1" noResize="1" noEditPoints="1" noAdjustHandles="1" noChangeArrowheads="1" noChangeShapeType="1" noTextEdit="1"/>
              </p:cNvSpPr>
              <p:nvPr/>
            </p:nvSpPr>
            <p:spPr>
              <a:xfrm>
                <a:off x="5124453" y="5969657"/>
                <a:ext cx="1219200"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A73F300-DC00-DEBF-00D5-817B7B5974CF}"/>
                  </a:ext>
                </a:extLst>
              </p:cNvPr>
              <p:cNvSpPr txBox="1"/>
              <p:nvPr/>
            </p:nvSpPr>
            <p:spPr>
              <a:xfrm>
                <a:off x="7539990" y="3152649"/>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𝑞</m:t>
                      </m:r>
                    </m:oMath>
                  </m:oMathPara>
                </a14:m>
                <a:endParaRPr lang="en-US" sz="2800" dirty="0"/>
              </a:p>
            </p:txBody>
          </p:sp>
        </mc:Choice>
        <mc:Fallback xmlns="">
          <p:sp>
            <p:nvSpPr>
              <p:cNvPr id="17" name="TextBox 16">
                <a:extLst>
                  <a:ext uri="{FF2B5EF4-FFF2-40B4-BE49-F238E27FC236}">
                    <a16:creationId xmlns:a16="http://schemas.microsoft.com/office/drawing/2014/main" id="{6A73F300-DC00-DEBF-00D5-817B7B5974CF}"/>
                  </a:ext>
                </a:extLst>
              </p:cNvPr>
              <p:cNvSpPr txBox="1">
                <a:spLocks noRot="1" noChangeAspect="1" noMove="1" noResize="1" noEditPoints="1" noAdjustHandles="1" noChangeArrowheads="1" noChangeShapeType="1" noTextEdit="1"/>
              </p:cNvSpPr>
              <p:nvPr/>
            </p:nvSpPr>
            <p:spPr>
              <a:xfrm>
                <a:off x="7539990" y="3152649"/>
                <a:ext cx="1219200" cy="52322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61015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5F159-B2B7-836F-7BE6-798114BC6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238EEC-E3C5-92C0-745D-F1CEAD0254B5}"/>
              </a:ext>
            </a:extLst>
          </p:cNvPr>
          <p:cNvSpPr>
            <a:spLocks noGrp="1"/>
          </p:cNvSpPr>
          <p:nvPr>
            <p:ph type="title"/>
          </p:nvPr>
        </p:nvSpPr>
        <p:spPr/>
        <p:txBody>
          <a:bodyPr/>
          <a:lstStyle/>
          <a:p>
            <a:r>
              <a:rPr lang="en-US" dirty="0">
                <a:solidFill>
                  <a:srgbClr val="C00000"/>
                </a:solidFill>
              </a:rPr>
              <a:t>Intuition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017AB7-F8EE-D3A4-C802-EFF14C1DAE24}"/>
                  </a:ext>
                </a:extLst>
              </p:cNvPr>
              <p:cNvSpPr>
                <a:spLocks noGrp="1"/>
              </p:cNvSpPr>
              <p:nvPr>
                <p:ph idx="1"/>
              </p:nvPr>
            </p:nvSpPr>
            <p:spPr>
              <a:xfrm>
                <a:off x="559558" y="1825624"/>
                <a:ext cx="10794242" cy="4788239"/>
              </a:xfrm>
            </p:spPr>
            <p:txBody>
              <a:bodyPr>
                <a:normAutofit/>
              </a:bodyPr>
              <a:lstStyle/>
              <a:p>
                <a:pPr>
                  <a:buClr>
                    <a:schemeClr val="tx1"/>
                  </a:buClr>
                </a:pPr>
                <a:r>
                  <a:rPr lang="en-US" sz="3000" dirty="0"/>
                  <a:t>Since </a:t>
                </a:r>
                <a14:m>
                  <m:oMath xmlns:m="http://schemas.openxmlformats.org/officeDocument/2006/math">
                    <m:r>
                      <a:rPr lang="en-US" sz="3000" i="1">
                        <a:solidFill>
                          <a:srgbClr val="C00000"/>
                        </a:solidFill>
                        <a:latin typeface="Cambria Math" panose="02040503050406030204" pitchFamily="18" charset="0"/>
                      </a:rPr>
                      <m:t>𝑥</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oMath>
                </a14:m>
                <a:r>
                  <a:rPr lang="en-US" sz="3000" dirty="0"/>
                  <a:t>, then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𝑥</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i="1">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2</m:t>
                    </m:r>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endParaRPr lang="en-US" sz="3000" dirty="0"/>
              </a:p>
              <a:p>
                <a:pPr>
                  <a:buClr>
                    <a:schemeClr val="tx1"/>
                  </a:buClr>
                </a:pPr>
                <a:endParaRPr lang="en-US" sz="3000" dirty="0"/>
              </a:p>
              <a:p>
                <a:pPr>
                  <a:buClr>
                    <a:schemeClr val="tx1"/>
                  </a:buClr>
                </a:pPr>
                <a:r>
                  <a:rPr lang="en-US" sz="3000" dirty="0"/>
                  <a:t>Then </a:t>
                </a:r>
                <a:r>
                  <a:rPr lang="en-US" sz="3000" dirty="0">
                    <a:solidFill>
                      <a:srgbClr val="7030A0"/>
                    </a:solidFill>
                  </a:rPr>
                  <a:t>EITHER</a:t>
                </a:r>
                <a:r>
                  <a:rPr lang="en-US" sz="3000" dirty="0"/>
                  <a:t>:</a:t>
                </a:r>
              </a:p>
              <a:p>
                <a:pPr lvl="1">
                  <a:buClr>
                    <a:schemeClr val="tx1"/>
                  </a:buClr>
                </a:pPr>
                <a:endParaRPr lang="en-US" sz="3000" i="1" dirty="0">
                  <a:solidFill>
                    <a:srgbClr val="C00000"/>
                  </a:solidFill>
                  <a:latin typeface="Cambria Math" panose="02040503050406030204" pitchFamily="18" charset="0"/>
                </a:endParaRPr>
              </a:p>
              <a:p>
                <a:pPr lvl="1">
                  <a:buClr>
                    <a:schemeClr val="tx1"/>
                  </a:buClr>
                </a:pPr>
                <a14:m>
                  <m:oMath xmlns:m="http://schemas.openxmlformats.org/officeDocument/2006/math">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oMath>
                </a14:m>
                <a:r>
                  <a:rPr lang="en-US" sz="3000" dirty="0"/>
                  <a:t> is </a:t>
                </a:r>
                <a:r>
                  <a:rPr lang="en-US" sz="3000" dirty="0">
                    <a:solidFill>
                      <a:srgbClr val="00B050"/>
                    </a:solidFill>
                  </a:rPr>
                  <a:t>SMALL</a:t>
                </a:r>
                <a:r>
                  <a:rPr lang="en-US" sz="3000" dirty="0"/>
                  <a:t>, so that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𝑥</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b="0" i="1" smtClean="0">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b="0" i="1" smtClean="0">
                        <a:solidFill>
                          <a:srgbClr val="C00000"/>
                        </a:solidFill>
                        <a:latin typeface="Cambria Math" panose="02040503050406030204" pitchFamily="18" charset="0"/>
                      </a:rPr>
                      <m:t>≈</m:t>
                    </m:r>
                    <m:sSubSup>
                      <m:sSubSupPr>
                        <m:ctrlPr>
                          <a:rPr lang="en-US" sz="3000" b="0" i="1" smtClean="0">
                            <a:solidFill>
                              <a:srgbClr val="C00000"/>
                            </a:solidFill>
                            <a:latin typeface="Cambria Math" panose="02040503050406030204" pitchFamily="18" charset="0"/>
                          </a:rPr>
                        </m:ctrlPr>
                      </m:sSubSupPr>
                      <m:e>
                        <m:d>
                          <m:dPr>
                            <m:begChr m:val="|"/>
                            <m:endChr m:val="|"/>
                            <m:ctrlPr>
                              <a:rPr lang="en-US" sz="3000" b="0" i="1" smtClean="0">
                                <a:solidFill>
                                  <a:srgbClr val="C00000"/>
                                </a:solidFill>
                                <a:latin typeface="Cambria Math" panose="02040503050406030204" pitchFamily="18" charset="0"/>
                              </a:rPr>
                            </m:ctrlPr>
                          </m:dPr>
                          <m:e>
                            <m:r>
                              <a:rPr lang="en-US" sz="3000" b="0" i="1" smtClean="0">
                                <a:solidFill>
                                  <a:srgbClr val="C00000"/>
                                </a:solidFill>
                                <a:latin typeface="Cambria Math" panose="02040503050406030204" pitchFamily="18" charset="0"/>
                              </a:rPr>
                              <m:t>𝐴𝑧</m:t>
                            </m:r>
                          </m:e>
                        </m:d>
                      </m:e>
                      <m:sub>
                        <m:r>
                          <a:rPr lang="en-US" sz="3000" b="0" i="1" smtClean="0">
                            <a:solidFill>
                              <a:srgbClr val="C00000"/>
                            </a:solidFill>
                            <a:latin typeface="Cambria Math" panose="02040503050406030204" pitchFamily="18" charset="0"/>
                          </a:rPr>
                          <m:t>2</m:t>
                        </m:r>
                      </m:sub>
                      <m:sup>
                        <m:r>
                          <a:rPr lang="en-US" sz="3000" b="0" i="1" smtClean="0">
                            <a:solidFill>
                              <a:srgbClr val="C00000"/>
                            </a:solidFill>
                            <a:latin typeface="Cambria Math" panose="02040503050406030204" pitchFamily="18" charset="0"/>
                          </a:rPr>
                          <m:t>2</m:t>
                        </m:r>
                      </m:sup>
                    </m:sSubSup>
                    <m:r>
                      <a:rPr lang="en-US" sz="3000" b="0" i="1" smtClean="0">
                        <a:solidFill>
                          <a:srgbClr val="C00000"/>
                        </a:solidFill>
                        <a:latin typeface="Cambria Math" panose="02040503050406030204" pitchFamily="18" charset="0"/>
                      </a:rPr>
                      <m:t>+</m:t>
                    </m:r>
                    <m:sSubSup>
                      <m:sSubSupPr>
                        <m:ctrlPr>
                          <a:rPr lang="en-US" sz="3000" b="0" i="1" smtClean="0">
                            <a:solidFill>
                              <a:srgbClr val="C00000"/>
                            </a:solidFill>
                            <a:latin typeface="Cambria Math" panose="02040503050406030204" pitchFamily="18" charset="0"/>
                          </a:rPr>
                        </m:ctrlPr>
                      </m:sSubSupPr>
                      <m:e>
                        <m:d>
                          <m:dPr>
                            <m:begChr m:val="|"/>
                            <m:endChr m:val="|"/>
                            <m:ctrlPr>
                              <a:rPr lang="en-US" sz="3000" b="0" i="1" smtClean="0">
                                <a:solidFill>
                                  <a:srgbClr val="C00000"/>
                                </a:solidFill>
                                <a:latin typeface="Cambria Math" panose="02040503050406030204" pitchFamily="18" charset="0"/>
                              </a:rPr>
                            </m:ctrlPr>
                          </m:dPr>
                          <m:e>
                            <m:r>
                              <a:rPr lang="en-US" sz="3000" b="0" i="1" smtClean="0">
                                <a:solidFill>
                                  <a:srgbClr val="C00000"/>
                                </a:solidFill>
                                <a:latin typeface="Cambria Math" panose="02040503050406030204" pitchFamily="18" charset="0"/>
                              </a:rPr>
                              <m:t>𝐵𝑞</m:t>
                            </m:r>
                          </m:e>
                        </m:d>
                      </m:e>
                      <m:sub>
                        <m:r>
                          <a:rPr lang="en-US" sz="3000" b="0" i="1" smtClean="0">
                            <a:solidFill>
                              <a:srgbClr val="C00000"/>
                            </a:solidFill>
                            <a:latin typeface="Cambria Math" panose="02040503050406030204" pitchFamily="18" charset="0"/>
                          </a:rPr>
                          <m:t>2</m:t>
                        </m:r>
                      </m:sub>
                      <m:sup>
                        <m:r>
                          <a:rPr lang="en-US" sz="3000" b="0" i="1" smtClean="0">
                            <a:solidFill>
                              <a:srgbClr val="C00000"/>
                            </a:solidFill>
                            <a:latin typeface="Cambria Math" panose="02040503050406030204" pitchFamily="18" charset="0"/>
                          </a:rPr>
                          <m:t>2</m:t>
                        </m:r>
                      </m:sup>
                    </m:sSubSup>
                  </m:oMath>
                </a14:m>
                <a:endParaRPr lang="en-US" sz="3000" dirty="0"/>
              </a:p>
              <a:p>
                <a:pPr lvl="1">
                  <a:buClr>
                    <a:schemeClr val="tx1"/>
                  </a:buClr>
                </a:pPr>
                <a:endParaRPr lang="en-US" sz="3000" i="1" dirty="0">
                  <a:solidFill>
                    <a:srgbClr val="C00000"/>
                  </a:solidFill>
                  <a:latin typeface="Cambria Math" panose="02040503050406030204" pitchFamily="18" charset="0"/>
                </a:endParaRPr>
              </a:p>
              <a:p>
                <a:pPr lvl="1">
                  <a:buClr>
                    <a:schemeClr val="tx1"/>
                  </a:buClr>
                </a:pPr>
                <a14:m>
                  <m:oMath xmlns:m="http://schemas.openxmlformats.org/officeDocument/2006/math">
                    <m:d>
                      <m:dPr>
                        <m:begChr m:val="⟨"/>
                        <m:endChr m:val="⟩"/>
                        <m:ctrlPr>
                          <a:rPr lang="en-US" sz="3000" i="1" smtClean="0">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oMath>
                </a14:m>
                <a:r>
                  <a:rPr lang="en-US" sz="3000" dirty="0"/>
                  <a:t> is </a:t>
                </a:r>
                <a:r>
                  <a:rPr lang="en-US" sz="3000" dirty="0">
                    <a:solidFill>
                      <a:srgbClr val="00B050"/>
                    </a:solidFill>
                  </a:rPr>
                  <a:t>LARGE</a:t>
                </a:r>
                <a:r>
                  <a:rPr lang="en-US" sz="3000" dirty="0"/>
                  <a:t>, so that </a:t>
                </a:r>
                <a14:m>
                  <m:oMath xmlns:m="http://schemas.openxmlformats.org/officeDocument/2006/math">
                    <m:r>
                      <a:rPr lang="en-US" sz="3000" i="1">
                        <a:solidFill>
                          <a:srgbClr val="C00000"/>
                        </a:solidFill>
                        <a:latin typeface="Cambria Math" panose="02040503050406030204" pitchFamily="18" charset="0"/>
                      </a:rPr>
                      <m:t>𝑞</m:t>
                    </m:r>
                  </m:oMath>
                </a14:m>
                <a:r>
                  <a:rPr lang="en-US" sz="3000" dirty="0"/>
                  <a:t> is “well-aligned” with </a:t>
                </a:r>
                <a14:m>
                  <m:oMath xmlns:m="http://schemas.openxmlformats.org/officeDocument/2006/math">
                    <m:r>
                      <a:rPr lang="en-US" sz="3000" b="0" i="1" smtClean="0">
                        <a:solidFill>
                          <a:srgbClr val="C00000"/>
                        </a:solidFill>
                        <a:latin typeface="Cambria Math" panose="02040503050406030204" pitchFamily="18" charset="0"/>
                      </a:rPr>
                      <m:t>𝑧</m:t>
                    </m:r>
                  </m:oMath>
                </a14:m>
                <a:r>
                  <a:rPr lang="en-US" sz="3000" dirty="0"/>
                  <a:t>, and we </a:t>
                </a:r>
              </a:p>
              <a:p>
                <a:pPr marL="457200" lvl="1" indent="0">
                  <a:buClr>
                    <a:schemeClr val="tx1"/>
                  </a:buClr>
                  <a:buNone/>
                </a:pPr>
                <a:endParaRPr lang="en-US" sz="3000" dirty="0"/>
              </a:p>
              <a:p>
                <a:pPr marL="457200" lvl="1" indent="0">
                  <a:buClr>
                    <a:schemeClr val="tx1"/>
                  </a:buClr>
                  <a:buNone/>
                </a:pPr>
                <a:r>
                  <a:rPr lang="en-US" sz="3000" dirty="0"/>
                  <a:t>   </a:t>
                </a:r>
                <a:r>
                  <a:rPr lang="en-US" sz="4800" dirty="0"/>
                  <a:t>LEARN INFORMATION</a:t>
                </a:r>
                <a:r>
                  <a:rPr lang="en-US" sz="3000" dirty="0"/>
                  <a:t> about </a:t>
                </a:r>
                <a14:m>
                  <m:oMath xmlns:m="http://schemas.openxmlformats.org/officeDocument/2006/math">
                    <m:r>
                      <a:rPr lang="en-US" sz="3000" b="0" i="1" smtClean="0">
                        <a:solidFill>
                          <a:srgbClr val="C00000"/>
                        </a:solidFill>
                        <a:latin typeface="Cambria Math" panose="02040503050406030204" pitchFamily="18" charset="0"/>
                      </a:rPr>
                      <m:t>𝑧</m:t>
                    </m:r>
                  </m:oMath>
                </a14:m>
                <a:r>
                  <a:rPr lang="en-US" sz="3000" dirty="0"/>
                  <a:t> from </a:t>
                </a:r>
                <a14:m>
                  <m:oMath xmlns:m="http://schemas.openxmlformats.org/officeDocument/2006/math">
                    <m:r>
                      <a:rPr lang="en-US" sz="3000" i="1">
                        <a:solidFill>
                          <a:srgbClr val="C00000"/>
                        </a:solidFill>
                        <a:latin typeface="Cambria Math" panose="02040503050406030204" pitchFamily="18" charset="0"/>
                      </a:rPr>
                      <m:t>𝑞</m:t>
                    </m:r>
                  </m:oMath>
                </a14:m>
                <a:endParaRPr lang="en-US" sz="3000" dirty="0"/>
              </a:p>
            </p:txBody>
          </p:sp>
        </mc:Choice>
        <mc:Fallback xmlns="">
          <p:sp>
            <p:nvSpPr>
              <p:cNvPr id="3" name="Content Placeholder 2">
                <a:extLst>
                  <a:ext uri="{FF2B5EF4-FFF2-40B4-BE49-F238E27FC236}">
                    <a16:creationId xmlns:a16="http://schemas.microsoft.com/office/drawing/2014/main" id="{C3017AB7-F8EE-D3A4-C802-EFF14C1DAE24}"/>
                  </a:ext>
                </a:extLst>
              </p:cNvPr>
              <p:cNvSpPr>
                <a:spLocks noGrp="1" noRot="1" noChangeAspect="1" noMove="1" noResize="1" noEditPoints="1" noAdjustHandles="1" noChangeArrowheads="1" noChangeShapeType="1" noTextEdit="1"/>
              </p:cNvSpPr>
              <p:nvPr>
                <p:ph idx="1"/>
              </p:nvPr>
            </p:nvSpPr>
            <p:spPr>
              <a:xfrm>
                <a:off x="559558" y="1825624"/>
                <a:ext cx="10794242" cy="4788239"/>
              </a:xfrm>
              <a:blipFill>
                <a:blip r:embed="rId3"/>
                <a:stretch>
                  <a:fillRect l="-1186" t="-2417" b="-4707"/>
                </a:stretch>
              </a:blipFill>
            </p:spPr>
            <p:txBody>
              <a:bodyPr/>
              <a:lstStyle/>
              <a:p>
                <a:r>
                  <a:rPr lang="en-US">
                    <a:noFill/>
                  </a:rPr>
                  <a:t> </a:t>
                </a:r>
              </a:p>
            </p:txBody>
          </p:sp>
        </mc:Fallback>
      </mc:AlternateContent>
    </p:spTree>
    <p:extLst>
      <p:ext uri="{BB962C8B-B14F-4D97-AF65-F5344CB8AC3E}">
        <p14:creationId xmlns:p14="http://schemas.microsoft.com/office/powerpoint/2010/main" val="1821722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9DF6C-ECD2-017D-70FB-FF7EA0801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87A61-F767-518E-5953-85CC6AAAD4EB}"/>
              </a:ext>
            </a:extLst>
          </p:cNvPr>
          <p:cNvSpPr>
            <a:spLocks noGrp="1"/>
          </p:cNvSpPr>
          <p:nvPr>
            <p:ph type="title"/>
          </p:nvPr>
        </p:nvSpPr>
        <p:spPr/>
        <p:txBody>
          <a:bodyPr/>
          <a:lstStyle/>
          <a:p>
            <a:r>
              <a:rPr lang="en-US" dirty="0">
                <a:solidFill>
                  <a:srgbClr val="C00000"/>
                </a:solidFill>
              </a:rPr>
              <a:t>Estimator, Corrector, Learner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DF767C-B24E-5517-50A5-2AF1ED9351A2}"/>
                  </a:ext>
                </a:extLst>
              </p:cNvPr>
              <p:cNvSpPr>
                <a:spLocks noGrp="1"/>
              </p:cNvSpPr>
              <p:nvPr>
                <p:ph idx="1"/>
              </p:nvPr>
            </p:nvSpPr>
            <p:spPr>
              <a:xfrm>
                <a:off x="838200" y="1825624"/>
                <a:ext cx="10515600" cy="4788239"/>
              </a:xfrm>
            </p:spPr>
            <p:txBody>
              <a:bodyPr>
                <a:normAutofit/>
              </a:bodyPr>
              <a:lstStyle/>
              <a:p>
                <a:pPr>
                  <a:buClr>
                    <a:schemeClr val="tx1"/>
                  </a:buClr>
                </a:pPr>
                <a:r>
                  <a:rPr lang="en-US" sz="3000" dirty="0"/>
                  <a:t>Three ingredients:</a:t>
                </a:r>
              </a:p>
              <a:p>
                <a:pPr lvl="1">
                  <a:buClr>
                    <a:schemeClr val="tx1"/>
                  </a:buClr>
                </a:pPr>
                <a:endParaRPr lang="en-US" sz="3000" dirty="0"/>
              </a:p>
              <a:p>
                <a:pPr lvl="1">
                  <a:buClr>
                    <a:schemeClr val="tx1"/>
                  </a:buClr>
                </a:pPr>
                <a:r>
                  <a:rPr lang="en-US" sz="3000" dirty="0"/>
                  <a:t>An estimator, whose role is to output estimates of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i="1">
                        <a:solidFill>
                          <a:srgbClr val="C00000"/>
                        </a:solidFill>
                        <a:latin typeface="Cambria Math" panose="02040503050406030204" pitchFamily="18" charset="0"/>
                      </a:rPr>
                      <m:t> </m:t>
                    </m:r>
                  </m:oMath>
                </a14:m>
                <a:endParaRPr lang="en-US" sz="3000" dirty="0"/>
              </a:p>
              <a:p>
                <a:pPr lvl="1">
                  <a:buClr>
                    <a:schemeClr val="tx1"/>
                  </a:buClr>
                </a:pPr>
                <a:endParaRPr lang="en-US" sz="3000" dirty="0"/>
              </a:p>
              <a:p>
                <a:pPr lvl="1">
                  <a:buClr>
                    <a:schemeClr val="tx1"/>
                  </a:buClr>
                </a:pPr>
                <a:r>
                  <a:rPr lang="en-US" sz="3000" dirty="0"/>
                  <a:t>A learner, whose role is to learn </a:t>
                </a:r>
                <a14:m>
                  <m:oMath xmlns:m="http://schemas.openxmlformats.org/officeDocument/2006/math">
                    <m:r>
                      <a:rPr lang="en-US" sz="3000" i="1">
                        <a:solidFill>
                          <a:srgbClr val="C00000"/>
                        </a:solidFill>
                        <a:latin typeface="Cambria Math" panose="02040503050406030204" pitchFamily="18" charset="0"/>
                      </a:rPr>
                      <m:t>𝑧</m:t>
                    </m:r>
                  </m:oMath>
                </a14:m>
                <a:r>
                  <a:rPr lang="en-US" sz="3000" dirty="0"/>
                  <a:t>. When the estimator is incorrect, the learner will gain information about </a:t>
                </a:r>
                <a14:m>
                  <m:oMath xmlns:m="http://schemas.openxmlformats.org/officeDocument/2006/math">
                    <m:r>
                      <a:rPr lang="en-US" sz="3000" i="1">
                        <a:solidFill>
                          <a:srgbClr val="C00000"/>
                        </a:solidFill>
                        <a:latin typeface="Cambria Math" panose="02040503050406030204" pitchFamily="18" charset="0"/>
                      </a:rPr>
                      <m:t>𝑧</m:t>
                    </m:r>
                  </m:oMath>
                </a14:m>
                <a:r>
                  <a:rPr lang="en-US" sz="3000" dirty="0"/>
                  <a:t> from </a:t>
                </a:r>
                <a14:m>
                  <m:oMath xmlns:m="http://schemas.openxmlformats.org/officeDocument/2006/math">
                    <m:r>
                      <a:rPr lang="en-US" sz="3000" b="0" i="1" smtClean="0">
                        <a:solidFill>
                          <a:srgbClr val="C00000"/>
                        </a:solidFill>
                        <a:latin typeface="Cambria Math" panose="02040503050406030204" pitchFamily="18" charset="0"/>
                      </a:rPr>
                      <m:t>𝑞</m:t>
                    </m:r>
                  </m:oMath>
                </a14:m>
                <a:endParaRPr lang="en-US" sz="3000" dirty="0"/>
              </a:p>
              <a:p>
                <a:pPr lvl="1">
                  <a:buClr>
                    <a:schemeClr val="tx1"/>
                  </a:buClr>
                </a:pPr>
                <a:endParaRPr lang="en-US" sz="3000" dirty="0"/>
              </a:p>
              <a:p>
                <a:pPr lvl="1">
                  <a:buClr>
                    <a:schemeClr val="tx1"/>
                  </a:buClr>
                </a:pPr>
                <a:r>
                  <a:rPr lang="en-US" sz="3000" dirty="0"/>
                  <a:t>A corrector, whose role is to inform the learner/estimator when the estimate is incorrect</a:t>
                </a:r>
              </a:p>
            </p:txBody>
          </p:sp>
        </mc:Choice>
        <mc:Fallback xmlns="">
          <p:sp>
            <p:nvSpPr>
              <p:cNvPr id="3" name="Content Placeholder 2">
                <a:extLst>
                  <a:ext uri="{FF2B5EF4-FFF2-40B4-BE49-F238E27FC236}">
                    <a16:creationId xmlns:a16="http://schemas.microsoft.com/office/drawing/2014/main" id="{29DF767C-B24E-5517-50A5-2AF1ED9351A2}"/>
                  </a:ext>
                </a:extLst>
              </p:cNvPr>
              <p:cNvSpPr>
                <a:spLocks noGrp="1" noRot="1" noChangeAspect="1" noMove="1" noResize="1" noEditPoints="1" noAdjustHandles="1" noChangeArrowheads="1" noChangeShapeType="1" noTextEdit="1"/>
              </p:cNvSpPr>
              <p:nvPr>
                <p:ph idx="1"/>
              </p:nvPr>
            </p:nvSpPr>
            <p:spPr>
              <a:xfrm>
                <a:off x="838200" y="1825624"/>
                <a:ext cx="10515600" cy="4788239"/>
              </a:xfrm>
              <a:blipFill>
                <a:blip r:embed="rId3"/>
                <a:stretch>
                  <a:fillRect l="-1217" t="-2545"/>
                </a:stretch>
              </a:blipFill>
            </p:spPr>
            <p:txBody>
              <a:bodyPr/>
              <a:lstStyle/>
              <a:p>
                <a:r>
                  <a:rPr lang="en-US">
                    <a:noFill/>
                  </a:rPr>
                  <a:t> </a:t>
                </a:r>
              </a:p>
            </p:txBody>
          </p:sp>
        </mc:Fallback>
      </mc:AlternateContent>
    </p:spTree>
    <p:extLst>
      <p:ext uri="{BB962C8B-B14F-4D97-AF65-F5344CB8AC3E}">
        <p14:creationId xmlns:p14="http://schemas.microsoft.com/office/powerpoint/2010/main" val="408378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B886E-A0F3-D254-CFD4-F32CB60C5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602C8-18F8-4AE6-A9EC-8724FE7EBD6D}"/>
              </a:ext>
            </a:extLst>
          </p:cNvPr>
          <p:cNvSpPr>
            <a:spLocks noGrp="1"/>
          </p:cNvSpPr>
          <p:nvPr>
            <p:ph type="title"/>
          </p:nvPr>
        </p:nvSpPr>
        <p:spPr/>
        <p:txBody>
          <a:bodyPr/>
          <a:lstStyle/>
          <a:p>
            <a:r>
              <a:rPr lang="en-US" dirty="0">
                <a:solidFill>
                  <a:srgbClr val="C00000"/>
                </a:solidFill>
              </a:rPr>
              <a:t>Estimator, Corrector, Learner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96C762-BC54-931E-179D-6A09C9700F6E}"/>
                  </a:ext>
                </a:extLst>
              </p:cNvPr>
              <p:cNvSpPr>
                <a:spLocks noGrp="1"/>
              </p:cNvSpPr>
              <p:nvPr>
                <p:ph idx="1"/>
              </p:nvPr>
            </p:nvSpPr>
            <p:spPr>
              <a:xfrm>
                <a:off x="838200" y="1825624"/>
                <a:ext cx="10919346" cy="4788239"/>
              </a:xfrm>
            </p:spPr>
            <p:txBody>
              <a:bodyPr>
                <a:normAutofit/>
              </a:bodyPr>
              <a:lstStyle/>
              <a:p>
                <a:pPr>
                  <a:buClr>
                    <a:schemeClr val="tx1"/>
                  </a:buClr>
                </a:pPr>
                <a:r>
                  <a:rPr lang="en-US" sz="3000" dirty="0"/>
                  <a:t>Corrector uses </a:t>
                </a:r>
                <a14:m>
                  <m:oMath xmlns:m="http://schemas.openxmlformats.org/officeDocument/2006/math">
                    <m:r>
                      <a:rPr lang="en-US" sz="3000" b="0" i="1" smtClean="0">
                        <a:solidFill>
                          <a:srgbClr val="C00000"/>
                        </a:solidFill>
                        <a:latin typeface="Cambria Math" panose="02040503050406030204" pitchFamily="18" charset="0"/>
                      </a:rPr>
                      <m:t>𝐴𝑥</m:t>
                    </m:r>
                  </m:oMath>
                </a14:m>
                <a:r>
                  <a:rPr lang="en-US" sz="3000" dirty="0"/>
                  <a:t> to detect when an estimate is incorrect</a:t>
                </a:r>
              </a:p>
              <a:p>
                <a:pPr>
                  <a:buClr>
                    <a:schemeClr val="tx1"/>
                  </a:buClr>
                </a:pPr>
                <a:endParaRPr lang="en-US" sz="3000" dirty="0"/>
              </a:p>
              <a:p>
                <a:pPr>
                  <a:buClr>
                    <a:schemeClr val="tx1"/>
                  </a:buClr>
                </a:pPr>
                <a:r>
                  <a:rPr lang="en-US" sz="3000" dirty="0"/>
                  <a:t>Learner maintains a vector </a:t>
                </a:r>
                <a14:m>
                  <m:oMath xmlns:m="http://schemas.openxmlformats.org/officeDocument/2006/math">
                    <m:r>
                      <a:rPr lang="en-US" sz="3000" b="0" i="1" smtClean="0">
                        <a:solidFill>
                          <a:srgbClr val="C00000"/>
                        </a:solidFill>
                        <a:latin typeface="Cambria Math" panose="02040503050406030204" pitchFamily="18" charset="0"/>
                      </a:rPr>
                      <m:t>𝑧</m:t>
                    </m:r>
                    <m:r>
                      <a:rPr lang="en-US" sz="3000" b="0" i="1" smtClean="0">
                        <a:solidFill>
                          <a:srgbClr val="C00000"/>
                        </a:solidFill>
                        <a:latin typeface="Cambria Math" panose="02040503050406030204" pitchFamily="18" charset="0"/>
                      </a:rPr>
                      <m:t>′</m:t>
                    </m:r>
                  </m:oMath>
                </a14:m>
                <a:r>
                  <a:rPr lang="en-US" sz="3000" dirty="0"/>
                  <a:t>, which is a linear combination of the queries </a:t>
                </a:r>
                <a14:m>
                  <m:oMath xmlns:m="http://schemas.openxmlformats.org/officeDocument/2006/math">
                    <m:r>
                      <a:rPr lang="en-US" sz="3000" b="0" i="1" smtClean="0">
                        <a:solidFill>
                          <a:srgbClr val="C00000"/>
                        </a:solidFill>
                        <a:latin typeface="Cambria Math" panose="02040503050406030204" pitchFamily="18" charset="0"/>
                      </a:rPr>
                      <m:t>𝑞</m:t>
                    </m:r>
                  </m:oMath>
                </a14:m>
                <a:r>
                  <a:rPr lang="en-US" sz="3000" dirty="0"/>
                  <a:t> on which the algorithm was incorrect </a:t>
                </a:r>
              </a:p>
              <a:p>
                <a:pPr lvl="1">
                  <a:buClr>
                    <a:schemeClr val="tx1"/>
                  </a:buClr>
                </a:pPr>
                <a:r>
                  <a:rPr lang="en-US" sz="2600" dirty="0"/>
                  <a:t>Actually maintain </a:t>
                </a:r>
                <a14:m>
                  <m:oMath xmlns:m="http://schemas.openxmlformats.org/officeDocument/2006/math">
                    <m:r>
                      <a:rPr lang="en-US" sz="2600" b="0" i="1" smtClean="0">
                        <a:solidFill>
                          <a:srgbClr val="C00000"/>
                        </a:solidFill>
                        <a:latin typeface="Cambria Math" panose="02040503050406030204" pitchFamily="18" charset="0"/>
                      </a:rPr>
                      <m:t>𝐴</m:t>
                    </m:r>
                    <m:r>
                      <a:rPr lang="en-US" sz="2600" i="1">
                        <a:solidFill>
                          <a:srgbClr val="C00000"/>
                        </a:solidFill>
                        <a:latin typeface="Cambria Math" panose="02040503050406030204" pitchFamily="18" charset="0"/>
                      </a:rPr>
                      <m:t>𝑧</m:t>
                    </m:r>
                    <m:r>
                      <a:rPr lang="en-US" sz="2600" i="1">
                        <a:solidFill>
                          <a:srgbClr val="C00000"/>
                        </a:solidFill>
                        <a:latin typeface="Cambria Math" panose="02040503050406030204" pitchFamily="18" charset="0"/>
                      </a:rPr>
                      <m:t>′</m:t>
                    </m:r>
                  </m:oMath>
                </a14:m>
                <a:r>
                  <a:rPr lang="en-US" sz="2600" dirty="0"/>
                  <a:t> and </a:t>
                </a:r>
                <a14:m>
                  <m:oMath xmlns:m="http://schemas.openxmlformats.org/officeDocument/2006/math">
                    <m:r>
                      <a:rPr lang="en-US" sz="2600" b="0" i="1" smtClean="0">
                        <a:solidFill>
                          <a:srgbClr val="C00000"/>
                        </a:solidFill>
                        <a:latin typeface="Cambria Math" panose="02040503050406030204" pitchFamily="18" charset="0"/>
                      </a:rPr>
                      <m:t>𝐵</m:t>
                    </m:r>
                    <m:sSup>
                      <m:sSupPr>
                        <m:ctrlPr>
                          <a:rPr lang="en-US" sz="2600" b="0" i="1">
                            <a:solidFill>
                              <a:srgbClr val="C00000"/>
                            </a:solidFill>
                            <a:latin typeface="Cambria Math" panose="02040503050406030204" pitchFamily="18" charset="0"/>
                          </a:rPr>
                        </m:ctrlPr>
                      </m:sSupPr>
                      <m:e>
                        <m:r>
                          <a:rPr lang="en-US" sz="2600" i="1">
                            <a:solidFill>
                              <a:srgbClr val="C00000"/>
                            </a:solidFill>
                            <a:latin typeface="Cambria Math" panose="02040503050406030204" pitchFamily="18" charset="0"/>
                          </a:rPr>
                          <m:t>𝑧</m:t>
                        </m:r>
                      </m:e>
                      <m:sup>
                        <m:r>
                          <a:rPr lang="en-US" sz="2600" i="1">
                            <a:solidFill>
                              <a:srgbClr val="C00000"/>
                            </a:solidFill>
                            <a:latin typeface="Cambria Math" panose="02040503050406030204" pitchFamily="18" charset="0"/>
                          </a:rPr>
                          <m:t>′</m:t>
                        </m:r>
                      </m:sup>
                    </m:sSup>
                    <m:r>
                      <a:rPr lang="en-US" sz="2600" b="0" i="0" smtClean="0">
                        <a:solidFill>
                          <a:srgbClr val="C00000"/>
                        </a:solidFill>
                        <a:latin typeface="Cambria Math" panose="02040503050406030204" pitchFamily="18" charset="0"/>
                      </a:rPr>
                      <m:t>:</m:t>
                    </m:r>
                  </m:oMath>
                </a14:m>
                <a:r>
                  <a:rPr lang="en-US" sz="2600" dirty="0"/>
                  <a:t> all updates to </a:t>
                </a:r>
                <a:r>
                  <a:rPr lang="en-US" sz="2600" dirty="0">
                    <a:solidFill>
                      <a:srgbClr val="C00000"/>
                    </a:solidFill>
                  </a:rPr>
                  <a:t>z’ </a:t>
                </a:r>
                <a:r>
                  <a:rPr lang="en-US" sz="2600" dirty="0"/>
                  <a:t>are performed implicitly in the sketch space </a:t>
                </a:r>
              </a:p>
              <a:p>
                <a:pPr>
                  <a:buClr>
                    <a:schemeClr val="tx1"/>
                  </a:buClr>
                </a:pPr>
                <a:endParaRPr lang="en-US" sz="3000" dirty="0"/>
              </a:p>
              <a:p>
                <a:pPr>
                  <a:buClr>
                    <a:schemeClr val="tx1"/>
                  </a:buClr>
                </a:pPr>
                <a:r>
                  <a:rPr lang="en-US" sz="3000" dirty="0"/>
                  <a:t>Estimator outputs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𝑧</m:t>
                            </m:r>
                            <m:r>
                              <a:rPr lang="en-US" sz="3000" b="0" i="1" smtClean="0">
                                <a:solidFill>
                                  <a:srgbClr val="C00000"/>
                                </a:solidFill>
                                <a:latin typeface="Cambria Math" panose="02040503050406030204" pitchFamily="18" charset="0"/>
                              </a:rPr>
                              <m:t>′</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b="0" i="1" smtClean="0">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b="0" i="1" smtClean="0">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as estimate for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where the first term is estimated using </a:t>
                </a:r>
                <a14:m>
                  <m:oMath xmlns:m="http://schemas.openxmlformats.org/officeDocument/2006/math">
                    <m:r>
                      <a:rPr lang="en-US" sz="3000" i="1">
                        <a:solidFill>
                          <a:srgbClr val="C00000"/>
                        </a:solidFill>
                        <a:latin typeface="Cambria Math" panose="02040503050406030204" pitchFamily="18" charset="0"/>
                      </a:rPr>
                      <m:t>𝐴</m:t>
                    </m:r>
                    <m:r>
                      <a:rPr lang="en-US" sz="3000" b="0" i="1" smtClean="0">
                        <a:solidFill>
                          <a:srgbClr val="C00000"/>
                        </a:solidFill>
                        <a:latin typeface="Cambria Math" panose="02040503050406030204" pitchFamily="18" charset="0"/>
                      </a:rPr>
                      <m:t>𝑧</m:t>
                    </m:r>
                    <m:r>
                      <a:rPr lang="en-US" sz="3000" b="0" i="1" smtClean="0">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𝐴</m:t>
                    </m:r>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oMath>
                </a14:m>
                <a:r>
                  <a:rPr lang="en-US" sz="3000" dirty="0"/>
                  <a:t>, and the second term is estimated using </a:t>
                </a:r>
                <a14:m>
                  <m:oMath xmlns:m="http://schemas.openxmlformats.org/officeDocument/2006/math">
                    <m:r>
                      <a:rPr lang="en-US" sz="3000" b="0" i="1" smtClean="0">
                        <a:solidFill>
                          <a:srgbClr val="C00000"/>
                        </a:solidFill>
                        <a:latin typeface="Cambria Math" panose="02040503050406030204" pitchFamily="18" charset="0"/>
                      </a:rPr>
                      <m:t>𝐵</m:t>
                    </m:r>
                    <m:sSup>
                      <m:sSupPr>
                        <m:ctrlPr>
                          <a:rPr lang="en-US" sz="3000" b="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𝐵𝑞</m:t>
                    </m:r>
                  </m:oMath>
                </a14:m>
                <a:r>
                  <a:rPr lang="en-US" sz="3000" dirty="0"/>
                  <a:t> </a:t>
                </a:r>
              </a:p>
            </p:txBody>
          </p:sp>
        </mc:Choice>
        <mc:Fallback xmlns="">
          <p:sp>
            <p:nvSpPr>
              <p:cNvPr id="3" name="Content Placeholder 2">
                <a:extLst>
                  <a:ext uri="{FF2B5EF4-FFF2-40B4-BE49-F238E27FC236}">
                    <a16:creationId xmlns:a16="http://schemas.microsoft.com/office/drawing/2014/main" id="{E396C762-BC54-931E-179D-6A09C9700F6E}"/>
                  </a:ext>
                </a:extLst>
              </p:cNvPr>
              <p:cNvSpPr>
                <a:spLocks noGrp="1" noRot="1" noChangeAspect="1" noMove="1" noResize="1" noEditPoints="1" noAdjustHandles="1" noChangeArrowheads="1" noChangeShapeType="1" noTextEdit="1"/>
              </p:cNvSpPr>
              <p:nvPr>
                <p:ph idx="1"/>
              </p:nvPr>
            </p:nvSpPr>
            <p:spPr>
              <a:xfrm>
                <a:off x="838200" y="1825624"/>
                <a:ext cx="10919346" cy="4788239"/>
              </a:xfrm>
              <a:blipFill>
                <a:blip r:embed="rId3"/>
                <a:stretch>
                  <a:fillRect l="-1173" t="-2545" r="-670" b="-1527"/>
                </a:stretch>
              </a:blipFill>
            </p:spPr>
            <p:txBody>
              <a:bodyPr/>
              <a:lstStyle/>
              <a:p>
                <a:r>
                  <a:rPr lang="en-US">
                    <a:noFill/>
                  </a:rPr>
                  <a:t> </a:t>
                </a:r>
              </a:p>
            </p:txBody>
          </p:sp>
        </mc:Fallback>
      </mc:AlternateContent>
    </p:spTree>
    <p:extLst>
      <p:ext uri="{BB962C8B-B14F-4D97-AF65-F5344CB8AC3E}">
        <p14:creationId xmlns:p14="http://schemas.microsoft.com/office/powerpoint/2010/main" val="383068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2F6DC-9FC9-50AB-C65D-9E2B2AEBC5C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C75B320-C81D-1C81-E165-68491FA3D240}"/>
              </a:ext>
            </a:extLst>
          </p:cNvPr>
          <p:cNvPicPr>
            <a:picLocks noChangeAspect="1"/>
          </p:cNvPicPr>
          <p:nvPr/>
        </p:nvPicPr>
        <p:blipFill>
          <a:blip r:embed="rId3"/>
          <a:stretch>
            <a:fillRect/>
          </a:stretch>
        </p:blipFill>
        <p:spPr>
          <a:xfrm>
            <a:off x="0" y="393964"/>
            <a:ext cx="11917680" cy="4746771"/>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051629F-0599-5348-6F8F-913B518E0490}"/>
                  </a:ext>
                </a:extLst>
              </p:cNvPr>
              <p:cNvSpPr txBox="1"/>
              <p:nvPr/>
            </p:nvSpPr>
            <p:spPr>
              <a:xfrm>
                <a:off x="106680" y="5482411"/>
                <a:ext cx="11811000" cy="830997"/>
              </a:xfrm>
              <a:prstGeom prst="rect">
                <a:avLst/>
              </a:prstGeom>
              <a:noFill/>
            </p:spPr>
            <p:txBody>
              <a:bodyPr wrap="square">
                <a:spAutoFit/>
              </a:bodyPr>
              <a:lstStyle/>
              <a:p>
                <a:pPr algn="ctr"/>
                <a:r>
                  <a:rPr lang="en-US" sz="2400" dirty="0"/>
                  <a:t>The estimator outputs a current estimate, the corrector verifies its accuracy, and the learner updates its internal state </a:t>
                </a:r>
                <a14:m>
                  <m:oMath xmlns:m="http://schemas.openxmlformats.org/officeDocument/2006/math">
                    <m:sSup>
                      <m:sSupPr>
                        <m:ctrlPr>
                          <a:rPr lang="en-US" sz="2400" i="1">
                            <a:solidFill>
                              <a:srgbClr val="C00000"/>
                            </a:solidFill>
                            <a:latin typeface="Cambria Math" panose="02040503050406030204" pitchFamily="18" charset="0"/>
                          </a:rPr>
                        </m:ctrlPr>
                      </m:sSupPr>
                      <m:e>
                        <m:r>
                          <a:rPr lang="en-US" sz="2400" i="1">
                            <a:solidFill>
                              <a:srgbClr val="C00000"/>
                            </a:solidFill>
                            <a:latin typeface="Cambria Math" panose="02040503050406030204" pitchFamily="18" charset="0"/>
                          </a:rPr>
                          <m:t>𝑧</m:t>
                        </m:r>
                      </m:e>
                      <m:sup>
                        <m:r>
                          <a:rPr lang="en-US" sz="2400" i="1">
                            <a:solidFill>
                              <a:srgbClr val="C00000"/>
                            </a:solidFill>
                            <a:latin typeface="Cambria Math" panose="02040503050406030204" pitchFamily="18" charset="0"/>
                          </a:rPr>
                          <m:t>′</m:t>
                        </m:r>
                      </m:sup>
                    </m:sSup>
                  </m:oMath>
                </a14:m>
                <a:r>
                  <a:rPr lang="en-US" sz="2400" dirty="0"/>
                  <a:t> based on incorrect estimates</a:t>
                </a:r>
              </a:p>
            </p:txBody>
          </p:sp>
        </mc:Choice>
        <mc:Fallback xmlns="">
          <p:sp>
            <p:nvSpPr>
              <p:cNvPr id="9" name="TextBox 8">
                <a:extLst>
                  <a:ext uri="{FF2B5EF4-FFF2-40B4-BE49-F238E27FC236}">
                    <a16:creationId xmlns:a16="http://schemas.microsoft.com/office/drawing/2014/main" id="{D051629F-0599-5348-6F8F-913B518E0490}"/>
                  </a:ext>
                </a:extLst>
              </p:cNvPr>
              <p:cNvSpPr txBox="1">
                <a:spLocks noRot="1" noChangeAspect="1" noMove="1" noResize="1" noEditPoints="1" noAdjustHandles="1" noChangeArrowheads="1" noChangeShapeType="1" noTextEdit="1"/>
              </p:cNvSpPr>
              <p:nvPr/>
            </p:nvSpPr>
            <p:spPr>
              <a:xfrm>
                <a:off x="106680" y="5482411"/>
                <a:ext cx="11811000" cy="830997"/>
              </a:xfrm>
              <a:prstGeom prst="rect">
                <a:avLst/>
              </a:prstGeom>
              <a:blipFill>
                <a:blip r:embed="rId4"/>
                <a:stretch>
                  <a:fillRect t="-5839" r="-258" b="-15328"/>
                </a:stretch>
              </a:blipFill>
            </p:spPr>
            <p:txBody>
              <a:bodyPr/>
              <a:lstStyle/>
              <a:p>
                <a:r>
                  <a:rPr lang="en-US">
                    <a:noFill/>
                  </a:rPr>
                  <a:t> </a:t>
                </a:r>
              </a:p>
            </p:txBody>
          </p:sp>
        </mc:Fallback>
      </mc:AlternateContent>
    </p:spTree>
    <p:extLst>
      <p:ext uri="{BB962C8B-B14F-4D97-AF65-F5344CB8AC3E}">
        <p14:creationId xmlns:p14="http://schemas.microsoft.com/office/powerpoint/2010/main" val="3928336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1F2C2-DFCA-5103-E4A9-B85EA085A5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DAE3E-ACE8-5595-CDC2-6CA548CFA932}"/>
              </a:ext>
            </a:extLst>
          </p:cNvPr>
          <p:cNvSpPr>
            <a:spLocks noGrp="1"/>
          </p:cNvSpPr>
          <p:nvPr>
            <p:ph type="title"/>
          </p:nvPr>
        </p:nvSpPr>
        <p:spPr/>
        <p:txBody>
          <a:bodyPr/>
          <a:lstStyle/>
          <a:p>
            <a:r>
              <a:rPr lang="en-US" dirty="0">
                <a:solidFill>
                  <a:srgbClr val="C00000"/>
                </a:solidFill>
              </a:rPr>
              <a:t>Estimator, Corrector, Learner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3FA738-089C-C1A8-E27D-9C312AFDF364}"/>
                  </a:ext>
                </a:extLst>
              </p:cNvPr>
              <p:cNvSpPr>
                <a:spLocks noGrp="1"/>
              </p:cNvSpPr>
              <p:nvPr>
                <p:ph idx="1"/>
              </p:nvPr>
            </p:nvSpPr>
            <p:spPr>
              <a:xfrm>
                <a:off x="838200" y="1825624"/>
                <a:ext cx="10515600" cy="4788239"/>
              </a:xfrm>
            </p:spPr>
            <p:txBody>
              <a:bodyPr>
                <a:normAutofit/>
              </a:bodyPr>
              <a:lstStyle/>
              <a:p>
                <a:pPr>
                  <a:buClr>
                    <a:schemeClr val="tx1"/>
                  </a:buClr>
                </a:pPr>
                <a:r>
                  <a:rPr lang="en-US" sz="3000" dirty="0">
                    <a:solidFill>
                      <a:srgbClr val="00B050"/>
                    </a:solidFill>
                  </a:rPr>
                  <a:t>Sanity check #1</a:t>
                </a:r>
                <a:r>
                  <a:rPr lang="en-US" sz="3000" dirty="0"/>
                  <a:t>: For </a:t>
                </a:r>
                <a14:m>
                  <m:oMath xmlns:m="http://schemas.openxmlformats.org/officeDocument/2006/math">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r>
                      <a:rPr lang="en-US" sz="3000" b="0" i="1" smtClean="0">
                        <a:solidFill>
                          <a:srgbClr val="C00000"/>
                        </a:solidFill>
                        <a:latin typeface="Cambria Math" panose="02040503050406030204" pitchFamily="18" charset="0"/>
                      </a:rPr>
                      <m:t>=0</m:t>
                    </m:r>
                  </m:oMath>
                </a14:m>
                <a:r>
                  <a:rPr lang="en-US" sz="3000" dirty="0"/>
                  <a:t>, then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corresponds to earlier estimator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a:t>
                </a:r>
              </a:p>
              <a:p>
                <a:pPr>
                  <a:buClr>
                    <a:schemeClr val="tx1"/>
                  </a:buClr>
                </a:pPr>
                <a:endParaRPr lang="en-US" sz="3000" dirty="0"/>
              </a:p>
              <a:p>
                <a:pPr>
                  <a:buClr>
                    <a:schemeClr val="tx1"/>
                  </a:buClr>
                </a:pPr>
                <a:r>
                  <a:rPr lang="en-US" sz="3000" dirty="0">
                    <a:solidFill>
                      <a:srgbClr val="00B050"/>
                    </a:solidFill>
                  </a:rPr>
                  <a:t>Sanity check #2</a:t>
                </a:r>
                <a:r>
                  <a:rPr lang="en-US" sz="3000" dirty="0"/>
                  <a:t>: For </a:t>
                </a:r>
                <a14:m>
                  <m:oMath xmlns:m="http://schemas.openxmlformats.org/officeDocument/2006/math">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r>
                      <a:rPr lang="en-US" sz="3000" i="1">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𝑧</m:t>
                    </m:r>
                  </m:oMath>
                </a14:m>
                <a:r>
                  <a:rPr lang="en-US" sz="3000" dirty="0"/>
                  <a:t>, then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corresponds to correct value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endParaRPr lang="en-US" sz="3000" dirty="0"/>
              </a:p>
              <a:p>
                <a:pPr>
                  <a:buClr>
                    <a:schemeClr val="tx1"/>
                  </a:buClr>
                </a:pPr>
                <a:endParaRPr lang="en-US" sz="3000" dirty="0"/>
              </a:p>
              <a:p>
                <a:pPr>
                  <a:buClr>
                    <a:schemeClr val="tx1"/>
                  </a:buClr>
                </a:pPr>
                <a:r>
                  <a:rPr lang="en-US" sz="3000" dirty="0"/>
                  <a:t>How many interactions with corrector before </a:t>
                </a:r>
                <a14:m>
                  <m:oMath xmlns:m="http://schemas.openxmlformats.org/officeDocument/2006/math">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r>
                      <a:rPr lang="en-US" sz="3000" b="0" i="1" smtClean="0">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𝑧</m:t>
                    </m:r>
                  </m:oMath>
                </a14:m>
                <a:r>
                  <a:rPr lang="en-US" sz="3000" dirty="0"/>
                  <a:t>?</a:t>
                </a:r>
              </a:p>
            </p:txBody>
          </p:sp>
        </mc:Choice>
        <mc:Fallback xmlns="">
          <p:sp>
            <p:nvSpPr>
              <p:cNvPr id="3" name="Content Placeholder 2">
                <a:extLst>
                  <a:ext uri="{FF2B5EF4-FFF2-40B4-BE49-F238E27FC236}">
                    <a16:creationId xmlns:a16="http://schemas.microsoft.com/office/drawing/2014/main" id="{C93FA738-089C-C1A8-E27D-9C312AFDF364}"/>
                  </a:ext>
                </a:extLst>
              </p:cNvPr>
              <p:cNvSpPr>
                <a:spLocks noGrp="1" noRot="1" noChangeAspect="1" noMove="1" noResize="1" noEditPoints="1" noAdjustHandles="1" noChangeArrowheads="1" noChangeShapeType="1" noTextEdit="1"/>
              </p:cNvSpPr>
              <p:nvPr>
                <p:ph idx="1"/>
              </p:nvPr>
            </p:nvSpPr>
            <p:spPr>
              <a:xfrm>
                <a:off x="838200" y="1825624"/>
                <a:ext cx="10515600" cy="4788239"/>
              </a:xfrm>
              <a:blipFill>
                <a:blip r:embed="rId3"/>
                <a:stretch>
                  <a:fillRect l="-1217" t="-2417"/>
                </a:stretch>
              </a:blipFill>
            </p:spPr>
            <p:txBody>
              <a:bodyPr/>
              <a:lstStyle/>
              <a:p>
                <a:r>
                  <a:rPr lang="en-US">
                    <a:noFill/>
                  </a:rPr>
                  <a:t> </a:t>
                </a:r>
              </a:p>
            </p:txBody>
          </p:sp>
        </mc:Fallback>
      </mc:AlternateContent>
    </p:spTree>
    <p:extLst>
      <p:ext uri="{BB962C8B-B14F-4D97-AF65-F5344CB8AC3E}">
        <p14:creationId xmlns:p14="http://schemas.microsoft.com/office/powerpoint/2010/main" val="133739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A8B2E-98CA-35DB-BEB0-786F96052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76FD5-025F-8A07-8535-1586E8221EF7}"/>
              </a:ext>
            </a:extLst>
          </p:cNvPr>
          <p:cNvSpPr>
            <a:spLocks noGrp="1"/>
          </p:cNvSpPr>
          <p:nvPr>
            <p:ph type="title"/>
          </p:nvPr>
        </p:nvSpPr>
        <p:spPr/>
        <p:txBody>
          <a:bodyPr/>
          <a:lstStyle/>
          <a:p>
            <a:r>
              <a:rPr lang="en-US" dirty="0">
                <a:solidFill>
                  <a:srgbClr val="C00000"/>
                </a:solidFill>
              </a:rPr>
              <a:t>Update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130AD6-1623-1AE9-8C37-576FE766272D}"/>
                  </a:ext>
                </a:extLst>
              </p:cNvPr>
              <p:cNvSpPr>
                <a:spLocks noGrp="1"/>
              </p:cNvSpPr>
              <p:nvPr>
                <p:ph idx="1"/>
              </p:nvPr>
            </p:nvSpPr>
            <p:spPr>
              <a:xfrm>
                <a:off x="838199" y="1825624"/>
                <a:ext cx="10878403" cy="4788239"/>
              </a:xfrm>
            </p:spPr>
            <p:txBody>
              <a:bodyPr>
                <a:normAutofit/>
              </a:bodyPr>
              <a:lstStyle/>
              <a:p>
                <a:pPr>
                  <a:buClr>
                    <a:schemeClr val="tx1"/>
                  </a:buClr>
                </a:pPr>
                <a:r>
                  <a:rPr lang="en-US" sz="3000" dirty="0"/>
                  <a:t>Estimator is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endParaRPr lang="en-US" sz="3000" dirty="0"/>
              </a:p>
              <a:p>
                <a:pPr>
                  <a:buClr>
                    <a:schemeClr val="tx1"/>
                  </a:buClr>
                </a:pPr>
                <a:r>
                  <a:rPr lang="en-US" sz="3000" dirty="0"/>
                  <a:t>Incorrect estimate implies </a:t>
                </a:r>
                <a:endParaRPr lang="en-US" sz="3000" i="1" dirty="0">
                  <a:solidFill>
                    <a:srgbClr val="C00000"/>
                  </a:solidFill>
                  <a:latin typeface="Cambria Math" panose="02040503050406030204" pitchFamily="18" charset="0"/>
                </a:endParaRPr>
              </a:p>
              <a:p>
                <a:pPr>
                  <a:buClr>
                    <a:schemeClr val="tx1"/>
                  </a:buClr>
                </a:pPr>
                <a:endParaRPr lang="en-US" sz="3000" dirty="0"/>
              </a:p>
              <a:p>
                <a:pPr>
                  <a:buClr>
                    <a:schemeClr val="tx1"/>
                  </a:buClr>
                </a:pPr>
                <a:endParaRPr lang="en-US" sz="3000" dirty="0"/>
              </a:p>
              <a:p>
                <a:pPr marL="0" indent="0">
                  <a:buClr>
                    <a:schemeClr val="tx1"/>
                  </a:buClr>
                  <a:buNone/>
                </a:pPr>
                <a:r>
                  <a:rPr lang="en-US" sz="3000" dirty="0"/>
                  <a:t>  and ultimately,</a:t>
                </a:r>
              </a:p>
              <a:p>
                <a:pPr marL="0" indent="0">
                  <a:buClr>
                    <a:schemeClr val="tx1"/>
                  </a:buClr>
                  <a:buNone/>
                </a:pPr>
                <a:endParaRPr lang="en-US" sz="3000" dirty="0"/>
              </a:p>
              <a:p>
                <a:pPr marL="0" indent="0">
                  <a:buClr>
                    <a:schemeClr val="tx1"/>
                  </a:buClr>
                  <a:buNone/>
                </a:pPr>
                <a:endParaRPr lang="en-US" sz="3000" dirty="0"/>
              </a:p>
              <a:p>
                <a:pPr>
                  <a:buClr>
                    <a:schemeClr val="tx1"/>
                  </a:buClr>
                </a:pPr>
                <a:r>
                  <a:rPr lang="en-US" sz="3000" dirty="0"/>
                  <a:t>Assume WLOG</a:t>
                </a:r>
                <a:r>
                  <a:rPr lang="en-US" sz="3200" dirty="0">
                    <a:solidFill>
                      <a:srgbClr val="C00000"/>
                    </a:solidFill>
                  </a:rPr>
                  <a:t> </a:t>
                </a:r>
                <a14:m>
                  <m:oMath xmlns:m="http://schemas.openxmlformats.org/officeDocument/2006/math">
                    <m:r>
                      <a:rPr lang="en-US" sz="3200" i="1">
                        <a:solidFill>
                          <a:srgbClr val="C00000"/>
                        </a:solidFill>
                        <a:latin typeface="Cambria Math" panose="02040503050406030204" pitchFamily="18" charset="0"/>
                      </a:rPr>
                      <m:t>⟨</m:t>
                    </m:r>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sSup>
                      <m:sSupPr>
                        <m:ctrlPr>
                          <a:rPr lang="en-US" sz="3200" i="1">
                            <a:solidFill>
                              <a:srgbClr val="C00000"/>
                            </a:solidFill>
                            <a:latin typeface="Cambria Math" panose="02040503050406030204" pitchFamily="18" charset="0"/>
                          </a:rPr>
                        </m:ctrlPr>
                      </m:sSupPr>
                      <m:e>
                        <m:r>
                          <a:rPr lang="en-US" sz="3200" i="1">
                            <a:solidFill>
                              <a:srgbClr val="C00000"/>
                            </a:solidFill>
                            <a:latin typeface="Cambria Math" panose="02040503050406030204" pitchFamily="18" charset="0"/>
                          </a:rPr>
                          <m:t>𝑧</m:t>
                        </m:r>
                      </m:e>
                      <m:sup>
                        <m:r>
                          <a:rPr lang="en-US" sz="3200" i="1">
                            <a:solidFill>
                              <a:srgbClr val="C00000"/>
                            </a:solidFill>
                            <a:latin typeface="Cambria Math" panose="02040503050406030204" pitchFamily="18" charset="0"/>
                          </a:rPr>
                          <m:t>′</m:t>
                        </m:r>
                      </m:sup>
                    </m:sSup>
                    <m:r>
                      <a:rPr lang="en-US" sz="3200" i="1">
                        <a:solidFill>
                          <a:srgbClr val="C00000"/>
                        </a:solidFill>
                        <a:latin typeface="Cambria Math" panose="02040503050406030204" pitchFamily="18" charset="0"/>
                      </a:rPr>
                      <m:t>,</m:t>
                    </m:r>
                    <m:sSup>
                      <m:sSupPr>
                        <m:ctrlPr>
                          <a:rPr lang="en-US" sz="3200" i="1">
                            <a:solidFill>
                              <a:srgbClr val="C00000"/>
                            </a:solidFill>
                            <a:latin typeface="Cambria Math" panose="02040503050406030204" pitchFamily="18" charset="0"/>
                          </a:rPr>
                        </m:ctrlPr>
                      </m:sSupPr>
                      <m:e>
                        <m:r>
                          <a:rPr lang="en-US" sz="3200" i="1">
                            <a:solidFill>
                              <a:srgbClr val="C00000"/>
                            </a:solidFill>
                            <a:latin typeface="Cambria Math" panose="02040503050406030204" pitchFamily="18" charset="0"/>
                          </a:rPr>
                          <m:t>𝑧</m:t>
                        </m:r>
                      </m:e>
                      <m:sup>
                        <m:r>
                          <a:rPr lang="en-US" sz="3200" i="1">
                            <a:solidFill>
                              <a:srgbClr val="C00000"/>
                            </a:solidFill>
                            <a:latin typeface="Cambria Math" panose="02040503050406030204" pitchFamily="18" charset="0"/>
                          </a:rPr>
                          <m:t>′</m:t>
                        </m:r>
                      </m:sup>
                    </m:sSup>
                    <m:r>
                      <a:rPr lang="en-US" sz="3200" i="1">
                        <a:solidFill>
                          <a:srgbClr val="C00000"/>
                        </a:solidFill>
                        <a:latin typeface="Cambria Math" panose="02040503050406030204" pitchFamily="18" charset="0"/>
                      </a:rPr>
                      <m:t>+</m:t>
                    </m:r>
                    <m:r>
                      <a:rPr lang="en-US" sz="3200" i="1">
                        <a:solidFill>
                          <a:srgbClr val="C00000"/>
                        </a:solidFill>
                        <a:latin typeface="Cambria Math" panose="02040503050406030204" pitchFamily="18" charset="0"/>
                      </a:rPr>
                      <m:t>𝑞</m:t>
                    </m:r>
                    <m:r>
                      <a:rPr lang="en-US" sz="3200" i="1">
                        <a:solidFill>
                          <a:srgbClr val="C00000"/>
                        </a:solidFill>
                        <a:latin typeface="Cambria Math" panose="02040503050406030204" pitchFamily="18" charset="0"/>
                      </a:rPr>
                      <m:t>⟩ </m:t>
                    </m:r>
                    <m:r>
                      <a:rPr lang="en-US" i="1">
                        <a:solidFill>
                          <a:srgbClr val="C00000"/>
                        </a:solidFill>
                        <a:latin typeface="Cambria Math" panose="02040503050406030204" pitchFamily="18" charset="0"/>
                      </a:rPr>
                      <m:t>≥</m:t>
                    </m:r>
                  </m:oMath>
                </a14:m>
                <a:r>
                  <a:rPr lang="en-US" dirty="0">
                    <a:solidFill>
                      <a:srgbClr val="C00000"/>
                    </a:solidFill>
                  </a:rPr>
                  <a:t> </a:t>
                </a:r>
                <a14:m>
                  <m:oMath xmlns:m="http://schemas.openxmlformats.org/officeDocument/2006/math">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𝜀</m:t>
                        </m:r>
                      </m:num>
                      <m:den>
                        <m:r>
                          <a:rPr lang="en-US" i="1">
                            <a:solidFill>
                              <a:srgbClr val="C00000"/>
                            </a:solidFill>
                            <a:latin typeface="Cambria Math" panose="02040503050406030204" pitchFamily="18" charset="0"/>
                          </a:rPr>
                          <m:t>2</m:t>
                        </m:r>
                      </m:den>
                    </m:f>
                    <m:r>
                      <a:rPr lang="en-US" i="1">
                        <a:solidFill>
                          <a:srgbClr val="C00000"/>
                        </a:solidFill>
                        <a:latin typeface="Cambria Math" panose="02040503050406030204" pitchFamily="18" charset="0"/>
                      </a:rPr>
                      <m:t>⋅</m:t>
                    </m:r>
                    <m:sSubSup>
                      <m:sSubSupPr>
                        <m:ctrlPr>
                          <a:rPr lang="en-US" i="1">
                            <a:solidFill>
                              <a:srgbClr val="C00000"/>
                            </a:solidFill>
                            <a:latin typeface="Cambria Math" panose="02040503050406030204" pitchFamily="18" charset="0"/>
                          </a:rPr>
                        </m:ctrlPr>
                      </m:sSubSupPr>
                      <m:e>
                        <m:d>
                          <m:dPr>
                            <m:begChr m:val="‖"/>
                            <m:endChr m:val="‖"/>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𝑧</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𝑞</m:t>
                            </m:r>
                          </m:e>
                        </m:d>
                      </m:e>
                      <m:sub>
                        <m:r>
                          <a:rPr lang="en-US" i="1">
                            <a:solidFill>
                              <a:srgbClr val="C00000"/>
                            </a:solidFill>
                            <a:latin typeface="Cambria Math" panose="02040503050406030204" pitchFamily="18" charset="0"/>
                          </a:rPr>
                          <m:t>2</m:t>
                        </m:r>
                      </m:sub>
                      <m:sup>
                        <m:r>
                          <a:rPr lang="en-US" i="1">
                            <a:solidFill>
                              <a:srgbClr val="C00000"/>
                            </a:solidFill>
                            <a:latin typeface="Cambria Math" panose="02040503050406030204" pitchFamily="18" charset="0"/>
                          </a:rPr>
                          <m:t>2</m:t>
                        </m:r>
                      </m:sup>
                    </m:sSubSup>
                  </m:oMath>
                </a14:m>
                <a:r>
                  <a:rPr lang="en-US" sz="3000" dirty="0"/>
                  <a:t> (other case similar)</a:t>
                </a:r>
              </a:p>
            </p:txBody>
          </p:sp>
        </mc:Choice>
        <mc:Fallback xmlns="">
          <p:sp>
            <p:nvSpPr>
              <p:cNvPr id="3" name="Content Placeholder 2">
                <a:extLst>
                  <a:ext uri="{FF2B5EF4-FFF2-40B4-BE49-F238E27FC236}">
                    <a16:creationId xmlns:a16="http://schemas.microsoft.com/office/drawing/2014/main" id="{23130AD6-1623-1AE9-8C37-576FE766272D}"/>
                  </a:ext>
                </a:extLst>
              </p:cNvPr>
              <p:cNvSpPr>
                <a:spLocks noGrp="1" noRot="1" noChangeAspect="1" noMove="1" noResize="1" noEditPoints="1" noAdjustHandles="1" noChangeArrowheads="1" noChangeShapeType="1" noTextEdit="1"/>
              </p:cNvSpPr>
              <p:nvPr>
                <p:ph idx="1"/>
              </p:nvPr>
            </p:nvSpPr>
            <p:spPr>
              <a:xfrm>
                <a:off x="838199" y="1825624"/>
                <a:ext cx="10878403" cy="4788239"/>
              </a:xfrm>
              <a:blipFill>
                <a:blip r:embed="rId3"/>
                <a:stretch>
                  <a:fillRect l="-1120" t="-24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32F8A70-F5F5-544E-C833-CEA090240BD2}"/>
                  </a:ext>
                </a:extLst>
              </p:cNvPr>
              <p:cNvSpPr txBox="1"/>
              <p:nvPr/>
            </p:nvSpPr>
            <p:spPr>
              <a:xfrm>
                <a:off x="1676400" y="2990289"/>
                <a:ext cx="8839200" cy="648191"/>
              </a:xfrm>
              <a:prstGeom prst="rect">
                <a:avLst/>
              </a:prstGeom>
              <a:noFill/>
            </p:spPr>
            <p:txBody>
              <a:bodyPr wrap="square">
                <a:spAutoFit/>
              </a:bodyPr>
              <a:lstStyle/>
              <a:p>
                <a14:m>
                  <m:oMath xmlns:m="http://schemas.openxmlformats.org/officeDocument/2006/math">
                    <m:d>
                      <m:dPr>
                        <m:begChr m:val="|"/>
                        <m:endChr m:val="|"/>
                        <m:ctrlPr>
                          <a:rPr lang="en-US" sz="3200" b="0" i="1" smtClean="0">
                            <a:solidFill>
                              <a:srgbClr val="C00000"/>
                            </a:solidFill>
                            <a:latin typeface="Cambria Math" panose="02040503050406030204" pitchFamily="18" charset="0"/>
                          </a:rPr>
                        </m:ctrlPr>
                      </m:dPr>
                      <m:e>
                        <m:sSubSup>
                          <m:sSubSupPr>
                            <m:ctrlPr>
                              <a:rPr lang="en-US" sz="3200" i="1">
                                <a:solidFill>
                                  <a:srgbClr val="C00000"/>
                                </a:solidFill>
                                <a:latin typeface="Cambria Math" panose="02040503050406030204" pitchFamily="18" charset="0"/>
                              </a:rPr>
                            </m:ctrlPr>
                          </m:sSubSupPr>
                          <m:e>
                            <m:d>
                              <m:dPr>
                                <m:begChr m:val="‖"/>
                                <m:endChr m:val="‖"/>
                                <m:ctrlPr>
                                  <a:rPr lang="en-US" sz="3200" i="1">
                                    <a:solidFill>
                                      <a:srgbClr val="C00000"/>
                                    </a:solidFill>
                                    <a:latin typeface="Cambria Math" panose="02040503050406030204" pitchFamily="18" charset="0"/>
                                  </a:rPr>
                                </m:ctrlPr>
                              </m:dPr>
                              <m:e>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e>
                            </m:d>
                          </m:e>
                          <m:sub>
                            <m:r>
                              <a:rPr lang="en-US" sz="3200" i="1">
                                <a:solidFill>
                                  <a:srgbClr val="C00000"/>
                                </a:solidFill>
                                <a:latin typeface="Cambria Math" panose="02040503050406030204" pitchFamily="18" charset="0"/>
                              </a:rPr>
                              <m:t>2</m:t>
                            </m:r>
                          </m:sub>
                          <m:sup>
                            <m:r>
                              <a:rPr lang="en-US" sz="3200" i="1">
                                <a:solidFill>
                                  <a:srgbClr val="C00000"/>
                                </a:solidFill>
                                <a:latin typeface="Cambria Math" panose="02040503050406030204" pitchFamily="18" charset="0"/>
                              </a:rPr>
                              <m:t>2</m:t>
                            </m:r>
                          </m:sup>
                        </m:sSubSup>
                        <m:r>
                          <a:rPr lang="en-US" sz="3200" i="1">
                            <a:solidFill>
                              <a:srgbClr val="C00000"/>
                            </a:solidFill>
                            <a:latin typeface="Cambria Math" panose="02040503050406030204" pitchFamily="18" charset="0"/>
                          </a:rPr>
                          <m:t>+</m:t>
                        </m:r>
                        <m:sSubSup>
                          <m:sSubSupPr>
                            <m:ctrlPr>
                              <a:rPr lang="en-US" sz="3200" i="1">
                                <a:solidFill>
                                  <a:srgbClr val="C00000"/>
                                </a:solidFill>
                                <a:latin typeface="Cambria Math" panose="02040503050406030204" pitchFamily="18" charset="0"/>
                              </a:rPr>
                            </m:ctrlPr>
                          </m:sSubSupPr>
                          <m:e>
                            <m:d>
                              <m:dPr>
                                <m:begChr m:val="‖"/>
                                <m:endChr m:val="‖"/>
                                <m:ctrlPr>
                                  <a:rPr lang="en-US" sz="3200" i="1">
                                    <a:solidFill>
                                      <a:srgbClr val="C00000"/>
                                    </a:solidFill>
                                    <a:latin typeface="Cambria Math" panose="02040503050406030204" pitchFamily="18" charset="0"/>
                                  </a:rPr>
                                </m:ctrlPr>
                              </m:dPr>
                              <m:e>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r>
                                  <a:rPr lang="en-US" sz="3200" i="1">
                                    <a:solidFill>
                                      <a:srgbClr val="C00000"/>
                                    </a:solidFill>
                                    <a:latin typeface="Cambria Math" panose="02040503050406030204" pitchFamily="18" charset="0"/>
                                  </a:rPr>
                                  <m:t>𝑞</m:t>
                                </m:r>
                              </m:e>
                            </m:d>
                          </m:e>
                          <m:sub>
                            <m:r>
                              <a:rPr lang="en-US" sz="3200" i="1">
                                <a:solidFill>
                                  <a:srgbClr val="C00000"/>
                                </a:solidFill>
                                <a:latin typeface="Cambria Math" panose="02040503050406030204" pitchFamily="18" charset="0"/>
                              </a:rPr>
                              <m:t>2</m:t>
                            </m:r>
                          </m:sub>
                          <m:sup>
                            <m:r>
                              <a:rPr lang="en-US" sz="3200" i="1">
                                <a:solidFill>
                                  <a:srgbClr val="C00000"/>
                                </a:solidFill>
                                <a:latin typeface="Cambria Math" panose="02040503050406030204" pitchFamily="18" charset="0"/>
                              </a:rPr>
                              <m:t>2</m:t>
                            </m:r>
                          </m:sup>
                        </m:sSubSup>
                        <m:r>
                          <a:rPr lang="en-US" sz="3200" b="0" i="1" smtClean="0">
                            <a:solidFill>
                              <a:srgbClr val="C00000"/>
                            </a:solidFill>
                            <a:latin typeface="Cambria Math" panose="02040503050406030204" pitchFamily="18" charset="0"/>
                          </a:rPr>
                          <m:t>−</m:t>
                        </m:r>
                        <m:sSubSup>
                          <m:sSubSupPr>
                            <m:ctrlPr>
                              <a:rPr lang="en-US" sz="3200" i="1">
                                <a:solidFill>
                                  <a:srgbClr val="C00000"/>
                                </a:solidFill>
                                <a:latin typeface="Cambria Math" panose="02040503050406030204" pitchFamily="18" charset="0"/>
                              </a:rPr>
                            </m:ctrlPr>
                          </m:sSubSupPr>
                          <m:e>
                            <m:d>
                              <m:dPr>
                                <m:begChr m:val="‖"/>
                                <m:endChr m:val="‖"/>
                                <m:ctrlPr>
                                  <a:rPr lang="en-US" sz="3200" i="1">
                                    <a:solidFill>
                                      <a:srgbClr val="C00000"/>
                                    </a:solidFill>
                                    <a:latin typeface="Cambria Math" panose="02040503050406030204" pitchFamily="18" charset="0"/>
                                  </a:rPr>
                                </m:ctrlPr>
                              </m:dPr>
                              <m:e>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r>
                                  <a:rPr lang="en-US" sz="3200" i="1">
                                    <a:solidFill>
                                      <a:srgbClr val="C00000"/>
                                    </a:solidFill>
                                    <a:latin typeface="Cambria Math" panose="02040503050406030204" pitchFamily="18" charset="0"/>
                                  </a:rPr>
                                  <m:t>𝑞</m:t>
                                </m:r>
                              </m:e>
                            </m:d>
                          </m:e>
                          <m:sub>
                            <m:r>
                              <a:rPr lang="en-US" sz="3200" i="1">
                                <a:solidFill>
                                  <a:srgbClr val="C00000"/>
                                </a:solidFill>
                                <a:latin typeface="Cambria Math" panose="02040503050406030204" pitchFamily="18" charset="0"/>
                              </a:rPr>
                              <m:t>2</m:t>
                            </m:r>
                          </m:sub>
                          <m:sup>
                            <m:r>
                              <a:rPr lang="en-US" sz="3200" i="1">
                                <a:solidFill>
                                  <a:srgbClr val="C00000"/>
                                </a:solidFill>
                                <a:latin typeface="Cambria Math" panose="02040503050406030204" pitchFamily="18" charset="0"/>
                              </a:rPr>
                              <m:t>2</m:t>
                            </m:r>
                          </m:sup>
                        </m:sSubSup>
                      </m:e>
                    </m:d>
                    <m:r>
                      <a:rPr lang="en-US" sz="3200" b="0" i="1" smtClean="0">
                        <a:solidFill>
                          <a:srgbClr val="C00000"/>
                        </a:solidFill>
                        <a:latin typeface="Cambria Math" panose="02040503050406030204" pitchFamily="18" charset="0"/>
                      </a:rPr>
                      <m:t>≥</m:t>
                    </m:r>
                  </m:oMath>
                </a14:m>
                <a:r>
                  <a:rPr lang="en-US" sz="3200" dirty="0">
                    <a:solidFill>
                      <a:srgbClr val="C00000"/>
                    </a:solidFill>
                  </a:rPr>
                  <a:t> </a:t>
                </a:r>
                <a14:m>
                  <m:oMath xmlns:m="http://schemas.openxmlformats.org/officeDocument/2006/math">
                    <m:r>
                      <a:rPr lang="en-US" sz="3200" b="0" i="1" smtClean="0">
                        <a:solidFill>
                          <a:srgbClr val="C00000"/>
                        </a:solidFill>
                        <a:latin typeface="Cambria Math" panose="02040503050406030204" pitchFamily="18" charset="0"/>
                      </a:rPr>
                      <m:t>𝜀</m:t>
                    </m:r>
                    <m:r>
                      <a:rPr lang="en-US" sz="3200" b="0" i="1" smtClean="0">
                        <a:solidFill>
                          <a:srgbClr val="C00000"/>
                        </a:solidFill>
                        <a:latin typeface="Cambria Math" panose="02040503050406030204" pitchFamily="18" charset="0"/>
                      </a:rPr>
                      <m:t>⋅</m:t>
                    </m:r>
                    <m:sSubSup>
                      <m:sSubSupPr>
                        <m:ctrlPr>
                          <a:rPr lang="en-US" sz="3200" i="1">
                            <a:solidFill>
                              <a:srgbClr val="C00000"/>
                            </a:solidFill>
                            <a:latin typeface="Cambria Math" panose="02040503050406030204" pitchFamily="18" charset="0"/>
                          </a:rPr>
                        </m:ctrlPr>
                      </m:sSubSupPr>
                      <m:e>
                        <m:d>
                          <m:dPr>
                            <m:begChr m:val="‖"/>
                            <m:endChr m:val="‖"/>
                            <m:ctrlPr>
                              <a:rPr lang="en-US" sz="3200" i="1">
                                <a:solidFill>
                                  <a:srgbClr val="C00000"/>
                                </a:solidFill>
                                <a:latin typeface="Cambria Math" panose="02040503050406030204" pitchFamily="18" charset="0"/>
                              </a:rPr>
                            </m:ctrlPr>
                          </m:dPr>
                          <m:e>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r>
                              <a:rPr lang="en-US" sz="3200" i="1">
                                <a:solidFill>
                                  <a:srgbClr val="C00000"/>
                                </a:solidFill>
                                <a:latin typeface="Cambria Math" panose="02040503050406030204" pitchFamily="18" charset="0"/>
                              </a:rPr>
                              <m:t>𝑞</m:t>
                            </m:r>
                          </m:e>
                        </m:d>
                      </m:e>
                      <m:sub>
                        <m:r>
                          <a:rPr lang="en-US" sz="3200" i="1">
                            <a:solidFill>
                              <a:srgbClr val="C00000"/>
                            </a:solidFill>
                            <a:latin typeface="Cambria Math" panose="02040503050406030204" pitchFamily="18" charset="0"/>
                          </a:rPr>
                          <m:t>2</m:t>
                        </m:r>
                      </m:sub>
                      <m:sup>
                        <m:r>
                          <a:rPr lang="en-US" sz="3200" i="1">
                            <a:solidFill>
                              <a:srgbClr val="C00000"/>
                            </a:solidFill>
                            <a:latin typeface="Cambria Math" panose="02040503050406030204" pitchFamily="18" charset="0"/>
                          </a:rPr>
                          <m:t>2</m:t>
                        </m:r>
                      </m:sup>
                    </m:sSubSup>
                  </m:oMath>
                </a14:m>
                <a:endParaRPr lang="en-US" sz="3200" dirty="0"/>
              </a:p>
            </p:txBody>
          </p:sp>
        </mc:Choice>
        <mc:Fallback xmlns="">
          <p:sp>
            <p:nvSpPr>
              <p:cNvPr id="5" name="TextBox 4">
                <a:extLst>
                  <a:ext uri="{FF2B5EF4-FFF2-40B4-BE49-F238E27FC236}">
                    <a16:creationId xmlns:a16="http://schemas.microsoft.com/office/drawing/2014/main" id="{532F8A70-F5F5-544E-C833-CEA090240BD2}"/>
                  </a:ext>
                </a:extLst>
              </p:cNvPr>
              <p:cNvSpPr txBox="1">
                <a:spLocks noRot="1" noChangeAspect="1" noMove="1" noResize="1" noEditPoints="1" noAdjustHandles="1" noChangeArrowheads="1" noChangeShapeType="1" noTextEdit="1"/>
              </p:cNvSpPr>
              <p:nvPr/>
            </p:nvSpPr>
            <p:spPr>
              <a:xfrm>
                <a:off x="1676400" y="2990289"/>
                <a:ext cx="8839200" cy="64819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F762C1D-023C-7BD2-C531-28B2A2A97ECD}"/>
                  </a:ext>
                </a:extLst>
              </p:cNvPr>
              <p:cNvSpPr txBox="1"/>
              <p:nvPr/>
            </p:nvSpPr>
            <p:spPr>
              <a:xfrm>
                <a:off x="1676400" y="4596336"/>
                <a:ext cx="8839200" cy="748666"/>
              </a:xfrm>
              <a:prstGeom prst="rect">
                <a:avLst/>
              </a:prstGeom>
              <a:noFill/>
            </p:spPr>
            <p:txBody>
              <a:bodyPr wrap="square">
                <a:spAutoFit/>
              </a:bodyPr>
              <a:lstStyle/>
              <a:p>
                <a:pPr algn="ctr"/>
                <a14:m>
                  <m:oMath xmlns:m="http://schemas.openxmlformats.org/officeDocument/2006/math">
                    <m:d>
                      <m:dPr>
                        <m:begChr m:val="|"/>
                        <m:endChr m:val="|"/>
                        <m:ctrlPr>
                          <a:rPr lang="en-US" sz="3200" b="0" i="1" smtClean="0">
                            <a:solidFill>
                              <a:srgbClr val="C00000"/>
                            </a:solidFill>
                            <a:latin typeface="Cambria Math" panose="02040503050406030204" pitchFamily="18" charset="0"/>
                          </a:rPr>
                        </m:ctrlPr>
                      </m:dPr>
                      <m:e>
                        <m:r>
                          <a:rPr lang="en-US" sz="320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𝑧</m:t>
                        </m:r>
                        <m:r>
                          <a:rPr lang="en-US" sz="3200" b="0" i="1" smtClean="0">
                            <a:solidFill>
                              <a:srgbClr val="C00000"/>
                            </a:solidFill>
                            <a:latin typeface="Cambria Math" panose="02040503050406030204" pitchFamily="18" charset="0"/>
                          </a:rPr>
                          <m:t>−</m:t>
                        </m:r>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𝑧</m:t>
                            </m:r>
                          </m:e>
                          <m:sup>
                            <m:r>
                              <a:rPr lang="en-US" sz="3200" b="0" i="1" smtClean="0">
                                <a:solidFill>
                                  <a:srgbClr val="C00000"/>
                                </a:solidFill>
                                <a:latin typeface="Cambria Math" panose="02040503050406030204" pitchFamily="18" charset="0"/>
                              </a:rPr>
                              <m:t>′</m:t>
                            </m:r>
                          </m:sup>
                        </m:sSup>
                        <m:r>
                          <a:rPr lang="en-US" sz="3200" b="0" i="1" smtClean="0">
                            <a:solidFill>
                              <a:srgbClr val="C00000"/>
                            </a:solidFill>
                            <a:latin typeface="Cambria Math" panose="02040503050406030204" pitchFamily="18" charset="0"/>
                          </a:rPr>
                          <m:t>,</m:t>
                        </m:r>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𝑧</m:t>
                            </m:r>
                          </m:e>
                          <m:sup>
                            <m:r>
                              <a:rPr lang="en-US" sz="3200" b="0" i="1" smtClean="0">
                                <a:solidFill>
                                  <a:srgbClr val="C00000"/>
                                </a:solidFill>
                                <a:latin typeface="Cambria Math" panose="02040503050406030204" pitchFamily="18" charset="0"/>
                              </a:rPr>
                              <m:t>′</m:t>
                            </m:r>
                          </m:sup>
                        </m:sSup>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𝑞</m:t>
                        </m:r>
                        <m:r>
                          <a:rPr lang="en-US" sz="3200" b="0" i="1" smtClean="0">
                            <a:solidFill>
                              <a:srgbClr val="C00000"/>
                            </a:solidFill>
                            <a:latin typeface="Cambria Math" panose="02040503050406030204" pitchFamily="18" charset="0"/>
                          </a:rPr>
                          <m:t>⟩</m:t>
                        </m:r>
                      </m:e>
                    </m:d>
                    <m:r>
                      <a:rPr lang="en-US" sz="3200" b="0" i="1" smtClean="0">
                        <a:solidFill>
                          <a:srgbClr val="C00000"/>
                        </a:solidFill>
                        <a:latin typeface="Cambria Math" panose="02040503050406030204" pitchFamily="18" charset="0"/>
                      </a:rPr>
                      <m:t>≥</m:t>
                    </m:r>
                  </m:oMath>
                </a14:m>
                <a:r>
                  <a:rPr lang="en-US" sz="3200" dirty="0">
                    <a:solidFill>
                      <a:srgbClr val="C00000"/>
                    </a:solidFill>
                  </a:rPr>
                  <a:t> </a:t>
                </a:r>
                <a14:m>
                  <m:oMath xmlns:m="http://schemas.openxmlformats.org/officeDocument/2006/math">
                    <m:f>
                      <m:fPr>
                        <m:ctrlPr>
                          <a:rPr lang="en-US" sz="3200" b="0" i="1" smtClean="0">
                            <a:solidFill>
                              <a:srgbClr val="C00000"/>
                            </a:solidFill>
                            <a:latin typeface="Cambria Math" panose="02040503050406030204" pitchFamily="18" charset="0"/>
                          </a:rPr>
                        </m:ctrlPr>
                      </m:fPr>
                      <m:num>
                        <m:r>
                          <a:rPr lang="en-US" sz="3200" b="0" i="1" smtClean="0">
                            <a:solidFill>
                              <a:srgbClr val="C00000"/>
                            </a:solidFill>
                            <a:latin typeface="Cambria Math" panose="02040503050406030204" pitchFamily="18" charset="0"/>
                          </a:rPr>
                          <m:t>𝜀</m:t>
                        </m:r>
                      </m:num>
                      <m:den>
                        <m:r>
                          <a:rPr lang="en-US" sz="3200" b="0" i="1" smtClean="0">
                            <a:solidFill>
                              <a:srgbClr val="C00000"/>
                            </a:solidFill>
                            <a:latin typeface="Cambria Math" panose="02040503050406030204" pitchFamily="18" charset="0"/>
                          </a:rPr>
                          <m:t>2</m:t>
                        </m:r>
                      </m:den>
                    </m:f>
                    <m:r>
                      <a:rPr lang="en-US" sz="3200" b="0" i="1" smtClean="0">
                        <a:solidFill>
                          <a:srgbClr val="C00000"/>
                        </a:solidFill>
                        <a:latin typeface="Cambria Math" panose="02040503050406030204" pitchFamily="18" charset="0"/>
                      </a:rPr>
                      <m:t>⋅</m:t>
                    </m:r>
                    <m:sSubSup>
                      <m:sSubSupPr>
                        <m:ctrlPr>
                          <a:rPr lang="en-US" sz="3200" i="1">
                            <a:solidFill>
                              <a:srgbClr val="C00000"/>
                            </a:solidFill>
                            <a:latin typeface="Cambria Math" panose="02040503050406030204" pitchFamily="18" charset="0"/>
                          </a:rPr>
                        </m:ctrlPr>
                      </m:sSubSupPr>
                      <m:e>
                        <m:d>
                          <m:dPr>
                            <m:begChr m:val="‖"/>
                            <m:endChr m:val="‖"/>
                            <m:ctrlPr>
                              <a:rPr lang="en-US" sz="3200" i="1">
                                <a:solidFill>
                                  <a:srgbClr val="C00000"/>
                                </a:solidFill>
                                <a:latin typeface="Cambria Math" panose="02040503050406030204" pitchFamily="18" charset="0"/>
                              </a:rPr>
                            </m:ctrlPr>
                          </m:dPr>
                          <m:e>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r>
                              <a:rPr lang="en-US" sz="3200" i="1">
                                <a:solidFill>
                                  <a:srgbClr val="C00000"/>
                                </a:solidFill>
                                <a:latin typeface="Cambria Math" panose="02040503050406030204" pitchFamily="18" charset="0"/>
                              </a:rPr>
                              <m:t>𝑞</m:t>
                            </m:r>
                          </m:e>
                        </m:d>
                      </m:e>
                      <m:sub>
                        <m:r>
                          <a:rPr lang="en-US" sz="3200" i="1">
                            <a:solidFill>
                              <a:srgbClr val="C00000"/>
                            </a:solidFill>
                            <a:latin typeface="Cambria Math" panose="02040503050406030204" pitchFamily="18" charset="0"/>
                          </a:rPr>
                          <m:t>2</m:t>
                        </m:r>
                      </m:sub>
                      <m:sup>
                        <m:r>
                          <a:rPr lang="en-US" sz="3200" i="1">
                            <a:solidFill>
                              <a:srgbClr val="C00000"/>
                            </a:solidFill>
                            <a:latin typeface="Cambria Math" panose="02040503050406030204" pitchFamily="18" charset="0"/>
                          </a:rPr>
                          <m:t>2</m:t>
                        </m:r>
                      </m:sup>
                    </m:sSubSup>
                  </m:oMath>
                </a14:m>
                <a:endParaRPr lang="en-US" sz="3200" dirty="0"/>
              </a:p>
            </p:txBody>
          </p:sp>
        </mc:Choice>
        <mc:Fallback xmlns="">
          <p:sp>
            <p:nvSpPr>
              <p:cNvPr id="6" name="TextBox 5">
                <a:extLst>
                  <a:ext uri="{FF2B5EF4-FFF2-40B4-BE49-F238E27FC236}">
                    <a16:creationId xmlns:a16="http://schemas.microsoft.com/office/drawing/2014/main" id="{4F762C1D-023C-7BD2-C531-28B2A2A97ECD}"/>
                  </a:ext>
                </a:extLst>
              </p:cNvPr>
              <p:cNvSpPr txBox="1">
                <a:spLocks noRot="1" noChangeAspect="1" noMove="1" noResize="1" noEditPoints="1" noAdjustHandles="1" noChangeArrowheads="1" noChangeShapeType="1" noTextEdit="1"/>
              </p:cNvSpPr>
              <p:nvPr/>
            </p:nvSpPr>
            <p:spPr>
              <a:xfrm>
                <a:off x="1676400" y="4596336"/>
                <a:ext cx="8839200" cy="74866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98242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FE85E-72AC-C969-F977-673A3C5EE8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E9EE66-9E40-80B3-0BE1-E89562EB3CC9}"/>
              </a:ext>
            </a:extLst>
          </p:cNvPr>
          <p:cNvSpPr>
            <a:spLocks noGrp="1"/>
          </p:cNvSpPr>
          <p:nvPr>
            <p:ph type="title"/>
          </p:nvPr>
        </p:nvSpPr>
        <p:spPr/>
        <p:txBody>
          <a:bodyPr/>
          <a:lstStyle/>
          <a:p>
            <a:r>
              <a:rPr lang="en-US" dirty="0">
                <a:solidFill>
                  <a:srgbClr val="C00000"/>
                </a:solidFill>
              </a:rPr>
              <a:t>Update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72C5DB-0A58-CAF9-3D67-4CC7CFF6050D}"/>
                  </a:ext>
                </a:extLst>
              </p:cNvPr>
              <p:cNvSpPr>
                <a:spLocks noGrp="1"/>
              </p:cNvSpPr>
              <p:nvPr>
                <p:ph idx="1"/>
              </p:nvPr>
            </p:nvSpPr>
            <p:spPr>
              <a:xfrm>
                <a:off x="838200" y="1825624"/>
                <a:ext cx="10515600" cy="4788239"/>
              </a:xfrm>
            </p:spPr>
            <p:txBody>
              <a:bodyPr>
                <a:normAutofit/>
              </a:bodyPr>
              <a:lstStyle/>
              <a:p>
                <a:pPr>
                  <a:buClr>
                    <a:schemeClr val="tx1"/>
                  </a:buClr>
                </a:pPr>
                <a:r>
                  <a:rPr lang="en-US" sz="3000" dirty="0"/>
                  <a:t>On query </a:t>
                </a:r>
                <a14:m>
                  <m:oMath xmlns:m="http://schemas.openxmlformats.org/officeDocument/2006/math">
                    <m:r>
                      <a:rPr lang="en-US" b="0" i="1" smtClean="0">
                        <a:solidFill>
                          <a:srgbClr val="C00000"/>
                        </a:solidFill>
                        <a:latin typeface="Cambria Math" panose="02040503050406030204" pitchFamily="18" charset="0"/>
                      </a:rPr>
                      <m:t>𝑞</m:t>
                    </m:r>
                  </m:oMath>
                </a14:m>
                <a:r>
                  <a:rPr lang="en-US" sz="3000" dirty="0"/>
                  <a:t> where estimator errs, learner uses update rule      </a:t>
                </a:r>
                <a14:m>
                  <m:oMath xmlns:m="http://schemas.openxmlformats.org/officeDocument/2006/math">
                    <m:sSup>
                      <m:sSupPr>
                        <m:ctrlPr>
                          <a:rPr lang="en-US" b="0" i="1" smtClean="0">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𝑧</m:t>
                        </m:r>
                      </m:e>
                      <m:sup>
                        <m:r>
                          <a:rPr lang="en-US" b="0" i="1" smtClean="0">
                            <a:solidFill>
                              <a:srgbClr val="C00000"/>
                            </a:solidFill>
                            <a:latin typeface="Cambria Math" panose="02040503050406030204" pitchFamily="18" charset="0"/>
                          </a:rPr>
                          <m:t>′</m:t>
                        </m:r>
                      </m:sup>
                    </m:sSup>
                    <m:r>
                      <a:rPr lang="en-US" b="0" i="1" smtClean="0">
                        <a:solidFill>
                          <a:srgbClr val="C00000"/>
                        </a:solidFill>
                        <a:latin typeface="Cambria Math" panose="02040503050406030204" pitchFamily="18" charset="0"/>
                      </a:rPr>
                      <m:t>←</m:t>
                    </m:r>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𝑧</m:t>
                        </m:r>
                      </m:e>
                      <m:sup>
                        <m:r>
                          <a:rPr lang="en-US" b="0" i="1" smtClean="0">
                            <a:solidFill>
                              <a:srgbClr val="C00000"/>
                            </a:solidFill>
                            <a:latin typeface="Cambria Math" panose="02040503050406030204" pitchFamily="18" charset="0"/>
                          </a:rPr>
                          <m:t>′</m:t>
                        </m:r>
                      </m:sup>
                    </m:sSup>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𝛼</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𝑞</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𝑧</m:t>
                    </m:r>
                    <m:r>
                      <a:rPr lang="en-US" b="0" i="1" smtClean="0">
                        <a:solidFill>
                          <a:srgbClr val="C00000"/>
                        </a:solidFill>
                        <a:latin typeface="Cambria Math" panose="02040503050406030204" pitchFamily="18" charset="0"/>
                      </a:rPr>
                      <m:t>′)</m:t>
                    </m:r>
                  </m:oMath>
                </a14:m>
                <a:r>
                  <a:rPr lang="en-US" sz="3000" dirty="0"/>
                  <a:t> and truncates small coordinates</a:t>
                </a:r>
              </a:p>
              <a:p>
                <a:pPr>
                  <a:buClr>
                    <a:schemeClr val="tx1"/>
                  </a:buClr>
                </a:pPr>
                <a:endParaRPr lang="en-US" sz="3000" dirty="0"/>
              </a:p>
              <a:p>
                <a:pPr>
                  <a:buClr>
                    <a:schemeClr val="tx1"/>
                  </a:buClr>
                </a:pPr>
                <a:r>
                  <a:rPr lang="en-US" sz="3000" dirty="0"/>
                  <a:t>Let </a:t>
                </a:r>
                <a14:m>
                  <m:oMath xmlns:m="http://schemas.openxmlformats.org/officeDocument/2006/math">
                    <m:r>
                      <a:rPr lang="en-US" i="1">
                        <a:solidFill>
                          <a:srgbClr val="C00000"/>
                        </a:solidFill>
                        <a:latin typeface="Cambria Math" panose="02040503050406030204" pitchFamily="18" charset="0"/>
                      </a:rPr>
                      <m:t>𝑧</m:t>
                    </m:r>
                    <m:r>
                      <a:rPr lang="en-US" b="0" i="1" smtClean="0">
                        <a:solidFill>
                          <a:srgbClr val="C00000"/>
                        </a:solidFill>
                        <a:latin typeface="Cambria Math" panose="02040503050406030204" pitchFamily="18" charset="0"/>
                      </a:rPr>
                      <m:t>′′</m:t>
                    </m:r>
                  </m:oMath>
                </a14:m>
                <a:r>
                  <a:rPr lang="en-US" sz="3000" dirty="0"/>
                  <a:t> be the new iterate after updating (we will choose </a:t>
                </a:r>
                <a14:m>
                  <m:oMath xmlns:m="http://schemas.openxmlformats.org/officeDocument/2006/math">
                    <m:r>
                      <a:rPr lang="en-US" sz="3200" i="1">
                        <a:solidFill>
                          <a:srgbClr val="C00000"/>
                        </a:solidFill>
                        <a:latin typeface="Cambria Math" panose="02040503050406030204" pitchFamily="18" charset="0"/>
                      </a:rPr>
                      <m:t>𝛼</m:t>
                    </m:r>
                  </m:oMath>
                </a14:m>
                <a:r>
                  <a:rPr lang="en-US" sz="3000" dirty="0"/>
                  <a:t>)</a:t>
                </a:r>
              </a:p>
              <a:p>
                <a:pPr>
                  <a:buClr>
                    <a:schemeClr val="tx1"/>
                  </a:buClr>
                </a:pPr>
                <a:endParaRPr lang="en-US" sz="3000" dirty="0"/>
              </a:p>
              <a:p>
                <a:pPr>
                  <a:buClr>
                    <a:schemeClr val="tx1"/>
                  </a:buClr>
                </a:pPr>
                <a:r>
                  <a:rPr lang="en-US" sz="3000" dirty="0">
                    <a:solidFill>
                      <a:srgbClr val="00B050"/>
                    </a:solidFill>
                  </a:rPr>
                  <a:t>Will show</a:t>
                </a:r>
                <a:r>
                  <a:rPr lang="en-US" sz="3000" dirty="0"/>
                  <a:t>: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b="0" i="1" smtClean="0">
                        <a:solidFill>
                          <a:srgbClr val="C00000"/>
                        </a:solidFill>
                        <a:latin typeface="Cambria Math" panose="02040503050406030204" pitchFamily="18" charset="0"/>
                      </a:rPr>
                      <m:t>≤</m:t>
                    </m:r>
                    <m:d>
                      <m:dPr>
                        <m:ctrlPr>
                          <a:rPr lang="en-US" sz="3000" b="0" i="1" smtClean="0">
                            <a:solidFill>
                              <a:srgbClr val="C00000"/>
                            </a:solidFill>
                            <a:latin typeface="Cambria Math" panose="02040503050406030204" pitchFamily="18" charset="0"/>
                          </a:rPr>
                        </m:ctrlPr>
                      </m:dPr>
                      <m:e>
                        <m:r>
                          <a:rPr lang="en-US" sz="3000" b="0" i="1" smtClean="0">
                            <a:solidFill>
                              <a:srgbClr val="C00000"/>
                            </a:solidFill>
                            <a:latin typeface="Cambria Math" panose="02040503050406030204" pitchFamily="18" charset="0"/>
                          </a:rPr>
                          <m:t>1−</m:t>
                        </m:r>
                        <m:sSup>
                          <m:sSupPr>
                            <m:ctrlPr>
                              <a:rPr lang="en-US" sz="3000" b="0" i="1" smtClean="0">
                                <a:solidFill>
                                  <a:srgbClr val="C00000"/>
                                </a:solidFill>
                                <a:latin typeface="Cambria Math" panose="02040503050406030204" pitchFamily="18" charset="0"/>
                              </a:rPr>
                            </m:ctrlPr>
                          </m:sSupPr>
                          <m:e>
                            <m:r>
                              <a:rPr lang="en-US" sz="3000" b="0" i="1" smtClean="0">
                                <a:solidFill>
                                  <a:srgbClr val="C00000"/>
                                </a:solidFill>
                                <a:latin typeface="Cambria Math" panose="02040503050406030204" pitchFamily="18" charset="0"/>
                              </a:rPr>
                              <m:t>𝜀</m:t>
                            </m:r>
                          </m:e>
                          <m:sup>
                            <m:r>
                              <a:rPr lang="en-US" sz="3000" b="0" i="1" smtClean="0">
                                <a:solidFill>
                                  <a:srgbClr val="C00000"/>
                                </a:solidFill>
                                <a:latin typeface="Cambria Math" panose="02040503050406030204" pitchFamily="18" charset="0"/>
                              </a:rPr>
                              <m:t>2</m:t>
                            </m:r>
                          </m:sup>
                        </m:sSup>
                      </m:e>
                    </m:d>
                    <m:r>
                      <a:rPr lang="en-US" sz="3000" b="0" i="1" smtClean="0">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endParaRPr lang="en-US" sz="3000" dirty="0"/>
              </a:p>
              <a:p>
                <a:pPr>
                  <a:buClr>
                    <a:schemeClr val="tx1"/>
                  </a:buClr>
                </a:pPr>
                <a:endParaRPr lang="en-US" sz="3000" dirty="0"/>
              </a:p>
              <a:p>
                <a:pPr>
                  <a:buClr>
                    <a:schemeClr val="tx1"/>
                  </a:buClr>
                </a:pPr>
                <a:r>
                  <a:rPr lang="en-US" sz="3000" dirty="0"/>
                  <a:t>Coordinates bounded by </a:t>
                </a:r>
                <a14:m>
                  <m:oMath xmlns:m="http://schemas.openxmlformats.org/officeDocument/2006/math">
                    <m:r>
                      <m:rPr>
                        <m:sty m:val="p"/>
                      </m:rPr>
                      <a:rPr lang="en-US" sz="3000" b="0" i="0" smtClean="0">
                        <a:solidFill>
                          <a:srgbClr val="C00000"/>
                        </a:solidFill>
                        <a:latin typeface="Cambria Math" panose="02040503050406030204" pitchFamily="18" charset="0"/>
                      </a:rPr>
                      <m:t>poly</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𝑛</m:t>
                    </m:r>
                    <m:r>
                      <a:rPr lang="en-US" sz="3000" b="0" i="1" smtClean="0">
                        <a:solidFill>
                          <a:srgbClr val="C00000"/>
                        </a:solidFill>
                        <a:latin typeface="Cambria Math" panose="02040503050406030204" pitchFamily="18" charset="0"/>
                      </a:rPr>
                      <m:t>)</m:t>
                    </m:r>
                  </m:oMath>
                </a14:m>
                <a:r>
                  <a:rPr lang="en-US" sz="3000" dirty="0"/>
                  <a:t> → at most </a:t>
                </a:r>
                <a14:m>
                  <m:oMath xmlns:m="http://schemas.openxmlformats.org/officeDocument/2006/math">
                    <m:r>
                      <a:rPr lang="en-US" sz="3000" b="0" i="1" smtClean="0">
                        <a:solidFill>
                          <a:srgbClr val="C00000"/>
                        </a:solidFill>
                        <a:latin typeface="Cambria Math" panose="02040503050406030204" pitchFamily="18" charset="0"/>
                      </a:rPr>
                      <m:t>𝑂</m:t>
                    </m:r>
                    <m:d>
                      <m:dPr>
                        <m:ctrlPr>
                          <a:rPr lang="en-US" sz="3000" b="0" i="1" smtClean="0">
                            <a:solidFill>
                              <a:srgbClr val="C00000"/>
                            </a:solidFill>
                            <a:latin typeface="Cambria Math" panose="02040503050406030204" pitchFamily="18" charset="0"/>
                          </a:rPr>
                        </m:ctrlPr>
                      </m:dPr>
                      <m:e>
                        <m:f>
                          <m:fPr>
                            <m:ctrlPr>
                              <a:rPr lang="en-US" sz="3000" b="0" i="1" smtClean="0">
                                <a:solidFill>
                                  <a:srgbClr val="C00000"/>
                                </a:solidFill>
                                <a:latin typeface="Cambria Math" panose="02040503050406030204" pitchFamily="18" charset="0"/>
                              </a:rPr>
                            </m:ctrlPr>
                          </m:fPr>
                          <m:num>
                            <m:r>
                              <a:rPr lang="en-US" sz="3000" b="0" i="1" smtClean="0">
                                <a:solidFill>
                                  <a:srgbClr val="C00000"/>
                                </a:solidFill>
                                <a:latin typeface="Cambria Math" panose="02040503050406030204" pitchFamily="18" charset="0"/>
                              </a:rPr>
                              <m:t>1</m:t>
                            </m:r>
                          </m:num>
                          <m:den>
                            <m:sSup>
                              <m:sSupPr>
                                <m:ctrlPr>
                                  <a:rPr lang="en-US" sz="3000" b="0" i="1" smtClean="0">
                                    <a:solidFill>
                                      <a:srgbClr val="C00000"/>
                                    </a:solidFill>
                                    <a:latin typeface="Cambria Math" panose="02040503050406030204" pitchFamily="18" charset="0"/>
                                  </a:rPr>
                                </m:ctrlPr>
                              </m:sSupPr>
                              <m:e>
                                <m:r>
                                  <a:rPr lang="en-US" sz="3000" b="0" i="1" smtClean="0">
                                    <a:solidFill>
                                      <a:srgbClr val="C00000"/>
                                    </a:solidFill>
                                    <a:latin typeface="Cambria Math" panose="02040503050406030204" pitchFamily="18" charset="0"/>
                                  </a:rPr>
                                  <m:t>𝜀</m:t>
                                </m:r>
                              </m:e>
                              <m:sup>
                                <m:r>
                                  <a:rPr lang="en-US" sz="3000" b="0" i="1" smtClean="0">
                                    <a:solidFill>
                                      <a:srgbClr val="C00000"/>
                                    </a:solidFill>
                                    <a:latin typeface="Cambria Math" panose="02040503050406030204" pitchFamily="18" charset="0"/>
                                  </a:rPr>
                                  <m:t>2</m:t>
                                </m:r>
                              </m:sup>
                            </m:sSup>
                          </m:den>
                        </m:f>
                        <m:func>
                          <m:funcPr>
                            <m:ctrlPr>
                              <a:rPr lang="en-US" sz="3000" b="0" i="1" smtClean="0">
                                <a:solidFill>
                                  <a:srgbClr val="C00000"/>
                                </a:solidFill>
                                <a:latin typeface="Cambria Math" panose="02040503050406030204" pitchFamily="18" charset="0"/>
                              </a:rPr>
                            </m:ctrlPr>
                          </m:funcPr>
                          <m:fName>
                            <m:r>
                              <m:rPr>
                                <m:sty m:val="p"/>
                              </m:rPr>
                              <a:rPr lang="en-US" sz="3000" b="0" i="0" smtClean="0">
                                <a:solidFill>
                                  <a:srgbClr val="C00000"/>
                                </a:solidFill>
                                <a:latin typeface="Cambria Math" panose="02040503050406030204" pitchFamily="18" charset="0"/>
                              </a:rPr>
                              <m:t>log</m:t>
                            </m:r>
                          </m:fName>
                          <m:e>
                            <m:r>
                              <a:rPr lang="en-US" sz="3000" b="0" i="1" smtClean="0">
                                <a:solidFill>
                                  <a:srgbClr val="C00000"/>
                                </a:solidFill>
                                <a:latin typeface="Cambria Math" panose="02040503050406030204" pitchFamily="18" charset="0"/>
                              </a:rPr>
                              <m:t>𝑛</m:t>
                            </m:r>
                          </m:e>
                        </m:func>
                      </m:e>
                    </m:d>
                  </m:oMath>
                </a14:m>
                <a:r>
                  <a:rPr lang="en-US" sz="3000" dirty="0"/>
                  <a:t> updates</a:t>
                </a:r>
              </a:p>
            </p:txBody>
          </p:sp>
        </mc:Choice>
        <mc:Fallback xmlns="">
          <p:sp>
            <p:nvSpPr>
              <p:cNvPr id="3" name="Content Placeholder 2">
                <a:extLst>
                  <a:ext uri="{FF2B5EF4-FFF2-40B4-BE49-F238E27FC236}">
                    <a16:creationId xmlns:a16="http://schemas.microsoft.com/office/drawing/2014/main" id="{FB72C5DB-0A58-CAF9-3D67-4CC7CFF6050D}"/>
                  </a:ext>
                </a:extLst>
              </p:cNvPr>
              <p:cNvSpPr>
                <a:spLocks noGrp="1" noRot="1" noChangeAspect="1" noMove="1" noResize="1" noEditPoints="1" noAdjustHandles="1" noChangeArrowheads="1" noChangeShapeType="1" noTextEdit="1"/>
              </p:cNvSpPr>
              <p:nvPr>
                <p:ph idx="1"/>
              </p:nvPr>
            </p:nvSpPr>
            <p:spPr>
              <a:xfrm>
                <a:off x="838200" y="1825624"/>
                <a:ext cx="10515600" cy="4788239"/>
              </a:xfrm>
              <a:blipFill>
                <a:blip r:embed="rId3"/>
                <a:stretch>
                  <a:fillRect l="-1217" t="-2545" r="-1101"/>
                </a:stretch>
              </a:blipFill>
            </p:spPr>
            <p:txBody>
              <a:bodyPr/>
              <a:lstStyle/>
              <a:p>
                <a:r>
                  <a:rPr lang="en-US">
                    <a:noFill/>
                  </a:rPr>
                  <a:t> </a:t>
                </a:r>
              </a:p>
            </p:txBody>
          </p:sp>
        </mc:Fallback>
      </mc:AlternateContent>
    </p:spTree>
    <p:extLst>
      <p:ext uri="{BB962C8B-B14F-4D97-AF65-F5344CB8AC3E}">
        <p14:creationId xmlns:p14="http://schemas.microsoft.com/office/powerpoint/2010/main" val="133981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4A456-1D4D-6E56-57A3-D1D07D59F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ED861-AF4E-48DB-751B-D3DB5EA4CF84}"/>
              </a:ext>
            </a:extLst>
          </p:cNvPr>
          <p:cNvSpPr>
            <a:spLocks noGrp="1"/>
          </p:cNvSpPr>
          <p:nvPr>
            <p:ph type="title"/>
          </p:nvPr>
        </p:nvSpPr>
        <p:spPr/>
        <p:txBody>
          <a:bodyPr/>
          <a:lstStyle/>
          <a:p>
            <a:r>
              <a:rPr lang="en-US" dirty="0">
                <a:solidFill>
                  <a:srgbClr val="C00000"/>
                </a:solidFill>
              </a:rPr>
              <a:t>Progress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C5F51D-2B6C-BF24-F4B2-1D6B102F1F72}"/>
                  </a:ext>
                </a:extLst>
              </p:cNvPr>
              <p:cNvSpPr>
                <a:spLocks noGrp="1"/>
              </p:cNvSpPr>
              <p:nvPr>
                <p:ph idx="1"/>
              </p:nvPr>
            </p:nvSpPr>
            <p:spPr>
              <a:xfrm>
                <a:off x="838200" y="1825624"/>
                <a:ext cx="10515600" cy="4788239"/>
              </a:xfrm>
            </p:spPr>
            <p:txBody>
              <a:bodyPr>
                <a:normAutofit/>
              </a:bodyPr>
              <a:lstStyle/>
              <a:p>
                <a:pPr>
                  <a:buClr>
                    <a:schemeClr val="tx1"/>
                  </a:buClr>
                </a:pPr>
                <a:endParaRPr lang="en-US" sz="3000" dirty="0"/>
              </a:p>
              <a:p>
                <a:pPr marL="0" indent="0">
                  <a:buClr>
                    <a:schemeClr val="tx1"/>
                  </a:buClr>
                  <a:buNone/>
                </a:pPr>
                <a:endParaRPr lang="en-US" sz="3000" dirty="0"/>
              </a:p>
              <a:p>
                <a:pPr>
                  <a:buClr>
                    <a:schemeClr val="tx1"/>
                  </a:buClr>
                </a:pPr>
                <a:endParaRPr lang="en-US" sz="3000" dirty="0">
                  <a:solidFill>
                    <a:srgbClr val="00B050"/>
                  </a:solidFill>
                </a:endParaRPr>
              </a:p>
              <a:p>
                <a:pPr>
                  <a:buClr>
                    <a:schemeClr val="tx1"/>
                  </a:buClr>
                </a:pPr>
                <a:r>
                  <a:rPr lang="en-US" sz="3000" dirty="0">
                    <a:solidFill>
                      <a:srgbClr val="00B050"/>
                    </a:solidFill>
                  </a:rPr>
                  <a:t>Recall</a:t>
                </a:r>
                <a:r>
                  <a:rPr lang="en-US" sz="3000" dirty="0"/>
                  <a:t>: due to incorrect estimator,</a:t>
                </a:r>
                <a:r>
                  <a:rPr lang="en-US" sz="3000" dirty="0">
                    <a:solidFill>
                      <a:srgbClr val="C00000"/>
                    </a:solidFill>
                  </a:rPr>
                  <a:t> </a:t>
                </a:r>
                <a14:m>
                  <m:oMath xmlns:m="http://schemas.openxmlformats.org/officeDocument/2006/math">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r>
                      <a:rPr lang="en-US" sz="3000" i="1">
                        <a:solidFill>
                          <a:srgbClr val="C00000"/>
                        </a:solidFill>
                        <a:latin typeface="Cambria Math" panose="02040503050406030204" pitchFamily="18" charset="0"/>
                      </a:rPr>
                      <m:t>,</m:t>
                    </m:r>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r>
                      <a:rPr lang="en-US" sz="3000" i="1">
                        <a:solidFill>
                          <a:srgbClr val="C00000"/>
                        </a:solidFill>
                        <a:latin typeface="Cambria Math" panose="02040503050406030204" pitchFamily="18" charset="0"/>
                      </a:rPr>
                      <m:t>⟩ ≥</m:t>
                    </m:r>
                  </m:oMath>
                </a14:m>
                <a:r>
                  <a:rPr lang="en-US" sz="3000" dirty="0">
                    <a:solidFill>
                      <a:srgbClr val="C00000"/>
                    </a:solidFill>
                  </a:rPr>
                  <a:t> </a:t>
                </a:r>
                <a14:m>
                  <m:oMath xmlns:m="http://schemas.openxmlformats.org/officeDocument/2006/math">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𝜀</m:t>
                        </m:r>
                      </m:num>
                      <m:den>
                        <m:r>
                          <a:rPr lang="en-US" sz="3000" i="1">
                            <a:solidFill>
                              <a:srgbClr val="C00000"/>
                            </a:solidFill>
                            <a:latin typeface="Cambria Math" panose="02040503050406030204" pitchFamily="18" charset="0"/>
                          </a:rPr>
                          <m:t>2</m:t>
                        </m:r>
                      </m:den>
                    </m:f>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endParaRPr lang="en-US" sz="3000" dirty="0"/>
              </a:p>
              <a:p>
                <a:pPr>
                  <a:buClr>
                    <a:schemeClr val="tx1"/>
                  </a:buClr>
                </a:pPr>
                <a:endParaRPr lang="en-US" sz="3000" dirty="0"/>
              </a:p>
              <a:p>
                <a:pPr>
                  <a:buClr>
                    <a:schemeClr val="tx1"/>
                  </a:buClr>
                </a:pPr>
                <a:r>
                  <a:rPr lang="en-US" sz="3000" dirty="0"/>
                  <a:t>By setting </a:t>
                </a:r>
                <a14:m>
                  <m:oMath xmlns:m="http://schemas.openxmlformats.org/officeDocument/2006/math">
                    <m:r>
                      <a:rPr lang="en-US" sz="3000" i="1">
                        <a:solidFill>
                          <a:srgbClr val="C00000"/>
                        </a:solidFill>
                        <a:latin typeface="Cambria Math" panose="02040503050406030204" pitchFamily="18" charset="0"/>
                      </a:rPr>
                      <m:t>𝛼</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𝜀</m:t>
                    </m:r>
                    <m:r>
                      <a:rPr lang="en-US" sz="3000" b="0" i="1" smtClean="0">
                        <a:solidFill>
                          <a:srgbClr val="C00000"/>
                        </a:solidFill>
                        <a:latin typeface="Cambria Math" panose="02040503050406030204" pitchFamily="18" charset="0"/>
                      </a:rPr>
                      <m:t>⋅</m:t>
                    </m:r>
                    <m:f>
                      <m:fPr>
                        <m:ctrlPr>
                          <a:rPr lang="en-US" sz="3000" b="0" i="1" smtClean="0">
                            <a:solidFill>
                              <a:srgbClr val="C00000"/>
                            </a:solidFill>
                            <a:latin typeface="Cambria Math" panose="02040503050406030204" pitchFamily="18" charset="0"/>
                          </a:rPr>
                        </m:ctrlPr>
                      </m:fPr>
                      <m:num>
                        <m:sSub>
                          <m:sSubPr>
                            <m:ctrlPr>
                              <a:rPr lang="en-US" sz="3000" b="0" i="1" smtClean="0">
                                <a:solidFill>
                                  <a:srgbClr val="C00000"/>
                                </a:solidFill>
                                <a:latin typeface="Cambria Math" panose="02040503050406030204" pitchFamily="18" charset="0"/>
                              </a:rPr>
                            </m:ctrlPr>
                          </m:sSub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e>
                            </m:d>
                          </m:e>
                          <m:sub>
                            <m:r>
                              <a:rPr lang="en-US" sz="3000" b="0" i="1" smtClean="0">
                                <a:solidFill>
                                  <a:srgbClr val="C00000"/>
                                </a:solidFill>
                                <a:latin typeface="Cambria Math" panose="02040503050406030204" pitchFamily="18" charset="0"/>
                              </a:rPr>
                              <m:t>2</m:t>
                            </m:r>
                          </m:sub>
                        </m:sSub>
                      </m:num>
                      <m:den>
                        <m:sSub>
                          <m:sSubPr>
                            <m:ctrlPr>
                              <a:rPr lang="en-US" sz="3000" b="0" i="1" smtClean="0">
                                <a:solidFill>
                                  <a:srgbClr val="C00000"/>
                                </a:solidFill>
                                <a:latin typeface="Cambria Math" panose="02040503050406030204" pitchFamily="18" charset="0"/>
                              </a:rPr>
                            </m:ctrlPr>
                          </m:sSubPr>
                          <m:e>
                            <m:d>
                              <m:dPr>
                                <m:begChr m:val="‖"/>
                                <m:endChr m:val="‖"/>
                                <m:ctrlPr>
                                  <a:rPr lang="en-US" sz="3000" i="1">
                                    <a:solidFill>
                                      <a:srgbClr val="C00000"/>
                                    </a:solidFill>
                                    <a:latin typeface="Cambria Math" panose="02040503050406030204" pitchFamily="18" charset="0"/>
                                  </a:rPr>
                                </m:ctrlPr>
                              </m:dPr>
                              <m:e>
                                <m:r>
                                  <a:rPr lang="en-US" sz="3000" b="0" i="1" smtClean="0">
                                    <a:solidFill>
                                      <a:srgbClr val="C00000"/>
                                    </a:solidFill>
                                    <a:latin typeface="Cambria Math" panose="02040503050406030204" pitchFamily="18" charset="0"/>
                                  </a:rPr>
                                  <m:t>𝑞</m:t>
                                </m:r>
                                <m:r>
                                  <a:rPr lang="en-US" sz="3000" b="0" i="1" smtClean="0">
                                    <a:solidFill>
                                      <a:srgbClr val="C00000"/>
                                    </a:solidFill>
                                    <a:latin typeface="Cambria Math" panose="02040503050406030204" pitchFamily="18" charset="0"/>
                                  </a:rPr>
                                  <m:t>+</m:t>
                                </m:r>
                                <m:sSup>
                                  <m:sSupPr>
                                    <m:ctrlPr>
                                      <a:rPr lang="en-US" sz="3000" b="0" i="1" smtClean="0">
                                        <a:solidFill>
                                          <a:srgbClr val="C00000"/>
                                        </a:solidFill>
                                        <a:latin typeface="Cambria Math" panose="02040503050406030204" pitchFamily="18" charset="0"/>
                                      </a:rPr>
                                    </m:ctrlPr>
                                  </m:sSupPr>
                                  <m:e>
                                    <m:r>
                                      <a:rPr lang="en-US" sz="3000" b="0" i="1" smtClean="0">
                                        <a:solidFill>
                                          <a:srgbClr val="C00000"/>
                                        </a:solidFill>
                                        <a:latin typeface="Cambria Math" panose="02040503050406030204" pitchFamily="18" charset="0"/>
                                      </a:rPr>
                                      <m:t>𝑧</m:t>
                                    </m:r>
                                  </m:e>
                                  <m:sup>
                                    <m:r>
                                      <a:rPr lang="en-US" sz="3000" b="0" i="1" smtClean="0">
                                        <a:solidFill>
                                          <a:srgbClr val="C00000"/>
                                        </a:solidFill>
                                        <a:latin typeface="Cambria Math" panose="02040503050406030204" pitchFamily="18" charset="0"/>
                                      </a:rPr>
                                      <m:t>′</m:t>
                                    </m:r>
                                  </m:sup>
                                </m:sSup>
                              </m:e>
                            </m:d>
                          </m:e>
                          <m:sub>
                            <m:r>
                              <a:rPr lang="en-US" sz="3000" b="0" i="1" smtClean="0">
                                <a:solidFill>
                                  <a:srgbClr val="C00000"/>
                                </a:solidFill>
                                <a:latin typeface="Cambria Math" panose="02040503050406030204" pitchFamily="18" charset="0"/>
                              </a:rPr>
                              <m:t>2</m:t>
                            </m:r>
                          </m:sub>
                        </m:sSub>
                      </m:den>
                    </m:f>
                  </m:oMath>
                </a14:m>
                <a:r>
                  <a:rPr lang="en-US" sz="3000" dirty="0"/>
                  <a:t> (can estimate this), we have progress:</a:t>
                </a:r>
              </a:p>
            </p:txBody>
          </p:sp>
        </mc:Choice>
        <mc:Fallback xmlns="">
          <p:sp>
            <p:nvSpPr>
              <p:cNvPr id="3" name="Content Placeholder 2">
                <a:extLst>
                  <a:ext uri="{FF2B5EF4-FFF2-40B4-BE49-F238E27FC236}">
                    <a16:creationId xmlns:a16="http://schemas.microsoft.com/office/drawing/2014/main" id="{ADC5F51D-2B6C-BF24-F4B2-1D6B102F1F72}"/>
                  </a:ext>
                </a:extLst>
              </p:cNvPr>
              <p:cNvSpPr>
                <a:spLocks noGrp="1" noRot="1" noChangeAspect="1" noMove="1" noResize="1" noEditPoints="1" noAdjustHandles="1" noChangeArrowheads="1" noChangeShapeType="1" noTextEdit="1"/>
              </p:cNvSpPr>
              <p:nvPr>
                <p:ph idx="1"/>
              </p:nvPr>
            </p:nvSpPr>
            <p:spPr>
              <a:xfrm>
                <a:off x="838200" y="1825624"/>
                <a:ext cx="10515600" cy="4788239"/>
              </a:xfrm>
              <a:blipFill>
                <a:blip r:embed="rId3"/>
                <a:stretch>
                  <a:fillRect l="-1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4E7428-C6D0-B414-5E2E-7C2F38B296CD}"/>
                  </a:ext>
                </a:extLst>
              </p:cNvPr>
              <p:cNvSpPr txBox="1"/>
              <p:nvPr/>
            </p:nvSpPr>
            <p:spPr>
              <a:xfrm>
                <a:off x="571500" y="1690688"/>
                <a:ext cx="6347460" cy="591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200" i="1" smtClean="0">
                              <a:solidFill>
                                <a:srgbClr val="C00000"/>
                              </a:solidFill>
                              <a:latin typeface="Cambria Math" panose="02040503050406030204" pitchFamily="18" charset="0"/>
                            </a:rPr>
                          </m:ctrlPr>
                        </m:sSubSupPr>
                        <m:e>
                          <m:d>
                            <m:dPr>
                              <m:begChr m:val="‖"/>
                              <m:endChr m:val="‖"/>
                              <m:ctrlPr>
                                <a:rPr lang="en-US" sz="3200" i="1">
                                  <a:solidFill>
                                    <a:srgbClr val="C00000"/>
                                  </a:solidFill>
                                  <a:latin typeface="Cambria Math" panose="02040503050406030204" pitchFamily="18" charset="0"/>
                                </a:rPr>
                              </m:ctrlPr>
                            </m:dPr>
                            <m:e>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e>
                          </m:d>
                        </m:e>
                        <m:sub>
                          <m:r>
                            <a:rPr lang="en-US" sz="3200" i="1">
                              <a:solidFill>
                                <a:srgbClr val="C00000"/>
                              </a:solidFill>
                              <a:latin typeface="Cambria Math" panose="02040503050406030204" pitchFamily="18" charset="0"/>
                            </a:rPr>
                            <m:t>2</m:t>
                          </m:r>
                        </m:sub>
                        <m:sup>
                          <m:r>
                            <a:rPr lang="en-US" sz="3200" i="1">
                              <a:solidFill>
                                <a:srgbClr val="C00000"/>
                              </a:solidFill>
                              <a:latin typeface="Cambria Math" panose="02040503050406030204" pitchFamily="18" charset="0"/>
                            </a:rPr>
                            <m:t>2</m:t>
                          </m:r>
                        </m:sup>
                      </m:sSubSup>
                      <m:r>
                        <a:rPr lang="en-US" sz="3200" b="0" i="1" smtClean="0">
                          <a:solidFill>
                            <a:srgbClr val="C00000"/>
                          </a:solidFill>
                          <a:latin typeface="Cambria Math" panose="02040503050406030204" pitchFamily="18" charset="0"/>
                        </a:rPr>
                        <m:t>=</m:t>
                      </m:r>
                      <m:sSubSup>
                        <m:sSubSupPr>
                          <m:ctrlPr>
                            <a:rPr lang="en-US" sz="3200" i="1" smtClean="0">
                              <a:solidFill>
                                <a:srgbClr val="C00000"/>
                              </a:solidFill>
                              <a:latin typeface="Cambria Math" panose="02040503050406030204" pitchFamily="18" charset="0"/>
                            </a:rPr>
                          </m:ctrlPr>
                        </m:sSubSupPr>
                        <m:e>
                          <m:d>
                            <m:dPr>
                              <m:begChr m:val="‖"/>
                              <m:endChr m:val="‖"/>
                              <m:ctrlPr>
                                <a:rPr lang="en-US" sz="3200" i="1">
                                  <a:solidFill>
                                    <a:srgbClr val="C00000"/>
                                  </a:solidFill>
                                  <a:latin typeface="Cambria Math" panose="02040503050406030204" pitchFamily="18" charset="0"/>
                                </a:rPr>
                              </m:ctrlPr>
                            </m:dPr>
                            <m:e>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sSup>
                                <m:sSupPr>
                                  <m:ctrlPr>
                                    <a:rPr lang="en-US" sz="3200" i="1">
                                      <a:solidFill>
                                        <a:srgbClr val="C00000"/>
                                      </a:solidFill>
                                      <a:latin typeface="Cambria Math" panose="02040503050406030204" pitchFamily="18" charset="0"/>
                                    </a:rPr>
                                  </m:ctrlPr>
                                </m:sSupPr>
                                <m:e>
                                  <m:r>
                                    <a:rPr lang="en-US" sz="3200" i="1">
                                      <a:solidFill>
                                        <a:srgbClr val="C00000"/>
                                      </a:solidFill>
                                      <a:latin typeface="Cambria Math" panose="02040503050406030204" pitchFamily="18" charset="0"/>
                                    </a:rPr>
                                    <m:t>𝑧</m:t>
                                  </m:r>
                                </m:e>
                                <m:sup>
                                  <m:r>
                                    <a:rPr lang="en-US" sz="3200" i="1">
                                      <a:solidFill>
                                        <a:srgbClr val="C00000"/>
                                      </a:solidFill>
                                      <a:latin typeface="Cambria Math" panose="02040503050406030204" pitchFamily="18" charset="0"/>
                                    </a:rPr>
                                    <m:t>′</m:t>
                                  </m:r>
                                </m:sup>
                              </m:sSup>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𝛼</m:t>
                              </m:r>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𝑞</m:t>
                              </m:r>
                              <m:r>
                                <a:rPr lang="en-US" sz="3200" b="0" i="1" smtClean="0">
                                  <a:solidFill>
                                    <a:srgbClr val="C00000"/>
                                  </a:solidFill>
                                  <a:latin typeface="Cambria Math" panose="02040503050406030204" pitchFamily="18" charset="0"/>
                                </a:rPr>
                                <m:t>+</m:t>
                              </m:r>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𝑧</m:t>
                                  </m:r>
                                </m:e>
                                <m:sup>
                                  <m:r>
                                    <a:rPr lang="en-US" sz="3200" b="0" i="1" smtClean="0">
                                      <a:solidFill>
                                        <a:srgbClr val="C00000"/>
                                      </a:solidFill>
                                      <a:latin typeface="Cambria Math" panose="02040503050406030204" pitchFamily="18" charset="0"/>
                                    </a:rPr>
                                    <m:t>′</m:t>
                                  </m:r>
                                </m:sup>
                              </m:sSup>
                              <m:r>
                                <a:rPr lang="en-US" sz="3200" b="0" i="1" smtClean="0">
                                  <a:solidFill>
                                    <a:srgbClr val="C00000"/>
                                  </a:solidFill>
                                  <a:latin typeface="Cambria Math" panose="02040503050406030204" pitchFamily="18" charset="0"/>
                                </a:rPr>
                                <m:t>)</m:t>
                              </m:r>
                            </m:e>
                          </m:d>
                        </m:e>
                        <m:sub>
                          <m:r>
                            <a:rPr lang="en-US" sz="3200" i="1">
                              <a:solidFill>
                                <a:srgbClr val="C00000"/>
                              </a:solidFill>
                              <a:latin typeface="Cambria Math" panose="02040503050406030204" pitchFamily="18" charset="0"/>
                            </a:rPr>
                            <m:t>2</m:t>
                          </m:r>
                        </m:sub>
                        <m:sup>
                          <m:r>
                            <a:rPr lang="en-US" sz="3200" i="1">
                              <a:solidFill>
                                <a:srgbClr val="C00000"/>
                              </a:solidFill>
                              <a:latin typeface="Cambria Math" panose="02040503050406030204" pitchFamily="18" charset="0"/>
                            </a:rPr>
                            <m:t>2</m:t>
                          </m:r>
                        </m:sup>
                      </m:sSubSup>
                    </m:oMath>
                  </m:oMathPara>
                </a14:m>
                <a:endParaRPr lang="en-US" sz="3200" dirty="0"/>
              </a:p>
            </p:txBody>
          </p:sp>
        </mc:Choice>
        <mc:Fallback xmlns="">
          <p:sp>
            <p:nvSpPr>
              <p:cNvPr id="5" name="TextBox 4">
                <a:extLst>
                  <a:ext uri="{FF2B5EF4-FFF2-40B4-BE49-F238E27FC236}">
                    <a16:creationId xmlns:a16="http://schemas.microsoft.com/office/drawing/2014/main" id="{9C4E7428-C6D0-B414-5E2E-7C2F38B296CD}"/>
                  </a:ext>
                </a:extLst>
              </p:cNvPr>
              <p:cNvSpPr txBox="1">
                <a:spLocks noRot="1" noChangeAspect="1" noMove="1" noResize="1" noEditPoints="1" noAdjustHandles="1" noChangeArrowheads="1" noChangeShapeType="1" noTextEdit="1"/>
              </p:cNvSpPr>
              <p:nvPr/>
            </p:nvSpPr>
            <p:spPr>
              <a:xfrm>
                <a:off x="571500" y="1690688"/>
                <a:ext cx="6347460" cy="59144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8BB3816-2695-8E26-63E0-C56A7E9AEE5F}"/>
                  </a:ext>
                </a:extLst>
              </p:cNvPr>
              <p:cNvSpPr txBox="1"/>
              <p:nvPr/>
            </p:nvSpPr>
            <p:spPr>
              <a:xfrm>
                <a:off x="1744980" y="2282132"/>
                <a:ext cx="10515600" cy="591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C00000"/>
                          </a:solidFill>
                          <a:latin typeface="Cambria Math" panose="02040503050406030204" pitchFamily="18" charset="0"/>
                        </a:rPr>
                        <m:t>=</m:t>
                      </m:r>
                      <m:sSubSup>
                        <m:sSubSupPr>
                          <m:ctrlPr>
                            <a:rPr lang="en-US" sz="3200" i="1">
                              <a:solidFill>
                                <a:srgbClr val="C00000"/>
                              </a:solidFill>
                              <a:latin typeface="Cambria Math" panose="02040503050406030204" pitchFamily="18" charset="0"/>
                            </a:rPr>
                          </m:ctrlPr>
                        </m:sSubSupPr>
                        <m:e>
                          <m:d>
                            <m:dPr>
                              <m:begChr m:val="‖"/>
                              <m:endChr m:val="‖"/>
                              <m:ctrlPr>
                                <a:rPr lang="en-US" sz="3200" i="1">
                                  <a:solidFill>
                                    <a:srgbClr val="C00000"/>
                                  </a:solidFill>
                                  <a:latin typeface="Cambria Math" panose="02040503050406030204" pitchFamily="18" charset="0"/>
                                </a:rPr>
                              </m:ctrlPr>
                            </m:dPr>
                            <m:e>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sSup>
                                <m:sSupPr>
                                  <m:ctrlPr>
                                    <a:rPr lang="en-US" sz="3200" i="1">
                                      <a:solidFill>
                                        <a:srgbClr val="C00000"/>
                                      </a:solidFill>
                                      <a:latin typeface="Cambria Math" panose="02040503050406030204" pitchFamily="18" charset="0"/>
                                    </a:rPr>
                                  </m:ctrlPr>
                                </m:sSupPr>
                                <m:e>
                                  <m:r>
                                    <a:rPr lang="en-US" sz="3200" i="1">
                                      <a:solidFill>
                                        <a:srgbClr val="C00000"/>
                                      </a:solidFill>
                                      <a:latin typeface="Cambria Math" panose="02040503050406030204" pitchFamily="18" charset="0"/>
                                    </a:rPr>
                                    <m:t>𝑧</m:t>
                                  </m:r>
                                </m:e>
                                <m:sup>
                                  <m:r>
                                    <a:rPr lang="en-US" sz="3200" i="1">
                                      <a:solidFill>
                                        <a:srgbClr val="C00000"/>
                                      </a:solidFill>
                                      <a:latin typeface="Cambria Math" panose="02040503050406030204" pitchFamily="18" charset="0"/>
                                    </a:rPr>
                                    <m:t>′</m:t>
                                  </m:r>
                                </m:sup>
                              </m:sSup>
                            </m:e>
                          </m:d>
                        </m:e>
                        <m:sub>
                          <m:r>
                            <a:rPr lang="en-US" sz="3200" i="1">
                              <a:solidFill>
                                <a:srgbClr val="C00000"/>
                              </a:solidFill>
                              <a:latin typeface="Cambria Math" panose="02040503050406030204" pitchFamily="18" charset="0"/>
                            </a:rPr>
                            <m:t>2</m:t>
                          </m:r>
                        </m:sub>
                        <m:sup>
                          <m:r>
                            <a:rPr lang="en-US" sz="3200" i="1">
                              <a:solidFill>
                                <a:srgbClr val="C00000"/>
                              </a:solidFill>
                              <a:latin typeface="Cambria Math" panose="02040503050406030204" pitchFamily="18" charset="0"/>
                            </a:rPr>
                            <m:t>2</m:t>
                          </m:r>
                        </m:sup>
                      </m:sSubSup>
                      <m:r>
                        <a:rPr lang="en-US" sz="3200" b="0" i="1" smtClean="0">
                          <a:solidFill>
                            <a:srgbClr val="C00000"/>
                          </a:solidFill>
                          <a:latin typeface="Cambria Math" panose="02040503050406030204" pitchFamily="18" charset="0"/>
                        </a:rPr>
                        <m:t>+</m:t>
                      </m:r>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𝛼</m:t>
                          </m:r>
                        </m:e>
                        <m:sup>
                          <m:r>
                            <a:rPr lang="en-US" sz="3200" b="0" i="1" smtClean="0">
                              <a:solidFill>
                                <a:srgbClr val="C00000"/>
                              </a:solidFill>
                              <a:latin typeface="Cambria Math" panose="02040503050406030204" pitchFamily="18" charset="0"/>
                            </a:rPr>
                            <m:t>2</m:t>
                          </m:r>
                        </m:sup>
                      </m:sSup>
                      <m:r>
                        <a:rPr lang="en-US" sz="3200" b="0" i="1" smtClean="0">
                          <a:solidFill>
                            <a:srgbClr val="C00000"/>
                          </a:solidFill>
                          <a:latin typeface="Cambria Math" panose="02040503050406030204" pitchFamily="18" charset="0"/>
                        </a:rPr>
                        <m:t>⋅</m:t>
                      </m:r>
                      <m:sSubSup>
                        <m:sSubSupPr>
                          <m:ctrlPr>
                            <a:rPr lang="en-US" sz="3200" i="1">
                              <a:solidFill>
                                <a:srgbClr val="C00000"/>
                              </a:solidFill>
                              <a:latin typeface="Cambria Math" panose="02040503050406030204" pitchFamily="18" charset="0"/>
                            </a:rPr>
                          </m:ctrlPr>
                        </m:sSubSupPr>
                        <m:e>
                          <m:d>
                            <m:dPr>
                              <m:begChr m:val="‖"/>
                              <m:endChr m:val="‖"/>
                              <m:ctrlPr>
                                <a:rPr lang="en-US" sz="3200" i="1">
                                  <a:solidFill>
                                    <a:srgbClr val="C00000"/>
                                  </a:solidFill>
                                  <a:latin typeface="Cambria Math" panose="02040503050406030204" pitchFamily="18" charset="0"/>
                                </a:rPr>
                              </m:ctrlPr>
                            </m:dPr>
                            <m:e>
                              <m:r>
                                <a:rPr lang="en-US" sz="3200" b="0" i="1" smtClean="0">
                                  <a:solidFill>
                                    <a:srgbClr val="C00000"/>
                                  </a:solidFill>
                                  <a:latin typeface="Cambria Math" panose="02040503050406030204" pitchFamily="18" charset="0"/>
                                </a:rPr>
                                <m:t>𝑞</m:t>
                              </m:r>
                              <m:r>
                                <a:rPr lang="en-US" sz="3200" b="0" i="1" smtClean="0">
                                  <a:solidFill>
                                    <a:srgbClr val="C00000"/>
                                  </a:solidFill>
                                  <a:latin typeface="Cambria Math" panose="02040503050406030204" pitchFamily="18" charset="0"/>
                                </a:rPr>
                                <m:t>+</m:t>
                              </m:r>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𝑧</m:t>
                                  </m:r>
                                </m:e>
                                <m:sup>
                                  <m:r>
                                    <a:rPr lang="en-US" sz="3200" b="0" i="1" smtClean="0">
                                      <a:solidFill>
                                        <a:srgbClr val="C00000"/>
                                      </a:solidFill>
                                      <a:latin typeface="Cambria Math" panose="02040503050406030204" pitchFamily="18" charset="0"/>
                                    </a:rPr>
                                    <m:t>′</m:t>
                                  </m:r>
                                </m:sup>
                              </m:sSup>
                            </m:e>
                          </m:d>
                        </m:e>
                        <m:sub>
                          <m:r>
                            <a:rPr lang="en-US" sz="3200" i="1">
                              <a:solidFill>
                                <a:srgbClr val="C00000"/>
                              </a:solidFill>
                              <a:latin typeface="Cambria Math" panose="02040503050406030204" pitchFamily="18" charset="0"/>
                            </a:rPr>
                            <m:t>2</m:t>
                          </m:r>
                        </m:sub>
                        <m:sup>
                          <m:r>
                            <a:rPr lang="en-US" sz="3200" i="1">
                              <a:solidFill>
                                <a:srgbClr val="C00000"/>
                              </a:solidFill>
                              <a:latin typeface="Cambria Math" panose="02040503050406030204" pitchFamily="18" charset="0"/>
                            </a:rPr>
                            <m:t>2</m:t>
                          </m:r>
                        </m:sup>
                      </m:sSubSup>
                      <m:r>
                        <a:rPr lang="en-US" sz="3200" b="0" i="1" smtClean="0">
                          <a:solidFill>
                            <a:srgbClr val="C00000"/>
                          </a:solidFill>
                          <a:latin typeface="Cambria Math" panose="02040503050406030204" pitchFamily="18" charset="0"/>
                        </a:rPr>
                        <m:t>−2</m:t>
                      </m:r>
                      <m:r>
                        <a:rPr lang="en-US" sz="3200" b="0" i="1" smtClean="0">
                          <a:solidFill>
                            <a:srgbClr val="C00000"/>
                          </a:solidFill>
                          <a:latin typeface="Cambria Math" panose="02040503050406030204" pitchFamily="18" charset="0"/>
                        </a:rPr>
                        <m:t>𝛼</m:t>
                      </m:r>
                      <m:r>
                        <a:rPr lang="en-US" sz="3200" b="0" i="1" smtClean="0">
                          <a:solidFill>
                            <a:srgbClr val="C00000"/>
                          </a:solidFill>
                          <a:latin typeface="Cambria Math" panose="02040503050406030204" pitchFamily="18" charset="0"/>
                        </a:rPr>
                        <m:t>⋅</m:t>
                      </m:r>
                      <m:d>
                        <m:dPr>
                          <m:begChr m:val="⟨"/>
                          <m:endChr m:val="〉"/>
                          <m:ctrlPr>
                            <a:rPr lang="en-US" sz="3200" b="0" i="1" smtClean="0">
                              <a:solidFill>
                                <a:srgbClr val="C00000"/>
                              </a:solidFill>
                              <a:latin typeface="Cambria Math" panose="02040503050406030204" pitchFamily="18" charset="0"/>
                            </a:rPr>
                          </m:ctrlPr>
                        </m:dPr>
                        <m:e>
                          <m:r>
                            <a:rPr lang="en-US" sz="3200" b="0" i="1" smtClean="0">
                              <a:solidFill>
                                <a:srgbClr val="C00000"/>
                              </a:solidFill>
                              <a:latin typeface="Cambria Math" panose="02040503050406030204" pitchFamily="18" charset="0"/>
                            </a:rPr>
                            <m:t>𝑧</m:t>
                          </m:r>
                          <m:r>
                            <a:rPr lang="en-US" sz="3200" b="0" i="1" smtClean="0">
                              <a:solidFill>
                                <a:srgbClr val="C00000"/>
                              </a:solidFill>
                              <a:latin typeface="Cambria Math" panose="02040503050406030204" pitchFamily="18" charset="0"/>
                            </a:rPr>
                            <m:t>−</m:t>
                          </m:r>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𝑧</m:t>
                              </m:r>
                            </m:e>
                            <m:sup>
                              <m:r>
                                <a:rPr lang="en-US" sz="3200" b="0" i="1" smtClean="0">
                                  <a:solidFill>
                                    <a:srgbClr val="C00000"/>
                                  </a:solidFill>
                                  <a:latin typeface="Cambria Math" panose="02040503050406030204" pitchFamily="18" charset="0"/>
                                </a:rPr>
                                <m:t>′</m:t>
                              </m:r>
                            </m:sup>
                          </m:sSup>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𝑞</m:t>
                          </m:r>
                          <m:r>
                            <a:rPr lang="en-US" sz="3200" b="0" i="1" smtClean="0">
                              <a:solidFill>
                                <a:srgbClr val="C00000"/>
                              </a:solidFill>
                              <a:latin typeface="Cambria Math" panose="02040503050406030204" pitchFamily="18" charset="0"/>
                            </a:rPr>
                            <m:t>+</m:t>
                          </m:r>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𝑧</m:t>
                              </m:r>
                            </m:e>
                            <m:sup>
                              <m:r>
                                <a:rPr lang="en-US" sz="3200" b="0" i="1" smtClean="0">
                                  <a:solidFill>
                                    <a:srgbClr val="C00000"/>
                                  </a:solidFill>
                                  <a:latin typeface="Cambria Math" panose="02040503050406030204" pitchFamily="18" charset="0"/>
                                </a:rPr>
                                <m:t>′</m:t>
                              </m:r>
                            </m:sup>
                          </m:sSup>
                        </m:e>
                      </m:d>
                    </m:oMath>
                  </m:oMathPara>
                </a14:m>
                <a:endParaRPr lang="en-US" sz="3200" b="0" dirty="0">
                  <a:solidFill>
                    <a:srgbClr val="C00000"/>
                  </a:solidFill>
                </a:endParaRPr>
              </a:p>
            </p:txBody>
          </p:sp>
        </mc:Choice>
        <mc:Fallback xmlns="">
          <p:sp>
            <p:nvSpPr>
              <p:cNvPr id="6" name="TextBox 5">
                <a:extLst>
                  <a:ext uri="{FF2B5EF4-FFF2-40B4-BE49-F238E27FC236}">
                    <a16:creationId xmlns:a16="http://schemas.microsoft.com/office/drawing/2014/main" id="{F8BB3816-2695-8E26-63E0-C56A7E9AEE5F}"/>
                  </a:ext>
                </a:extLst>
              </p:cNvPr>
              <p:cNvSpPr txBox="1">
                <a:spLocks noRot="1" noChangeAspect="1" noMove="1" noResize="1" noEditPoints="1" noAdjustHandles="1" noChangeArrowheads="1" noChangeShapeType="1" noTextEdit="1"/>
              </p:cNvSpPr>
              <p:nvPr/>
            </p:nvSpPr>
            <p:spPr>
              <a:xfrm>
                <a:off x="1744980" y="2282132"/>
                <a:ext cx="10515600" cy="59144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B40D9A4-255C-A289-BCDE-FF67C5A1AC19}"/>
                  </a:ext>
                </a:extLst>
              </p:cNvPr>
              <p:cNvSpPr txBox="1"/>
              <p:nvPr/>
            </p:nvSpPr>
            <p:spPr>
              <a:xfrm>
                <a:off x="3030855" y="5740482"/>
                <a:ext cx="6130290" cy="648191"/>
              </a:xfrm>
              <a:prstGeom prst="rect">
                <a:avLst/>
              </a:prstGeom>
              <a:noFill/>
            </p:spPr>
            <p:txBody>
              <a:bodyPr wrap="square">
                <a:spAutoFit/>
              </a:bodyPr>
              <a:lstStyle/>
              <a:p>
                <a:pPr>
                  <a:buClr>
                    <a:schemeClr val="tx1"/>
                  </a:buClr>
                </a:pPr>
                <a14:m>
                  <m:oMathPara xmlns:m="http://schemas.openxmlformats.org/officeDocument/2006/math">
                    <m:oMathParaPr>
                      <m:jc m:val="centerGroup"/>
                    </m:oMathParaPr>
                    <m:oMath xmlns:m="http://schemas.openxmlformats.org/officeDocument/2006/math">
                      <m:sSubSup>
                        <m:sSubSupPr>
                          <m:ctrlPr>
                            <a:rPr lang="en-US" sz="3200" i="1" smtClean="0">
                              <a:solidFill>
                                <a:srgbClr val="C00000"/>
                              </a:solidFill>
                              <a:latin typeface="Cambria Math" panose="02040503050406030204" pitchFamily="18" charset="0"/>
                            </a:rPr>
                          </m:ctrlPr>
                        </m:sSubSupPr>
                        <m:e>
                          <m:d>
                            <m:dPr>
                              <m:begChr m:val="‖"/>
                              <m:endChr m:val="‖"/>
                              <m:ctrlPr>
                                <a:rPr lang="en-US" sz="3200" i="1">
                                  <a:solidFill>
                                    <a:srgbClr val="C00000"/>
                                  </a:solidFill>
                                  <a:latin typeface="Cambria Math" panose="02040503050406030204" pitchFamily="18" charset="0"/>
                                </a:rPr>
                              </m:ctrlPr>
                            </m:dPr>
                            <m:e>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e>
                          </m:d>
                        </m:e>
                        <m:sub>
                          <m:r>
                            <a:rPr lang="en-US" sz="3200" i="1">
                              <a:solidFill>
                                <a:srgbClr val="C00000"/>
                              </a:solidFill>
                              <a:latin typeface="Cambria Math" panose="02040503050406030204" pitchFamily="18" charset="0"/>
                            </a:rPr>
                            <m:t>2</m:t>
                          </m:r>
                        </m:sub>
                        <m:sup>
                          <m:r>
                            <a:rPr lang="en-US" sz="3200" i="1">
                              <a:solidFill>
                                <a:srgbClr val="C00000"/>
                              </a:solidFill>
                              <a:latin typeface="Cambria Math" panose="02040503050406030204" pitchFamily="18" charset="0"/>
                            </a:rPr>
                            <m:t>2</m:t>
                          </m:r>
                        </m:sup>
                      </m:sSubSup>
                      <m:r>
                        <a:rPr lang="en-US" sz="3200" b="0" i="1" smtClean="0">
                          <a:solidFill>
                            <a:srgbClr val="C00000"/>
                          </a:solidFill>
                          <a:latin typeface="Cambria Math" panose="02040503050406030204" pitchFamily="18" charset="0"/>
                        </a:rPr>
                        <m:t>≤</m:t>
                      </m:r>
                      <m:d>
                        <m:dPr>
                          <m:ctrlPr>
                            <a:rPr lang="en-US" sz="3200" b="0" i="1" smtClean="0">
                              <a:solidFill>
                                <a:srgbClr val="C00000"/>
                              </a:solidFill>
                              <a:latin typeface="Cambria Math" panose="02040503050406030204" pitchFamily="18" charset="0"/>
                            </a:rPr>
                          </m:ctrlPr>
                        </m:dPr>
                        <m:e>
                          <m:r>
                            <a:rPr lang="en-US" sz="3200" b="0" i="1" smtClean="0">
                              <a:solidFill>
                                <a:srgbClr val="C00000"/>
                              </a:solidFill>
                              <a:latin typeface="Cambria Math" panose="02040503050406030204" pitchFamily="18" charset="0"/>
                            </a:rPr>
                            <m:t>1−</m:t>
                          </m:r>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𝜀</m:t>
                              </m:r>
                            </m:e>
                            <m:sup>
                              <m:r>
                                <a:rPr lang="en-US" sz="3200" b="0" i="1" smtClean="0">
                                  <a:solidFill>
                                    <a:srgbClr val="C00000"/>
                                  </a:solidFill>
                                  <a:latin typeface="Cambria Math" panose="02040503050406030204" pitchFamily="18" charset="0"/>
                                </a:rPr>
                                <m:t>2</m:t>
                              </m:r>
                            </m:sup>
                          </m:sSup>
                        </m:e>
                      </m:d>
                      <m:r>
                        <a:rPr lang="en-US" sz="3200" b="0" i="1" smtClean="0">
                          <a:solidFill>
                            <a:srgbClr val="C00000"/>
                          </a:solidFill>
                          <a:latin typeface="Cambria Math" panose="02040503050406030204" pitchFamily="18" charset="0"/>
                        </a:rPr>
                        <m:t>⋅</m:t>
                      </m:r>
                      <m:sSubSup>
                        <m:sSubSupPr>
                          <m:ctrlPr>
                            <a:rPr lang="en-US" sz="3200" i="1">
                              <a:solidFill>
                                <a:srgbClr val="C00000"/>
                              </a:solidFill>
                              <a:latin typeface="Cambria Math" panose="02040503050406030204" pitchFamily="18" charset="0"/>
                            </a:rPr>
                          </m:ctrlPr>
                        </m:sSubSupPr>
                        <m:e>
                          <m:d>
                            <m:dPr>
                              <m:begChr m:val="‖"/>
                              <m:endChr m:val="‖"/>
                              <m:ctrlPr>
                                <a:rPr lang="en-US" sz="3200" i="1">
                                  <a:solidFill>
                                    <a:srgbClr val="C00000"/>
                                  </a:solidFill>
                                  <a:latin typeface="Cambria Math" panose="02040503050406030204" pitchFamily="18" charset="0"/>
                                </a:rPr>
                              </m:ctrlPr>
                            </m:dPr>
                            <m:e>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r>
                                <a:rPr lang="en-US" sz="3200" i="1">
                                  <a:solidFill>
                                    <a:srgbClr val="C00000"/>
                                  </a:solidFill>
                                  <a:latin typeface="Cambria Math" panose="02040503050406030204" pitchFamily="18" charset="0"/>
                                </a:rPr>
                                <m:t>𝑧</m:t>
                              </m:r>
                              <m:r>
                                <a:rPr lang="en-US" sz="3200" i="1">
                                  <a:solidFill>
                                    <a:srgbClr val="C00000"/>
                                  </a:solidFill>
                                  <a:latin typeface="Cambria Math" panose="02040503050406030204" pitchFamily="18" charset="0"/>
                                </a:rPr>
                                <m:t>′</m:t>
                              </m:r>
                            </m:e>
                          </m:d>
                        </m:e>
                        <m:sub>
                          <m:r>
                            <a:rPr lang="en-US" sz="3200" i="1">
                              <a:solidFill>
                                <a:srgbClr val="C00000"/>
                              </a:solidFill>
                              <a:latin typeface="Cambria Math" panose="02040503050406030204" pitchFamily="18" charset="0"/>
                            </a:rPr>
                            <m:t>2</m:t>
                          </m:r>
                        </m:sub>
                        <m:sup>
                          <m:r>
                            <a:rPr lang="en-US" sz="3200" i="1">
                              <a:solidFill>
                                <a:srgbClr val="C00000"/>
                              </a:solidFill>
                              <a:latin typeface="Cambria Math" panose="02040503050406030204" pitchFamily="18" charset="0"/>
                            </a:rPr>
                            <m:t>2</m:t>
                          </m:r>
                        </m:sup>
                      </m:sSubSup>
                    </m:oMath>
                  </m:oMathPara>
                </a14:m>
                <a:endParaRPr lang="en-US" sz="3200" dirty="0"/>
              </a:p>
            </p:txBody>
          </p:sp>
        </mc:Choice>
        <mc:Fallback xmlns="">
          <p:sp>
            <p:nvSpPr>
              <p:cNvPr id="8" name="TextBox 7">
                <a:extLst>
                  <a:ext uri="{FF2B5EF4-FFF2-40B4-BE49-F238E27FC236}">
                    <a16:creationId xmlns:a16="http://schemas.microsoft.com/office/drawing/2014/main" id="{1B40D9A4-255C-A289-BCDE-FF67C5A1AC19}"/>
                  </a:ext>
                </a:extLst>
              </p:cNvPr>
              <p:cNvSpPr txBox="1">
                <a:spLocks noRot="1" noChangeAspect="1" noMove="1" noResize="1" noEditPoints="1" noAdjustHandles="1" noChangeArrowheads="1" noChangeShapeType="1" noTextEdit="1"/>
              </p:cNvSpPr>
              <p:nvPr/>
            </p:nvSpPr>
            <p:spPr>
              <a:xfrm>
                <a:off x="3030855" y="5740482"/>
                <a:ext cx="6130290" cy="648191"/>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80827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B8663-3048-65F2-E15C-ED47E38C0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94B4F-EA02-D36A-4E90-FD2C81E6D21A}"/>
              </a:ext>
            </a:extLst>
          </p:cNvPr>
          <p:cNvSpPr>
            <a:spLocks noGrp="1"/>
          </p:cNvSpPr>
          <p:nvPr>
            <p:ph type="title"/>
          </p:nvPr>
        </p:nvSpPr>
        <p:spPr/>
        <p:txBody>
          <a:bodyPr/>
          <a:lstStyle/>
          <a:p>
            <a:r>
              <a:rPr lang="en-US" dirty="0">
                <a:solidFill>
                  <a:srgbClr val="C00000"/>
                </a:solidFill>
              </a:rPr>
              <a:t>Progress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05082F-C81D-A05E-00CF-70C2E8589544}"/>
                  </a:ext>
                </a:extLst>
              </p:cNvPr>
              <p:cNvSpPr>
                <a:spLocks noGrp="1"/>
              </p:cNvSpPr>
              <p:nvPr>
                <p:ph idx="1"/>
              </p:nvPr>
            </p:nvSpPr>
            <p:spPr>
              <a:xfrm>
                <a:off x="838200" y="1656219"/>
                <a:ext cx="10515600" cy="4788239"/>
              </a:xfrm>
            </p:spPr>
            <p:txBody>
              <a:bodyPr>
                <a:normAutofit/>
              </a:bodyPr>
              <a:lstStyle/>
              <a:p>
                <a:pPr>
                  <a:buClr>
                    <a:schemeClr val="tx1"/>
                  </a:buClr>
                </a:pPr>
                <a:r>
                  <a:rPr lang="en-US" sz="3000" dirty="0">
                    <a:solidFill>
                      <a:srgbClr val="00B050"/>
                    </a:solidFill>
                  </a:rPr>
                  <a:t>Key</a:t>
                </a:r>
                <a:r>
                  <a:rPr lang="en-US" sz="3000" dirty="0"/>
                  <a:t>: Can learn </a:t>
                </a:r>
                <a14:m>
                  <m:oMath xmlns:m="http://schemas.openxmlformats.org/officeDocument/2006/math">
                    <m:r>
                      <a:rPr lang="en-US" sz="3000" i="1">
                        <a:solidFill>
                          <a:srgbClr val="C00000"/>
                        </a:solidFill>
                        <a:latin typeface="Cambria Math" panose="02040503050406030204" pitchFamily="18" charset="0"/>
                      </a:rPr>
                      <m:t>𝑧</m:t>
                    </m:r>
                  </m:oMath>
                </a14:m>
                <a:r>
                  <a:rPr lang="en-US" sz="3000" dirty="0"/>
                  <a:t> using </a:t>
                </a:r>
                <a14:m>
                  <m:oMath xmlns:m="http://schemas.openxmlformats.org/officeDocument/2006/math">
                    <m:r>
                      <a:rPr lang="en-US" sz="3000" i="1">
                        <a:solidFill>
                          <a:srgbClr val="C00000"/>
                        </a:solidFill>
                        <a:latin typeface="Cambria Math" panose="02040503050406030204" pitchFamily="18" charset="0"/>
                      </a:rPr>
                      <m:t>𝑂</m:t>
                    </m:r>
                    <m:d>
                      <m:dPr>
                        <m:ctrlPr>
                          <a:rPr lang="en-US" sz="3000" i="1">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𝜀</m:t>
                                </m:r>
                              </m:e>
                              <m:sup>
                                <m:r>
                                  <a:rPr lang="en-US" sz="3000" i="1">
                                    <a:solidFill>
                                      <a:srgbClr val="C00000"/>
                                    </a:solidFill>
                                    <a:latin typeface="Cambria Math" panose="02040503050406030204" pitchFamily="18" charset="0"/>
                                  </a:rPr>
                                  <m:t>2</m:t>
                                </m:r>
                              </m:sup>
                            </m:sSup>
                          </m:den>
                        </m:f>
                        <m:func>
                          <m:funcPr>
                            <m:ctrlPr>
                              <a:rPr lang="en-US" sz="3000" i="1">
                                <a:solidFill>
                                  <a:srgbClr val="C00000"/>
                                </a:solidFill>
                                <a:latin typeface="Cambria Math" panose="02040503050406030204" pitchFamily="18" charset="0"/>
                              </a:rPr>
                            </m:ctrlPr>
                          </m:funcPr>
                          <m:fName>
                            <m:r>
                              <m:rPr>
                                <m:sty m:val="p"/>
                              </m:rPr>
                              <a:rPr lang="en-US" sz="3000">
                                <a:solidFill>
                                  <a:srgbClr val="C00000"/>
                                </a:solidFill>
                                <a:latin typeface="Cambria Math" panose="02040503050406030204" pitchFamily="18" charset="0"/>
                              </a:rPr>
                              <m:t>log</m:t>
                            </m:r>
                          </m:fName>
                          <m:e>
                            <m:r>
                              <a:rPr lang="en-US" sz="3000" i="1">
                                <a:solidFill>
                                  <a:srgbClr val="C00000"/>
                                </a:solidFill>
                                <a:latin typeface="Cambria Math" panose="02040503050406030204" pitchFamily="18" charset="0"/>
                              </a:rPr>
                              <m:t>𝑛</m:t>
                            </m:r>
                          </m:e>
                        </m:func>
                      </m:e>
                    </m:d>
                  </m:oMath>
                </a14:m>
                <a:r>
                  <a:rPr lang="en-US" sz="3000" dirty="0"/>
                  <a:t> adaptive queries to corrector</a:t>
                </a:r>
              </a:p>
              <a:p>
                <a:pPr>
                  <a:buClr>
                    <a:schemeClr val="tx1"/>
                  </a:buClr>
                </a:pPr>
                <a:r>
                  <a:rPr lang="en-US" sz="3000" dirty="0"/>
                  <a:t>Still need </a:t>
                </a:r>
                <a14:m>
                  <m:oMath xmlns:m="http://schemas.openxmlformats.org/officeDocument/2006/math">
                    <m:r>
                      <a:rPr lang="en-US" sz="3000" b="0" i="1" smtClean="0">
                        <a:solidFill>
                          <a:srgbClr val="C00000"/>
                        </a:solidFill>
                        <a:latin typeface="Cambria Math" panose="02040503050406030204" pitchFamily="18" charset="0"/>
                      </a:rPr>
                      <m:t>𝐴</m:t>
                    </m:r>
                  </m:oMath>
                </a14:m>
                <a:r>
                  <a:rPr lang="en-US" sz="3000" dirty="0"/>
                  <a:t> to be robust over </a:t>
                </a:r>
                <a14:m>
                  <m:oMath xmlns:m="http://schemas.openxmlformats.org/officeDocument/2006/math">
                    <m:r>
                      <a:rPr lang="en-US" sz="3000" i="1">
                        <a:solidFill>
                          <a:srgbClr val="C00000"/>
                        </a:solidFill>
                        <a:latin typeface="Cambria Math" panose="02040503050406030204" pitchFamily="18" charset="0"/>
                      </a:rPr>
                      <m:t>𝑧</m:t>
                    </m:r>
                  </m:oMath>
                </a14:m>
                <a:r>
                  <a:rPr lang="en-US" sz="3000" dirty="0"/>
                  <a:t> and </a:t>
                </a:r>
                <a14:m>
                  <m:oMath xmlns:m="http://schemas.openxmlformats.org/officeDocument/2006/math">
                    <m:r>
                      <a:rPr lang="en-US" sz="3000" b="0" i="1" smtClean="0">
                        <a:solidFill>
                          <a:srgbClr val="C00000"/>
                        </a:solidFill>
                        <a:latin typeface="Cambria Math" panose="02040503050406030204" pitchFamily="18" charset="0"/>
                      </a:rPr>
                      <m:t>𝐵</m:t>
                    </m:r>
                  </m:oMath>
                </a14:m>
                <a:r>
                  <a:rPr lang="en-US" sz="3000" dirty="0"/>
                  <a:t> to be robust over </a:t>
                </a:r>
                <a14:m>
                  <m:oMath xmlns:m="http://schemas.openxmlformats.org/officeDocument/2006/math">
                    <m:r>
                      <a:rPr lang="en-US" sz="3000" b="0" i="1" smtClean="0">
                        <a:solidFill>
                          <a:srgbClr val="C00000"/>
                        </a:solidFill>
                        <a:latin typeface="Cambria Math" panose="02040503050406030204" pitchFamily="18" charset="0"/>
                      </a:rPr>
                      <m:t>𝑞</m:t>
                    </m:r>
                  </m:oMath>
                </a14:m>
                <a:endParaRPr lang="en-US" sz="2600" dirty="0"/>
              </a:p>
              <a:p>
                <a:pPr>
                  <a:buClr>
                    <a:schemeClr val="tx1"/>
                  </a:buClr>
                </a:pPr>
                <a:r>
                  <a:rPr lang="en-US" sz="3000" dirty="0"/>
                  <a:t>Recurse on each block!</a:t>
                </a:r>
              </a:p>
              <a:p>
                <a:pPr>
                  <a:buClr>
                    <a:schemeClr val="tx1"/>
                  </a:buClr>
                </a:pPr>
                <a:endParaRPr lang="en-US" sz="3000" dirty="0"/>
              </a:p>
            </p:txBody>
          </p:sp>
        </mc:Choice>
        <mc:Fallback xmlns="">
          <p:sp>
            <p:nvSpPr>
              <p:cNvPr id="3" name="Content Placeholder 2">
                <a:extLst>
                  <a:ext uri="{FF2B5EF4-FFF2-40B4-BE49-F238E27FC236}">
                    <a16:creationId xmlns:a16="http://schemas.microsoft.com/office/drawing/2014/main" id="{BE05082F-C81D-A05E-00CF-70C2E8589544}"/>
                  </a:ext>
                </a:extLst>
              </p:cNvPr>
              <p:cNvSpPr>
                <a:spLocks noGrp="1" noRot="1" noChangeAspect="1" noMove="1" noResize="1" noEditPoints="1" noAdjustHandles="1" noChangeArrowheads="1" noChangeShapeType="1" noTextEdit="1"/>
              </p:cNvSpPr>
              <p:nvPr>
                <p:ph idx="1"/>
              </p:nvPr>
            </p:nvSpPr>
            <p:spPr>
              <a:xfrm>
                <a:off x="838200" y="1656219"/>
                <a:ext cx="10515600" cy="4788239"/>
              </a:xfrm>
              <a:blipFill>
                <a:blip r:embed="rId3"/>
                <a:stretch>
                  <a:fillRect l="-1217" t="-127"/>
                </a:stretch>
              </a:blipFill>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1FC95B4A-4072-84A0-BAF4-5BA0396E705E}"/>
              </a:ext>
            </a:extLst>
          </p:cNvPr>
          <p:cNvCxnSpPr/>
          <p:nvPr/>
        </p:nvCxnSpPr>
        <p:spPr>
          <a:xfrm>
            <a:off x="1671262" y="5144928"/>
            <a:ext cx="780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8C9C09C-13D4-9D07-EC34-08B1584DC23D}"/>
                  </a:ext>
                </a:extLst>
              </p:cNvPr>
              <p:cNvSpPr txBox="1"/>
              <p:nvPr/>
            </p:nvSpPr>
            <p:spPr>
              <a:xfrm>
                <a:off x="3629599" y="3517772"/>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𝑧</m:t>
                      </m:r>
                    </m:oMath>
                  </m:oMathPara>
                </a14:m>
                <a:endParaRPr lang="en-US" sz="2800" dirty="0"/>
              </a:p>
            </p:txBody>
          </p:sp>
        </mc:Choice>
        <mc:Fallback xmlns="">
          <p:sp>
            <p:nvSpPr>
              <p:cNvPr id="5" name="TextBox 4">
                <a:extLst>
                  <a:ext uri="{FF2B5EF4-FFF2-40B4-BE49-F238E27FC236}">
                    <a16:creationId xmlns:a16="http://schemas.microsoft.com/office/drawing/2014/main" id="{78C9C09C-13D4-9D07-EC34-08B1584DC23D}"/>
                  </a:ext>
                </a:extLst>
              </p:cNvPr>
              <p:cNvSpPr txBox="1">
                <a:spLocks noRot="1" noChangeAspect="1" noMove="1" noResize="1" noEditPoints="1" noAdjustHandles="1" noChangeArrowheads="1" noChangeShapeType="1" noTextEdit="1"/>
              </p:cNvSpPr>
              <p:nvPr/>
            </p:nvSpPr>
            <p:spPr>
              <a:xfrm>
                <a:off x="3629599" y="3517772"/>
                <a:ext cx="1219200" cy="523220"/>
              </a:xfrm>
              <a:prstGeom prst="rect">
                <a:avLst/>
              </a:prstGeom>
              <a:blipFill>
                <a:blip r:embed="rId4"/>
                <a:stretch>
                  <a:fillRect/>
                </a:stretch>
              </a:blipFill>
            </p:spPr>
            <p:txBody>
              <a:bodyPr/>
              <a:lstStyle/>
              <a:p>
                <a:r>
                  <a:rPr lang="en-US">
                    <a:noFill/>
                  </a:rPr>
                  <a:t> </a:t>
                </a:r>
              </a:p>
            </p:txBody>
          </p:sp>
        </mc:Fallback>
      </mc:AlternateContent>
      <p:sp>
        <p:nvSpPr>
          <p:cNvPr id="6" name="Left Brace 5">
            <a:extLst>
              <a:ext uri="{FF2B5EF4-FFF2-40B4-BE49-F238E27FC236}">
                <a16:creationId xmlns:a16="http://schemas.microsoft.com/office/drawing/2014/main" id="{05BC8706-7713-E2FC-D12C-23B33FB26DA2}"/>
              </a:ext>
            </a:extLst>
          </p:cNvPr>
          <p:cNvSpPr/>
          <p:nvPr/>
        </p:nvSpPr>
        <p:spPr>
          <a:xfrm rot="16200000">
            <a:off x="5331557" y="2108374"/>
            <a:ext cx="413711" cy="773430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79220E0C-8C1C-3F77-C984-46616D30715B}"/>
              </a:ext>
            </a:extLst>
          </p:cNvPr>
          <p:cNvSpPr txBox="1"/>
          <p:nvPr/>
        </p:nvSpPr>
        <p:spPr>
          <a:xfrm>
            <a:off x="9672267" y="4914095"/>
            <a:ext cx="1314452" cy="461665"/>
          </a:xfrm>
          <a:prstGeom prst="rect">
            <a:avLst/>
          </a:prstGeom>
          <a:noFill/>
        </p:spPr>
        <p:txBody>
          <a:bodyPr wrap="square">
            <a:spAutoFit/>
          </a:bodyPr>
          <a:lstStyle/>
          <a:p>
            <a:r>
              <a:rPr lang="en-US" sz="2400" dirty="0"/>
              <a:t>Stream</a:t>
            </a:r>
          </a:p>
        </p:txBody>
      </p:sp>
      <p:sp>
        <p:nvSpPr>
          <p:cNvPr id="8" name="TextBox 7">
            <a:extLst>
              <a:ext uri="{FF2B5EF4-FFF2-40B4-BE49-F238E27FC236}">
                <a16:creationId xmlns:a16="http://schemas.microsoft.com/office/drawing/2014/main" id="{44C7B3B8-B635-0DE6-D22E-25B1E51800E2}"/>
              </a:ext>
            </a:extLst>
          </p:cNvPr>
          <p:cNvSpPr txBox="1"/>
          <p:nvPr/>
        </p:nvSpPr>
        <p:spPr>
          <a:xfrm>
            <a:off x="1671261" y="5326886"/>
            <a:ext cx="7734301" cy="369332"/>
          </a:xfrm>
          <a:prstGeom prst="rect">
            <a:avLst/>
          </a:prstGeom>
          <a:solidFill>
            <a:schemeClr val="accent1">
              <a:lumMod val="60000"/>
              <a:lumOff val="40000"/>
            </a:schemeClr>
          </a:solidFill>
        </p:spPr>
        <p:txBody>
          <a:bodyPr wrap="square" rtlCol="0">
            <a:spAutoFit/>
          </a:bodyPr>
          <a:lstStyle/>
          <a:p>
            <a:r>
              <a:rPr lang="en-US" dirty="0">
                <a:highlight>
                  <a:srgbClr val="FF0000"/>
                </a:highlight>
              </a:rPr>
              <a:t> </a:t>
            </a:r>
          </a:p>
        </p:txBody>
      </p:sp>
      <p:sp>
        <p:nvSpPr>
          <p:cNvPr id="9" name="TextBox 8">
            <a:extLst>
              <a:ext uri="{FF2B5EF4-FFF2-40B4-BE49-F238E27FC236}">
                <a16:creationId xmlns:a16="http://schemas.microsoft.com/office/drawing/2014/main" id="{0F4937D6-A274-A066-57A7-B05167ECCDEC}"/>
              </a:ext>
            </a:extLst>
          </p:cNvPr>
          <p:cNvSpPr txBox="1"/>
          <p:nvPr/>
        </p:nvSpPr>
        <p:spPr>
          <a:xfrm>
            <a:off x="1671261" y="4564212"/>
            <a:ext cx="5135881" cy="369332"/>
          </a:xfrm>
          <a:prstGeom prst="rect">
            <a:avLst/>
          </a:prstGeom>
          <a:solidFill>
            <a:schemeClr val="accent2">
              <a:lumMod val="60000"/>
              <a:lumOff val="40000"/>
            </a:schemeClr>
          </a:solidFill>
        </p:spPr>
        <p:txBody>
          <a:bodyPr wrap="square" rtlCol="0">
            <a:spAutoFit/>
          </a:bodyPr>
          <a:lstStyle/>
          <a:p>
            <a:r>
              <a:rPr lang="en-US" dirty="0">
                <a:highlight>
                  <a:srgbClr val="FF0000"/>
                </a:highlight>
              </a:rPr>
              <a:t> </a:t>
            </a:r>
          </a:p>
        </p:txBody>
      </p:sp>
      <p:sp>
        <p:nvSpPr>
          <p:cNvPr id="11" name="TextBox 10">
            <a:extLst>
              <a:ext uri="{FF2B5EF4-FFF2-40B4-BE49-F238E27FC236}">
                <a16:creationId xmlns:a16="http://schemas.microsoft.com/office/drawing/2014/main" id="{D72AA73D-B349-C8DB-72BE-5864C5B1DE1E}"/>
              </a:ext>
            </a:extLst>
          </p:cNvPr>
          <p:cNvSpPr txBox="1"/>
          <p:nvPr/>
        </p:nvSpPr>
        <p:spPr>
          <a:xfrm>
            <a:off x="6807143" y="4564212"/>
            <a:ext cx="2598420" cy="369332"/>
          </a:xfrm>
          <a:prstGeom prst="rect">
            <a:avLst/>
          </a:prstGeom>
          <a:solidFill>
            <a:schemeClr val="accent6">
              <a:lumMod val="60000"/>
              <a:lumOff val="40000"/>
            </a:schemeClr>
          </a:solidFill>
        </p:spPr>
        <p:txBody>
          <a:bodyPr wrap="square" rtlCol="0">
            <a:spAutoFit/>
          </a:bodyPr>
          <a:lstStyle/>
          <a:p>
            <a:r>
              <a:rPr lang="en-US" dirty="0">
                <a:highlight>
                  <a:srgbClr val="FF0000"/>
                </a:highlight>
              </a:rPr>
              <a:t> </a:t>
            </a:r>
          </a:p>
        </p:txBody>
      </p:sp>
      <p:sp>
        <p:nvSpPr>
          <p:cNvPr id="12" name="Left Brace 11">
            <a:extLst>
              <a:ext uri="{FF2B5EF4-FFF2-40B4-BE49-F238E27FC236}">
                <a16:creationId xmlns:a16="http://schemas.microsoft.com/office/drawing/2014/main" id="{8BE468C9-8557-0435-FB01-78741F02EE96}"/>
              </a:ext>
            </a:extLst>
          </p:cNvPr>
          <p:cNvSpPr/>
          <p:nvPr/>
        </p:nvSpPr>
        <p:spPr>
          <a:xfrm rot="5400000">
            <a:off x="4032344" y="1679908"/>
            <a:ext cx="413711" cy="513588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Left Brace 12">
            <a:extLst>
              <a:ext uri="{FF2B5EF4-FFF2-40B4-BE49-F238E27FC236}">
                <a16:creationId xmlns:a16="http://schemas.microsoft.com/office/drawing/2014/main" id="{71B67143-BD74-02B4-F717-0CEF412E99CB}"/>
              </a:ext>
            </a:extLst>
          </p:cNvPr>
          <p:cNvSpPr/>
          <p:nvPr/>
        </p:nvSpPr>
        <p:spPr>
          <a:xfrm rot="5400000">
            <a:off x="7899496" y="2957985"/>
            <a:ext cx="413711" cy="25984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ABBB125-D74F-7BAE-8CC1-685FDA4CF57D}"/>
                  </a:ext>
                </a:extLst>
              </p:cNvPr>
              <p:cNvSpPr txBox="1"/>
              <p:nvPr/>
            </p:nvSpPr>
            <p:spPr>
              <a:xfrm>
                <a:off x="4947864" y="6231265"/>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𝑥</m:t>
                      </m:r>
                    </m:oMath>
                  </m:oMathPara>
                </a14:m>
                <a:endParaRPr lang="en-US" sz="2800" dirty="0"/>
              </a:p>
            </p:txBody>
          </p:sp>
        </mc:Choice>
        <mc:Fallback xmlns="">
          <p:sp>
            <p:nvSpPr>
              <p:cNvPr id="14" name="TextBox 13">
                <a:extLst>
                  <a:ext uri="{FF2B5EF4-FFF2-40B4-BE49-F238E27FC236}">
                    <a16:creationId xmlns:a16="http://schemas.microsoft.com/office/drawing/2014/main" id="{DABBB125-D74F-7BAE-8CC1-685FDA4CF57D}"/>
                  </a:ext>
                </a:extLst>
              </p:cNvPr>
              <p:cNvSpPr txBox="1">
                <a:spLocks noRot="1" noChangeAspect="1" noMove="1" noResize="1" noEditPoints="1" noAdjustHandles="1" noChangeArrowheads="1" noChangeShapeType="1" noTextEdit="1"/>
              </p:cNvSpPr>
              <p:nvPr/>
            </p:nvSpPr>
            <p:spPr>
              <a:xfrm>
                <a:off x="4947864" y="6231265"/>
                <a:ext cx="1219200"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D546892-43CC-0F80-0F62-4677A9616508}"/>
                  </a:ext>
                </a:extLst>
              </p:cNvPr>
              <p:cNvSpPr txBox="1"/>
              <p:nvPr/>
            </p:nvSpPr>
            <p:spPr>
              <a:xfrm>
                <a:off x="7496751" y="3517772"/>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𝑞</m:t>
                      </m:r>
                    </m:oMath>
                  </m:oMathPara>
                </a14:m>
                <a:endParaRPr lang="en-US" sz="2800" dirty="0"/>
              </a:p>
            </p:txBody>
          </p:sp>
        </mc:Choice>
        <mc:Fallback xmlns="">
          <p:sp>
            <p:nvSpPr>
              <p:cNvPr id="15" name="TextBox 14">
                <a:extLst>
                  <a:ext uri="{FF2B5EF4-FFF2-40B4-BE49-F238E27FC236}">
                    <a16:creationId xmlns:a16="http://schemas.microsoft.com/office/drawing/2014/main" id="{CD546892-43CC-0F80-0F62-4677A9616508}"/>
                  </a:ext>
                </a:extLst>
              </p:cNvPr>
              <p:cNvSpPr txBox="1">
                <a:spLocks noRot="1" noChangeAspect="1" noMove="1" noResize="1" noEditPoints="1" noAdjustHandles="1" noChangeArrowheads="1" noChangeShapeType="1" noTextEdit="1"/>
              </p:cNvSpPr>
              <p:nvPr/>
            </p:nvSpPr>
            <p:spPr>
              <a:xfrm>
                <a:off x="7496751" y="3517772"/>
                <a:ext cx="1219200" cy="52322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828150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E200E-17CE-6B69-94B3-2DF2C02703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F07BB-EEB8-4507-AF3E-3A3221EA1634}"/>
              </a:ext>
            </a:extLst>
          </p:cNvPr>
          <p:cNvSpPr>
            <a:spLocks noGrp="1"/>
          </p:cNvSpPr>
          <p:nvPr>
            <p:ph type="title"/>
          </p:nvPr>
        </p:nvSpPr>
        <p:spPr/>
        <p:txBody>
          <a:bodyPr/>
          <a:lstStyle/>
          <a:p>
            <a:r>
              <a:rPr lang="en-US" dirty="0">
                <a:solidFill>
                  <a:srgbClr val="C00000"/>
                </a:solidFill>
              </a:rPr>
              <a:t>Recursion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76D9A5-6A99-C2AA-2D35-EC16AA2AD6BE}"/>
                  </a:ext>
                </a:extLst>
              </p:cNvPr>
              <p:cNvSpPr>
                <a:spLocks noGrp="1"/>
              </p:cNvSpPr>
              <p:nvPr>
                <p:ph idx="1"/>
              </p:nvPr>
            </p:nvSpPr>
            <p:spPr>
              <a:xfrm>
                <a:off x="838200" y="1656219"/>
                <a:ext cx="10515600" cy="4788239"/>
              </a:xfrm>
            </p:spPr>
            <p:txBody>
              <a:bodyPr>
                <a:normAutofit/>
              </a:bodyPr>
              <a:lstStyle/>
              <a:p>
                <a:pPr>
                  <a:buClr>
                    <a:schemeClr val="tx1"/>
                  </a:buClr>
                </a:pPr>
                <a:r>
                  <a:rPr lang="en-US" sz="3000" dirty="0"/>
                  <a:t>Let </a:t>
                </a:r>
                <a14:m>
                  <m:oMath xmlns:m="http://schemas.openxmlformats.org/officeDocument/2006/math">
                    <m:r>
                      <a:rPr lang="en-US" sz="3000" b="0" i="1" smtClean="0">
                        <a:solidFill>
                          <a:srgbClr val="C00000"/>
                        </a:solidFill>
                        <a:latin typeface="Cambria Math" panose="02040503050406030204" pitchFamily="18" charset="0"/>
                      </a:rPr>
                      <m:t>𝑞</m:t>
                    </m:r>
                    <m:r>
                      <a:rPr lang="en-US" sz="3000" b="0" i="1" smtClean="0">
                        <a:solidFill>
                          <a:srgbClr val="C00000"/>
                        </a:solidFill>
                        <a:latin typeface="Cambria Math" panose="02040503050406030204" pitchFamily="18" charset="0"/>
                      </a:rPr>
                      <m:t>=</m:t>
                    </m:r>
                    <m:sSub>
                      <m:sSubPr>
                        <m:ctrlPr>
                          <a:rPr lang="en-US" sz="3000" b="0" i="1" smtClean="0">
                            <a:solidFill>
                              <a:srgbClr val="C00000"/>
                            </a:solidFill>
                            <a:latin typeface="Cambria Math" panose="02040503050406030204" pitchFamily="18" charset="0"/>
                          </a:rPr>
                        </m:ctrlPr>
                      </m:sSubPr>
                      <m:e>
                        <m:r>
                          <a:rPr lang="en-US" sz="3000" b="0" i="1" smtClean="0">
                            <a:solidFill>
                              <a:srgbClr val="C00000"/>
                            </a:solidFill>
                            <a:latin typeface="Cambria Math" panose="02040503050406030204" pitchFamily="18" charset="0"/>
                          </a:rPr>
                          <m:t>𝑞</m:t>
                        </m:r>
                      </m:e>
                      <m:sub>
                        <m:r>
                          <a:rPr lang="en-US" sz="3000" b="0" i="1" smtClean="0">
                            <a:solidFill>
                              <a:srgbClr val="C00000"/>
                            </a:solidFill>
                            <a:latin typeface="Cambria Math" panose="02040503050406030204" pitchFamily="18" charset="0"/>
                          </a:rPr>
                          <m:t>1</m:t>
                        </m:r>
                      </m:sub>
                    </m:sSub>
                    <m:r>
                      <a:rPr lang="en-US" sz="3000" b="0" i="1" smtClean="0">
                        <a:solidFill>
                          <a:srgbClr val="C00000"/>
                        </a:solidFill>
                        <a:latin typeface="Cambria Math" panose="02040503050406030204" pitchFamily="18" charset="0"/>
                      </a:rPr>
                      <m:t>+</m:t>
                    </m:r>
                    <m:sSub>
                      <m:sSubPr>
                        <m:ctrlPr>
                          <a:rPr lang="en-US" sz="3000" b="0" i="1" smtClean="0">
                            <a:solidFill>
                              <a:srgbClr val="C00000"/>
                            </a:solidFill>
                            <a:latin typeface="Cambria Math" panose="02040503050406030204" pitchFamily="18" charset="0"/>
                          </a:rPr>
                        </m:ctrlPr>
                      </m:sSubPr>
                      <m:e>
                        <m:r>
                          <a:rPr lang="en-US" sz="3000" b="0" i="1" smtClean="0">
                            <a:solidFill>
                              <a:srgbClr val="C00000"/>
                            </a:solidFill>
                            <a:latin typeface="Cambria Math" panose="02040503050406030204" pitchFamily="18" charset="0"/>
                          </a:rPr>
                          <m:t>𝑞</m:t>
                        </m:r>
                      </m:e>
                      <m:sub>
                        <m:r>
                          <a:rPr lang="en-US" sz="3000" b="0" i="1" smtClean="0">
                            <a:solidFill>
                              <a:srgbClr val="C00000"/>
                            </a:solidFill>
                            <a:latin typeface="Cambria Math" panose="02040503050406030204" pitchFamily="18" charset="0"/>
                          </a:rPr>
                          <m:t>2</m:t>
                        </m:r>
                      </m:sub>
                    </m:sSub>
                  </m:oMath>
                </a14:m>
                <a:r>
                  <a:rPr lang="en-US" sz="3000" dirty="0"/>
                  <a:t>, where </a:t>
                </a:r>
                <a14:m>
                  <m:oMath xmlns:m="http://schemas.openxmlformats.org/officeDocument/2006/math">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𝑞</m:t>
                        </m:r>
                      </m:e>
                      <m:sub>
                        <m:r>
                          <a:rPr lang="en-US" sz="3000" i="1">
                            <a:solidFill>
                              <a:srgbClr val="C00000"/>
                            </a:solidFill>
                            <a:latin typeface="Cambria Math" panose="02040503050406030204" pitchFamily="18" charset="0"/>
                          </a:rPr>
                          <m:t>2</m:t>
                        </m:r>
                      </m:sub>
                    </m:sSub>
                  </m:oMath>
                </a14:m>
                <a:r>
                  <a:rPr lang="en-US" sz="3000" dirty="0"/>
                  <a:t> is still evolving over the stream</a:t>
                </a:r>
              </a:p>
              <a:p>
                <a:pPr>
                  <a:buClr>
                    <a:schemeClr val="tx1"/>
                  </a:buClr>
                </a:pPr>
                <a:endParaRPr lang="en-US" sz="3000" dirty="0"/>
              </a:p>
              <a:p>
                <a:pPr>
                  <a:buClr>
                    <a:schemeClr val="tx1"/>
                  </a:buClr>
                </a:pPr>
                <a:r>
                  <a:rPr lang="en-US" sz="3000" dirty="0"/>
                  <a:t>Estimator is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𝑞</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and suppose iterate </a:t>
                </a:r>
                <a14:m>
                  <m:oMath xmlns:m="http://schemas.openxmlformats.org/officeDocument/2006/math">
                    <m:r>
                      <a:rPr lang="en-US" sz="3000" i="1">
                        <a:solidFill>
                          <a:srgbClr val="C00000"/>
                        </a:solidFill>
                        <a:latin typeface="Cambria Math" panose="02040503050406030204" pitchFamily="18" charset="0"/>
                      </a:rPr>
                      <m:t>𝑧</m:t>
                    </m:r>
                    <m:r>
                      <a:rPr lang="en-US" sz="3000" i="1">
                        <a:solidFill>
                          <a:srgbClr val="C00000"/>
                        </a:solidFill>
                        <a:latin typeface="Cambria Math" panose="02040503050406030204" pitchFamily="18" charset="0"/>
                      </a:rPr>
                      <m:t>′</m:t>
                    </m:r>
                  </m:oMath>
                </a14:m>
                <a:r>
                  <a:rPr lang="en-US" sz="3000" dirty="0"/>
                  <a:t> is fixed</a:t>
                </a:r>
              </a:p>
              <a:p>
                <a:pPr>
                  <a:buClr>
                    <a:schemeClr val="tx1"/>
                  </a:buClr>
                </a:pPr>
                <a:endParaRPr lang="en-US" sz="3000" dirty="0"/>
              </a:p>
              <a:p>
                <a:pPr>
                  <a:buClr>
                    <a:schemeClr val="tx1"/>
                  </a:buClr>
                </a:pPr>
                <a:r>
                  <a:rPr lang="en-US" sz="3000" dirty="0"/>
                  <a:t>Then:</a:t>
                </a:r>
              </a:p>
              <a:p>
                <a:pPr lvl="1">
                  <a:buClr>
                    <a:schemeClr val="tx1"/>
                  </a:buClr>
                </a:pPr>
                <a:endParaRPr lang="en-US" sz="3000" dirty="0"/>
              </a:p>
              <a:p>
                <a:pPr lvl="1">
                  <a:buClr>
                    <a:schemeClr val="tx1"/>
                  </a:buClr>
                </a:pPr>
                <a:r>
                  <a:rPr lang="en-US" sz="3000" dirty="0"/>
                  <a:t>First term is fixed</a:t>
                </a:r>
              </a:p>
              <a:p>
                <a:pPr lvl="1">
                  <a:buClr>
                    <a:schemeClr val="tx1"/>
                  </a:buClr>
                </a:pPr>
                <a:endParaRPr lang="en-US" sz="3000" dirty="0"/>
              </a:p>
              <a:p>
                <a:pPr lvl="1">
                  <a:buClr>
                    <a:schemeClr val="tx1"/>
                  </a:buClr>
                </a:pPr>
                <a:r>
                  <a:rPr lang="en-US" sz="3000" dirty="0"/>
                  <a:t>Second term is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r>
                              <a:rPr lang="en-US" sz="3000" i="1">
                                <a:solidFill>
                                  <a:srgbClr val="C00000"/>
                                </a:solidFill>
                                <a:latin typeface="Cambria Math" panose="02040503050406030204" pitchFamily="18" charset="0"/>
                              </a:rPr>
                              <m:t>+</m:t>
                            </m:r>
                            <m:sSub>
                              <m:sSubPr>
                                <m:ctrlPr>
                                  <a:rPr lang="en-US" sz="3000" b="0" i="1" smtClean="0">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𝑞</m:t>
                                </m:r>
                              </m:e>
                              <m:sub>
                                <m:r>
                                  <a:rPr lang="en-US" sz="3000" b="0" i="1" smtClean="0">
                                    <a:solidFill>
                                      <a:srgbClr val="C00000"/>
                                    </a:solidFill>
                                    <a:latin typeface="Cambria Math" panose="02040503050406030204" pitchFamily="18" charset="0"/>
                                  </a:rPr>
                                  <m:t>1</m:t>
                                </m:r>
                              </m:sub>
                            </m:sSub>
                            <m:r>
                              <a:rPr lang="en-US" sz="3000" b="0" i="1" smtClean="0">
                                <a:solidFill>
                                  <a:srgbClr val="C00000"/>
                                </a:solidFill>
                                <a:latin typeface="Cambria Math" panose="02040503050406030204" pitchFamily="18" charset="0"/>
                              </a:rPr>
                              <m:t>+</m:t>
                            </m:r>
                            <m:sSub>
                              <m:sSubPr>
                                <m:ctrlPr>
                                  <a:rPr lang="en-US" sz="3000" b="0" i="1" smtClean="0">
                                    <a:solidFill>
                                      <a:srgbClr val="C00000"/>
                                    </a:solidFill>
                                    <a:latin typeface="Cambria Math" panose="02040503050406030204" pitchFamily="18" charset="0"/>
                                  </a:rPr>
                                </m:ctrlPr>
                              </m:sSubPr>
                              <m:e>
                                <m:r>
                                  <a:rPr lang="en-US" sz="3000" b="0" i="1" smtClean="0">
                                    <a:solidFill>
                                      <a:srgbClr val="C00000"/>
                                    </a:solidFill>
                                    <a:latin typeface="Cambria Math" panose="02040503050406030204" pitchFamily="18" charset="0"/>
                                  </a:rPr>
                                  <m:t>𝑞</m:t>
                                </m:r>
                              </m:e>
                              <m:sub>
                                <m:r>
                                  <a:rPr lang="en-US" sz="3000" b="0" i="1" smtClean="0">
                                    <a:solidFill>
                                      <a:srgbClr val="C00000"/>
                                    </a:solidFill>
                                    <a:latin typeface="Cambria Math" panose="02040503050406030204" pitchFamily="18" charset="0"/>
                                  </a:rPr>
                                  <m:t>2</m:t>
                                </m:r>
                              </m:sub>
                            </m:sSub>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and estimator must be robust</a:t>
                </a:r>
              </a:p>
            </p:txBody>
          </p:sp>
        </mc:Choice>
        <mc:Fallback xmlns="">
          <p:sp>
            <p:nvSpPr>
              <p:cNvPr id="3" name="Content Placeholder 2">
                <a:extLst>
                  <a:ext uri="{FF2B5EF4-FFF2-40B4-BE49-F238E27FC236}">
                    <a16:creationId xmlns:a16="http://schemas.microsoft.com/office/drawing/2014/main" id="{6D76D9A5-6A99-C2AA-2D35-EC16AA2AD6BE}"/>
                  </a:ext>
                </a:extLst>
              </p:cNvPr>
              <p:cNvSpPr>
                <a:spLocks noGrp="1" noRot="1" noChangeAspect="1" noMove="1" noResize="1" noEditPoints="1" noAdjustHandles="1" noChangeArrowheads="1" noChangeShapeType="1" noTextEdit="1"/>
              </p:cNvSpPr>
              <p:nvPr>
                <p:ph idx="1"/>
              </p:nvPr>
            </p:nvSpPr>
            <p:spPr>
              <a:xfrm>
                <a:off x="838200" y="1656219"/>
                <a:ext cx="10515600" cy="4788239"/>
              </a:xfrm>
              <a:blipFill>
                <a:blip r:embed="rId3"/>
                <a:stretch>
                  <a:fillRect l="-1217" t="-2548" r="-870"/>
                </a:stretch>
              </a:blipFill>
            </p:spPr>
            <p:txBody>
              <a:bodyPr/>
              <a:lstStyle/>
              <a:p>
                <a:r>
                  <a:rPr lang="en-US">
                    <a:noFill/>
                  </a:rPr>
                  <a:t> </a:t>
                </a:r>
              </a:p>
            </p:txBody>
          </p:sp>
        </mc:Fallback>
      </mc:AlternateContent>
    </p:spTree>
    <p:extLst>
      <p:ext uri="{BB962C8B-B14F-4D97-AF65-F5344CB8AC3E}">
        <p14:creationId xmlns:p14="http://schemas.microsoft.com/office/powerpoint/2010/main" val="84832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3DC1D-5509-400A-6B36-C571336D4A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DCCF5-C695-AB75-B034-B9047D13906B}"/>
              </a:ext>
            </a:extLst>
          </p:cNvPr>
          <p:cNvSpPr>
            <a:spLocks noGrp="1"/>
          </p:cNvSpPr>
          <p:nvPr>
            <p:ph type="title"/>
          </p:nvPr>
        </p:nvSpPr>
        <p:spPr/>
        <p:txBody>
          <a:bodyPr/>
          <a:lstStyle/>
          <a:p>
            <a:r>
              <a:rPr lang="en-US" dirty="0">
                <a:solidFill>
                  <a:srgbClr val="C00000"/>
                </a:solidFill>
              </a:rPr>
              <a:t>Recursion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90DF4C-23A2-3A53-AD0F-F8C6C767D82A}"/>
                  </a:ext>
                </a:extLst>
              </p:cNvPr>
              <p:cNvSpPr>
                <a:spLocks noGrp="1"/>
              </p:cNvSpPr>
              <p:nvPr>
                <p:ph idx="1"/>
              </p:nvPr>
            </p:nvSpPr>
            <p:spPr>
              <a:xfrm>
                <a:off x="838200" y="1656219"/>
                <a:ext cx="10515600" cy="4788239"/>
              </a:xfrm>
            </p:spPr>
            <p:txBody>
              <a:bodyPr>
                <a:normAutofit/>
              </a:bodyPr>
              <a:lstStyle/>
              <a:p>
                <a:pPr>
                  <a:buClr>
                    <a:schemeClr val="tx1"/>
                  </a:buClr>
                </a:pPr>
                <a:r>
                  <a:rPr lang="en-US" sz="3000" dirty="0"/>
                  <a:t>Robust estimate for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r>
                              <a:rPr lang="en-US" sz="3000" i="1">
                                <a:solidFill>
                                  <a:srgbClr val="C00000"/>
                                </a:solidFill>
                                <a:latin typeface="Cambria Math" panose="02040503050406030204" pitchFamily="18" charset="0"/>
                              </a:rPr>
                              <m:t>+</m:t>
                            </m:r>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𝑞</m:t>
                                </m:r>
                              </m:e>
                              <m:sub>
                                <m:r>
                                  <a:rPr lang="en-US" sz="3000" i="1">
                                    <a:solidFill>
                                      <a:srgbClr val="C00000"/>
                                    </a:solidFill>
                                    <a:latin typeface="Cambria Math" panose="02040503050406030204" pitchFamily="18" charset="0"/>
                                  </a:rPr>
                                  <m:t>1</m:t>
                                </m:r>
                              </m:sub>
                            </m:sSub>
                            <m:r>
                              <a:rPr lang="en-US" sz="3000" i="1">
                                <a:solidFill>
                                  <a:srgbClr val="C00000"/>
                                </a:solidFill>
                                <a:latin typeface="Cambria Math" panose="02040503050406030204" pitchFamily="18" charset="0"/>
                              </a:rPr>
                              <m:t>+</m:t>
                            </m:r>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𝑞</m:t>
                                </m:r>
                              </m:e>
                              <m:sub>
                                <m:r>
                                  <a:rPr lang="en-US" sz="3000" i="1">
                                    <a:solidFill>
                                      <a:srgbClr val="C00000"/>
                                    </a:solidFill>
                                    <a:latin typeface="Cambria Math" panose="02040503050406030204" pitchFamily="18" charset="0"/>
                                  </a:rPr>
                                  <m:t>2</m:t>
                                </m:r>
                              </m:sub>
                            </m:sSub>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a:t>
                </a:r>
              </a:p>
              <a:p>
                <a:pPr>
                  <a:buClr>
                    <a:schemeClr val="tx1"/>
                  </a:buClr>
                </a:pPr>
                <a:endParaRPr lang="en-US" sz="3000" dirty="0"/>
              </a:p>
              <a:p>
                <a:pPr>
                  <a:buClr>
                    <a:schemeClr val="tx1"/>
                  </a:buClr>
                </a:pPr>
                <a:r>
                  <a:rPr lang="en-US" sz="3000" dirty="0"/>
                  <a:t>Recurse using estimator-corrector-learner framework:</a:t>
                </a:r>
              </a:p>
              <a:p>
                <a:pPr lvl="1">
                  <a:buClr>
                    <a:schemeClr val="tx1"/>
                  </a:buClr>
                </a:pPr>
                <a:endParaRPr lang="en-US" sz="3000" dirty="0"/>
              </a:p>
              <a:p>
                <a:pPr lvl="1">
                  <a:buClr>
                    <a:schemeClr val="tx1"/>
                  </a:buClr>
                </a:pPr>
                <a:r>
                  <a:rPr lang="en-US" sz="3000" dirty="0"/>
                  <a:t>Corrector for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r>
                              <a:rPr lang="en-US" sz="3000" i="1">
                                <a:solidFill>
                                  <a:srgbClr val="C00000"/>
                                </a:solidFill>
                                <a:latin typeface="Cambria Math" panose="02040503050406030204" pitchFamily="18" charset="0"/>
                              </a:rPr>
                              <m:t>+</m:t>
                            </m:r>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𝑞</m:t>
                                </m:r>
                              </m:e>
                              <m:sub>
                                <m:r>
                                  <a:rPr lang="en-US" sz="3000" i="1">
                                    <a:solidFill>
                                      <a:srgbClr val="C00000"/>
                                    </a:solidFill>
                                    <a:latin typeface="Cambria Math" panose="02040503050406030204" pitchFamily="18" charset="0"/>
                                  </a:rPr>
                                  <m:t>1</m:t>
                                </m:r>
                              </m:sub>
                            </m:sSub>
                            <m:r>
                              <a:rPr lang="en-US" sz="3000" i="1">
                                <a:solidFill>
                                  <a:srgbClr val="C00000"/>
                                </a:solidFill>
                                <a:latin typeface="Cambria Math" panose="02040503050406030204" pitchFamily="18" charset="0"/>
                              </a:rPr>
                              <m:t>+</m:t>
                            </m:r>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𝑞</m:t>
                                </m:r>
                              </m:e>
                              <m:sub>
                                <m:r>
                                  <a:rPr lang="en-US" sz="3000" i="1">
                                    <a:solidFill>
                                      <a:srgbClr val="C00000"/>
                                    </a:solidFill>
                                    <a:latin typeface="Cambria Math" panose="02040503050406030204" pitchFamily="18" charset="0"/>
                                  </a:rPr>
                                  <m:t>2</m:t>
                                </m:r>
                              </m:sub>
                            </m:sSub>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a:t>
                </a:r>
              </a:p>
              <a:p>
                <a:pPr lvl="1">
                  <a:buClr>
                    <a:schemeClr val="tx1"/>
                  </a:buClr>
                </a:pPr>
                <a:endParaRPr lang="en-US" sz="3000" dirty="0"/>
              </a:p>
              <a:p>
                <a:pPr lvl="1">
                  <a:buClr>
                    <a:schemeClr val="tx1"/>
                  </a:buClr>
                </a:pPr>
                <a:r>
                  <a:rPr lang="en-US" sz="3000" dirty="0"/>
                  <a:t>Learner has an iterate </a:t>
                </a:r>
                <a14:m>
                  <m:oMath xmlns:m="http://schemas.openxmlformats.org/officeDocument/2006/math">
                    <m:r>
                      <a:rPr lang="en-US" sz="3000" b="0" i="1" smtClean="0">
                        <a:solidFill>
                          <a:srgbClr val="C00000"/>
                        </a:solidFill>
                        <a:latin typeface="Cambria Math" panose="02040503050406030204" pitchFamily="18" charset="0"/>
                      </a:rPr>
                      <m:t>𝑢</m:t>
                    </m:r>
                  </m:oMath>
                </a14:m>
                <a:r>
                  <a:rPr lang="en-US" sz="3000" dirty="0"/>
                  <a:t> to learn </a:t>
                </a:r>
                <a14:m>
                  <m:oMath xmlns:m="http://schemas.openxmlformats.org/officeDocument/2006/math">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r>
                      <a:rPr lang="en-US" sz="3000" i="1">
                        <a:solidFill>
                          <a:srgbClr val="C00000"/>
                        </a:solidFill>
                        <a:latin typeface="Cambria Math" panose="02040503050406030204" pitchFamily="18" charset="0"/>
                      </a:rPr>
                      <m:t>+</m:t>
                    </m:r>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𝑞</m:t>
                        </m:r>
                      </m:e>
                      <m:sub>
                        <m:r>
                          <a:rPr lang="en-US" sz="3000" i="1">
                            <a:solidFill>
                              <a:srgbClr val="C00000"/>
                            </a:solidFill>
                            <a:latin typeface="Cambria Math" panose="02040503050406030204" pitchFamily="18" charset="0"/>
                          </a:rPr>
                          <m:t>1</m:t>
                        </m:r>
                      </m:sub>
                    </m:sSub>
                  </m:oMath>
                </a14:m>
                <a:endParaRPr lang="en-US" sz="3000" dirty="0"/>
              </a:p>
              <a:p>
                <a:pPr lvl="1">
                  <a:buClr>
                    <a:schemeClr val="tx1"/>
                  </a:buClr>
                </a:pPr>
                <a:endParaRPr lang="en-US" sz="3000" dirty="0"/>
              </a:p>
              <a:p>
                <a:pPr lvl="1">
                  <a:buClr>
                    <a:schemeClr val="tx1"/>
                  </a:buClr>
                </a:pPr>
                <a:r>
                  <a:rPr lang="en-US" sz="3000" dirty="0"/>
                  <a:t>Estimator uses</a:t>
                </a:r>
                <a14:m>
                  <m:oMath xmlns:m="http://schemas.openxmlformats.org/officeDocument/2006/math">
                    <m:r>
                      <a:rPr lang="en-US" sz="3000">
                        <a:solidFill>
                          <a:srgbClr val="C00000"/>
                        </a:solidFill>
                        <a:latin typeface="Cambria Math" panose="02040503050406030204" pitchFamily="18" charset="0"/>
                      </a:rPr>
                      <m:t> </m:t>
                    </m:r>
                    <m:sSubSup>
                      <m:sSubSupPr>
                        <m:ctrlPr>
                          <a:rPr lang="en-US" sz="3000" i="1">
                            <a:solidFill>
                              <a:srgbClr val="C00000"/>
                            </a:solidFill>
                            <a:latin typeface="Cambria Math" panose="02040503050406030204" pitchFamily="18" charset="0"/>
                          </a:rPr>
                        </m:ctrlPr>
                      </m:sSubSupPr>
                      <m:e>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𝑧</m:t>
                                    </m:r>
                                  </m:e>
                                  <m:sup>
                                    <m:r>
                                      <a:rPr lang="en-US" sz="3000" i="1">
                                        <a:solidFill>
                                          <a:srgbClr val="C00000"/>
                                        </a:solidFill>
                                        <a:latin typeface="Cambria Math" panose="02040503050406030204" pitchFamily="18" charset="0"/>
                                      </a:rPr>
                                      <m:t>′</m:t>
                                    </m:r>
                                  </m:sup>
                                </m:sSup>
                                <m:r>
                                  <a:rPr lang="en-US" sz="3000" i="1">
                                    <a:solidFill>
                                      <a:srgbClr val="C00000"/>
                                    </a:solidFill>
                                    <a:latin typeface="Cambria Math" panose="02040503050406030204" pitchFamily="18" charset="0"/>
                                  </a:rPr>
                                  <m:t>+</m:t>
                                </m:r>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𝑞</m:t>
                                    </m:r>
                                  </m:e>
                                  <m:sub>
                                    <m:r>
                                      <a:rPr lang="en-US" sz="3000" i="1">
                                        <a:solidFill>
                                          <a:srgbClr val="C00000"/>
                                        </a:solidFill>
                                        <a:latin typeface="Cambria Math" panose="02040503050406030204" pitchFamily="18" charset="0"/>
                                      </a:rPr>
                                      <m:t>1</m:t>
                                    </m:r>
                                  </m:sub>
                                </m:sSub>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𝑢</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r>
                          <a:rPr lang="en-US" sz="3000" b="0" i="1" smtClean="0">
                            <a:solidFill>
                              <a:srgbClr val="C00000"/>
                            </a:solidFill>
                            <a:latin typeface="Cambria Math" panose="02040503050406030204" pitchFamily="18" charset="0"/>
                          </a:rPr>
                          <m:t>+</m:t>
                        </m:r>
                        <m:d>
                          <m:dPr>
                            <m:begChr m:val="‖"/>
                            <m:endChr m:val="‖"/>
                            <m:ctrlPr>
                              <a:rPr lang="en-US" sz="3000" i="1">
                                <a:solidFill>
                                  <a:srgbClr val="C00000"/>
                                </a:solidFill>
                                <a:latin typeface="Cambria Math" panose="02040503050406030204" pitchFamily="18" charset="0"/>
                              </a:rPr>
                            </m:ctrlPr>
                          </m:dPr>
                          <m:e>
                            <m:r>
                              <a:rPr lang="en-US" sz="3000" b="0" i="1" smtClean="0">
                                <a:solidFill>
                                  <a:srgbClr val="C00000"/>
                                </a:solidFill>
                                <a:latin typeface="Cambria Math" panose="02040503050406030204" pitchFamily="18" charset="0"/>
                              </a:rPr>
                              <m:t>𝑢</m:t>
                            </m:r>
                            <m:r>
                              <a:rPr lang="en-US" sz="3000" i="1">
                                <a:solidFill>
                                  <a:srgbClr val="C00000"/>
                                </a:solidFill>
                                <a:latin typeface="Cambria Math" panose="02040503050406030204" pitchFamily="18" charset="0"/>
                              </a:rPr>
                              <m:t>+</m:t>
                            </m:r>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𝑞</m:t>
                                </m:r>
                              </m:e>
                              <m:sub>
                                <m:r>
                                  <a:rPr lang="en-US" sz="3000" i="1">
                                    <a:solidFill>
                                      <a:srgbClr val="C00000"/>
                                    </a:solidFill>
                                    <a:latin typeface="Cambria Math" panose="02040503050406030204" pitchFamily="18" charset="0"/>
                                  </a:rPr>
                                  <m:t>2</m:t>
                                </m:r>
                              </m:sub>
                            </m:sSub>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as estimate</a:t>
                </a:r>
              </a:p>
            </p:txBody>
          </p:sp>
        </mc:Choice>
        <mc:Fallback xmlns="">
          <p:sp>
            <p:nvSpPr>
              <p:cNvPr id="3" name="Content Placeholder 2">
                <a:extLst>
                  <a:ext uri="{FF2B5EF4-FFF2-40B4-BE49-F238E27FC236}">
                    <a16:creationId xmlns:a16="http://schemas.microsoft.com/office/drawing/2014/main" id="{C590DF4C-23A2-3A53-AD0F-F8C6C767D82A}"/>
                  </a:ext>
                </a:extLst>
              </p:cNvPr>
              <p:cNvSpPr>
                <a:spLocks noGrp="1" noRot="1" noChangeAspect="1" noMove="1" noResize="1" noEditPoints="1" noAdjustHandles="1" noChangeArrowheads="1" noChangeShapeType="1" noTextEdit="1"/>
              </p:cNvSpPr>
              <p:nvPr>
                <p:ph idx="1"/>
              </p:nvPr>
            </p:nvSpPr>
            <p:spPr>
              <a:xfrm>
                <a:off x="838200" y="1656219"/>
                <a:ext cx="10515600" cy="4788239"/>
              </a:xfrm>
              <a:blipFill>
                <a:blip r:embed="rId3"/>
                <a:stretch>
                  <a:fillRect l="-1217" t="-2420"/>
                </a:stretch>
              </a:blipFill>
            </p:spPr>
            <p:txBody>
              <a:bodyPr/>
              <a:lstStyle/>
              <a:p>
                <a:r>
                  <a:rPr lang="en-US">
                    <a:noFill/>
                  </a:rPr>
                  <a:t> </a:t>
                </a:r>
              </a:p>
            </p:txBody>
          </p:sp>
        </mc:Fallback>
      </mc:AlternateContent>
    </p:spTree>
    <p:extLst>
      <p:ext uri="{BB962C8B-B14F-4D97-AF65-F5344CB8AC3E}">
        <p14:creationId xmlns:p14="http://schemas.microsoft.com/office/powerpoint/2010/main" val="3298566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0C5E200B-D1BC-D705-F070-4CA717482619}"/>
              </a:ext>
            </a:extLst>
          </p:cNvPr>
          <p:cNvCxnSpPr/>
          <p:nvPr/>
        </p:nvCxnSpPr>
        <p:spPr>
          <a:xfrm>
            <a:off x="2788406" y="2378935"/>
            <a:ext cx="780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Left Brace 5">
            <a:extLst>
              <a:ext uri="{FF2B5EF4-FFF2-40B4-BE49-F238E27FC236}">
                <a16:creationId xmlns:a16="http://schemas.microsoft.com/office/drawing/2014/main" id="{6504E89D-ACBD-1FA0-62BE-A2D7B99C62AF}"/>
              </a:ext>
            </a:extLst>
          </p:cNvPr>
          <p:cNvSpPr/>
          <p:nvPr/>
        </p:nvSpPr>
        <p:spPr>
          <a:xfrm rot="5400000">
            <a:off x="6448701" y="-2444200"/>
            <a:ext cx="413711" cy="773430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E02A9DC3-F351-C80E-9286-62CC01B07FE1}"/>
              </a:ext>
            </a:extLst>
          </p:cNvPr>
          <p:cNvSpPr txBox="1"/>
          <p:nvPr/>
        </p:nvSpPr>
        <p:spPr>
          <a:xfrm>
            <a:off x="11046587" y="2148102"/>
            <a:ext cx="1314452" cy="461665"/>
          </a:xfrm>
          <a:prstGeom prst="rect">
            <a:avLst/>
          </a:prstGeom>
          <a:noFill/>
        </p:spPr>
        <p:txBody>
          <a:bodyPr wrap="square">
            <a:spAutoFit/>
          </a:bodyPr>
          <a:lstStyle/>
          <a:p>
            <a:r>
              <a:rPr lang="en-US" sz="2400" dirty="0"/>
              <a:t>Stream</a:t>
            </a:r>
          </a:p>
        </p:txBody>
      </p:sp>
      <p:sp>
        <p:nvSpPr>
          <p:cNvPr id="8" name="TextBox 7">
            <a:extLst>
              <a:ext uri="{FF2B5EF4-FFF2-40B4-BE49-F238E27FC236}">
                <a16:creationId xmlns:a16="http://schemas.microsoft.com/office/drawing/2014/main" id="{24E79985-10A1-E0DA-FC15-0B4567E5167C}"/>
              </a:ext>
            </a:extLst>
          </p:cNvPr>
          <p:cNvSpPr txBox="1"/>
          <p:nvPr/>
        </p:nvSpPr>
        <p:spPr>
          <a:xfrm>
            <a:off x="2788406" y="1735498"/>
            <a:ext cx="7734301" cy="369332"/>
          </a:xfrm>
          <a:prstGeom prst="rect">
            <a:avLst/>
          </a:prstGeom>
          <a:solidFill>
            <a:schemeClr val="accent1">
              <a:lumMod val="60000"/>
              <a:lumOff val="40000"/>
            </a:schemeClr>
          </a:solidFill>
        </p:spPr>
        <p:txBody>
          <a:bodyPr wrap="square" rtlCol="0">
            <a:spAutoFit/>
          </a:bodyPr>
          <a:lstStyle/>
          <a:p>
            <a:r>
              <a:rPr lang="en-US" dirty="0">
                <a:highlight>
                  <a:srgbClr val="FF0000"/>
                </a:highlight>
              </a:rPr>
              <a:t> </a:t>
            </a:r>
          </a:p>
        </p:txBody>
      </p:sp>
      <p:sp>
        <p:nvSpPr>
          <p:cNvPr id="9" name="TextBox 8">
            <a:extLst>
              <a:ext uri="{FF2B5EF4-FFF2-40B4-BE49-F238E27FC236}">
                <a16:creationId xmlns:a16="http://schemas.microsoft.com/office/drawing/2014/main" id="{03D48476-8EF8-1DA6-3DD3-065AB1D9BE67}"/>
              </a:ext>
            </a:extLst>
          </p:cNvPr>
          <p:cNvSpPr txBox="1"/>
          <p:nvPr/>
        </p:nvSpPr>
        <p:spPr>
          <a:xfrm>
            <a:off x="2788407" y="2758733"/>
            <a:ext cx="2819394" cy="369332"/>
          </a:xfrm>
          <a:prstGeom prst="rect">
            <a:avLst/>
          </a:prstGeom>
          <a:solidFill>
            <a:schemeClr val="accent2">
              <a:lumMod val="60000"/>
              <a:lumOff val="40000"/>
            </a:schemeClr>
          </a:solidFill>
        </p:spPr>
        <p:txBody>
          <a:bodyPr wrap="square" rtlCol="0">
            <a:spAutoFit/>
          </a:bodyPr>
          <a:lstStyle/>
          <a:p>
            <a:r>
              <a:rPr lang="en-US" dirty="0">
                <a:highlight>
                  <a:srgbClr val="FF0000"/>
                </a:highlight>
              </a:rPr>
              <a:t> </a:t>
            </a:r>
          </a:p>
        </p:txBody>
      </p:sp>
      <p:sp>
        <p:nvSpPr>
          <p:cNvPr id="10" name="TextBox 9">
            <a:extLst>
              <a:ext uri="{FF2B5EF4-FFF2-40B4-BE49-F238E27FC236}">
                <a16:creationId xmlns:a16="http://schemas.microsoft.com/office/drawing/2014/main" id="{151546AF-672D-F5EF-CB37-9C043EBFD3AF}"/>
              </a:ext>
            </a:extLst>
          </p:cNvPr>
          <p:cNvSpPr txBox="1"/>
          <p:nvPr/>
        </p:nvSpPr>
        <p:spPr>
          <a:xfrm>
            <a:off x="5607801" y="2758733"/>
            <a:ext cx="2457451" cy="369332"/>
          </a:xfrm>
          <a:prstGeom prst="rect">
            <a:avLst/>
          </a:prstGeom>
          <a:solidFill>
            <a:schemeClr val="accent6">
              <a:lumMod val="60000"/>
              <a:lumOff val="40000"/>
            </a:schemeClr>
          </a:solidFill>
        </p:spPr>
        <p:txBody>
          <a:bodyPr wrap="square" rtlCol="0">
            <a:spAutoFit/>
          </a:bodyPr>
          <a:lstStyle/>
          <a:p>
            <a:r>
              <a:rPr lang="en-US" dirty="0">
                <a:highlight>
                  <a:srgbClr val="FF0000"/>
                </a:highlight>
              </a:rPr>
              <a:t>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183B632-3644-B5A3-5409-2A0C91E81907}"/>
                  </a:ext>
                </a:extLst>
              </p:cNvPr>
              <p:cNvSpPr txBox="1"/>
              <p:nvPr/>
            </p:nvSpPr>
            <p:spPr>
              <a:xfrm>
                <a:off x="6045956" y="743101"/>
                <a:ext cx="12192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𝑚</m:t>
                      </m:r>
                    </m:oMath>
                  </m:oMathPara>
                </a14:m>
                <a:endParaRPr lang="en-US" sz="2800" dirty="0"/>
              </a:p>
            </p:txBody>
          </p:sp>
        </mc:Choice>
        <mc:Fallback xmlns="">
          <p:sp>
            <p:nvSpPr>
              <p:cNvPr id="13" name="TextBox 12">
                <a:extLst>
                  <a:ext uri="{FF2B5EF4-FFF2-40B4-BE49-F238E27FC236}">
                    <a16:creationId xmlns:a16="http://schemas.microsoft.com/office/drawing/2014/main" id="{B183B632-3644-B5A3-5409-2A0C91E81907}"/>
                  </a:ext>
                </a:extLst>
              </p:cNvPr>
              <p:cNvSpPr txBox="1">
                <a:spLocks noRot="1" noChangeAspect="1" noMove="1" noResize="1" noEditPoints="1" noAdjustHandles="1" noChangeArrowheads="1" noChangeShapeType="1" noTextEdit="1"/>
              </p:cNvSpPr>
              <p:nvPr/>
            </p:nvSpPr>
            <p:spPr>
              <a:xfrm>
                <a:off x="6045956" y="743101"/>
                <a:ext cx="1219200" cy="523220"/>
              </a:xfrm>
              <a:prstGeom prst="rect">
                <a:avLst/>
              </a:prstGeom>
              <a:blipFill>
                <a:blip r:embed="rId2"/>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BB050A69-2F1C-A387-57F3-C7837AFD66F3}"/>
              </a:ext>
            </a:extLst>
          </p:cNvPr>
          <p:cNvSpPr txBox="1"/>
          <p:nvPr/>
        </p:nvSpPr>
        <p:spPr>
          <a:xfrm>
            <a:off x="8065256" y="2758733"/>
            <a:ext cx="2457451" cy="369332"/>
          </a:xfrm>
          <a:prstGeom prst="rect">
            <a:avLst/>
          </a:prstGeom>
          <a:solidFill>
            <a:srgbClr val="DFA9DB"/>
          </a:solidFill>
        </p:spPr>
        <p:txBody>
          <a:bodyPr wrap="square" rtlCol="0">
            <a:spAutoFit/>
          </a:bodyPr>
          <a:lstStyle/>
          <a:p>
            <a:r>
              <a:rPr lang="en-US" dirty="0">
                <a:highlight>
                  <a:srgbClr val="FF0000"/>
                </a:highlight>
              </a:rPr>
              <a:t> </a:t>
            </a:r>
          </a:p>
        </p:txBody>
      </p:sp>
      <p:sp>
        <p:nvSpPr>
          <p:cNvPr id="16" name="TextBox 15">
            <a:extLst>
              <a:ext uri="{FF2B5EF4-FFF2-40B4-BE49-F238E27FC236}">
                <a16:creationId xmlns:a16="http://schemas.microsoft.com/office/drawing/2014/main" id="{F14E55F6-5D9B-999C-BB2C-0947D6473F45}"/>
              </a:ext>
            </a:extLst>
          </p:cNvPr>
          <p:cNvSpPr txBox="1"/>
          <p:nvPr/>
        </p:nvSpPr>
        <p:spPr>
          <a:xfrm>
            <a:off x="2788350" y="4393553"/>
            <a:ext cx="942978" cy="369332"/>
          </a:xfrm>
          <a:prstGeom prst="rect">
            <a:avLst/>
          </a:prstGeom>
          <a:solidFill>
            <a:schemeClr val="accent2">
              <a:lumMod val="40000"/>
              <a:lumOff val="60000"/>
            </a:schemeClr>
          </a:solidFill>
        </p:spPr>
        <p:txBody>
          <a:bodyPr wrap="square" rtlCol="0">
            <a:spAutoFit/>
          </a:bodyPr>
          <a:lstStyle/>
          <a:p>
            <a:r>
              <a:rPr lang="en-US" dirty="0">
                <a:highlight>
                  <a:srgbClr val="FF0000"/>
                </a:highlight>
              </a:rPr>
              <a:t> </a:t>
            </a:r>
          </a:p>
        </p:txBody>
      </p:sp>
      <p:sp>
        <p:nvSpPr>
          <p:cNvPr id="18" name="TextBox 17">
            <a:extLst>
              <a:ext uri="{FF2B5EF4-FFF2-40B4-BE49-F238E27FC236}">
                <a16:creationId xmlns:a16="http://schemas.microsoft.com/office/drawing/2014/main" id="{63A6608B-B24E-D504-2120-144DF8318D4B}"/>
              </a:ext>
            </a:extLst>
          </p:cNvPr>
          <p:cNvSpPr txBox="1"/>
          <p:nvPr/>
        </p:nvSpPr>
        <p:spPr>
          <a:xfrm>
            <a:off x="8065199" y="4393553"/>
            <a:ext cx="819133" cy="369332"/>
          </a:xfrm>
          <a:prstGeom prst="rect">
            <a:avLst/>
          </a:prstGeom>
          <a:solidFill>
            <a:srgbClr val="E5B9E2"/>
          </a:solidFill>
        </p:spPr>
        <p:txBody>
          <a:bodyPr wrap="square" rtlCol="0">
            <a:spAutoFit/>
          </a:bodyPr>
          <a:lstStyle/>
          <a:p>
            <a:r>
              <a:rPr lang="en-US" dirty="0">
                <a:highlight>
                  <a:srgbClr val="FF0000"/>
                </a:highlight>
              </a:rPr>
              <a:t> </a:t>
            </a:r>
          </a:p>
        </p:txBody>
      </p:sp>
      <p:sp>
        <p:nvSpPr>
          <p:cNvPr id="19" name="TextBox 18">
            <a:extLst>
              <a:ext uri="{FF2B5EF4-FFF2-40B4-BE49-F238E27FC236}">
                <a16:creationId xmlns:a16="http://schemas.microsoft.com/office/drawing/2014/main" id="{A13CE469-2191-505E-B9CF-91E81A71979C}"/>
              </a:ext>
            </a:extLst>
          </p:cNvPr>
          <p:cNvSpPr txBox="1"/>
          <p:nvPr/>
        </p:nvSpPr>
        <p:spPr>
          <a:xfrm>
            <a:off x="3731328" y="4393553"/>
            <a:ext cx="942978" cy="369332"/>
          </a:xfrm>
          <a:prstGeom prst="rect">
            <a:avLst/>
          </a:prstGeom>
          <a:solidFill>
            <a:schemeClr val="accent2">
              <a:lumMod val="20000"/>
              <a:lumOff val="80000"/>
            </a:schemeClr>
          </a:solidFill>
        </p:spPr>
        <p:txBody>
          <a:bodyPr wrap="square" rtlCol="0">
            <a:spAutoFit/>
          </a:bodyPr>
          <a:lstStyle/>
          <a:p>
            <a:r>
              <a:rPr lang="en-US" dirty="0">
                <a:highlight>
                  <a:srgbClr val="FF0000"/>
                </a:highlight>
              </a:rPr>
              <a:t> </a:t>
            </a:r>
          </a:p>
        </p:txBody>
      </p:sp>
      <p:sp>
        <p:nvSpPr>
          <p:cNvPr id="20" name="TextBox 19">
            <a:extLst>
              <a:ext uri="{FF2B5EF4-FFF2-40B4-BE49-F238E27FC236}">
                <a16:creationId xmlns:a16="http://schemas.microsoft.com/office/drawing/2014/main" id="{579D586D-8272-C5B3-DAAD-DD7EC72C5192}"/>
              </a:ext>
            </a:extLst>
          </p:cNvPr>
          <p:cNvSpPr txBox="1"/>
          <p:nvPr/>
        </p:nvSpPr>
        <p:spPr>
          <a:xfrm>
            <a:off x="4664762" y="4393553"/>
            <a:ext cx="942978" cy="369332"/>
          </a:xfrm>
          <a:prstGeom prst="rect">
            <a:avLst/>
          </a:prstGeom>
          <a:solidFill>
            <a:schemeClr val="accent2">
              <a:lumMod val="60000"/>
              <a:lumOff val="40000"/>
            </a:schemeClr>
          </a:solidFill>
        </p:spPr>
        <p:txBody>
          <a:bodyPr wrap="square" rtlCol="0">
            <a:spAutoFit/>
          </a:bodyPr>
          <a:lstStyle/>
          <a:p>
            <a:r>
              <a:rPr lang="en-US" dirty="0">
                <a:highlight>
                  <a:srgbClr val="FF0000"/>
                </a:highlight>
              </a:rPr>
              <a:t> </a:t>
            </a:r>
          </a:p>
        </p:txBody>
      </p:sp>
      <p:sp>
        <p:nvSpPr>
          <p:cNvPr id="21" name="TextBox 20">
            <a:extLst>
              <a:ext uri="{FF2B5EF4-FFF2-40B4-BE49-F238E27FC236}">
                <a16:creationId xmlns:a16="http://schemas.microsoft.com/office/drawing/2014/main" id="{16A6112F-91EC-7234-8142-6EF9D64440BB}"/>
              </a:ext>
            </a:extLst>
          </p:cNvPr>
          <p:cNvSpPr txBox="1"/>
          <p:nvPr/>
        </p:nvSpPr>
        <p:spPr>
          <a:xfrm>
            <a:off x="5607740" y="4393553"/>
            <a:ext cx="819163" cy="369332"/>
          </a:xfrm>
          <a:prstGeom prst="rect">
            <a:avLst/>
          </a:prstGeom>
          <a:solidFill>
            <a:schemeClr val="accent6">
              <a:lumMod val="40000"/>
              <a:lumOff val="60000"/>
            </a:schemeClr>
          </a:solidFill>
        </p:spPr>
        <p:txBody>
          <a:bodyPr wrap="square" rtlCol="0">
            <a:spAutoFit/>
          </a:bodyPr>
          <a:lstStyle/>
          <a:p>
            <a:r>
              <a:rPr lang="en-US" dirty="0">
                <a:highlight>
                  <a:srgbClr val="FF0000"/>
                </a:highlight>
              </a:rPr>
              <a:t> </a:t>
            </a:r>
          </a:p>
        </p:txBody>
      </p:sp>
      <p:sp>
        <p:nvSpPr>
          <p:cNvPr id="22" name="TextBox 21">
            <a:extLst>
              <a:ext uri="{FF2B5EF4-FFF2-40B4-BE49-F238E27FC236}">
                <a16:creationId xmlns:a16="http://schemas.microsoft.com/office/drawing/2014/main" id="{5318F9FE-F7DA-D494-5E34-A2DF0E4F3A0D}"/>
              </a:ext>
            </a:extLst>
          </p:cNvPr>
          <p:cNvSpPr txBox="1"/>
          <p:nvPr/>
        </p:nvSpPr>
        <p:spPr>
          <a:xfrm>
            <a:off x="6426903" y="4393553"/>
            <a:ext cx="819163" cy="369332"/>
          </a:xfrm>
          <a:prstGeom prst="rect">
            <a:avLst/>
          </a:prstGeom>
          <a:solidFill>
            <a:schemeClr val="accent6">
              <a:lumMod val="20000"/>
              <a:lumOff val="80000"/>
            </a:schemeClr>
          </a:solidFill>
        </p:spPr>
        <p:txBody>
          <a:bodyPr wrap="square" rtlCol="0">
            <a:spAutoFit/>
          </a:bodyPr>
          <a:lstStyle/>
          <a:p>
            <a:r>
              <a:rPr lang="en-US" dirty="0">
                <a:highlight>
                  <a:srgbClr val="FF0000"/>
                </a:highlight>
              </a:rPr>
              <a:t> </a:t>
            </a:r>
          </a:p>
        </p:txBody>
      </p:sp>
      <p:sp>
        <p:nvSpPr>
          <p:cNvPr id="23" name="TextBox 22">
            <a:extLst>
              <a:ext uri="{FF2B5EF4-FFF2-40B4-BE49-F238E27FC236}">
                <a16:creationId xmlns:a16="http://schemas.microsoft.com/office/drawing/2014/main" id="{ABAAD46E-71E7-9CE1-274E-85694764067C}"/>
              </a:ext>
            </a:extLst>
          </p:cNvPr>
          <p:cNvSpPr txBox="1"/>
          <p:nvPr/>
        </p:nvSpPr>
        <p:spPr>
          <a:xfrm>
            <a:off x="7246036" y="4393553"/>
            <a:ext cx="819163" cy="369332"/>
          </a:xfrm>
          <a:prstGeom prst="rect">
            <a:avLst/>
          </a:prstGeom>
          <a:solidFill>
            <a:schemeClr val="accent6">
              <a:lumMod val="60000"/>
              <a:lumOff val="40000"/>
            </a:schemeClr>
          </a:solidFill>
        </p:spPr>
        <p:txBody>
          <a:bodyPr wrap="square" rtlCol="0">
            <a:spAutoFit/>
          </a:bodyPr>
          <a:lstStyle/>
          <a:p>
            <a:r>
              <a:rPr lang="en-US" dirty="0">
                <a:highlight>
                  <a:srgbClr val="FF0000"/>
                </a:highlight>
              </a:rPr>
              <a:t> </a:t>
            </a:r>
          </a:p>
        </p:txBody>
      </p:sp>
      <p:sp>
        <p:nvSpPr>
          <p:cNvPr id="24" name="TextBox 23">
            <a:extLst>
              <a:ext uri="{FF2B5EF4-FFF2-40B4-BE49-F238E27FC236}">
                <a16:creationId xmlns:a16="http://schemas.microsoft.com/office/drawing/2014/main" id="{4D786B19-10E7-B187-41AA-4A9ADA16CB7E}"/>
              </a:ext>
            </a:extLst>
          </p:cNvPr>
          <p:cNvSpPr txBox="1"/>
          <p:nvPr/>
        </p:nvSpPr>
        <p:spPr>
          <a:xfrm>
            <a:off x="8884332" y="4393553"/>
            <a:ext cx="819133" cy="369332"/>
          </a:xfrm>
          <a:prstGeom prst="rect">
            <a:avLst/>
          </a:prstGeom>
          <a:solidFill>
            <a:srgbClr val="F0D8EE"/>
          </a:solidFill>
        </p:spPr>
        <p:txBody>
          <a:bodyPr wrap="square" rtlCol="0">
            <a:spAutoFit/>
          </a:bodyPr>
          <a:lstStyle/>
          <a:p>
            <a:r>
              <a:rPr lang="en-US" dirty="0">
                <a:highlight>
                  <a:srgbClr val="FF0000"/>
                </a:highlight>
              </a:rPr>
              <a:t> </a:t>
            </a:r>
          </a:p>
        </p:txBody>
      </p:sp>
      <p:sp>
        <p:nvSpPr>
          <p:cNvPr id="25" name="TextBox 24">
            <a:extLst>
              <a:ext uri="{FF2B5EF4-FFF2-40B4-BE49-F238E27FC236}">
                <a16:creationId xmlns:a16="http://schemas.microsoft.com/office/drawing/2014/main" id="{BE769E01-873B-8470-2160-115ABB1EB439}"/>
              </a:ext>
            </a:extLst>
          </p:cNvPr>
          <p:cNvSpPr txBox="1"/>
          <p:nvPr/>
        </p:nvSpPr>
        <p:spPr>
          <a:xfrm>
            <a:off x="9703465" y="4393553"/>
            <a:ext cx="819133" cy="369332"/>
          </a:xfrm>
          <a:prstGeom prst="rect">
            <a:avLst/>
          </a:prstGeom>
          <a:solidFill>
            <a:srgbClr val="DFA9DB"/>
          </a:solidFill>
        </p:spPr>
        <p:txBody>
          <a:bodyPr wrap="square" rtlCol="0">
            <a:spAutoFit/>
          </a:bodyPr>
          <a:lstStyle/>
          <a:p>
            <a:r>
              <a:rPr lang="en-US" dirty="0">
                <a:highlight>
                  <a:srgbClr val="FF0000"/>
                </a:highlight>
              </a:rPr>
              <a:t> </a:t>
            </a:r>
          </a:p>
        </p:txBody>
      </p:sp>
      <p:sp>
        <p:nvSpPr>
          <p:cNvPr id="26" name="Left Brace 25">
            <a:extLst>
              <a:ext uri="{FF2B5EF4-FFF2-40B4-BE49-F238E27FC236}">
                <a16:creationId xmlns:a16="http://schemas.microsoft.com/office/drawing/2014/main" id="{77C95123-B6CD-552A-8F61-7F78F201D204}"/>
              </a:ext>
            </a:extLst>
          </p:cNvPr>
          <p:cNvSpPr/>
          <p:nvPr/>
        </p:nvSpPr>
        <p:spPr>
          <a:xfrm rot="16200000">
            <a:off x="4008389" y="1942371"/>
            <a:ext cx="413711" cy="278509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8918EF6-EDAA-A001-52C1-47C29B053C86}"/>
                  </a:ext>
                </a:extLst>
              </p:cNvPr>
              <p:cNvSpPr txBox="1"/>
              <p:nvPr/>
            </p:nvSpPr>
            <p:spPr>
              <a:xfrm>
                <a:off x="3605644" y="3499199"/>
                <a:ext cx="1219200"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2/3</m:t>
                          </m:r>
                        </m:sup>
                      </m:sSup>
                    </m:oMath>
                  </m:oMathPara>
                </a14:m>
                <a:endParaRPr lang="en-US" sz="2800" dirty="0"/>
              </a:p>
            </p:txBody>
          </p:sp>
        </mc:Choice>
        <mc:Fallback xmlns="">
          <p:sp>
            <p:nvSpPr>
              <p:cNvPr id="29" name="TextBox 28">
                <a:extLst>
                  <a:ext uri="{FF2B5EF4-FFF2-40B4-BE49-F238E27FC236}">
                    <a16:creationId xmlns:a16="http://schemas.microsoft.com/office/drawing/2014/main" id="{D8918EF6-EDAA-A001-52C1-47C29B053C86}"/>
                  </a:ext>
                </a:extLst>
              </p:cNvPr>
              <p:cNvSpPr txBox="1">
                <a:spLocks noRot="1" noChangeAspect="1" noMove="1" noResize="1" noEditPoints="1" noAdjustHandles="1" noChangeArrowheads="1" noChangeShapeType="1" noTextEdit="1"/>
              </p:cNvSpPr>
              <p:nvPr/>
            </p:nvSpPr>
            <p:spPr>
              <a:xfrm>
                <a:off x="3605644" y="3499199"/>
                <a:ext cx="1219200" cy="539315"/>
              </a:xfrm>
              <a:prstGeom prst="rect">
                <a:avLst/>
              </a:prstGeom>
              <a:blipFill>
                <a:blip r:embed="rId3"/>
                <a:stretch>
                  <a:fillRect/>
                </a:stretch>
              </a:blipFill>
            </p:spPr>
            <p:txBody>
              <a:bodyPr/>
              <a:lstStyle/>
              <a:p>
                <a:r>
                  <a:rPr lang="en-US">
                    <a:noFill/>
                  </a:rPr>
                  <a:t> </a:t>
                </a:r>
              </a:p>
            </p:txBody>
          </p:sp>
        </mc:Fallback>
      </mc:AlternateContent>
      <p:sp>
        <p:nvSpPr>
          <p:cNvPr id="30" name="Left Brace 29">
            <a:extLst>
              <a:ext uri="{FF2B5EF4-FFF2-40B4-BE49-F238E27FC236}">
                <a16:creationId xmlns:a16="http://schemas.microsoft.com/office/drawing/2014/main" id="{ED298A06-2380-D775-8753-24CD4377A11A}"/>
              </a:ext>
            </a:extLst>
          </p:cNvPr>
          <p:cNvSpPr/>
          <p:nvPr/>
        </p:nvSpPr>
        <p:spPr>
          <a:xfrm rot="16200000">
            <a:off x="6629610" y="2106194"/>
            <a:ext cx="413711" cy="245745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4EAC508-D9CF-FD9B-B0C0-8732F7384499}"/>
                  </a:ext>
                </a:extLst>
              </p:cNvPr>
              <p:cNvSpPr txBox="1"/>
              <p:nvPr/>
            </p:nvSpPr>
            <p:spPr>
              <a:xfrm>
                <a:off x="6390688" y="3499199"/>
                <a:ext cx="1075770"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2/3</m:t>
                          </m:r>
                        </m:sup>
                      </m:sSup>
                    </m:oMath>
                  </m:oMathPara>
                </a14:m>
                <a:endParaRPr lang="en-US" sz="2800" dirty="0"/>
              </a:p>
            </p:txBody>
          </p:sp>
        </mc:Choice>
        <mc:Fallback xmlns="">
          <p:sp>
            <p:nvSpPr>
              <p:cNvPr id="31" name="TextBox 30">
                <a:extLst>
                  <a:ext uri="{FF2B5EF4-FFF2-40B4-BE49-F238E27FC236}">
                    <a16:creationId xmlns:a16="http://schemas.microsoft.com/office/drawing/2014/main" id="{E4EAC508-D9CF-FD9B-B0C0-8732F7384499}"/>
                  </a:ext>
                </a:extLst>
              </p:cNvPr>
              <p:cNvSpPr txBox="1">
                <a:spLocks noRot="1" noChangeAspect="1" noMove="1" noResize="1" noEditPoints="1" noAdjustHandles="1" noChangeArrowheads="1" noChangeShapeType="1" noTextEdit="1"/>
              </p:cNvSpPr>
              <p:nvPr/>
            </p:nvSpPr>
            <p:spPr>
              <a:xfrm>
                <a:off x="6390688" y="3499199"/>
                <a:ext cx="1075770" cy="539315"/>
              </a:xfrm>
              <a:prstGeom prst="rect">
                <a:avLst/>
              </a:prstGeom>
              <a:blipFill>
                <a:blip r:embed="rId4"/>
                <a:stretch>
                  <a:fillRect/>
                </a:stretch>
              </a:blipFill>
            </p:spPr>
            <p:txBody>
              <a:bodyPr/>
              <a:lstStyle/>
              <a:p>
                <a:r>
                  <a:rPr lang="en-US">
                    <a:noFill/>
                  </a:rPr>
                  <a:t> </a:t>
                </a:r>
              </a:p>
            </p:txBody>
          </p:sp>
        </mc:Fallback>
      </mc:AlternateContent>
      <p:sp>
        <p:nvSpPr>
          <p:cNvPr id="32" name="Left Brace 31">
            <a:extLst>
              <a:ext uri="{FF2B5EF4-FFF2-40B4-BE49-F238E27FC236}">
                <a16:creationId xmlns:a16="http://schemas.microsoft.com/office/drawing/2014/main" id="{AD2893B7-DFEF-467C-2586-18E76B829335}"/>
              </a:ext>
            </a:extLst>
          </p:cNvPr>
          <p:cNvSpPr/>
          <p:nvPr/>
        </p:nvSpPr>
        <p:spPr>
          <a:xfrm rot="16200000">
            <a:off x="9087063" y="2106194"/>
            <a:ext cx="413711" cy="245745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9745338-B756-FB71-E0D5-2BF5EEEE0357}"/>
                  </a:ext>
                </a:extLst>
              </p:cNvPr>
              <p:cNvSpPr txBox="1"/>
              <p:nvPr/>
            </p:nvSpPr>
            <p:spPr>
              <a:xfrm>
                <a:off x="8848141" y="3499199"/>
                <a:ext cx="1075770"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2/3</m:t>
                          </m:r>
                        </m:sup>
                      </m:sSup>
                    </m:oMath>
                  </m:oMathPara>
                </a14:m>
                <a:endParaRPr lang="en-US" sz="2800" dirty="0"/>
              </a:p>
            </p:txBody>
          </p:sp>
        </mc:Choice>
        <mc:Fallback xmlns="">
          <p:sp>
            <p:nvSpPr>
              <p:cNvPr id="33" name="TextBox 32">
                <a:extLst>
                  <a:ext uri="{FF2B5EF4-FFF2-40B4-BE49-F238E27FC236}">
                    <a16:creationId xmlns:a16="http://schemas.microsoft.com/office/drawing/2014/main" id="{C9745338-B756-FB71-E0D5-2BF5EEEE0357}"/>
                  </a:ext>
                </a:extLst>
              </p:cNvPr>
              <p:cNvSpPr txBox="1">
                <a:spLocks noRot="1" noChangeAspect="1" noMove="1" noResize="1" noEditPoints="1" noAdjustHandles="1" noChangeArrowheads="1" noChangeShapeType="1" noTextEdit="1"/>
              </p:cNvSpPr>
              <p:nvPr/>
            </p:nvSpPr>
            <p:spPr>
              <a:xfrm>
                <a:off x="8848141" y="3499199"/>
                <a:ext cx="1075770" cy="539315"/>
              </a:xfrm>
              <a:prstGeom prst="rect">
                <a:avLst/>
              </a:prstGeom>
              <a:blipFill>
                <a:blip r:embed="rId5"/>
                <a:stretch>
                  <a:fillRect/>
                </a:stretch>
              </a:blipFill>
            </p:spPr>
            <p:txBody>
              <a:bodyPr/>
              <a:lstStyle/>
              <a:p>
                <a:r>
                  <a:rPr lang="en-US">
                    <a:noFill/>
                  </a:rPr>
                  <a:t> </a:t>
                </a:r>
              </a:p>
            </p:txBody>
          </p:sp>
        </mc:Fallback>
      </mc:AlternateContent>
      <p:sp>
        <p:nvSpPr>
          <p:cNvPr id="34" name="Left Brace 33">
            <a:extLst>
              <a:ext uri="{FF2B5EF4-FFF2-40B4-BE49-F238E27FC236}">
                <a16:creationId xmlns:a16="http://schemas.microsoft.com/office/drawing/2014/main" id="{48F28527-3859-4B3B-FBD1-2A97F4C5C84D}"/>
              </a:ext>
            </a:extLst>
          </p:cNvPr>
          <p:cNvSpPr/>
          <p:nvPr/>
        </p:nvSpPr>
        <p:spPr>
          <a:xfrm rot="16200000">
            <a:off x="3060604" y="4505872"/>
            <a:ext cx="413711" cy="927736"/>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44D1CEC-0124-9B32-3AAD-B19E896ABF29}"/>
                  </a:ext>
                </a:extLst>
              </p:cNvPr>
              <p:cNvSpPr txBox="1"/>
              <p:nvPr/>
            </p:nvSpPr>
            <p:spPr>
              <a:xfrm>
                <a:off x="2879250" y="5128062"/>
                <a:ext cx="397762"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1/</m:t>
                          </m:r>
                          <m:r>
                            <a:rPr lang="en-US" sz="2800" b="0" i="1" smtClean="0">
                              <a:solidFill>
                                <a:srgbClr val="C00000"/>
                              </a:solidFill>
                              <a:latin typeface="Cambria Math" panose="02040503050406030204" pitchFamily="18" charset="0"/>
                            </a:rPr>
                            <m:t>3</m:t>
                          </m:r>
                        </m:sup>
                      </m:sSup>
                    </m:oMath>
                  </m:oMathPara>
                </a14:m>
                <a:endParaRPr lang="en-US" sz="2800" dirty="0"/>
              </a:p>
            </p:txBody>
          </p:sp>
        </mc:Choice>
        <mc:Fallback xmlns="">
          <p:sp>
            <p:nvSpPr>
              <p:cNvPr id="35" name="TextBox 34">
                <a:extLst>
                  <a:ext uri="{FF2B5EF4-FFF2-40B4-BE49-F238E27FC236}">
                    <a16:creationId xmlns:a16="http://schemas.microsoft.com/office/drawing/2014/main" id="{344D1CEC-0124-9B32-3AAD-B19E896ABF29}"/>
                  </a:ext>
                </a:extLst>
              </p:cNvPr>
              <p:cNvSpPr txBox="1">
                <a:spLocks noRot="1" noChangeAspect="1" noMove="1" noResize="1" noEditPoints="1" noAdjustHandles="1" noChangeArrowheads="1" noChangeShapeType="1" noTextEdit="1"/>
              </p:cNvSpPr>
              <p:nvPr/>
            </p:nvSpPr>
            <p:spPr>
              <a:xfrm>
                <a:off x="2879250" y="5128062"/>
                <a:ext cx="397762" cy="539315"/>
              </a:xfrm>
              <a:prstGeom prst="rect">
                <a:avLst/>
              </a:prstGeom>
              <a:blipFill>
                <a:blip r:embed="rId6"/>
                <a:stretch>
                  <a:fillRect r="-100000"/>
                </a:stretch>
              </a:blipFill>
            </p:spPr>
            <p:txBody>
              <a:bodyPr/>
              <a:lstStyle/>
              <a:p>
                <a:r>
                  <a:rPr lang="en-US">
                    <a:noFill/>
                  </a:rPr>
                  <a:t> </a:t>
                </a:r>
              </a:p>
            </p:txBody>
          </p:sp>
        </mc:Fallback>
      </mc:AlternateContent>
      <p:sp>
        <p:nvSpPr>
          <p:cNvPr id="36" name="Left Brace 35">
            <a:extLst>
              <a:ext uri="{FF2B5EF4-FFF2-40B4-BE49-F238E27FC236}">
                <a16:creationId xmlns:a16="http://schemas.microsoft.com/office/drawing/2014/main" id="{74304802-79C2-9FCD-EBDC-926B95710E45}"/>
              </a:ext>
            </a:extLst>
          </p:cNvPr>
          <p:cNvSpPr/>
          <p:nvPr/>
        </p:nvSpPr>
        <p:spPr>
          <a:xfrm rot="16200000">
            <a:off x="3986383" y="4505873"/>
            <a:ext cx="413711" cy="927736"/>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D53217E-9B85-ED61-1238-0418F48A26FF}"/>
                  </a:ext>
                </a:extLst>
              </p:cNvPr>
              <p:cNvSpPr txBox="1"/>
              <p:nvPr/>
            </p:nvSpPr>
            <p:spPr>
              <a:xfrm>
                <a:off x="3805029" y="5128063"/>
                <a:ext cx="397762"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1/</m:t>
                          </m:r>
                          <m:r>
                            <a:rPr lang="en-US" sz="2800" b="0" i="1" smtClean="0">
                              <a:solidFill>
                                <a:srgbClr val="C00000"/>
                              </a:solidFill>
                              <a:latin typeface="Cambria Math" panose="02040503050406030204" pitchFamily="18" charset="0"/>
                            </a:rPr>
                            <m:t>3</m:t>
                          </m:r>
                        </m:sup>
                      </m:sSup>
                    </m:oMath>
                  </m:oMathPara>
                </a14:m>
                <a:endParaRPr lang="en-US" sz="2800" dirty="0"/>
              </a:p>
            </p:txBody>
          </p:sp>
        </mc:Choice>
        <mc:Fallback xmlns="">
          <p:sp>
            <p:nvSpPr>
              <p:cNvPr id="37" name="TextBox 36">
                <a:extLst>
                  <a:ext uri="{FF2B5EF4-FFF2-40B4-BE49-F238E27FC236}">
                    <a16:creationId xmlns:a16="http://schemas.microsoft.com/office/drawing/2014/main" id="{2D53217E-9B85-ED61-1238-0418F48A26FF}"/>
                  </a:ext>
                </a:extLst>
              </p:cNvPr>
              <p:cNvSpPr txBox="1">
                <a:spLocks noRot="1" noChangeAspect="1" noMove="1" noResize="1" noEditPoints="1" noAdjustHandles="1" noChangeArrowheads="1" noChangeShapeType="1" noTextEdit="1"/>
              </p:cNvSpPr>
              <p:nvPr/>
            </p:nvSpPr>
            <p:spPr>
              <a:xfrm>
                <a:off x="3805029" y="5128063"/>
                <a:ext cx="397762" cy="539315"/>
              </a:xfrm>
              <a:prstGeom prst="rect">
                <a:avLst/>
              </a:prstGeom>
              <a:blipFill>
                <a:blip r:embed="rId7"/>
                <a:stretch>
                  <a:fillRect r="-103077"/>
                </a:stretch>
              </a:blipFill>
            </p:spPr>
            <p:txBody>
              <a:bodyPr/>
              <a:lstStyle/>
              <a:p>
                <a:r>
                  <a:rPr lang="en-US">
                    <a:noFill/>
                  </a:rPr>
                  <a:t> </a:t>
                </a:r>
              </a:p>
            </p:txBody>
          </p:sp>
        </mc:Fallback>
      </mc:AlternateContent>
      <p:sp>
        <p:nvSpPr>
          <p:cNvPr id="38" name="Left Brace 37">
            <a:extLst>
              <a:ext uri="{FF2B5EF4-FFF2-40B4-BE49-F238E27FC236}">
                <a16:creationId xmlns:a16="http://schemas.microsoft.com/office/drawing/2014/main" id="{F8AD8564-29FC-2CF1-F163-45A83154CB62}"/>
              </a:ext>
            </a:extLst>
          </p:cNvPr>
          <p:cNvSpPr/>
          <p:nvPr/>
        </p:nvSpPr>
        <p:spPr>
          <a:xfrm rot="16200000">
            <a:off x="4919818" y="4505872"/>
            <a:ext cx="413711" cy="927736"/>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E79FFF1-518E-B9A9-3334-70E1BA0785D4}"/>
                  </a:ext>
                </a:extLst>
              </p:cNvPr>
              <p:cNvSpPr txBox="1"/>
              <p:nvPr/>
            </p:nvSpPr>
            <p:spPr>
              <a:xfrm>
                <a:off x="4738464" y="5128062"/>
                <a:ext cx="397762"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1/</m:t>
                          </m:r>
                          <m:r>
                            <a:rPr lang="en-US" sz="2800" b="0" i="1" smtClean="0">
                              <a:solidFill>
                                <a:srgbClr val="C00000"/>
                              </a:solidFill>
                              <a:latin typeface="Cambria Math" panose="02040503050406030204" pitchFamily="18" charset="0"/>
                            </a:rPr>
                            <m:t>3</m:t>
                          </m:r>
                        </m:sup>
                      </m:sSup>
                    </m:oMath>
                  </m:oMathPara>
                </a14:m>
                <a:endParaRPr lang="en-US" sz="2800" dirty="0"/>
              </a:p>
            </p:txBody>
          </p:sp>
        </mc:Choice>
        <mc:Fallback xmlns="">
          <p:sp>
            <p:nvSpPr>
              <p:cNvPr id="39" name="TextBox 38">
                <a:extLst>
                  <a:ext uri="{FF2B5EF4-FFF2-40B4-BE49-F238E27FC236}">
                    <a16:creationId xmlns:a16="http://schemas.microsoft.com/office/drawing/2014/main" id="{BE79FFF1-518E-B9A9-3334-70E1BA0785D4}"/>
                  </a:ext>
                </a:extLst>
              </p:cNvPr>
              <p:cNvSpPr txBox="1">
                <a:spLocks noRot="1" noChangeAspect="1" noMove="1" noResize="1" noEditPoints="1" noAdjustHandles="1" noChangeArrowheads="1" noChangeShapeType="1" noTextEdit="1"/>
              </p:cNvSpPr>
              <p:nvPr/>
            </p:nvSpPr>
            <p:spPr>
              <a:xfrm>
                <a:off x="4738464" y="5128062"/>
                <a:ext cx="397762" cy="539315"/>
              </a:xfrm>
              <a:prstGeom prst="rect">
                <a:avLst/>
              </a:prstGeom>
              <a:blipFill>
                <a:blip r:embed="rId8"/>
                <a:stretch>
                  <a:fillRect r="-100000"/>
                </a:stretch>
              </a:blipFill>
            </p:spPr>
            <p:txBody>
              <a:bodyPr/>
              <a:lstStyle/>
              <a:p>
                <a:r>
                  <a:rPr lang="en-US">
                    <a:noFill/>
                  </a:rPr>
                  <a:t> </a:t>
                </a:r>
              </a:p>
            </p:txBody>
          </p:sp>
        </mc:Fallback>
      </mc:AlternateContent>
      <p:sp>
        <p:nvSpPr>
          <p:cNvPr id="40" name="Left Brace 39">
            <a:extLst>
              <a:ext uri="{FF2B5EF4-FFF2-40B4-BE49-F238E27FC236}">
                <a16:creationId xmlns:a16="http://schemas.microsoft.com/office/drawing/2014/main" id="{A8311473-E868-02DE-90D0-5BD99C055D3F}"/>
              </a:ext>
            </a:extLst>
          </p:cNvPr>
          <p:cNvSpPr/>
          <p:nvPr/>
        </p:nvSpPr>
        <p:spPr>
          <a:xfrm rot="16200000">
            <a:off x="5804701" y="4554392"/>
            <a:ext cx="413711" cy="830696"/>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6BE7D95D-72FA-3437-6E75-B8F16D102112}"/>
                  </a:ext>
                </a:extLst>
              </p:cNvPr>
              <p:cNvSpPr txBox="1"/>
              <p:nvPr/>
            </p:nvSpPr>
            <p:spPr>
              <a:xfrm>
                <a:off x="5671867" y="5128062"/>
                <a:ext cx="356156"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1/</m:t>
                          </m:r>
                          <m:r>
                            <a:rPr lang="en-US" sz="2800" b="0" i="1" smtClean="0">
                              <a:solidFill>
                                <a:srgbClr val="C00000"/>
                              </a:solidFill>
                              <a:latin typeface="Cambria Math" panose="02040503050406030204" pitchFamily="18" charset="0"/>
                            </a:rPr>
                            <m:t>3</m:t>
                          </m:r>
                        </m:sup>
                      </m:sSup>
                    </m:oMath>
                  </m:oMathPara>
                </a14:m>
                <a:endParaRPr lang="en-US" sz="2800" dirty="0"/>
              </a:p>
            </p:txBody>
          </p:sp>
        </mc:Choice>
        <mc:Fallback xmlns="">
          <p:sp>
            <p:nvSpPr>
              <p:cNvPr id="41" name="TextBox 40">
                <a:extLst>
                  <a:ext uri="{FF2B5EF4-FFF2-40B4-BE49-F238E27FC236}">
                    <a16:creationId xmlns:a16="http://schemas.microsoft.com/office/drawing/2014/main" id="{6BE7D95D-72FA-3437-6E75-B8F16D102112}"/>
                  </a:ext>
                </a:extLst>
              </p:cNvPr>
              <p:cNvSpPr txBox="1">
                <a:spLocks noRot="1" noChangeAspect="1" noMove="1" noResize="1" noEditPoints="1" noAdjustHandles="1" noChangeArrowheads="1" noChangeShapeType="1" noTextEdit="1"/>
              </p:cNvSpPr>
              <p:nvPr/>
            </p:nvSpPr>
            <p:spPr>
              <a:xfrm>
                <a:off x="5671867" y="5128062"/>
                <a:ext cx="356156" cy="539315"/>
              </a:xfrm>
              <a:prstGeom prst="rect">
                <a:avLst/>
              </a:prstGeom>
              <a:blipFill>
                <a:blip r:embed="rId9"/>
                <a:stretch>
                  <a:fillRect r="-123729"/>
                </a:stretch>
              </a:blipFill>
            </p:spPr>
            <p:txBody>
              <a:bodyPr/>
              <a:lstStyle/>
              <a:p>
                <a:r>
                  <a:rPr lang="en-US">
                    <a:noFill/>
                  </a:rPr>
                  <a:t> </a:t>
                </a:r>
              </a:p>
            </p:txBody>
          </p:sp>
        </mc:Fallback>
      </mc:AlternateContent>
      <p:sp>
        <p:nvSpPr>
          <p:cNvPr id="42" name="Left Brace 41">
            <a:extLst>
              <a:ext uri="{FF2B5EF4-FFF2-40B4-BE49-F238E27FC236}">
                <a16:creationId xmlns:a16="http://schemas.microsoft.com/office/drawing/2014/main" id="{97D15A79-C55D-880D-5E44-1887EC88EEB2}"/>
              </a:ext>
            </a:extLst>
          </p:cNvPr>
          <p:cNvSpPr/>
          <p:nvPr/>
        </p:nvSpPr>
        <p:spPr>
          <a:xfrm rot="16200000">
            <a:off x="6632464" y="4563022"/>
            <a:ext cx="413711" cy="813436"/>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6C9D4EB-6B1E-CDAB-2BEC-69135EF4BF23}"/>
                  </a:ext>
                </a:extLst>
              </p:cNvPr>
              <p:cNvSpPr txBox="1"/>
              <p:nvPr/>
            </p:nvSpPr>
            <p:spPr>
              <a:xfrm>
                <a:off x="6508260" y="5128062"/>
                <a:ext cx="348756"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1/</m:t>
                          </m:r>
                          <m:r>
                            <a:rPr lang="en-US" sz="2800" b="0" i="1" smtClean="0">
                              <a:solidFill>
                                <a:srgbClr val="C00000"/>
                              </a:solidFill>
                              <a:latin typeface="Cambria Math" panose="02040503050406030204" pitchFamily="18" charset="0"/>
                            </a:rPr>
                            <m:t>3</m:t>
                          </m:r>
                        </m:sup>
                      </m:sSup>
                    </m:oMath>
                  </m:oMathPara>
                </a14:m>
                <a:endParaRPr lang="en-US" sz="2800" dirty="0"/>
              </a:p>
            </p:txBody>
          </p:sp>
        </mc:Choice>
        <mc:Fallback xmlns="">
          <p:sp>
            <p:nvSpPr>
              <p:cNvPr id="43" name="TextBox 42">
                <a:extLst>
                  <a:ext uri="{FF2B5EF4-FFF2-40B4-BE49-F238E27FC236}">
                    <a16:creationId xmlns:a16="http://schemas.microsoft.com/office/drawing/2014/main" id="{86C9D4EB-6B1E-CDAB-2BEC-69135EF4BF23}"/>
                  </a:ext>
                </a:extLst>
              </p:cNvPr>
              <p:cNvSpPr txBox="1">
                <a:spLocks noRot="1" noChangeAspect="1" noMove="1" noResize="1" noEditPoints="1" noAdjustHandles="1" noChangeArrowheads="1" noChangeShapeType="1" noTextEdit="1"/>
              </p:cNvSpPr>
              <p:nvPr/>
            </p:nvSpPr>
            <p:spPr>
              <a:xfrm>
                <a:off x="6508260" y="5128062"/>
                <a:ext cx="348756" cy="539315"/>
              </a:xfrm>
              <a:prstGeom prst="rect">
                <a:avLst/>
              </a:prstGeom>
              <a:blipFill>
                <a:blip r:embed="rId10"/>
                <a:stretch>
                  <a:fillRect r="-129825"/>
                </a:stretch>
              </a:blipFill>
            </p:spPr>
            <p:txBody>
              <a:bodyPr/>
              <a:lstStyle/>
              <a:p>
                <a:r>
                  <a:rPr lang="en-US">
                    <a:noFill/>
                  </a:rPr>
                  <a:t> </a:t>
                </a:r>
              </a:p>
            </p:txBody>
          </p:sp>
        </mc:Fallback>
      </mc:AlternateContent>
      <p:sp>
        <p:nvSpPr>
          <p:cNvPr id="44" name="Left Brace 43">
            <a:extLst>
              <a:ext uri="{FF2B5EF4-FFF2-40B4-BE49-F238E27FC236}">
                <a16:creationId xmlns:a16="http://schemas.microsoft.com/office/drawing/2014/main" id="{E2D73571-07D5-FC39-3AC4-F1AB671BA528}"/>
              </a:ext>
            </a:extLst>
          </p:cNvPr>
          <p:cNvSpPr/>
          <p:nvPr/>
        </p:nvSpPr>
        <p:spPr>
          <a:xfrm rot="16200000">
            <a:off x="7463596" y="4563022"/>
            <a:ext cx="413711" cy="813436"/>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5D6D118-1F95-23E0-D568-2156C3670CC2}"/>
                  </a:ext>
                </a:extLst>
              </p:cNvPr>
              <p:cNvSpPr txBox="1"/>
              <p:nvPr/>
            </p:nvSpPr>
            <p:spPr>
              <a:xfrm>
                <a:off x="7339392" y="5128062"/>
                <a:ext cx="348756"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1/</m:t>
                          </m:r>
                          <m:r>
                            <a:rPr lang="en-US" sz="2800" b="0" i="1" smtClean="0">
                              <a:solidFill>
                                <a:srgbClr val="C00000"/>
                              </a:solidFill>
                              <a:latin typeface="Cambria Math" panose="02040503050406030204" pitchFamily="18" charset="0"/>
                            </a:rPr>
                            <m:t>3</m:t>
                          </m:r>
                        </m:sup>
                      </m:sSup>
                    </m:oMath>
                  </m:oMathPara>
                </a14:m>
                <a:endParaRPr lang="en-US" sz="2800" dirty="0"/>
              </a:p>
            </p:txBody>
          </p:sp>
        </mc:Choice>
        <mc:Fallback xmlns="">
          <p:sp>
            <p:nvSpPr>
              <p:cNvPr id="45" name="TextBox 44">
                <a:extLst>
                  <a:ext uri="{FF2B5EF4-FFF2-40B4-BE49-F238E27FC236}">
                    <a16:creationId xmlns:a16="http://schemas.microsoft.com/office/drawing/2014/main" id="{55D6D118-1F95-23E0-D568-2156C3670CC2}"/>
                  </a:ext>
                </a:extLst>
              </p:cNvPr>
              <p:cNvSpPr txBox="1">
                <a:spLocks noRot="1" noChangeAspect="1" noMove="1" noResize="1" noEditPoints="1" noAdjustHandles="1" noChangeArrowheads="1" noChangeShapeType="1" noTextEdit="1"/>
              </p:cNvSpPr>
              <p:nvPr/>
            </p:nvSpPr>
            <p:spPr>
              <a:xfrm>
                <a:off x="7339392" y="5128062"/>
                <a:ext cx="348756" cy="539315"/>
              </a:xfrm>
              <a:prstGeom prst="rect">
                <a:avLst/>
              </a:prstGeom>
              <a:blipFill>
                <a:blip r:embed="rId11"/>
                <a:stretch>
                  <a:fillRect r="-131579"/>
                </a:stretch>
              </a:blipFill>
            </p:spPr>
            <p:txBody>
              <a:bodyPr/>
              <a:lstStyle/>
              <a:p>
                <a:r>
                  <a:rPr lang="en-US">
                    <a:noFill/>
                  </a:rPr>
                  <a:t> </a:t>
                </a:r>
              </a:p>
            </p:txBody>
          </p:sp>
        </mc:Fallback>
      </mc:AlternateContent>
      <p:sp>
        <p:nvSpPr>
          <p:cNvPr id="46" name="Left Brace 45">
            <a:extLst>
              <a:ext uri="{FF2B5EF4-FFF2-40B4-BE49-F238E27FC236}">
                <a16:creationId xmlns:a16="http://schemas.microsoft.com/office/drawing/2014/main" id="{3A090522-8700-13E5-17EE-354A856C2F6D}"/>
              </a:ext>
            </a:extLst>
          </p:cNvPr>
          <p:cNvSpPr/>
          <p:nvPr/>
        </p:nvSpPr>
        <p:spPr>
          <a:xfrm rot="16200000">
            <a:off x="8276744" y="4563023"/>
            <a:ext cx="413711" cy="813436"/>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1E645E7E-7308-7B6D-3F40-CE5E712A3C63}"/>
                  </a:ext>
                </a:extLst>
              </p:cNvPr>
              <p:cNvSpPr txBox="1"/>
              <p:nvPr/>
            </p:nvSpPr>
            <p:spPr>
              <a:xfrm>
                <a:off x="8152540" y="5128063"/>
                <a:ext cx="348756"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1/</m:t>
                          </m:r>
                          <m:r>
                            <a:rPr lang="en-US" sz="2800" b="0" i="1" smtClean="0">
                              <a:solidFill>
                                <a:srgbClr val="C00000"/>
                              </a:solidFill>
                              <a:latin typeface="Cambria Math" panose="02040503050406030204" pitchFamily="18" charset="0"/>
                            </a:rPr>
                            <m:t>3</m:t>
                          </m:r>
                        </m:sup>
                      </m:sSup>
                    </m:oMath>
                  </m:oMathPara>
                </a14:m>
                <a:endParaRPr lang="en-US" sz="2800" dirty="0"/>
              </a:p>
            </p:txBody>
          </p:sp>
        </mc:Choice>
        <mc:Fallback xmlns="">
          <p:sp>
            <p:nvSpPr>
              <p:cNvPr id="47" name="TextBox 46">
                <a:extLst>
                  <a:ext uri="{FF2B5EF4-FFF2-40B4-BE49-F238E27FC236}">
                    <a16:creationId xmlns:a16="http://schemas.microsoft.com/office/drawing/2014/main" id="{1E645E7E-7308-7B6D-3F40-CE5E712A3C63}"/>
                  </a:ext>
                </a:extLst>
              </p:cNvPr>
              <p:cNvSpPr txBox="1">
                <a:spLocks noRot="1" noChangeAspect="1" noMove="1" noResize="1" noEditPoints="1" noAdjustHandles="1" noChangeArrowheads="1" noChangeShapeType="1" noTextEdit="1"/>
              </p:cNvSpPr>
              <p:nvPr/>
            </p:nvSpPr>
            <p:spPr>
              <a:xfrm>
                <a:off x="8152540" y="5128063"/>
                <a:ext cx="348756" cy="539315"/>
              </a:xfrm>
              <a:prstGeom prst="rect">
                <a:avLst/>
              </a:prstGeom>
              <a:blipFill>
                <a:blip r:embed="rId12"/>
                <a:stretch>
                  <a:fillRect r="-127586"/>
                </a:stretch>
              </a:blipFill>
            </p:spPr>
            <p:txBody>
              <a:bodyPr/>
              <a:lstStyle/>
              <a:p>
                <a:r>
                  <a:rPr lang="en-US">
                    <a:noFill/>
                  </a:rPr>
                  <a:t> </a:t>
                </a:r>
              </a:p>
            </p:txBody>
          </p:sp>
        </mc:Fallback>
      </mc:AlternateContent>
      <p:sp>
        <p:nvSpPr>
          <p:cNvPr id="48" name="Left Brace 47">
            <a:extLst>
              <a:ext uri="{FF2B5EF4-FFF2-40B4-BE49-F238E27FC236}">
                <a16:creationId xmlns:a16="http://schemas.microsoft.com/office/drawing/2014/main" id="{C67460FF-9562-1E4B-A3E5-01F3F01AF4B2}"/>
              </a:ext>
            </a:extLst>
          </p:cNvPr>
          <p:cNvSpPr/>
          <p:nvPr/>
        </p:nvSpPr>
        <p:spPr>
          <a:xfrm rot="16200000">
            <a:off x="9091205" y="4563023"/>
            <a:ext cx="413711" cy="813436"/>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FF8D3B9-BB62-A434-C500-26A76C9F67CA}"/>
                  </a:ext>
                </a:extLst>
              </p:cNvPr>
              <p:cNvSpPr txBox="1"/>
              <p:nvPr/>
            </p:nvSpPr>
            <p:spPr>
              <a:xfrm>
                <a:off x="8967001" y="5128063"/>
                <a:ext cx="348756"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1/</m:t>
                          </m:r>
                          <m:r>
                            <a:rPr lang="en-US" sz="2800" b="0" i="1" smtClean="0">
                              <a:solidFill>
                                <a:srgbClr val="C00000"/>
                              </a:solidFill>
                              <a:latin typeface="Cambria Math" panose="02040503050406030204" pitchFamily="18" charset="0"/>
                            </a:rPr>
                            <m:t>3</m:t>
                          </m:r>
                        </m:sup>
                      </m:sSup>
                    </m:oMath>
                  </m:oMathPara>
                </a14:m>
                <a:endParaRPr lang="en-US" sz="2800" dirty="0"/>
              </a:p>
            </p:txBody>
          </p:sp>
        </mc:Choice>
        <mc:Fallback xmlns="">
          <p:sp>
            <p:nvSpPr>
              <p:cNvPr id="49" name="TextBox 48">
                <a:extLst>
                  <a:ext uri="{FF2B5EF4-FFF2-40B4-BE49-F238E27FC236}">
                    <a16:creationId xmlns:a16="http://schemas.microsoft.com/office/drawing/2014/main" id="{4FF8D3B9-BB62-A434-C500-26A76C9F67CA}"/>
                  </a:ext>
                </a:extLst>
              </p:cNvPr>
              <p:cNvSpPr txBox="1">
                <a:spLocks noRot="1" noChangeAspect="1" noMove="1" noResize="1" noEditPoints="1" noAdjustHandles="1" noChangeArrowheads="1" noChangeShapeType="1" noTextEdit="1"/>
              </p:cNvSpPr>
              <p:nvPr/>
            </p:nvSpPr>
            <p:spPr>
              <a:xfrm>
                <a:off x="8967001" y="5128063"/>
                <a:ext cx="348756" cy="539315"/>
              </a:xfrm>
              <a:prstGeom prst="rect">
                <a:avLst/>
              </a:prstGeom>
              <a:blipFill>
                <a:blip r:embed="rId13"/>
                <a:stretch>
                  <a:fillRect r="-131579"/>
                </a:stretch>
              </a:blipFill>
            </p:spPr>
            <p:txBody>
              <a:bodyPr/>
              <a:lstStyle/>
              <a:p>
                <a:r>
                  <a:rPr lang="en-US">
                    <a:noFill/>
                  </a:rPr>
                  <a:t> </a:t>
                </a:r>
              </a:p>
            </p:txBody>
          </p:sp>
        </mc:Fallback>
      </mc:AlternateContent>
      <p:sp>
        <p:nvSpPr>
          <p:cNvPr id="50" name="Left Brace 49">
            <a:extLst>
              <a:ext uri="{FF2B5EF4-FFF2-40B4-BE49-F238E27FC236}">
                <a16:creationId xmlns:a16="http://schemas.microsoft.com/office/drawing/2014/main" id="{736FC718-2A5B-DC0D-3D54-D14678EC9C60}"/>
              </a:ext>
            </a:extLst>
          </p:cNvPr>
          <p:cNvSpPr/>
          <p:nvPr/>
        </p:nvSpPr>
        <p:spPr>
          <a:xfrm rot="16200000">
            <a:off x="9921025" y="4563023"/>
            <a:ext cx="413711" cy="813436"/>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91EE136-6C6B-6976-1A90-844D922684B5}"/>
                  </a:ext>
                </a:extLst>
              </p:cNvPr>
              <p:cNvSpPr txBox="1"/>
              <p:nvPr/>
            </p:nvSpPr>
            <p:spPr>
              <a:xfrm>
                <a:off x="9796821" y="5128063"/>
                <a:ext cx="348756" cy="5393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C00000"/>
                              </a:solidFill>
                              <a:latin typeface="Cambria Math" panose="02040503050406030204" pitchFamily="18" charset="0"/>
                            </a:rPr>
                          </m:ctrlPr>
                        </m:sSupPr>
                        <m:e>
                          <m:r>
                            <a:rPr lang="en-US" sz="2800" b="0" i="1" smtClean="0">
                              <a:solidFill>
                                <a:srgbClr val="C00000"/>
                              </a:solidFill>
                              <a:latin typeface="Cambria Math" panose="02040503050406030204" pitchFamily="18" charset="0"/>
                            </a:rPr>
                            <m:t>𝑚</m:t>
                          </m:r>
                        </m:e>
                        <m:sup>
                          <m:r>
                            <a:rPr lang="en-US" sz="2800" b="0" i="0" smtClean="0">
                              <a:solidFill>
                                <a:srgbClr val="C00000"/>
                              </a:solidFill>
                              <a:latin typeface="Cambria Math" panose="02040503050406030204" pitchFamily="18" charset="0"/>
                            </a:rPr>
                            <m:t>1/</m:t>
                          </m:r>
                          <m:r>
                            <a:rPr lang="en-US" sz="2800" b="0" i="1" smtClean="0">
                              <a:solidFill>
                                <a:srgbClr val="C00000"/>
                              </a:solidFill>
                              <a:latin typeface="Cambria Math" panose="02040503050406030204" pitchFamily="18" charset="0"/>
                            </a:rPr>
                            <m:t>3</m:t>
                          </m:r>
                        </m:sup>
                      </m:sSup>
                    </m:oMath>
                  </m:oMathPara>
                </a14:m>
                <a:endParaRPr lang="en-US" sz="2800" dirty="0"/>
              </a:p>
            </p:txBody>
          </p:sp>
        </mc:Choice>
        <mc:Fallback xmlns="">
          <p:sp>
            <p:nvSpPr>
              <p:cNvPr id="51" name="TextBox 50">
                <a:extLst>
                  <a:ext uri="{FF2B5EF4-FFF2-40B4-BE49-F238E27FC236}">
                    <a16:creationId xmlns:a16="http://schemas.microsoft.com/office/drawing/2014/main" id="{991EE136-6C6B-6976-1A90-844D922684B5}"/>
                  </a:ext>
                </a:extLst>
              </p:cNvPr>
              <p:cNvSpPr txBox="1">
                <a:spLocks noRot="1" noChangeAspect="1" noMove="1" noResize="1" noEditPoints="1" noAdjustHandles="1" noChangeArrowheads="1" noChangeShapeType="1" noTextEdit="1"/>
              </p:cNvSpPr>
              <p:nvPr/>
            </p:nvSpPr>
            <p:spPr>
              <a:xfrm>
                <a:off x="9796821" y="5128063"/>
                <a:ext cx="348756" cy="539315"/>
              </a:xfrm>
              <a:prstGeom prst="rect">
                <a:avLst/>
              </a:prstGeom>
              <a:blipFill>
                <a:blip r:embed="rId14"/>
                <a:stretch>
                  <a:fillRect r="-131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D87A318-41BF-FA73-08BC-AC7128F7C0EE}"/>
                  </a:ext>
                </a:extLst>
              </p:cNvPr>
              <p:cNvSpPr txBox="1"/>
              <p:nvPr/>
            </p:nvSpPr>
            <p:spPr>
              <a:xfrm>
                <a:off x="157378" y="477809"/>
                <a:ext cx="2468444" cy="1583447"/>
              </a:xfrm>
              <a:prstGeom prst="rect">
                <a:avLst/>
              </a:prstGeom>
              <a:noFill/>
            </p:spPr>
            <p:txBody>
              <a:bodyPr wrap="square" rtlCol="0">
                <a:spAutoFit/>
              </a:bodyPr>
              <a:lstStyle/>
              <a:p>
                <a:pPr algn="ctr"/>
                <a:r>
                  <a:rPr lang="en-US" sz="2400" dirty="0"/>
                  <a:t>One </a:t>
                </a:r>
                <a14:m>
                  <m:oMath xmlns:m="http://schemas.openxmlformats.org/officeDocument/2006/math">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𝐹</m:t>
                        </m:r>
                      </m:e>
                      <m:sub>
                        <m:r>
                          <a:rPr lang="en-US" sz="2400" b="0" i="1" smtClean="0">
                            <a:solidFill>
                              <a:srgbClr val="C00000"/>
                            </a:solidFill>
                            <a:latin typeface="Cambria Math" panose="02040503050406030204" pitchFamily="18" charset="0"/>
                          </a:rPr>
                          <m:t>2</m:t>
                        </m:r>
                      </m:sub>
                    </m:sSub>
                  </m:oMath>
                </a14:m>
                <a:r>
                  <a:rPr lang="en-US" sz="2400" dirty="0"/>
                  <a:t>-sketch at top level correct on </a:t>
                </a:r>
                <a14:m>
                  <m:oMath xmlns:m="http://schemas.openxmlformats.org/officeDocument/2006/math">
                    <m:sSup>
                      <m:sSupPr>
                        <m:ctrlPr>
                          <a:rPr lang="en-US" sz="2400" b="0" i="1" smtClean="0">
                            <a:solidFill>
                              <a:srgbClr val="C00000"/>
                            </a:solidFill>
                            <a:latin typeface="Cambria Math" panose="02040503050406030204" pitchFamily="18" charset="0"/>
                          </a:rPr>
                        </m:ctrlPr>
                      </m:sSupPr>
                      <m:e>
                        <m:r>
                          <a:rPr lang="en-US" sz="2400" b="0" i="1" smtClean="0">
                            <a:solidFill>
                              <a:srgbClr val="C00000"/>
                            </a:solidFill>
                            <a:latin typeface="Cambria Math" panose="02040503050406030204" pitchFamily="18" charset="0"/>
                          </a:rPr>
                          <m:t>𝑚</m:t>
                        </m:r>
                      </m:e>
                      <m:sup>
                        <m:r>
                          <a:rPr lang="en-US" sz="2400" b="0" i="1" smtClean="0">
                            <a:solidFill>
                              <a:srgbClr val="C00000"/>
                            </a:solidFill>
                            <a:latin typeface="Cambria Math" panose="02040503050406030204" pitchFamily="18" charset="0"/>
                          </a:rPr>
                          <m:t>1/3</m:t>
                        </m:r>
                      </m:sup>
                    </m:sSup>
                    <m:sSup>
                      <m:sSupPr>
                        <m:ctrlPr>
                          <a:rPr lang="en-US" sz="2400" b="0" i="1" smtClean="0">
                            <a:solidFill>
                              <a:srgbClr val="C00000"/>
                            </a:solidFill>
                            <a:latin typeface="Cambria Math" panose="02040503050406030204" pitchFamily="18" charset="0"/>
                          </a:rPr>
                        </m:ctrlPr>
                      </m:sSupPr>
                      <m:e>
                        <m:r>
                          <a:rPr lang="en-US" sz="2400" b="0" i="1" smtClean="0">
                            <a:solidFill>
                              <a:srgbClr val="C00000"/>
                            </a:solidFill>
                            <a:latin typeface="Cambria Math" panose="02040503050406030204" pitchFamily="18" charset="0"/>
                          </a:rPr>
                          <m:t>𝜀</m:t>
                        </m:r>
                      </m:e>
                      <m:sup>
                        <m:r>
                          <a:rPr lang="en-US" sz="2400" b="0" i="1" smtClean="0">
                            <a:solidFill>
                              <a:srgbClr val="C00000"/>
                            </a:solidFill>
                            <a:latin typeface="Cambria Math" panose="02040503050406030204" pitchFamily="18" charset="0"/>
                          </a:rPr>
                          <m:t>−2</m:t>
                        </m:r>
                      </m:sup>
                    </m:sSup>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log</m:t>
                        </m:r>
                      </m:fName>
                      <m:e>
                        <m:r>
                          <a:rPr lang="en-US" sz="2400" b="0" i="1" smtClean="0">
                            <a:solidFill>
                              <a:srgbClr val="C00000"/>
                            </a:solidFill>
                            <a:latin typeface="Cambria Math" panose="02040503050406030204" pitchFamily="18" charset="0"/>
                          </a:rPr>
                          <m:t>𝑚</m:t>
                        </m:r>
                      </m:e>
                    </m:func>
                  </m:oMath>
                </a14:m>
                <a:r>
                  <a:rPr lang="en-US" sz="2400" dirty="0">
                    <a:solidFill>
                      <a:srgbClr val="C00000"/>
                    </a:solidFill>
                  </a:rPr>
                  <a:t> </a:t>
                </a:r>
                <a:r>
                  <a:rPr lang="en-US" sz="2400" dirty="0"/>
                  <a:t>adaptive queries</a:t>
                </a:r>
              </a:p>
            </p:txBody>
          </p:sp>
        </mc:Choice>
        <mc:Fallback xmlns="">
          <p:sp>
            <p:nvSpPr>
              <p:cNvPr id="2" name="TextBox 1">
                <a:extLst>
                  <a:ext uri="{FF2B5EF4-FFF2-40B4-BE49-F238E27FC236}">
                    <a16:creationId xmlns:a16="http://schemas.microsoft.com/office/drawing/2014/main" id="{6D87A318-41BF-FA73-08BC-AC7128F7C0EE}"/>
                  </a:ext>
                </a:extLst>
              </p:cNvPr>
              <p:cNvSpPr txBox="1">
                <a:spLocks noRot="1" noChangeAspect="1" noMove="1" noResize="1" noEditPoints="1" noAdjustHandles="1" noChangeArrowheads="1" noChangeShapeType="1" noTextEdit="1"/>
              </p:cNvSpPr>
              <p:nvPr/>
            </p:nvSpPr>
            <p:spPr>
              <a:xfrm>
                <a:off x="157378" y="477809"/>
                <a:ext cx="2468444" cy="1583447"/>
              </a:xfrm>
              <a:prstGeom prst="rect">
                <a:avLst/>
              </a:prstGeom>
              <a:blipFill>
                <a:blip r:embed="rId15"/>
                <a:stretch>
                  <a:fillRect l="-2963" t="-3077" r="-1728"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C8211EF-33C7-219F-9E6E-B078DE90ADD7}"/>
                  </a:ext>
                </a:extLst>
              </p:cNvPr>
              <p:cNvSpPr txBox="1"/>
              <p:nvPr/>
            </p:nvSpPr>
            <p:spPr>
              <a:xfrm>
                <a:off x="213341" y="2771407"/>
                <a:ext cx="2292824" cy="2364815"/>
              </a:xfrm>
              <a:prstGeom prst="rect">
                <a:avLst/>
              </a:prstGeom>
              <a:noFill/>
            </p:spPr>
            <p:txBody>
              <a:bodyPr wrap="square" rtlCol="0">
                <a:spAutoFit/>
              </a:bodyPr>
              <a:lstStyle/>
              <a:p>
                <a:pPr algn="ctr"/>
                <a:r>
                  <a:rPr lang="en-US" sz="2400" dirty="0"/>
                  <a:t>Independent</a:t>
                </a:r>
                <a14:m>
                  <m:oMath xmlns:m="http://schemas.openxmlformats.org/officeDocument/2006/math">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 </m:t>
                        </m:r>
                        <m:r>
                          <a:rPr lang="en-US" sz="2400" b="0" i="1" smtClean="0">
                            <a:solidFill>
                              <a:srgbClr val="C00000"/>
                            </a:solidFill>
                            <a:latin typeface="Cambria Math" panose="02040503050406030204" pitchFamily="18" charset="0"/>
                          </a:rPr>
                          <m:t>𝐹</m:t>
                        </m:r>
                      </m:e>
                      <m:sub>
                        <m:r>
                          <a:rPr lang="en-US" sz="2400" b="0" i="1" smtClean="0">
                            <a:solidFill>
                              <a:srgbClr val="C00000"/>
                            </a:solidFill>
                            <a:latin typeface="Cambria Math" panose="02040503050406030204" pitchFamily="18" charset="0"/>
                          </a:rPr>
                          <m:t>2</m:t>
                        </m:r>
                      </m:sub>
                    </m:sSub>
                  </m:oMath>
                </a14:m>
                <a:r>
                  <a:rPr lang="en-US" sz="2400" dirty="0"/>
                  <a:t>-sketch for each block of middle level, correct on </a:t>
                </a:r>
                <a14:m>
                  <m:oMath xmlns:m="http://schemas.openxmlformats.org/officeDocument/2006/math">
                    <m:sSup>
                      <m:sSupPr>
                        <m:ctrlPr>
                          <a:rPr lang="en-US" sz="2400" b="0" i="1" smtClean="0">
                            <a:solidFill>
                              <a:srgbClr val="C00000"/>
                            </a:solidFill>
                            <a:latin typeface="Cambria Math" panose="02040503050406030204" pitchFamily="18" charset="0"/>
                          </a:rPr>
                        </m:ctrlPr>
                      </m:sSupPr>
                      <m:e>
                        <m:r>
                          <a:rPr lang="en-US" sz="2400" b="0" i="1" smtClean="0">
                            <a:solidFill>
                              <a:srgbClr val="C00000"/>
                            </a:solidFill>
                            <a:latin typeface="Cambria Math" panose="02040503050406030204" pitchFamily="18" charset="0"/>
                          </a:rPr>
                          <m:t>𝑚</m:t>
                        </m:r>
                      </m:e>
                      <m:sup>
                        <m:r>
                          <a:rPr lang="en-US" sz="2400" b="0" i="1" smtClean="0">
                            <a:solidFill>
                              <a:srgbClr val="C00000"/>
                            </a:solidFill>
                            <a:latin typeface="Cambria Math" panose="02040503050406030204" pitchFamily="18" charset="0"/>
                          </a:rPr>
                          <m:t>1/3</m:t>
                        </m:r>
                      </m:sup>
                    </m:sSup>
                    <m:sSup>
                      <m:sSupPr>
                        <m:ctrlPr>
                          <a:rPr lang="en-US" sz="2400" b="0" i="1" smtClean="0">
                            <a:solidFill>
                              <a:srgbClr val="C00000"/>
                            </a:solidFill>
                            <a:latin typeface="Cambria Math" panose="02040503050406030204" pitchFamily="18" charset="0"/>
                          </a:rPr>
                        </m:ctrlPr>
                      </m:sSupPr>
                      <m:e>
                        <m:r>
                          <a:rPr lang="en-US" sz="2400" b="0" i="1" smtClean="0">
                            <a:solidFill>
                              <a:srgbClr val="C00000"/>
                            </a:solidFill>
                            <a:latin typeface="Cambria Math" panose="02040503050406030204" pitchFamily="18" charset="0"/>
                          </a:rPr>
                          <m:t>𝜀</m:t>
                        </m:r>
                      </m:e>
                      <m:sup>
                        <m:r>
                          <a:rPr lang="en-US" sz="2400" b="0" i="1" smtClean="0">
                            <a:solidFill>
                              <a:srgbClr val="C00000"/>
                            </a:solidFill>
                            <a:latin typeface="Cambria Math" panose="02040503050406030204" pitchFamily="18" charset="0"/>
                          </a:rPr>
                          <m:t>−2</m:t>
                        </m:r>
                      </m:sup>
                    </m:sSup>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log</m:t>
                        </m:r>
                      </m:fName>
                      <m:e>
                        <m:r>
                          <a:rPr lang="en-US" sz="2400" b="0" i="1" smtClean="0">
                            <a:solidFill>
                              <a:srgbClr val="C00000"/>
                            </a:solidFill>
                            <a:latin typeface="Cambria Math" panose="02040503050406030204" pitchFamily="18" charset="0"/>
                          </a:rPr>
                          <m:t>𝑚</m:t>
                        </m:r>
                      </m:e>
                    </m:func>
                  </m:oMath>
                </a14:m>
                <a:r>
                  <a:rPr lang="en-US" sz="2400" dirty="0"/>
                  <a:t> adaptive queries</a:t>
                </a:r>
              </a:p>
            </p:txBody>
          </p:sp>
        </mc:Choice>
        <mc:Fallback xmlns="">
          <p:sp>
            <p:nvSpPr>
              <p:cNvPr id="3" name="TextBox 2">
                <a:extLst>
                  <a:ext uri="{FF2B5EF4-FFF2-40B4-BE49-F238E27FC236}">
                    <a16:creationId xmlns:a16="http://schemas.microsoft.com/office/drawing/2014/main" id="{7C8211EF-33C7-219F-9E6E-B078DE90ADD7}"/>
                  </a:ext>
                </a:extLst>
              </p:cNvPr>
              <p:cNvSpPr txBox="1">
                <a:spLocks noRot="1" noChangeAspect="1" noMove="1" noResize="1" noEditPoints="1" noAdjustHandles="1" noChangeArrowheads="1" noChangeShapeType="1" noTextEdit="1"/>
              </p:cNvSpPr>
              <p:nvPr/>
            </p:nvSpPr>
            <p:spPr>
              <a:xfrm>
                <a:off x="213341" y="2771407"/>
                <a:ext cx="2292824" cy="2364815"/>
              </a:xfrm>
              <a:prstGeom prst="rect">
                <a:avLst/>
              </a:prstGeom>
              <a:blipFill>
                <a:blip r:embed="rId16"/>
                <a:stretch>
                  <a:fillRect l="-2926" t="-2062" r="-4787" b="-3093"/>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D3D99CB9-E151-77CD-E527-339C6EA0A614}"/>
              </a:ext>
            </a:extLst>
          </p:cNvPr>
          <p:cNvCxnSpPr>
            <a:cxnSpLocks/>
            <a:stCxn id="3" idx="3"/>
          </p:cNvCxnSpPr>
          <p:nvPr/>
        </p:nvCxnSpPr>
        <p:spPr>
          <a:xfrm flipV="1">
            <a:off x="2506165" y="2945846"/>
            <a:ext cx="1216054" cy="1007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2B915BA-C4AA-54B9-DD27-AFA359CD9E56}"/>
              </a:ext>
            </a:extLst>
          </p:cNvPr>
          <p:cNvCxnSpPr/>
          <p:nvPr/>
        </p:nvCxnSpPr>
        <p:spPr>
          <a:xfrm>
            <a:off x="2560756" y="934872"/>
            <a:ext cx="3535244" cy="694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3F7B3AD2-C473-C2C9-5FF1-C6E1D864B3FB}"/>
              </a:ext>
            </a:extLst>
          </p:cNvPr>
          <p:cNvCxnSpPr>
            <a:cxnSpLocks/>
          </p:cNvCxnSpPr>
          <p:nvPr/>
        </p:nvCxnSpPr>
        <p:spPr>
          <a:xfrm flipV="1">
            <a:off x="2506165" y="2956607"/>
            <a:ext cx="4330300" cy="975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8BC3474-21FA-7C4D-71D9-C77AABF912D3}"/>
              </a:ext>
            </a:extLst>
          </p:cNvPr>
          <p:cNvCxnSpPr>
            <a:cxnSpLocks/>
            <a:stCxn id="3" idx="3"/>
          </p:cNvCxnSpPr>
          <p:nvPr/>
        </p:nvCxnSpPr>
        <p:spPr>
          <a:xfrm flipV="1">
            <a:off x="2506165" y="2943887"/>
            <a:ext cx="6628063" cy="1009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411E7A-ED9F-573C-D338-F66B58126A42}"/>
                  </a:ext>
                </a:extLst>
              </p:cNvPr>
              <p:cNvSpPr txBox="1"/>
              <p:nvPr/>
            </p:nvSpPr>
            <p:spPr>
              <a:xfrm>
                <a:off x="563743" y="5932575"/>
                <a:ext cx="10082760" cy="475451"/>
              </a:xfrm>
              <a:prstGeom prst="rect">
                <a:avLst/>
              </a:prstGeom>
              <a:noFill/>
            </p:spPr>
            <p:txBody>
              <a:bodyPr wrap="none" rtlCol="0">
                <a:spAutoFit/>
              </a:bodyPr>
              <a:lstStyle/>
              <a:p>
                <a:r>
                  <a:rPr lang="en-US" sz="2400" dirty="0"/>
                  <a:t>Independent</a:t>
                </a:r>
                <a14:m>
                  <m:oMath xmlns:m="http://schemas.openxmlformats.org/officeDocument/2006/math">
                    <m:sSub>
                      <m:sSubPr>
                        <m:ctrlPr>
                          <a:rPr lang="en-US" sz="2400" i="1" smtClean="0">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 </m:t>
                        </m:r>
                        <m:r>
                          <a:rPr lang="en-US" sz="2400" i="1">
                            <a:solidFill>
                              <a:srgbClr val="C00000"/>
                            </a:solidFill>
                            <a:latin typeface="Cambria Math" panose="02040503050406030204" pitchFamily="18" charset="0"/>
                          </a:rPr>
                          <m:t>𝐹</m:t>
                        </m:r>
                      </m:e>
                      <m:sub>
                        <m:r>
                          <a:rPr lang="en-US" sz="2400" i="1">
                            <a:solidFill>
                              <a:srgbClr val="C00000"/>
                            </a:solidFill>
                            <a:latin typeface="Cambria Math" panose="02040503050406030204" pitchFamily="18" charset="0"/>
                          </a:rPr>
                          <m:t>2</m:t>
                        </m:r>
                      </m:sub>
                    </m:sSub>
                  </m:oMath>
                </a14:m>
                <a:r>
                  <a:rPr lang="en-US" sz="2400" dirty="0"/>
                  <a:t>-sketch for each block of </a:t>
                </a:r>
                <a14:m>
                  <m:oMath xmlns:m="http://schemas.openxmlformats.org/officeDocument/2006/math">
                    <m:sSup>
                      <m:sSupPr>
                        <m:ctrlPr>
                          <a:rPr lang="en-US" sz="2400" i="1">
                            <a:solidFill>
                              <a:srgbClr val="C00000"/>
                            </a:solidFill>
                            <a:latin typeface="Cambria Math" panose="02040503050406030204" pitchFamily="18" charset="0"/>
                          </a:rPr>
                        </m:ctrlPr>
                      </m:sSupPr>
                      <m:e>
                        <m:r>
                          <a:rPr lang="en-US" sz="2400" i="1">
                            <a:solidFill>
                              <a:srgbClr val="C00000"/>
                            </a:solidFill>
                            <a:latin typeface="Cambria Math" panose="02040503050406030204" pitchFamily="18" charset="0"/>
                          </a:rPr>
                          <m:t>𝑚</m:t>
                        </m:r>
                      </m:e>
                      <m:sup>
                        <m:r>
                          <a:rPr lang="en-US" sz="2400">
                            <a:solidFill>
                              <a:srgbClr val="C00000"/>
                            </a:solidFill>
                            <a:latin typeface="Cambria Math" panose="02040503050406030204" pitchFamily="18" charset="0"/>
                          </a:rPr>
                          <m:t>1/</m:t>
                        </m:r>
                        <m:r>
                          <a:rPr lang="en-US" sz="2400" i="1">
                            <a:solidFill>
                              <a:srgbClr val="C00000"/>
                            </a:solidFill>
                            <a:latin typeface="Cambria Math" panose="02040503050406030204" pitchFamily="18" charset="0"/>
                          </a:rPr>
                          <m:t>3</m:t>
                        </m:r>
                      </m:sup>
                    </m:sSup>
                  </m:oMath>
                </a14:m>
                <a:r>
                  <a:rPr lang="en-US" sz="2400" dirty="0"/>
                  <a:t> adaptive queries at bottom level </a:t>
                </a:r>
              </a:p>
            </p:txBody>
          </p:sp>
        </mc:Choice>
        <mc:Fallback xmlns="">
          <p:sp>
            <p:nvSpPr>
              <p:cNvPr id="5" name="TextBox 4">
                <a:extLst>
                  <a:ext uri="{FF2B5EF4-FFF2-40B4-BE49-F238E27FC236}">
                    <a16:creationId xmlns:a16="http://schemas.microsoft.com/office/drawing/2014/main" id="{39411E7A-ED9F-573C-D338-F66B58126A42}"/>
                  </a:ext>
                </a:extLst>
              </p:cNvPr>
              <p:cNvSpPr txBox="1">
                <a:spLocks noRot="1" noChangeAspect="1" noMove="1" noResize="1" noEditPoints="1" noAdjustHandles="1" noChangeArrowheads="1" noChangeShapeType="1" noTextEdit="1"/>
              </p:cNvSpPr>
              <p:nvPr/>
            </p:nvSpPr>
            <p:spPr>
              <a:xfrm>
                <a:off x="563743" y="5932575"/>
                <a:ext cx="10082760" cy="475451"/>
              </a:xfrm>
              <a:prstGeom prst="rect">
                <a:avLst/>
              </a:prstGeom>
              <a:blipFill>
                <a:blip r:embed="rId17"/>
                <a:stretch>
                  <a:fillRect l="-907" t="-7692" b="-28205"/>
                </a:stretch>
              </a:blipFill>
            </p:spPr>
            <p:txBody>
              <a:bodyPr/>
              <a:lstStyle/>
              <a:p>
                <a:r>
                  <a:rPr lang="en-US">
                    <a:noFill/>
                  </a:rPr>
                  <a:t> </a:t>
                </a:r>
              </a:p>
            </p:txBody>
          </p:sp>
        </mc:Fallback>
      </mc:AlternateContent>
      <p:sp>
        <p:nvSpPr>
          <p:cNvPr id="12" name="Speech Bubble: Rectangle 11">
            <a:extLst>
              <a:ext uri="{FF2B5EF4-FFF2-40B4-BE49-F238E27FC236}">
                <a16:creationId xmlns:a16="http://schemas.microsoft.com/office/drawing/2014/main" id="{0B3CE9F6-FDD2-EB8D-E43C-FE236FD890F6}"/>
              </a:ext>
            </a:extLst>
          </p:cNvPr>
          <p:cNvSpPr/>
          <p:nvPr/>
        </p:nvSpPr>
        <p:spPr>
          <a:xfrm>
            <a:off x="9403595" y="12808"/>
            <a:ext cx="2631028" cy="2048448"/>
          </a:xfrm>
          <a:prstGeom prst="wedgeRectCallou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Note: throw away a sketch after its block expires</a:t>
            </a:r>
          </a:p>
        </p:txBody>
      </p:sp>
    </p:spTree>
    <p:extLst>
      <p:ext uri="{BB962C8B-B14F-4D97-AF65-F5344CB8AC3E}">
        <p14:creationId xmlns:p14="http://schemas.microsoft.com/office/powerpoint/2010/main" val="126246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1D276-2415-B781-97D1-DD77EA74D6C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AFFFB5D-9A50-7CEF-0624-DBFCFCD15F35}"/>
              </a:ext>
            </a:extLst>
          </p:cNvPr>
          <p:cNvPicPr>
            <a:picLocks noChangeAspect="1"/>
          </p:cNvPicPr>
          <p:nvPr/>
        </p:nvPicPr>
        <p:blipFill>
          <a:blip r:embed="rId3"/>
          <a:stretch>
            <a:fillRect/>
          </a:stretch>
        </p:blipFill>
        <p:spPr>
          <a:xfrm>
            <a:off x="0" y="1043356"/>
            <a:ext cx="12192000" cy="4771287"/>
          </a:xfrm>
          <a:prstGeom prst="rect">
            <a:avLst/>
          </a:prstGeom>
        </p:spPr>
      </p:pic>
    </p:spTree>
    <p:extLst>
      <p:ext uri="{BB962C8B-B14F-4D97-AF65-F5344CB8AC3E}">
        <p14:creationId xmlns:p14="http://schemas.microsoft.com/office/powerpoint/2010/main" val="35759760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D16E3-BCD6-00D2-B2A5-02139CE12F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FBFCE-4B36-A51F-5485-DC912F53EE6C}"/>
              </a:ext>
            </a:extLst>
          </p:cNvPr>
          <p:cNvSpPr>
            <a:spLocks noGrp="1"/>
          </p:cNvSpPr>
          <p:nvPr>
            <p:ph type="title"/>
          </p:nvPr>
        </p:nvSpPr>
        <p:spPr/>
        <p:txBody>
          <a:bodyPr/>
          <a:lstStyle/>
          <a:p>
            <a:r>
              <a:rPr lang="en-US" dirty="0">
                <a:solidFill>
                  <a:srgbClr val="C00000"/>
                </a:solidFill>
              </a:rPr>
              <a:t>Recursion Tree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FBD528-6F27-2839-912E-DEB81D1C9CFC}"/>
                  </a:ext>
                </a:extLst>
              </p:cNvPr>
              <p:cNvSpPr>
                <a:spLocks noGrp="1"/>
              </p:cNvSpPr>
              <p:nvPr>
                <p:ph idx="1"/>
              </p:nvPr>
            </p:nvSpPr>
            <p:spPr>
              <a:xfrm>
                <a:off x="838200" y="1874583"/>
                <a:ext cx="10515600" cy="4788239"/>
              </a:xfrm>
            </p:spPr>
            <p:txBody>
              <a:bodyPr>
                <a:normAutofit/>
              </a:bodyPr>
              <a:lstStyle/>
              <a:p>
                <a:pPr>
                  <a:buClr>
                    <a:schemeClr val="tx1"/>
                  </a:buClr>
                </a:pPr>
                <a:r>
                  <a:rPr lang="en-US" sz="3000" dirty="0"/>
                  <a:t>Suppose each node in recursion tree with height </a:t>
                </a:r>
                <a14:m>
                  <m:oMath xmlns:m="http://schemas.openxmlformats.org/officeDocument/2006/math">
                    <m:r>
                      <a:rPr lang="en-US" sz="3000" b="0" i="1" smtClean="0">
                        <a:solidFill>
                          <a:srgbClr val="C00000"/>
                        </a:solidFill>
                        <a:latin typeface="Cambria Math" panose="02040503050406030204" pitchFamily="18" charset="0"/>
                      </a:rPr>
                      <m:t>𝐻</m:t>
                    </m:r>
                  </m:oMath>
                </a14:m>
                <a:r>
                  <a:rPr lang="en-US" sz="3000" dirty="0"/>
                  <a:t> has </a:t>
                </a:r>
                <a14:m>
                  <m:oMath xmlns:m="http://schemas.openxmlformats.org/officeDocument/2006/math">
                    <m:r>
                      <a:rPr lang="en-US" sz="3000" b="0" i="1" smtClean="0">
                        <a:solidFill>
                          <a:srgbClr val="C00000"/>
                        </a:solidFill>
                        <a:latin typeface="Cambria Math" panose="02040503050406030204" pitchFamily="18" charset="0"/>
                      </a:rPr>
                      <m:t>𝐵</m:t>
                    </m:r>
                  </m:oMath>
                </a14:m>
                <a:r>
                  <a:rPr lang="en-US" sz="3000" dirty="0"/>
                  <a:t> blocks</a:t>
                </a:r>
              </a:p>
              <a:p>
                <a:pPr marL="0" indent="0">
                  <a:buClr>
                    <a:schemeClr val="tx1"/>
                  </a:buClr>
                  <a:buNone/>
                </a:pPr>
                <a:endParaRPr lang="en-US" sz="3000" dirty="0"/>
              </a:p>
              <a:p>
                <a:pPr>
                  <a:buClr>
                    <a:schemeClr val="tx1"/>
                  </a:buClr>
                </a:pPr>
                <a:r>
                  <a:rPr lang="en-US" sz="3000" dirty="0"/>
                  <a:t>Must have </a:t>
                </a:r>
                <a14:m>
                  <m:oMath xmlns:m="http://schemas.openxmlformats.org/officeDocument/2006/math">
                    <m:r>
                      <a:rPr lang="en-US" sz="3000" b="0" i="1" smtClean="0">
                        <a:solidFill>
                          <a:srgbClr val="C00000"/>
                        </a:solidFill>
                        <a:latin typeface="Cambria Math" panose="02040503050406030204" pitchFamily="18" charset="0"/>
                      </a:rPr>
                      <m:t>𝐵</m:t>
                    </m:r>
                    <m:r>
                      <a:rPr lang="en-US" sz="3000" b="0" i="1" smtClean="0">
                        <a:solidFill>
                          <a:srgbClr val="C00000"/>
                        </a:solidFill>
                        <a:latin typeface="Cambria Math" panose="02040503050406030204" pitchFamily="18" charset="0"/>
                      </a:rPr>
                      <m:t>≽</m:t>
                    </m:r>
                    <m:f>
                      <m:fPr>
                        <m:ctrlPr>
                          <a:rPr lang="en-US" sz="3000" b="0" i="1" smtClean="0">
                            <a:solidFill>
                              <a:srgbClr val="C00000"/>
                            </a:solidFill>
                            <a:latin typeface="Cambria Math" panose="02040503050406030204" pitchFamily="18" charset="0"/>
                          </a:rPr>
                        </m:ctrlPr>
                      </m:fPr>
                      <m:num>
                        <m:r>
                          <a:rPr lang="en-US" sz="3000" b="0" i="1" smtClean="0">
                            <a:solidFill>
                              <a:srgbClr val="C00000"/>
                            </a:solidFill>
                            <a:latin typeface="Cambria Math" panose="02040503050406030204" pitchFamily="18" charset="0"/>
                          </a:rPr>
                          <m:t>1</m:t>
                        </m:r>
                      </m:num>
                      <m:den>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𝜀</m:t>
                            </m:r>
                          </m:e>
                          <m:sup>
                            <m:r>
                              <a:rPr lang="en-US" sz="3000" i="1">
                                <a:solidFill>
                                  <a:srgbClr val="C00000"/>
                                </a:solidFill>
                                <a:latin typeface="Cambria Math" panose="02040503050406030204" pitchFamily="18" charset="0"/>
                              </a:rPr>
                              <m:t>2</m:t>
                            </m:r>
                          </m:sup>
                        </m:sSup>
                      </m:den>
                    </m:f>
                    <m:func>
                      <m:funcPr>
                        <m:ctrlPr>
                          <a:rPr lang="en-US" sz="3000" b="0" i="1" smtClean="0">
                            <a:solidFill>
                              <a:srgbClr val="C00000"/>
                            </a:solidFill>
                            <a:latin typeface="Cambria Math" panose="02040503050406030204" pitchFamily="18" charset="0"/>
                          </a:rPr>
                        </m:ctrlPr>
                      </m:funcPr>
                      <m:fName>
                        <m:r>
                          <m:rPr>
                            <m:sty m:val="p"/>
                          </m:rPr>
                          <a:rPr lang="en-US" sz="3000" b="0" i="0" smtClean="0">
                            <a:solidFill>
                              <a:srgbClr val="C00000"/>
                            </a:solidFill>
                            <a:latin typeface="Cambria Math" panose="02040503050406030204" pitchFamily="18" charset="0"/>
                          </a:rPr>
                          <m:t>log</m:t>
                        </m:r>
                      </m:fName>
                      <m:e>
                        <m:r>
                          <a:rPr lang="en-US" sz="3000" b="0" i="1" smtClean="0">
                            <a:solidFill>
                              <a:srgbClr val="C00000"/>
                            </a:solidFill>
                            <a:latin typeface="Cambria Math" panose="02040503050406030204" pitchFamily="18" charset="0"/>
                          </a:rPr>
                          <m:t>𝑛</m:t>
                        </m:r>
                      </m:e>
                    </m:func>
                  </m:oMath>
                </a14:m>
                <a:r>
                  <a:rPr lang="en-US" sz="3000" dirty="0"/>
                  <a:t>, since adversary can force you to spawn this many children</a:t>
                </a:r>
              </a:p>
              <a:p>
                <a:pPr>
                  <a:buClr>
                    <a:schemeClr val="tx1"/>
                  </a:buClr>
                </a:pPr>
                <a:endParaRPr lang="en-US" sz="3000" dirty="0"/>
              </a:p>
              <a:p>
                <a:pPr>
                  <a:buClr>
                    <a:schemeClr val="tx1"/>
                  </a:buClr>
                </a:pPr>
                <a:r>
                  <a:rPr lang="en-US" sz="3000" dirty="0"/>
                  <a:t>For </a:t>
                </a:r>
                <a14:m>
                  <m:oMath xmlns:m="http://schemas.openxmlformats.org/officeDocument/2006/math">
                    <m:sSup>
                      <m:sSupPr>
                        <m:ctrlPr>
                          <a:rPr lang="en-US" sz="3000" b="0" i="1" smtClean="0">
                            <a:solidFill>
                              <a:srgbClr val="C00000"/>
                            </a:solidFill>
                            <a:latin typeface="Cambria Math" panose="02040503050406030204" pitchFamily="18" charset="0"/>
                          </a:rPr>
                        </m:ctrlPr>
                      </m:sSupPr>
                      <m:e>
                        <m:r>
                          <a:rPr lang="en-US" sz="3000" b="0" i="1" smtClean="0">
                            <a:solidFill>
                              <a:srgbClr val="C00000"/>
                            </a:solidFill>
                            <a:latin typeface="Cambria Math" panose="02040503050406030204" pitchFamily="18" charset="0"/>
                          </a:rPr>
                          <m:t>𝐵</m:t>
                        </m:r>
                      </m:e>
                      <m:sup>
                        <m:r>
                          <a:rPr lang="en-US" sz="3000" b="0" i="1" smtClean="0">
                            <a:solidFill>
                              <a:srgbClr val="C00000"/>
                            </a:solidFill>
                            <a:latin typeface="Cambria Math" panose="02040503050406030204" pitchFamily="18" charset="0"/>
                          </a:rPr>
                          <m:t>𝐻</m:t>
                        </m:r>
                      </m:sup>
                    </m:sSup>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𝑚</m:t>
                    </m:r>
                  </m:oMath>
                </a14:m>
                <a:r>
                  <a:rPr lang="en-US" sz="3000" dirty="0"/>
                  <a:t>, suffices to set </a:t>
                </a:r>
                <a14:m>
                  <m:oMath xmlns:m="http://schemas.openxmlformats.org/officeDocument/2006/math">
                    <m:r>
                      <a:rPr lang="en-US" sz="3000" b="0" i="1" smtClean="0">
                        <a:solidFill>
                          <a:srgbClr val="C00000"/>
                        </a:solidFill>
                        <a:latin typeface="Cambria Math" panose="02040503050406030204" pitchFamily="18" charset="0"/>
                      </a:rPr>
                      <m:t>𝐻</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𝑂</m:t>
                    </m:r>
                    <m:d>
                      <m:dPr>
                        <m:ctrlPr>
                          <a:rPr lang="en-US" sz="3000" b="0" i="1" smtClean="0">
                            <a:solidFill>
                              <a:srgbClr val="C00000"/>
                            </a:solidFill>
                            <a:latin typeface="Cambria Math" panose="02040503050406030204" pitchFamily="18" charset="0"/>
                          </a:rPr>
                        </m:ctrlPr>
                      </m:dPr>
                      <m:e>
                        <m:func>
                          <m:funcPr>
                            <m:ctrlPr>
                              <a:rPr lang="en-US" sz="3000" b="0" i="1" smtClean="0">
                                <a:solidFill>
                                  <a:srgbClr val="C00000"/>
                                </a:solidFill>
                                <a:latin typeface="Cambria Math" panose="02040503050406030204" pitchFamily="18" charset="0"/>
                              </a:rPr>
                            </m:ctrlPr>
                          </m:funcPr>
                          <m:fName>
                            <m:r>
                              <m:rPr>
                                <m:sty m:val="p"/>
                              </m:rPr>
                              <a:rPr lang="en-US" sz="3000" b="0" i="0" smtClean="0">
                                <a:solidFill>
                                  <a:srgbClr val="C00000"/>
                                </a:solidFill>
                                <a:latin typeface="Cambria Math" panose="02040503050406030204" pitchFamily="18" charset="0"/>
                              </a:rPr>
                              <m:t>log</m:t>
                            </m:r>
                          </m:fName>
                          <m:e>
                            <m:r>
                              <a:rPr lang="en-US" sz="3000" b="0" i="1" smtClean="0">
                                <a:solidFill>
                                  <a:srgbClr val="C00000"/>
                                </a:solidFill>
                                <a:latin typeface="Cambria Math" panose="02040503050406030204" pitchFamily="18" charset="0"/>
                              </a:rPr>
                              <m:t>𝑚</m:t>
                            </m:r>
                          </m:e>
                        </m:func>
                      </m:e>
                    </m:d>
                  </m:oMath>
                </a14:m>
                <a:endParaRPr lang="en-US" sz="3000" dirty="0"/>
              </a:p>
              <a:p>
                <a:pPr>
                  <a:buClr>
                    <a:schemeClr val="tx1"/>
                  </a:buClr>
                </a:pPr>
                <a:endParaRPr lang="en-US" sz="3000" dirty="0"/>
              </a:p>
              <a:p>
                <a:pPr>
                  <a:buClr>
                    <a:schemeClr val="tx1"/>
                  </a:buClr>
                </a:pPr>
                <a:endParaRPr lang="en-US" sz="3000" dirty="0"/>
              </a:p>
            </p:txBody>
          </p:sp>
        </mc:Choice>
        <mc:Fallback xmlns="">
          <p:sp>
            <p:nvSpPr>
              <p:cNvPr id="3" name="Content Placeholder 2">
                <a:extLst>
                  <a:ext uri="{FF2B5EF4-FFF2-40B4-BE49-F238E27FC236}">
                    <a16:creationId xmlns:a16="http://schemas.microsoft.com/office/drawing/2014/main" id="{CCFBD528-6F27-2839-912E-DEB81D1C9CFC}"/>
                  </a:ext>
                </a:extLst>
              </p:cNvPr>
              <p:cNvSpPr>
                <a:spLocks noGrp="1" noRot="1" noChangeAspect="1" noMove="1" noResize="1" noEditPoints="1" noAdjustHandles="1" noChangeArrowheads="1" noChangeShapeType="1" noTextEdit="1"/>
              </p:cNvSpPr>
              <p:nvPr>
                <p:ph idx="1"/>
              </p:nvPr>
            </p:nvSpPr>
            <p:spPr>
              <a:xfrm>
                <a:off x="838200" y="1874583"/>
                <a:ext cx="10515600" cy="4788239"/>
              </a:xfrm>
              <a:blipFill>
                <a:blip r:embed="rId3"/>
                <a:stretch>
                  <a:fillRect l="-1217" t="-2548"/>
                </a:stretch>
              </a:blipFill>
            </p:spPr>
            <p:txBody>
              <a:bodyPr/>
              <a:lstStyle/>
              <a:p>
                <a:r>
                  <a:rPr lang="en-US">
                    <a:noFill/>
                  </a:rPr>
                  <a:t> </a:t>
                </a:r>
              </a:p>
            </p:txBody>
          </p:sp>
        </mc:Fallback>
      </mc:AlternateContent>
    </p:spTree>
    <p:extLst>
      <p:ext uri="{BB962C8B-B14F-4D97-AF65-F5344CB8AC3E}">
        <p14:creationId xmlns:p14="http://schemas.microsoft.com/office/powerpoint/2010/main" val="16823916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B47E6-F82A-CFE9-C131-B2AD2A3C01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B4A95-4D78-1FC4-84D8-1AE0161AA3AD}"/>
              </a:ext>
            </a:extLst>
          </p:cNvPr>
          <p:cNvSpPr>
            <a:spLocks noGrp="1"/>
          </p:cNvSpPr>
          <p:nvPr>
            <p:ph type="title"/>
          </p:nvPr>
        </p:nvSpPr>
        <p:spPr/>
        <p:txBody>
          <a:bodyPr/>
          <a:lstStyle/>
          <a:p>
            <a:r>
              <a:rPr lang="en-US" dirty="0">
                <a:solidFill>
                  <a:srgbClr val="C00000"/>
                </a:solidFill>
              </a:rPr>
              <a:t>Space Complexity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CC129-BE75-331F-B434-221EB92FC379}"/>
                  </a:ext>
                </a:extLst>
              </p:cNvPr>
              <p:cNvSpPr>
                <a:spLocks noGrp="1"/>
              </p:cNvSpPr>
              <p:nvPr>
                <p:ph idx="1"/>
              </p:nvPr>
            </p:nvSpPr>
            <p:spPr>
              <a:xfrm>
                <a:off x="838200" y="1486357"/>
                <a:ext cx="10848975" cy="5049381"/>
              </a:xfrm>
            </p:spPr>
            <p:txBody>
              <a:bodyPr>
                <a:normAutofit/>
              </a:bodyPr>
              <a:lstStyle/>
              <a:p>
                <a:pPr>
                  <a:buClr>
                    <a:schemeClr val="tx1"/>
                  </a:buClr>
                </a:pPr>
                <a:r>
                  <a:rPr lang="en-US" sz="3000" dirty="0"/>
                  <a:t>Each corrector must be robust to </a:t>
                </a:r>
                <a14:m>
                  <m:oMath xmlns:m="http://schemas.openxmlformats.org/officeDocument/2006/math">
                    <m:r>
                      <a:rPr lang="en-US" sz="3000" b="0" i="1" smtClean="0">
                        <a:solidFill>
                          <a:srgbClr val="C00000"/>
                        </a:solidFill>
                        <a:latin typeface="Cambria Math" panose="02040503050406030204" pitchFamily="18" charset="0"/>
                      </a:rPr>
                      <m:t>𝐵</m:t>
                    </m:r>
                    <m:r>
                      <a:rPr lang="en-US" sz="3000" b="0" i="0"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𝑂</m:t>
                    </m:r>
                    <m:d>
                      <m:dPr>
                        <m:ctrlPr>
                          <a:rPr lang="en-US" sz="3000" b="0" i="1" smtClean="0">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𝜀</m:t>
                                </m:r>
                              </m:e>
                              <m:sup>
                                <m:r>
                                  <a:rPr lang="en-US" sz="3000" i="1">
                                    <a:solidFill>
                                      <a:srgbClr val="C00000"/>
                                    </a:solidFill>
                                    <a:latin typeface="Cambria Math" panose="02040503050406030204" pitchFamily="18" charset="0"/>
                                  </a:rPr>
                                  <m:t>2</m:t>
                                </m:r>
                              </m:sup>
                            </m:sSup>
                          </m:den>
                        </m:f>
                        <m:func>
                          <m:funcPr>
                            <m:ctrlPr>
                              <a:rPr lang="en-US" sz="3000" i="1">
                                <a:solidFill>
                                  <a:srgbClr val="C00000"/>
                                </a:solidFill>
                                <a:latin typeface="Cambria Math" panose="02040503050406030204" pitchFamily="18" charset="0"/>
                              </a:rPr>
                            </m:ctrlPr>
                          </m:funcPr>
                          <m:fName>
                            <m:r>
                              <m:rPr>
                                <m:sty m:val="p"/>
                              </m:rPr>
                              <a:rPr lang="en-US" sz="3000">
                                <a:solidFill>
                                  <a:srgbClr val="C00000"/>
                                </a:solidFill>
                                <a:latin typeface="Cambria Math" panose="02040503050406030204" pitchFamily="18" charset="0"/>
                              </a:rPr>
                              <m:t>log</m:t>
                            </m:r>
                          </m:fName>
                          <m:e>
                            <m:r>
                              <a:rPr lang="en-US" sz="3000" i="1">
                                <a:solidFill>
                                  <a:srgbClr val="C00000"/>
                                </a:solidFill>
                                <a:latin typeface="Cambria Math" panose="02040503050406030204" pitchFamily="18" charset="0"/>
                              </a:rPr>
                              <m:t>𝑛</m:t>
                            </m:r>
                          </m:e>
                        </m:func>
                      </m:e>
                    </m:d>
                  </m:oMath>
                </a14:m>
                <a:r>
                  <a:rPr lang="en-US" sz="3000" dirty="0"/>
                  <a:t> adaptive queries</a:t>
                </a:r>
              </a:p>
              <a:p>
                <a:pPr>
                  <a:buClr>
                    <a:schemeClr val="tx1"/>
                  </a:buClr>
                </a:pPr>
                <a:endParaRPr lang="en-US" sz="3000" dirty="0"/>
              </a:p>
              <a:p>
                <a:pPr>
                  <a:buClr>
                    <a:schemeClr val="tx1"/>
                  </a:buClr>
                </a:pPr>
                <a:r>
                  <a:rPr lang="en-US" sz="3000" dirty="0"/>
                  <a:t>Each AMS algorithm uses space </a:t>
                </a:r>
                <a14:m>
                  <m:oMath xmlns:m="http://schemas.openxmlformats.org/officeDocument/2006/math">
                    <m:r>
                      <a:rPr lang="en-US" sz="3000" i="1">
                        <a:solidFill>
                          <a:srgbClr val="C00000"/>
                        </a:solidFill>
                        <a:latin typeface="Cambria Math" panose="02040503050406030204" pitchFamily="18" charset="0"/>
                      </a:rPr>
                      <m:t>𝑂</m:t>
                    </m:r>
                    <m:d>
                      <m:dPr>
                        <m:ctrlPr>
                          <a:rPr lang="en-US" sz="3000" i="1">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𝜀</m:t>
                                </m:r>
                              </m:e>
                              <m:sup>
                                <m:r>
                                  <a:rPr lang="en-US" sz="3000" i="1">
                                    <a:solidFill>
                                      <a:srgbClr val="C00000"/>
                                    </a:solidFill>
                                    <a:latin typeface="Cambria Math" panose="02040503050406030204" pitchFamily="18" charset="0"/>
                                  </a:rPr>
                                  <m:t>2</m:t>
                                </m:r>
                              </m:sup>
                            </m:sSup>
                          </m:den>
                        </m:f>
                        <m:func>
                          <m:funcPr>
                            <m:ctrlPr>
                              <a:rPr lang="en-US" sz="3000" i="1">
                                <a:solidFill>
                                  <a:srgbClr val="C00000"/>
                                </a:solidFill>
                                <a:latin typeface="Cambria Math" panose="02040503050406030204" pitchFamily="18" charset="0"/>
                              </a:rPr>
                            </m:ctrlPr>
                          </m:funcPr>
                          <m:fName>
                            <m:sSup>
                              <m:sSupPr>
                                <m:ctrlPr>
                                  <a:rPr lang="en-US" sz="3000" i="1">
                                    <a:solidFill>
                                      <a:srgbClr val="C00000"/>
                                    </a:solidFill>
                                    <a:latin typeface="Cambria Math" panose="02040503050406030204" pitchFamily="18" charset="0"/>
                                  </a:rPr>
                                </m:ctrlPr>
                              </m:sSupPr>
                              <m:e>
                                <m:r>
                                  <m:rPr>
                                    <m:sty m:val="p"/>
                                  </m:rPr>
                                  <a:rPr lang="en-US" sz="3000">
                                    <a:solidFill>
                                      <a:srgbClr val="C00000"/>
                                    </a:solidFill>
                                    <a:latin typeface="Cambria Math" panose="02040503050406030204" pitchFamily="18" charset="0"/>
                                  </a:rPr>
                                  <m:t>log</m:t>
                                </m:r>
                              </m:e>
                              <m:sup>
                                <m:r>
                                  <a:rPr lang="en-US" sz="3000">
                                    <a:solidFill>
                                      <a:srgbClr val="C00000"/>
                                    </a:solidFill>
                                    <a:latin typeface="Cambria Math" panose="02040503050406030204" pitchFamily="18" charset="0"/>
                                  </a:rPr>
                                  <m:t>2</m:t>
                                </m:r>
                              </m:sup>
                            </m:sSup>
                          </m:fName>
                          <m:e>
                            <m:r>
                              <a:rPr lang="en-US" sz="3000" i="1">
                                <a:solidFill>
                                  <a:srgbClr val="C00000"/>
                                </a:solidFill>
                                <a:latin typeface="Cambria Math" panose="02040503050406030204" pitchFamily="18" charset="0"/>
                              </a:rPr>
                              <m:t>𝑛</m:t>
                            </m:r>
                          </m:e>
                        </m:func>
                      </m:e>
                    </m:d>
                  </m:oMath>
                </a14:m>
                <a:r>
                  <a:rPr lang="en-US" sz="3000" dirty="0"/>
                  <a:t> and only need a single active sketch at each of the </a:t>
                </a:r>
                <a14:m>
                  <m:oMath xmlns:m="http://schemas.openxmlformats.org/officeDocument/2006/math">
                    <m:r>
                      <a:rPr lang="en-US" sz="3000" i="1">
                        <a:solidFill>
                          <a:srgbClr val="C00000"/>
                        </a:solidFill>
                        <a:latin typeface="Cambria Math" panose="02040503050406030204" pitchFamily="18" charset="0"/>
                      </a:rPr>
                      <m:t>𝑂</m:t>
                    </m:r>
                    <m:d>
                      <m:dPr>
                        <m:ctrlPr>
                          <a:rPr lang="en-US" sz="3000" i="1">
                            <a:solidFill>
                              <a:srgbClr val="C00000"/>
                            </a:solidFill>
                            <a:latin typeface="Cambria Math" panose="02040503050406030204" pitchFamily="18" charset="0"/>
                          </a:rPr>
                        </m:ctrlPr>
                      </m:dPr>
                      <m:e>
                        <m:func>
                          <m:funcPr>
                            <m:ctrlPr>
                              <a:rPr lang="en-US" sz="3000" b="0" i="1" smtClean="0">
                                <a:solidFill>
                                  <a:srgbClr val="C00000"/>
                                </a:solidFill>
                                <a:latin typeface="Cambria Math" panose="02040503050406030204" pitchFamily="18" charset="0"/>
                              </a:rPr>
                            </m:ctrlPr>
                          </m:funcPr>
                          <m:fName>
                            <m:r>
                              <m:rPr>
                                <m:sty m:val="p"/>
                              </m:rPr>
                              <a:rPr lang="en-US" sz="3000" b="0" i="0" smtClean="0">
                                <a:solidFill>
                                  <a:srgbClr val="C00000"/>
                                </a:solidFill>
                                <a:latin typeface="Cambria Math" panose="02040503050406030204" pitchFamily="18" charset="0"/>
                              </a:rPr>
                              <m:t>log</m:t>
                            </m:r>
                          </m:fName>
                          <m:e>
                            <m:r>
                              <a:rPr lang="en-US" sz="3000" b="0" i="1" smtClean="0">
                                <a:solidFill>
                                  <a:srgbClr val="C00000"/>
                                </a:solidFill>
                                <a:latin typeface="Cambria Math" panose="02040503050406030204" pitchFamily="18" charset="0"/>
                              </a:rPr>
                              <m:t>𝑚</m:t>
                            </m:r>
                          </m:e>
                        </m:func>
                      </m:e>
                    </m:d>
                  </m:oMath>
                </a14:m>
                <a:r>
                  <a:rPr lang="en-US" sz="3000" dirty="0"/>
                  <a:t> levels! </a:t>
                </a:r>
              </a:p>
              <a:p>
                <a:pPr>
                  <a:buClr>
                    <a:schemeClr val="tx1"/>
                  </a:buClr>
                </a:pPr>
                <a:endParaRPr lang="en-US" sz="3000" dirty="0"/>
              </a:p>
              <a:p>
                <a:pPr>
                  <a:buClr>
                    <a:schemeClr val="tx1"/>
                  </a:buClr>
                </a:pPr>
                <a:r>
                  <a:rPr lang="en-US" sz="3000" dirty="0"/>
                  <a:t>Rescale </a:t>
                </a:r>
                <a14:m>
                  <m:oMath xmlns:m="http://schemas.openxmlformats.org/officeDocument/2006/math">
                    <m:r>
                      <a:rPr lang="en-US" sz="3000" i="1">
                        <a:solidFill>
                          <a:srgbClr val="C00000"/>
                        </a:solidFill>
                        <a:latin typeface="Cambria Math" panose="02040503050406030204" pitchFamily="18" charset="0"/>
                      </a:rPr>
                      <m:t>𝜀</m:t>
                    </m:r>
                  </m:oMath>
                </a14:m>
                <a:r>
                  <a:rPr lang="en-US" sz="3000" dirty="0"/>
                  <a:t> to </a:t>
                </a:r>
                <a14:m>
                  <m:oMath xmlns:m="http://schemas.openxmlformats.org/officeDocument/2006/math">
                    <m:f>
                      <m:fPr>
                        <m:ctrlPr>
                          <a:rPr lang="en-US" sz="3000" b="0" i="1" smtClean="0">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𝜀</m:t>
                        </m:r>
                      </m:num>
                      <m:den>
                        <m:func>
                          <m:funcPr>
                            <m:ctrlPr>
                              <a:rPr lang="en-US" sz="3000" b="0" i="1" smtClean="0">
                                <a:solidFill>
                                  <a:srgbClr val="C00000"/>
                                </a:solidFill>
                                <a:latin typeface="Cambria Math" panose="02040503050406030204" pitchFamily="18" charset="0"/>
                              </a:rPr>
                            </m:ctrlPr>
                          </m:funcPr>
                          <m:fName>
                            <m:r>
                              <m:rPr>
                                <m:sty m:val="p"/>
                              </m:rPr>
                              <a:rPr lang="en-US" sz="3000" b="0" i="0" smtClean="0">
                                <a:solidFill>
                                  <a:srgbClr val="C00000"/>
                                </a:solidFill>
                                <a:latin typeface="Cambria Math" panose="02040503050406030204" pitchFamily="18" charset="0"/>
                              </a:rPr>
                              <m:t>log</m:t>
                            </m:r>
                          </m:fName>
                          <m:e>
                            <m:r>
                              <a:rPr lang="en-US" sz="3000" b="0" i="1" smtClean="0">
                                <a:solidFill>
                                  <a:srgbClr val="C00000"/>
                                </a:solidFill>
                                <a:latin typeface="Cambria Math" panose="02040503050406030204" pitchFamily="18" charset="0"/>
                              </a:rPr>
                              <m:t>𝑚</m:t>
                            </m:r>
                          </m:e>
                        </m:func>
                      </m:den>
                    </m:f>
                  </m:oMath>
                </a14:m>
                <a:r>
                  <a:rPr lang="en-US" sz="3000" dirty="0"/>
                  <a:t> as multiplicative error compounds across levels</a:t>
                </a:r>
              </a:p>
              <a:p>
                <a:pPr>
                  <a:buClr>
                    <a:schemeClr val="tx1"/>
                  </a:buClr>
                </a:pPr>
                <a:endParaRPr lang="en-US" sz="3000" dirty="0"/>
              </a:p>
              <a:p>
                <a:pPr>
                  <a:buClr>
                    <a:schemeClr val="tx1"/>
                  </a:buClr>
                </a:pPr>
                <a:r>
                  <a:rPr lang="en-US" sz="3000" dirty="0"/>
                  <a:t>Total space </a:t>
                </a:r>
                <a14:m>
                  <m:oMath xmlns:m="http://schemas.openxmlformats.org/officeDocument/2006/math">
                    <m:r>
                      <a:rPr lang="en-US" sz="3000" i="1">
                        <a:solidFill>
                          <a:srgbClr val="C00000"/>
                        </a:solidFill>
                        <a:latin typeface="Cambria Math" panose="02040503050406030204" pitchFamily="18" charset="0"/>
                      </a:rPr>
                      <m:t>𝑂</m:t>
                    </m:r>
                    <m:d>
                      <m:dPr>
                        <m:ctrlPr>
                          <a:rPr lang="en-US" sz="3000" i="1">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𝜀</m:t>
                                </m:r>
                              </m:e>
                              <m:sup>
                                <m:r>
                                  <a:rPr lang="en-US" sz="3000" b="0" i="1" smtClean="0">
                                    <a:solidFill>
                                      <a:srgbClr val="C00000"/>
                                    </a:solidFill>
                                    <a:latin typeface="Cambria Math" panose="02040503050406030204" pitchFamily="18" charset="0"/>
                                  </a:rPr>
                                  <m:t>4</m:t>
                                </m:r>
                              </m:sup>
                            </m:sSup>
                          </m:den>
                        </m:f>
                        <m:func>
                          <m:funcPr>
                            <m:ctrlPr>
                              <a:rPr lang="en-US" sz="3000" i="1">
                                <a:solidFill>
                                  <a:srgbClr val="C00000"/>
                                </a:solidFill>
                                <a:latin typeface="Cambria Math" panose="02040503050406030204" pitchFamily="18" charset="0"/>
                              </a:rPr>
                            </m:ctrlPr>
                          </m:funcPr>
                          <m:fName>
                            <m:sSup>
                              <m:sSupPr>
                                <m:ctrlPr>
                                  <a:rPr lang="en-US" sz="3000" i="1">
                                    <a:solidFill>
                                      <a:srgbClr val="C00000"/>
                                    </a:solidFill>
                                    <a:latin typeface="Cambria Math" panose="02040503050406030204" pitchFamily="18" charset="0"/>
                                  </a:rPr>
                                </m:ctrlPr>
                              </m:sSupPr>
                              <m:e>
                                <m:r>
                                  <m:rPr>
                                    <m:sty m:val="p"/>
                                  </m:rPr>
                                  <a:rPr lang="en-US" sz="3000">
                                    <a:solidFill>
                                      <a:srgbClr val="C00000"/>
                                    </a:solidFill>
                                    <a:latin typeface="Cambria Math" panose="02040503050406030204" pitchFamily="18" charset="0"/>
                                  </a:rPr>
                                  <m:t>log</m:t>
                                </m:r>
                              </m:e>
                              <m:sup>
                                <m:r>
                                  <a:rPr lang="en-US" sz="3000" b="0" i="1" smtClean="0">
                                    <a:solidFill>
                                      <a:srgbClr val="C00000"/>
                                    </a:solidFill>
                                    <a:latin typeface="Cambria Math" panose="02040503050406030204" pitchFamily="18" charset="0"/>
                                  </a:rPr>
                                  <m:t>8</m:t>
                                </m:r>
                              </m:sup>
                            </m:sSup>
                          </m:fName>
                          <m:e>
                            <m:r>
                              <a:rPr lang="en-US" sz="3000" i="1">
                                <a:solidFill>
                                  <a:srgbClr val="C00000"/>
                                </a:solidFill>
                                <a:latin typeface="Cambria Math" panose="02040503050406030204" pitchFamily="18" charset="0"/>
                              </a:rPr>
                              <m:t>𝑛</m:t>
                            </m:r>
                          </m:e>
                        </m:func>
                      </m:e>
                    </m:d>
                  </m:oMath>
                </a14:m>
                <a:r>
                  <a:rPr lang="en-US" sz="3000" dirty="0"/>
                  <a:t> for </a:t>
                </a:r>
                <a14:m>
                  <m:oMath xmlns:m="http://schemas.openxmlformats.org/officeDocument/2006/math">
                    <m:func>
                      <m:funcPr>
                        <m:ctrlPr>
                          <a:rPr lang="en-US" sz="3000" b="0" i="1" smtClean="0">
                            <a:solidFill>
                              <a:srgbClr val="C00000"/>
                            </a:solidFill>
                            <a:latin typeface="Cambria Math" panose="02040503050406030204" pitchFamily="18" charset="0"/>
                          </a:rPr>
                        </m:ctrlPr>
                      </m:funcPr>
                      <m:fName>
                        <m:r>
                          <m:rPr>
                            <m:sty m:val="p"/>
                          </m:rPr>
                          <a:rPr lang="en-US" sz="3000" b="0" i="0" smtClean="0">
                            <a:solidFill>
                              <a:srgbClr val="C00000"/>
                            </a:solidFill>
                            <a:latin typeface="Cambria Math" panose="02040503050406030204" pitchFamily="18" charset="0"/>
                          </a:rPr>
                          <m:t>log</m:t>
                        </m:r>
                      </m:fName>
                      <m:e>
                        <m:r>
                          <a:rPr lang="en-US" sz="3000" b="0" i="1" smtClean="0">
                            <a:solidFill>
                              <a:srgbClr val="C00000"/>
                            </a:solidFill>
                            <a:latin typeface="Cambria Math" panose="02040503050406030204" pitchFamily="18" charset="0"/>
                          </a:rPr>
                          <m:t>𝑚</m:t>
                        </m:r>
                      </m:e>
                    </m:func>
                    <m:r>
                      <a:rPr lang="en-US" sz="3000" b="0" i="1" smtClean="0">
                        <a:solidFill>
                          <a:srgbClr val="C00000"/>
                        </a:solidFill>
                        <a:latin typeface="Cambria Math" panose="02040503050406030204" pitchFamily="18" charset="0"/>
                      </a:rPr>
                      <m:t>=</m:t>
                    </m:r>
                    <m:r>
                      <a:rPr lang="en-US" sz="3000" i="1">
                        <a:solidFill>
                          <a:srgbClr val="C00000"/>
                        </a:solidFill>
                        <a:latin typeface="Cambria Math" panose="02040503050406030204" pitchFamily="18" charset="0"/>
                      </a:rPr>
                      <m:t>𝑂</m:t>
                    </m:r>
                    <m:d>
                      <m:dPr>
                        <m:ctrlPr>
                          <a:rPr lang="en-US" sz="3000" i="1">
                            <a:solidFill>
                              <a:srgbClr val="C00000"/>
                            </a:solidFill>
                            <a:latin typeface="Cambria Math" panose="02040503050406030204" pitchFamily="18" charset="0"/>
                          </a:rPr>
                        </m:ctrlPr>
                      </m:dPr>
                      <m:e>
                        <m:func>
                          <m:funcPr>
                            <m:ctrlPr>
                              <a:rPr lang="en-US" sz="3000" i="1">
                                <a:solidFill>
                                  <a:srgbClr val="C00000"/>
                                </a:solidFill>
                                <a:latin typeface="Cambria Math" panose="02040503050406030204" pitchFamily="18" charset="0"/>
                              </a:rPr>
                            </m:ctrlPr>
                          </m:funcPr>
                          <m:fName>
                            <m:r>
                              <m:rPr>
                                <m:sty m:val="p"/>
                              </m:rPr>
                              <a:rPr lang="en-US" sz="3000">
                                <a:solidFill>
                                  <a:srgbClr val="C00000"/>
                                </a:solidFill>
                                <a:latin typeface="Cambria Math" panose="02040503050406030204" pitchFamily="18" charset="0"/>
                              </a:rPr>
                              <m:t>log</m:t>
                            </m:r>
                          </m:fName>
                          <m:e>
                            <m:r>
                              <a:rPr lang="en-US" sz="3000" i="1">
                                <a:solidFill>
                                  <a:srgbClr val="C00000"/>
                                </a:solidFill>
                                <a:latin typeface="Cambria Math" panose="02040503050406030204" pitchFamily="18" charset="0"/>
                              </a:rPr>
                              <m:t>𝑛</m:t>
                            </m:r>
                          </m:e>
                        </m:func>
                      </m:e>
                    </m:d>
                  </m:oMath>
                </a14:m>
                <a:endParaRPr lang="en-US" sz="3000" dirty="0"/>
              </a:p>
            </p:txBody>
          </p:sp>
        </mc:Choice>
        <mc:Fallback xmlns="">
          <p:sp>
            <p:nvSpPr>
              <p:cNvPr id="3" name="Content Placeholder 2">
                <a:extLst>
                  <a:ext uri="{FF2B5EF4-FFF2-40B4-BE49-F238E27FC236}">
                    <a16:creationId xmlns:a16="http://schemas.microsoft.com/office/drawing/2014/main" id="{BD8CC129-BE75-331F-B434-221EB92FC379}"/>
                  </a:ext>
                </a:extLst>
              </p:cNvPr>
              <p:cNvSpPr>
                <a:spLocks noGrp="1" noRot="1" noChangeAspect="1" noMove="1" noResize="1" noEditPoints="1" noAdjustHandles="1" noChangeArrowheads="1" noChangeShapeType="1" noTextEdit="1"/>
              </p:cNvSpPr>
              <p:nvPr>
                <p:ph idx="1"/>
              </p:nvPr>
            </p:nvSpPr>
            <p:spPr>
              <a:xfrm>
                <a:off x="838200" y="1486357"/>
                <a:ext cx="10848975" cy="5049381"/>
              </a:xfrm>
              <a:blipFill>
                <a:blip r:embed="rId3"/>
                <a:stretch>
                  <a:fillRect l="-1180" t="-121" r="-1180" b="-121"/>
                </a:stretch>
              </a:blipFill>
            </p:spPr>
            <p:txBody>
              <a:bodyPr/>
              <a:lstStyle/>
              <a:p>
                <a:r>
                  <a:rPr lang="en-US">
                    <a:noFill/>
                  </a:rPr>
                  <a:t> </a:t>
                </a:r>
              </a:p>
            </p:txBody>
          </p:sp>
        </mc:Fallback>
      </mc:AlternateContent>
    </p:spTree>
    <p:extLst>
      <p:ext uri="{BB962C8B-B14F-4D97-AF65-F5344CB8AC3E}">
        <p14:creationId xmlns:p14="http://schemas.microsoft.com/office/powerpoint/2010/main" val="112847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3CD01-2D5A-4A2C-BE4C-272BE372F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632C9D-3026-11E5-5E4E-528A9EBD04B9}"/>
              </a:ext>
            </a:extLst>
          </p:cNvPr>
          <p:cNvSpPr>
            <a:spLocks noGrp="1"/>
          </p:cNvSpPr>
          <p:nvPr>
            <p:ph type="title"/>
          </p:nvPr>
        </p:nvSpPr>
        <p:spPr/>
        <p:txBody>
          <a:bodyPr/>
          <a:lstStyle/>
          <a:p>
            <a:r>
              <a:rPr lang="en-US" dirty="0">
                <a:solidFill>
                  <a:srgbClr val="C00000"/>
                </a:solidFill>
              </a:rPr>
              <a:t>Heavy-Hitters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1848AA-80FD-EBA3-7CDF-78BFCE7803A3}"/>
                  </a:ext>
                </a:extLst>
              </p:cNvPr>
              <p:cNvSpPr>
                <a:spLocks noGrp="1"/>
              </p:cNvSpPr>
              <p:nvPr>
                <p:ph idx="1"/>
              </p:nvPr>
            </p:nvSpPr>
            <p:spPr>
              <a:xfrm>
                <a:off x="838200" y="1690688"/>
                <a:ext cx="10515600" cy="4788239"/>
              </a:xfrm>
            </p:spPr>
            <p:txBody>
              <a:bodyPr>
                <a:normAutofit/>
              </a:bodyPr>
              <a:lstStyle/>
              <a:p>
                <a:pPr>
                  <a:buClr>
                    <a:schemeClr val="tx1"/>
                  </a:buClr>
                </a:pPr>
                <a:r>
                  <a:rPr lang="en-US" sz="3000" dirty="0"/>
                  <a:t>Let </a:t>
                </a:r>
                <a14:m>
                  <m:oMath xmlns:m="http://schemas.openxmlformats.org/officeDocument/2006/math">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𝜀</m:t>
                        </m:r>
                      </m:num>
                      <m:den>
                        <m:r>
                          <a:rPr lang="en-US" sz="3000" i="1">
                            <a:solidFill>
                              <a:srgbClr val="C00000"/>
                            </a:solidFill>
                            <a:latin typeface="Cambria Math" panose="02040503050406030204" pitchFamily="18" charset="0"/>
                          </a:rPr>
                          <m:t>2</m:t>
                        </m:r>
                      </m:den>
                    </m:f>
                    <m:r>
                      <a:rPr lang="en-US" sz="3000" i="1">
                        <a:solidFill>
                          <a:srgbClr val="C00000"/>
                        </a:solidFill>
                        <a:latin typeface="Cambria Math" panose="02040503050406030204" pitchFamily="18" charset="0"/>
                      </a:rPr>
                      <m:t>⋅</m:t>
                    </m:r>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𝑒</m:t>
                        </m:r>
                      </m:e>
                      <m:sub>
                        <m:r>
                          <a:rPr lang="en-US" sz="3000" i="1">
                            <a:solidFill>
                              <a:srgbClr val="C00000"/>
                            </a:solidFill>
                            <a:latin typeface="Cambria Math" panose="02040503050406030204" pitchFamily="18" charset="0"/>
                          </a:rPr>
                          <m:t>𝑖</m:t>
                        </m:r>
                      </m:sub>
                    </m:sSub>
                  </m:oMath>
                </a14:m>
                <a:r>
                  <a:rPr lang="en-US" sz="3000" dirty="0"/>
                  <a:t> be a small scaling of the elementary vector</a:t>
                </a:r>
              </a:p>
              <a:p>
                <a:pPr>
                  <a:buClr>
                    <a:schemeClr val="tx1"/>
                  </a:buClr>
                </a:pPr>
                <a:endParaRPr lang="en-US" sz="3000" dirty="0"/>
              </a:p>
              <a:p>
                <a:pPr>
                  <a:buClr>
                    <a:schemeClr val="tx1"/>
                  </a:buClr>
                </a:pPr>
                <a:r>
                  <a:rPr lang="en-US" sz="3000" dirty="0"/>
                  <a:t>If </a:t>
                </a:r>
                <a14:m>
                  <m:oMath xmlns:m="http://schemas.openxmlformats.org/officeDocument/2006/math">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𝑥</m:t>
                        </m:r>
                      </m:e>
                      <m:sub>
                        <m:r>
                          <a:rPr lang="en-US" sz="3000" i="1">
                            <a:solidFill>
                              <a:srgbClr val="C00000"/>
                            </a:solidFill>
                            <a:latin typeface="Cambria Math" panose="02040503050406030204" pitchFamily="18" charset="0"/>
                          </a:rPr>
                          <m:t>𝑖</m:t>
                        </m:r>
                      </m:sub>
                    </m:sSub>
                  </m:oMath>
                </a14:m>
                <a:r>
                  <a:rPr lang="en-US" sz="3000" dirty="0"/>
                  <a:t> is a </a:t>
                </a:r>
                <a:r>
                  <a:rPr lang="en-US" sz="3000" dirty="0">
                    <a:solidFill>
                      <a:srgbClr val="00B050"/>
                    </a:solidFill>
                  </a:rPr>
                  <a:t>heavy-hitter</a:t>
                </a:r>
                <a:r>
                  <a:rPr lang="en-US" sz="3000" dirty="0"/>
                  <a:t>, i.e., </a:t>
                </a:r>
                <a14:m>
                  <m:oMath xmlns:m="http://schemas.openxmlformats.org/officeDocument/2006/math">
                    <m:sSup>
                      <m:sSupPr>
                        <m:ctrlPr>
                          <a:rPr lang="en-US" sz="3000" b="0" i="1" smtClean="0">
                            <a:solidFill>
                              <a:srgbClr val="C00000"/>
                            </a:solidFill>
                            <a:latin typeface="Cambria Math" panose="02040503050406030204" pitchFamily="18" charset="0"/>
                          </a:rPr>
                        </m:ctrlPr>
                      </m:sSupPr>
                      <m:e>
                        <m:d>
                          <m:dPr>
                            <m:begChr m:val="|"/>
                            <m:endChr m:val="|"/>
                            <m:ctrlPr>
                              <a:rPr lang="en-US" sz="3000" b="0" i="1" smtClean="0">
                                <a:solidFill>
                                  <a:srgbClr val="C00000"/>
                                </a:solidFill>
                                <a:latin typeface="Cambria Math" panose="02040503050406030204" pitchFamily="18" charset="0"/>
                              </a:rPr>
                            </m:ctrlPr>
                          </m:dPr>
                          <m:e>
                            <m:sSub>
                              <m:sSubPr>
                                <m:ctrlPr>
                                  <a:rPr lang="en-US" sz="3000" b="0" i="1" smtClean="0">
                                    <a:solidFill>
                                      <a:srgbClr val="C00000"/>
                                    </a:solidFill>
                                    <a:latin typeface="Cambria Math" panose="02040503050406030204" pitchFamily="18" charset="0"/>
                                  </a:rPr>
                                </m:ctrlPr>
                              </m:sSubPr>
                              <m:e>
                                <m:r>
                                  <a:rPr lang="en-US" sz="3000" b="0" i="1" smtClean="0">
                                    <a:solidFill>
                                      <a:srgbClr val="C00000"/>
                                    </a:solidFill>
                                    <a:latin typeface="Cambria Math" panose="02040503050406030204" pitchFamily="18" charset="0"/>
                                  </a:rPr>
                                  <m:t>𝑥</m:t>
                                </m:r>
                              </m:e>
                              <m:sub>
                                <m:r>
                                  <a:rPr lang="en-US" sz="3000" b="0" i="1" smtClean="0">
                                    <a:solidFill>
                                      <a:srgbClr val="C00000"/>
                                    </a:solidFill>
                                    <a:latin typeface="Cambria Math" panose="02040503050406030204" pitchFamily="18" charset="0"/>
                                  </a:rPr>
                                  <m:t>𝑖</m:t>
                                </m:r>
                              </m:sub>
                            </m:sSub>
                          </m:e>
                        </m:d>
                      </m:e>
                      <m:sup>
                        <m:r>
                          <a:rPr lang="en-US" sz="3000" b="0" i="1" smtClean="0">
                            <a:solidFill>
                              <a:srgbClr val="C00000"/>
                            </a:solidFill>
                            <a:latin typeface="Cambria Math" panose="02040503050406030204" pitchFamily="18" charset="0"/>
                          </a:rPr>
                          <m:t>2</m:t>
                        </m:r>
                      </m:sup>
                    </m:sSup>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𝜀</m:t>
                    </m:r>
                    <m:r>
                      <a:rPr lang="en-US" sz="3000" b="0" i="1" smtClean="0">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𝑥</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is a heavy-hitter, then increasing </a:t>
                </a:r>
                <a14:m>
                  <m:oMath xmlns:m="http://schemas.openxmlformats.org/officeDocument/2006/math">
                    <m:r>
                      <a:rPr lang="en-US" sz="3000" b="0" i="1" smtClean="0">
                        <a:solidFill>
                          <a:srgbClr val="C00000"/>
                        </a:solidFill>
                        <a:latin typeface="Cambria Math" panose="02040503050406030204" pitchFamily="18" charset="0"/>
                      </a:rPr>
                      <m:t>𝑥</m:t>
                    </m:r>
                  </m:oMath>
                </a14:m>
                <a:r>
                  <a:rPr lang="en-US" sz="3000" dirty="0"/>
                  <a:t> by </a:t>
                </a:r>
                <a14:m>
                  <m:oMath xmlns:m="http://schemas.openxmlformats.org/officeDocument/2006/math">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𝜀</m:t>
                        </m:r>
                      </m:num>
                      <m:den>
                        <m:r>
                          <a:rPr lang="en-US" sz="3000" i="1">
                            <a:solidFill>
                              <a:srgbClr val="C00000"/>
                            </a:solidFill>
                            <a:latin typeface="Cambria Math" panose="02040503050406030204" pitchFamily="18" charset="0"/>
                          </a:rPr>
                          <m:t>2</m:t>
                        </m:r>
                      </m:den>
                    </m:f>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𝑥</m:t>
                            </m:r>
                          </m:e>
                        </m:d>
                      </m:e>
                      <m:sub>
                        <m:r>
                          <a:rPr lang="en-US" sz="3000" i="1">
                            <a:solidFill>
                              <a:srgbClr val="C00000"/>
                            </a:solidFill>
                            <a:latin typeface="Cambria Math" panose="02040503050406030204" pitchFamily="18" charset="0"/>
                          </a:rPr>
                          <m:t>2</m:t>
                        </m:r>
                      </m:sub>
                      <m:sup/>
                    </m:sSubSup>
                    <m:r>
                      <a:rPr lang="en-US" sz="3000" b="0" i="1" smtClean="0">
                        <a:solidFill>
                          <a:srgbClr val="C00000"/>
                        </a:solidFill>
                        <a:latin typeface="Cambria Math" panose="02040503050406030204" pitchFamily="18" charset="0"/>
                      </a:rPr>
                      <m:t>⋅</m:t>
                    </m:r>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𝑒</m:t>
                        </m:r>
                      </m:e>
                      <m:sub>
                        <m:r>
                          <a:rPr lang="en-US" sz="3000" i="1">
                            <a:solidFill>
                              <a:srgbClr val="C00000"/>
                            </a:solidFill>
                            <a:latin typeface="Cambria Math" panose="02040503050406030204" pitchFamily="18" charset="0"/>
                          </a:rPr>
                          <m:t>𝑖</m:t>
                        </m:r>
                      </m:sub>
                    </m:sSub>
                  </m:oMath>
                </a14:m>
                <a:r>
                  <a:rPr lang="en-US" sz="3000" dirty="0"/>
                  <a:t>, will increase </a:t>
                </a:r>
                <a14:m>
                  <m:oMath xmlns:m="http://schemas.openxmlformats.org/officeDocument/2006/math">
                    <m:sSubSup>
                      <m:sSubSupPr>
                        <m:ctrlPr>
                          <a:rPr lang="en-US" sz="3000" b="0" i="1" smtClean="0">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b="0" i="1" smtClean="0">
                                <a:solidFill>
                                  <a:srgbClr val="C00000"/>
                                </a:solidFill>
                                <a:latin typeface="Cambria Math" panose="02040503050406030204" pitchFamily="18" charset="0"/>
                              </a:rPr>
                              <m:t>𝑥</m:t>
                            </m:r>
                          </m:e>
                        </m:d>
                      </m:e>
                      <m:sub>
                        <m:r>
                          <a:rPr lang="en-US" sz="3000" b="0" i="1" smtClean="0">
                            <a:solidFill>
                              <a:srgbClr val="C00000"/>
                            </a:solidFill>
                            <a:latin typeface="Cambria Math" panose="02040503050406030204" pitchFamily="18" charset="0"/>
                          </a:rPr>
                          <m:t>2</m:t>
                        </m:r>
                      </m:sub>
                      <m:sup>
                        <m:r>
                          <a:rPr lang="en-US" sz="3000" b="0" i="1" smtClean="0">
                            <a:solidFill>
                              <a:srgbClr val="C00000"/>
                            </a:solidFill>
                            <a:latin typeface="Cambria Math" panose="02040503050406030204" pitchFamily="18" charset="0"/>
                          </a:rPr>
                          <m:t>2</m:t>
                        </m:r>
                      </m:sup>
                    </m:sSubSup>
                  </m:oMath>
                </a14:m>
                <a:r>
                  <a:rPr lang="en-US" sz="3000" dirty="0"/>
                  <a:t> by a </a:t>
                </a:r>
                <a:r>
                  <a:rPr lang="en-US" sz="3000" dirty="0">
                    <a:solidFill>
                      <a:srgbClr val="00B050"/>
                    </a:solidFill>
                  </a:rPr>
                  <a:t>“LOT”</a:t>
                </a:r>
              </a:p>
              <a:p>
                <a:pPr>
                  <a:buClr>
                    <a:schemeClr val="tx1"/>
                  </a:buClr>
                </a:pPr>
                <a:endParaRPr lang="en-US" sz="3000" dirty="0"/>
              </a:p>
              <a:p>
                <a:pPr>
                  <a:buClr>
                    <a:schemeClr val="tx1"/>
                  </a:buClr>
                </a:pPr>
                <a:r>
                  <a:rPr lang="en-US" sz="3000" dirty="0"/>
                  <a:t>If </a:t>
                </a:r>
                <a14:m>
                  <m:oMath xmlns:m="http://schemas.openxmlformats.org/officeDocument/2006/math">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𝑥</m:t>
                        </m:r>
                      </m:e>
                      <m:sub>
                        <m:r>
                          <a:rPr lang="en-US" sz="3000" i="1">
                            <a:solidFill>
                              <a:srgbClr val="C00000"/>
                            </a:solidFill>
                            <a:latin typeface="Cambria Math" panose="02040503050406030204" pitchFamily="18" charset="0"/>
                          </a:rPr>
                          <m:t>𝑖</m:t>
                        </m:r>
                      </m:sub>
                    </m:sSub>
                  </m:oMath>
                </a14:m>
                <a:r>
                  <a:rPr lang="en-US" sz="3000" dirty="0"/>
                  <a:t> is </a:t>
                </a:r>
                <a:r>
                  <a:rPr lang="en-US" sz="3000" dirty="0">
                    <a:solidFill>
                      <a:srgbClr val="FF0000"/>
                    </a:solidFill>
                  </a:rPr>
                  <a:t>NOT a heavy-hitter</a:t>
                </a:r>
                <a:r>
                  <a:rPr lang="en-US" sz="3000" dirty="0"/>
                  <a:t>, i.e., </a:t>
                </a:r>
                <a14:m>
                  <m:oMath xmlns:m="http://schemas.openxmlformats.org/officeDocument/2006/math">
                    <m:sSup>
                      <m:sSupPr>
                        <m:ctrlPr>
                          <a:rPr lang="en-US" sz="3000" i="1">
                            <a:solidFill>
                              <a:srgbClr val="C00000"/>
                            </a:solidFill>
                            <a:latin typeface="Cambria Math" panose="02040503050406030204" pitchFamily="18" charset="0"/>
                          </a:rPr>
                        </m:ctrlPr>
                      </m:sSupPr>
                      <m:e>
                        <m:d>
                          <m:dPr>
                            <m:begChr m:val="|"/>
                            <m:endChr m:val="|"/>
                            <m:ctrlPr>
                              <a:rPr lang="en-US" sz="3000" i="1">
                                <a:solidFill>
                                  <a:srgbClr val="C00000"/>
                                </a:solidFill>
                                <a:latin typeface="Cambria Math" panose="02040503050406030204" pitchFamily="18" charset="0"/>
                              </a:rPr>
                            </m:ctrlPr>
                          </m:dPr>
                          <m:e>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𝑥</m:t>
                                </m:r>
                              </m:e>
                              <m:sub>
                                <m:r>
                                  <a:rPr lang="en-US" sz="3000" i="1">
                                    <a:solidFill>
                                      <a:srgbClr val="C00000"/>
                                    </a:solidFill>
                                    <a:latin typeface="Cambria Math" panose="02040503050406030204" pitchFamily="18" charset="0"/>
                                  </a:rPr>
                                  <m:t>𝑖</m:t>
                                </m:r>
                              </m:sub>
                            </m:sSub>
                          </m:e>
                        </m:d>
                      </m:e>
                      <m:sup>
                        <m:r>
                          <a:rPr lang="en-US" sz="3000" i="1">
                            <a:solidFill>
                              <a:srgbClr val="C00000"/>
                            </a:solidFill>
                            <a:latin typeface="Cambria Math" panose="02040503050406030204" pitchFamily="18" charset="0"/>
                          </a:rPr>
                          <m:t>2</m:t>
                        </m:r>
                      </m:sup>
                    </m:sSup>
                    <m:r>
                      <a:rPr lang="en-US" sz="3000" b="0" i="1" smtClean="0">
                        <a:solidFill>
                          <a:srgbClr val="C00000"/>
                        </a:solidFill>
                        <a:latin typeface="Cambria Math" panose="02040503050406030204" pitchFamily="18" charset="0"/>
                      </a:rPr>
                      <m:t>&lt;</m:t>
                    </m:r>
                    <m:f>
                      <m:fPr>
                        <m:ctrlPr>
                          <a:rPr lang="en-US" sz="3000" b="0" i="1" smtClean="0">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𝜀</m:t>
                        </m:r>
                      </m:num>
                      <m:den>
                        <m:r>
                          <a:rPr lang="en-US" sz="3000" b="0" i="1" smtClean="0">
                            <a:solidFill>
                              <a:srgbClr val="C00000"/>
                            </a:solidFill>
                            <a:latin typeface="Cambria Math" panose="02040503050406030204" pitchFamily="18" charset="0"/>
                          </a:rPr>
                          <m:t>2</m:t>
                        </m:r>
                      </m:den>
                    </m:f>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𝑥</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is a heavy-hitter, then increasing </a:t>
                </a:r>
                <a14:m>
                  <m:oMath xmlns:m="http://schemas.openxmlformats.org/officeDocument/2006/math">
                    <m:r>
                      <a:rPr lang="en-US" sz="3000" i="1">
                        <a:solidFill>
                          <a:srgbClr val="C00000"/>
                        </a:solidFill>
                        <a:latin typeface="Cambria Math" panose="02040503050406030204" pitchFamily="18" charset="0"/>
                      </a:rPr>
                      <m:t>𝑥</m:t>
                    </m:r>
                  </m:oMath>
                </a14:m>
                <a:r>
                  <a:rPr lang="en-US" sz="3000" dirty="0"/>
                  <a:t> by </a:t>
                </a:r>
                <a14:m>
                  <m:oMath xmlns:m="http://schemas.openxmlformats.org/officeDocument/2006/math">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𝜀</m:t>
                        </m:r>
                      </m:num>
                      <m:den>
                        <m:r>
                          <a:rPr lang="en-US" sz="3000" i="1">
                            <a:solidFill>
                              <a:srgbClr val="C00000"/>
                            </a:solidFill>
                            <a:latin typeface="Cambria Math" panose="02040503050406030204" pitchFamily="18" charset="0"/>
                          </a:rPr>
                          <m:t>2</m:t>
                        </m:r>
                      </m:den>
                    </m:f>
                    <m:r>
                      <a:rPr lang="en-US" sz="3000" i="1">
                        <a:solidFill>
                          <a:srgbClr val="C00000"/>
                        </a:solidFill>
                        <a:latin typeface="Cambria Math" panose="02040503050406030204" pitchFamily="18" charset="0"/>
                      </a:rPr>
                      <m:t>⋅</m:t>
                    </m:r>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𝑥</m:t>
                            </m:r>
                          </m:e>
                        </m:d>
                      </m:e>
                      <m:sub>
                        <m:r>
                          <a:rPr lang="en-US" sz="3000" i="1">
                            <a:solidFill>
                              <a:srgbClr val="C00000"/>
                            </a:solidFill>
                            <a:latin typeface="Cambria Math" panose="02040503050406030204" pitchFamily="18" charset="0"/>
                          </a:rPr>
                          <m:t>2</m:t>
                        </m:r>
                      </m:sub>
                      <m:sup/>
                    </m:sSubSup>
                    <m:r>
                      <a:rPr lang="en-US" sz="3000" b="0" i="1" smtClean="0">
                        <a:solidFill>
                          <a:srgbClr val="C00000"/>
                        </a:solidFill>
                        <a:latin typeface="Cambria Math" panose="02040503050406030204" pitchFamily="18" charset="0"/>
                      </a:rPr>
                      <m:t>⋅</m:t>
                    </m:r>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𝑒</m:t>
                        </m:r>
                      </m:e>
                      <m:sub>
                        <m:r>
                          <a:rPr lang="en-US" sz="3000" i="1">
                            <a:solidFill>
                              <a:srgbClr val="C00000"/>
                            </a:solidFill>
                            <a:latin typeface="Cambria Math" panose="02040503050406030204" pitchFamily="18" charset="0"/>
                          </a:rPr>
                          <m:t>𝑖</m:t>
                        </m:r>
                      </m:sub>
                    </m:sSub>
                  </m:oMath>
                </a14:m>
                <a:r>
                  <a:rPr lang="en-US" sz="3000" dirty="0"/>
                  <a:t>, will increase </a:t>
                </a:r>
                <a14:m>
                  <m:oMath xmlns:m="http://schemas.openxmlformats.org/officeDocument/2006/math">
                    <m:sSubSup>
                      <m:sSubSupPr>
                        <m:ctrlPr>
                          <a:rPr lang="en-US" sz="3000" i="1">
                            <a:solidFill>
                              <a:srgbClr val="C00000"/>
                            </a:solidFill>
                            <a:latin typeface="Cambria Math" panose="02040503050406030204" pitchFamily="18" charset="0"/>
                          </a:rPr>
                        </m:ctrlPr>
                      </m:sSubSupPr>
                      <m:e>
                        <m:d>
                          <m:dPr>
                            <m:begChr m:val="‖"/>
                            <m:endChr m:val="‖"/>
                            <m:ctrlPr>
                              <a:rPr lang="en-US" sz="3000" i="1">
                                <a:solidFill>
                                  <a:srgbClr val="C00000"/>
                                </a:solidFill>
                                <a:latin typeface="Cambria Math" panose="02040503050406030204" pitchFamily="18" charset="0"/>
                              </a:rPr>
                            </m:ctrlPr>
                          </m:dPr>
                          <m:e>
                            <m:r>
                              <a:rPr lang="en-US" sz="3000" i="1">
                                <a:solidFill>
                                  <a:srgbClr val="C00000"/>
                                </a:solidFill>
                                <a:latin typeface="Cambria Math" panose="02040503050406030204" pitchFamily="18" charset="0"/>
                              </a:rPr>
                              <m:t>𝑥</m:t>
                            </m:r>
                          </m:e>
                        </m:d>
                      </m:e>
                      <m:sub>
                        <m:r>
                          <a:rPr lang="en-US" sz="3000" i="1">
                            <a:solidFill>
                              <a:srgbClr val="C00000"/>
                            </a:solidFill>
                            <a:latin typeface="Cambria Math" panose="02040503050406030204" pitchFamily="18" charset="0"/>
                          </a:rPr>
                          <m:t>2</m:t>
                        </m:r>
                      </m:sub>
                      <m:sup>
                        <m:r>
                          <a:rPr lang="en-US" sz="3000" i="1">
                            <a:solidFill>
                              <a:srgbClr val="C00000"/>
                            </a:solidFill>
                            <a:latin typeface="Cambria Math" panose="02040503050406030204" pitchFamily="18" charset="0"/>
                          </a:rPr>
                          <m:t>2</m:t>
                        </m:r>
                      </m:sup>
                    </m:sSubSup>
                  </m:oMath>
                </a14:m>
                <a:r>
                  <a:rPr lang="en-US" sz="3000" dirty="0"/>
                  <a:t> by a </a:t>
                </a:r>
                <a:r>
                  <a:rPr lang="en-US" sz="3000" dirty="0">
                    <a:solidFill>
                      <a:srgbClr val="FF0000"/>
                    </a:solidFill>
                  </a:rPr>
                  <a:t>“LITTLE”</a:t>
                </a:r>
              </a:p>
            </p:txBody>
          </p:sp>
        </mc:Choice>
        <mc:Fallback xmlns="">
          <p:sp>
            <p:nvSpPr>
              <p:cNvPr id="3" name="Content Placeholder 2">
                <a:extLst>
                  <a:ext uri="{FF2B5EF4-FFF2-40B4-BE49-F238E27FC236}">
                    <a16:creationId xmlns:a16="http://schemas.microsoft.com/office/drawing/2014/main" id="{581848AA-80FD-EBA3-7CDF-78BFCE7803A3}"/>
                  </a:ext>
                </a:extLst>
              </p:cNvPr>
              <p:cNvSpPr>
                <a:spLocks noGrp="1" noRot="1" noChangeAspect="1" noMove="1" noResize="1" noEditPoints="1" noAdjustHandles="1" noChangeArrowheads="1" noChangeShapeType="1" noTextEdit="1"/>
              </p:cNvSpPr>
              <p:nvPr>
                <p:ph idx="1"/>
              </p:nvPr>
            </p:nvSpPr>
            <p:spPr>
              <a:xfrm>
                <a:off x="838200" y="1690688"/>
                <a:ext cx="10515600" cy="4788239"/>
              </a:xfrm>
              <a:blipFill>
                <a:blip r:embed="rId3"/>
                <a:stretch>
                  <a:fillRect l="-1217" t="-1272" r="-174"/>
                </a:stretch>
              </a:blipFill>
            </p:spPr>
            <p:txBody>
              <a:bodyPr/>
              <a:lstStyle/>
              <a:p>
                <a:r>
                  <a:rPr lang="en-US">
                    <a:noFill/>
                  </a:rPr>
                  <a:t> </a:t>
                </a:r>
              </a:p>
            </p:txBody>
          </p:sp>
        </mc:Fallback>
      </mc:AlternateContent>
    </p:spTree>
    <p:extLst>
      <p:ext uri="{BB962C8B-B14F-4D97-AF65-F5344CB8AC3E}">
        <p14:creationId xmlns:p14="http://schemas.microsoft.com/office/powerpoint/2010/main" val="153763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D4934-71CF-E09A-5BFF-610966EA9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5E01C-6CDF-F359-D272-94EEE4869CDD}"/>
              </a:ext>
            </a:extLst>
          </p:cNvPr>
          <p:cNvSpPr>
            <a:spLocks noGrp="1"/>
          </p:cNvSpPr>
          <p:nvPr>
            <p:ph type="title"/>
          </p:nvPr>
        </p:nvSpPr>
        <p:spPr/>
        <p:txBody>
          <a:bodyPr/>
          <a:lstStyle/>
          <a:p>
            <a:r>
              <a:rPr lang="en-US" dirty="0">
                <a:solidFill>
                  <a:srgbClr val="C00000"/>
                </a:solidFill>
              </a:rPr>
              <a:t>Heavy-Hitters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5C2200-B117-64CC-71C0-4284CBD8DB29}"/>
                  </a:ext>
                </a:extLst>
              </p:cNvPr>
              <p:cNvSpPr>
                <a:spLocks noGrp="1"/>
              </p:cNvSpPr>
              <p:nvPr>
                <p:ph idx="1"/>
              </p:nvPr>
            </p:nvSpPr>
            <p:spPr>
              <a:xfrm>
                <a:off x="838200" y="1779398"/>
                <a:ext cx="10515600" cy="4788239"/>
              </a:xfrm>
            </p:spPr>
            <p:txBody>
              <a:bodyPr>
                <a:normAutofit/>
              </a:bodyPr>
              <a:lstStyle/>
              <a:p>
                <a:pPr>
                  <a:buClr>
                    <a:schemeClr val="tx1"/>
                  </a:buClr>
                </a:pPr>
                <a:r>
                  <a:rPr lang="en-US" sz="3000" dirty="0"/>
                  <a:t>These two cases differ by a constant factor, and thus distinguishable by our robust </a:t>
                </a:r>
                <a14:m>
                  <m:oMath xmlns:m="http://schemas.openxmlformats.org/officeDocument/2006/math">
                    <m:sSub>
                      <m:sSubPr>
                        <m:ctrlPr>
                          <a:rPr lang="en-US" sz="3000" b="0" i="1" smtClean="0">
                            <a:solidFill>
                              <a:srgbClr val="C00000"/>
                            </a:solidFill>
                            <a:latin typeface="Cambria Math" panose="02040503050406030204" pitchFamily="18" charset="0"/>
                          </a:rPr>
                        </m:ctrlPr>
                      </m:sSubPr>
                      <m:e>
                        <m:r>
                          <a:rPr lang="en-US" sz="3000" b="0" i="1" smtClean="0">
                            <a:solidFill>
                              <a:srgbClr val="C00000"/>
                            </a:solidFill>
                            <a:latin typeface="Cambria Math" panose="02040503050406030204" pitchFamily="18" charset="0"/>
                          </a:rPr>
                          <m:t>𝐹</m:t>
                        </m:r>
                      </m:e>
                      <m:sub>
                        <m:r>
                          <a:rPr lang="en-US" sz="3000" b="0" i="1" smtClean="0">
                            <a:solidFill>
                              <a:srgbClr val="C00000"/>
                            </a:solidFill>
                            <a:latin typeface="Cambria Math" panose="02040503050406030204" pitchFamily="18" charset="0"/>
                          </a:rPr>
                          <m:t>2</m:t>
                        </m:r>
                      </m:sub>
                    </m:sSub>
                  </m:oMath>
                </a14:m>
                <a:r>
                  <a:rPr lang="en-US" sz="3000" dirty="0">
                    <a:solidFill>
                      <a:srgbClr val="FF0000"/>
                    </a:solidFill>
                  </a:rPr>
                  <a:t> </a:t>
                </a:r>
                <a:r>
                  <a:rPr lang="en-US" sz="3000" dirty="0"/>
                  <a:t>estimation algorithm</a:t>
                </a:r>
              </a:p>
              <a:p>
                <a:pPr marL="0" indent="0">
                  <a:buClr>
                    <a:schemeClr val="tx1"/>
                  </a:buClr>
                  <a:buNone/>
                </a:pPr>
                <a:endParaRPr lang="en-US" sz="3000" dirty="0"/>
              </a:p>
              <a:p>
                <a:pPr>
                  <a:buClr>
                    <a:schemeClr val="tx1"/>
                  </a:buClr>
                </a:pPr>
                <a:r>
                  <a:rPr lang="en-US" sz="3000" dirty="0"/>
                  <a:t>Test over all coordinates </a:t>
                </a:r>
                <a14:m>
                  <m:oMath xmlns:m="http://schemas.openxmlformats.org/officeDocument/2006/math">
                    <m:r>
                      <a:rPr lang="en-US" sz="3000" b="0" i="1" smtClean="0">
                        <a:solidFill>
                          <a:srgbClr val="C00000"/>
                        </a:solidFill>
                        <a:latin typeface="Cambria Math" panose="02040503050406030204" pitchFamily="18" charset="0"/>
                      </a:rPr>
                      <m:t>𝑖</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𝑛</m:t>
                    </m:r>
                    <m:r>
                      <a:rPr lang="en-US" sz="3000" b="0" i="1" smtClean="0">
                        <a:solidFill>
                          <a:srgbClr val="C00000"/>
                        </a:solidFill>
                        <a:latin typeface="Cambria Math" panose="02040503050406030204" pitchFamily="18" charset="0"/>
                      </a:rPr>
                      <m:t>]</m:t>
                    </m:r>
                  </m:oMath>
                </a14:m>
                <a:endParaRPr lang="en-US" sz="3000" dirty="0"/>
              </a:p>
              <a:p>
                <a:pPr>
                  <a:buClr>
                    <a:schemeClr val="tx1"/>
                  </a:buClr>
                </a:pPr>
                <a:endParaRPr lang="en-US" sz="3000" dirty="0"/>
              </a:p>
              <a:p>
                <a:pPr>
                  <a:buClr>
                    <a:schemeClr val="tx1"/>
                  </a:buClr>
                </a:pPr>
                <a:r>
                  <a:rPr lang="en-US" sz="3000" dirty="0"/>
                  <a:t>Space </a:t>
                </a:r>
                <a14:m>
                  <m:oMath xmlns:m="http://schemas.openxmlformats.org/officeDocument/2006/math">
                    <m:r>
                      <m:rPr>
                        <m:sty m:val="p"/>
                      </m:rPr>
                      <a:rPr lang="en-US" sz="3000">
                        <a:solidFill>
                          <a:srgbClr val="C00000"/>
                        </a:solidFill>
                        <a:latin typeface="Cambria Math" panose="02040503050406030204" pitchFamily="18" charset="0"/>
                      </a:rPr>
                      <m:t>poly</m:t>
                    </m:r>
                    <m:d>
                      <m:dPr>
                        <m:ctrlPr>
                          <a:rPr lang="en-US" sz="3000" i="1">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r>
                              <a:rPr lang="en-US" sz="3000" i="1">
                                <a:solidFill>
                                  <a:srgbClr val="C00000"/>
                                </a:solidFill>
                                <a:latin typeface="Cambria Math" panose="02040503050406030204" pitchFamily="18" charset="0"/>
                              </a:rPr>
                              <m:t>𝜀</m:t>
                            </m:r>
                          </m:den>
                        </m:f>
                        <m:r>
                          <a:rPr lang="en-US" sz="3000" i="1">
                            <a:solidFill>
                              <a:srgbClr val="C00000"/>
                            </a:solidFill>
                            <a:latin typeface="Cambria Math" panose="02040503050406030204" pitchFamily="18" charset="0"/>
                          </a:rPr>
                          <m:t>,</m:t>
                        </m:r>
                        <m:func>
                          <m:funcPr>
                            <m:ctrlPr>
                              <a:rPr lang="en-US" sz="3000" i="1">
                                <a:solidFill>
                                  <a:srgbClr val="C00000"/>
                                </a:solidFill>
                                <a:latin typeface="Cambria Math" panose="02040503050406030204" pitchFamily="18" charset="0"/>
                              </a:rPr>
                            </m:ctrlPr>
                          </m:funcPr>
                          <m:fName>
                            <m:r>
                              <m:rPr>
                                <m:sty m:val="p"/>
                              </m:rPr>
                              <a:rPr lang="en-US" sz="3000">
                                <a:solidFill>
                                  <a:srgbClr val="C00000"/>
                                </a:solidFill>
                                <a:latin typeface="Cambria Math" panose="02040503050406030204" pitchFamily="18" charset="0"/>
                              </a:rPr>
                              <m:t>log</m:t>
                            </m:r>
                          </m:fName>
                          <m:e>
                            <m:r>
                              <a:rPr lang="en-US" sz="3000" i="1">
                                <a:solidFill>
                                  <a:srgbClr val="C00000"/>
                                </a:solidFill>
                                <a:latin typeface="Cambria Math" panose="02040503050406030204" pitchFamily="18" charset="0"/>
                              </a:rPr>
                              <m:t>𝑛</m:t>
                            </m:r>
                          </m:e>
                        </m:func>
                      </m:e>
                    </m:d>
                  </m:oMath>
                </a14:m>
                <a:r>
                  <a:rPr lang="en-US" sz="3000" dirty="0"/>
                  <a:t> algorithm for </a:t>
                </a:r>
                <a14:m>
                  <m:oMath xmlns:m="http://schemas.openxmlformats.org/officeDocument/2006/math">
                    <m:sSub>
                      <m:sSubPr>
                        <m:ctrlPr>
                          <a:rPr lang="en-US" sz="3000" i="1">
                            <a:solidFill>
                              <a:srgbClr val="C00000"/>
                            </a:solidFill>
                            <a:latin typeface="Cambria Math" panose="02040503050406030204" pitchFamily="18" charset="0"/>
                          </a:rPr>
                        </m:ctrlPr>
                      </m:sSubPr>
                      <m:e>
                        <m:r>
                          <a:rPr lang="en-US" sz="3000" i="1">
                            <a:solidFill>
                              <a:srgbClr val="C00000"/>
                            </a:solidFill>
                            <a:latin typeface="Cambria Math" panose="02040503050406030204" pitchFamily="18" charset="0"/>
                          </a:rPr>
                          <m:t>𝐿</m:t>
                        </m:r>
                      </m:e>
                      <m:sub>
                        <m:r>
                          <a:rPr lang="en-US" sz="3000" i="1">
                            <a:solidFill>
                              <a:srgbClr val="C00000"/>
                            </a:solidFill>
                            <a:latin typeface="Cambria Math" panose="02040503050406030204" pitchFamily="18" charset="0"/>
                          </a:rPr>
                          <m:t>2</m:t>
                        </m:r>
                      </m:sub>
                    </m:sSub>
                  </m:oMath>
                </a14:m>
                <a:r>
                  <a:rPr lang="en-US" sz="3000" dirty="0"/>
                  <a:t> heavy-hitters</a:t>
                </a:r>
              </a:p>
            </p:txBody>
          </p:sp>
        </mc:Choice>
        <mc:Fallback xmlns="">
          <p:sp>
            <p:nvSpPr>
              <p:cNvPr id="3" name="Content Placeholder 2">
                <a:extLst>
                  <a:ext uri="{FF2B5EF4-FFF2-40B4-BE49-F238E27FC236}">
                    <a16:creationId xmlns:a16="http://schemas.microsoft.com/office/drawing/2014/main" id="{265C2200-B117-64CC-71C0-4284CBD8DB29}"/>
                  </a:ext>
                </a:extLst>
              </p:cNvPr>
              <p:cNvSpPr>
                <a:spLocks noGrp="1" noRot="1" noChangeAspect="1" noMove="1" noResize="1" noEditPoints="1" noAdjustHandles="1" noChangeArrowheads="1" noChangeShapeType="1" noTextEdit="1"/>
              </p:cNvSpPr>
              <p:nvPr>
                <p:ph idx="1"/>
              </p:nvPr>
            </p:nvSpPr>
            <p:spPr>
              <a:xfrm>
                <a:off x="838200" y="1779398"/>
                <a:ext cx="10515600" cy="4788239"/>
              </a:xfrm>
              <a:blipFill>
                <a:blip r:embed="rId3"/>
                <a:stretch>
                  <a:fillRect l="-1217" t="-2548"/>
                </a:stretch>
              </a:blipFill>
            </p:spPr>
            <p:txBody>
              <a:bodyPr/>
              <a:lstStyle/>
              <a:p>
                <a:r>
                  <a:rPr lang="en-US">
                    <a:noFill/>
                  </a:rPr>
                  <a:t> </a:t>
                </a:r>
              </a:p>
            </p:txBody>
          </p:sp>
        </mc:Fallback>
      </mc:AlternateContent>
    </p:spTree>
    <p:extLst>
      <p:ext uri="{BB962C8B-B14F-4D97-AF65-F5344CB8AC3E}">
        <p14:creationId xmlns:p14="http://schemas.microsoft.com/office/powerpoint/2010/main" val="33475354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FFF9B-ADA4-591B-7086-4DFE0CD1C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389DE-1FA0-9C8D-EAEA-2BDDF5ED7326}"/>
              </a:ext>
            </a:extLst>
          </p:cNvPr>
          <p:cNvSpPr>
            <a:spLocks noGrp="1"/>
          </p:cNvSpPr>
          <p:nvPr>
            <p:ph type="title"/>
          </p:nvPr>
        </p:nvSpPr>
        <p:spPr/>
        <p:txBody>
          <a:bodyPr/>
          <a:lstStyle/>
          <a:p>
            <a:r>
              <a:rPr lang="en-US" dirty="0">
                <a:solidFill>
                  <a:srgbClr val="C00000"/>
                </a:solidFill>
              </a:rPr>
              <a:t>Triangle Inequality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0E025F-B9D7-E673-B835-0FF31CDF488C}"/>
                  </a:ext>
                </a:extLst>
              </p:cNvPr>
              <p:cNvSpPr>
                <a:spLocks noGrp="1"/>
              </p:cNvSpPr>
              <p:nvPr>
                <p:ph idx="1"/>
              </p:nvPr>
            </p:nvSpPr>
            <p:spPr>
              <a:xfrm>
                <a:off x="838200" y="1690688"/>
                <a:ext cx="10515600" cy="4788239"/>
              </a:xfrm>
            </p:spPr>
            <p:txBody>
              <a:bodyPr>
                <a:noAutofit/>
              </a:bodyPr>
              <a:lstStyle/>
              <a:p>
                <a:pPr>
                  <a:buClr>
                    <a:schemeClr val="tx1"/>
                  </a:buClr>
                </a:pPr>
                <a:r>
                  <a:rPr lang="en-US" sz="2400" dirty="0"/>
                  <a:t>Corrector flags when </a:t>
                </a:r>
                <a14:m>
                  <m:oMath xmlns:m="http://schemas.openxmlformats.org/officeDocument/2006/math">
                    <m:r>
                      <a:rPr lang="en-US" sz="2400" i="1">
                        <a:solidFill>
                          <a:srgbClr val="C00000"/>
                        </a:solidFill>
                        <a:latin typeface="Cambria Math" panose="02040503050406030204" pitchFamily="18" charset="0"/>
                      </a:rPr>
                      <m:t>𝐹</m:t>
                    </m:r>
                    <m:d>
                      <m:dPr>
                        <m:ctrlPr>
                          <a:rPr lang="en-US" sz="2400" i="1">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𝑧</m:t>
                        </m:r>
                        <m:r>
                          <a:rPr lang="en-US" sz="2400" i="1">
                            <a:solidFill>
                              <a:srgbClr val="C00000"/>
                            </a:solidFill>
                            <a:latin typeface="Cambria Math" panose="02040503050406030204" pitchFamily="18" charset="0"/>
                          </a:rPr>
                          <m:t>−</m:t>
                        </m:r>
                        <m:sSup>
                          <m:sSupPr>
                            <m:ctrlPr>
                              <a:rPr lang="en-US" sz="2400" i="1">
                                <a:solidFill>
                                  <a:srgbClr val="C00000"/>
                                </a:solidFill>
                                <a:latin typeface="Cambria Math" panose="02040503050406030204" pitchFamily="18" charset="0"/>
                              </a:rPr>
                            </m:ctrlPr>
                          </m:sSupPr>
                          <m:e>
                            <m:r>
                              <a:rPr lang="en-US" sz="2400" i="1">
                                <a:solidFill>
                                  <a:srgbClr val="C00000"/>
                                </a:solidFill>
                                <a:latin typeface="Cambria Math" panose="02040503050406030204" pitchFamily="18" charset="0"/>
                              </a:rPr>
                              <m:t>𝑧</m:t>
                            </m:r>
                          </m:e>
                          <m:sup>
                            <m:r>
                              <a:rPr lang="en-US" sz="2400" i="1">
                                <a:solidFill>
                                  <a:srgbClr val="C00000"/>
                                </a:solidFill>
                                <a:latin typeface="Cambria Math" panose="02040503050406030204" pitchFamily="18" charset="0"/>
                              </a:rPr>
                              <m:t>′</m:t>
                            </m:r>
                          </m:sup>
                        </m:sSup>
                      </m:e>
                    </m:d>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𝐹</m:t>
                    </m:r>
                    <m:d>
                      <m:dPr>
                        <m:ctrlPr>
                          <a:rPr lang="en-US" sz="2400" b="0" i="1" smtClean="0">
                            <a:solidFill>
                              <a:srgbClr val="C00000"/>
                            </a:solidFill>
                            <a:latin typeface="Cambria Math" panose="02040503050406030204" pitchFamily="18" charset="0"/>
                          </a:rPr>
                        </m:ctrlPr>
                      </m:dPr>
                      <m:e>
                        <m:sSup>
                          <m:sSupPr>
                            <m:ctrlPr>
                              <a:rPr lang="en-US" sz="2400" b="0" i="1" smtClean="0">
                                <a:solidFill>
                                  <a:srgbClr val="C00000"/>
                                </a:solidFill>
                                <a:latin typeface="Cambria Math" panose="02040503050406030204" pitchFamily="18" charset="0"/>
                              </a:rPr>
                            </m:ctrlPr>
                          </m:sSupPr>
                          <m:e>
                            <m:r>
                              <a:rPr lang="en-US" sz="2400" b="0" i="1" smtClean="0">
                                <a:solidFill>
                                  <a:srgbClr val="C00000"/>
                                </a:solidFill>
                                <a:latin typeface="Cambria Math" panose="02040503050406030204" pitchFamily="18" charset="0"/>
                              </a:rPr>
                              <m:t>𝑧</m:t>
                            </m:r>
                          </m:e>
                          <m:sup>
                            <m:r>
                              <a:rPr lang="en-US" sz="2400" b="0" i="1" smtClean="0">
                                <a:solidFill>
                                  <a:srgbClr val="C00000"/>
                                </a:solidFill>
                                <a:latin typeface="Cambria Math" panose="02040503050406030204" pitchFamily="18" charset="0"/>
                              </a:rPr>
                              <m:t>′</m:t>
                            </m:r>
                          </m:sup>
                        </m:sSup>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𝑞</m:t>
                        </m:r>
                      </m:e>
                    </m:d>
                    <m:r>
                      <a:rPr lang="en-US" sz="2400" b="0" i="1" smtClean="0">
                        <a:solidFill>
                          <a:srgbClr val="C00000"/>
                        </a:solidFill>
                        <a:latin typeface="Cambria Math" panose="02040503050406030204" pitchFamily="18" charset="0"/>
                      </a:rPr>
                      <m:t>≥4⋅</m:t>
                    </m:r>
                    <m:r>
                      <a:rPr lang="en-US" sz="2400" b="0" i="1" smtClean="0">
                        <a:solidFill>
                          <a:srgbClr val="C00000"/>
                        </a:solidFill>
                        <a:latin typeface="Cambria Math" panose="02040503050406030204" pitchFamily="18" charset="0"/>
                      </a:rPr>
                      <m:t>𝐹</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𝑧</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𝑞</m:t>
                    </m:r>
                    <m:r>
                      <a:rPr lang="en-US" sz="2400" b="0" i="1" smtClean="0">
                        <a:solidFill>
                          <a:srgbClr val="C00000"/>
                        </a:solidFill>
                        <a:latin typeface="Cambria Math" panose="02040503050406030204" pitchFamily="18" charset="0"/>
                      </a:rPr>
                      <m:t>)</m:t>
                    </m:r>
                  </m:oMath>
                </a14:m>
                <a:r>
                  <a:rPr lang="en-US" sz="2400" i="1" dirty="0"/>
                  <a:t> </a:t>
                </a:r>
              </a:p>
              <a:p>
                <a:pPr lvl="1">
                  <a:buClr>
                    <a:schemeClr val="tx1"/>
                  </a:buClr>
                </a:pPr>
                <a:endParaRPr lang="en-US" dirty="0">
                  <a:solidFill>
                    <a:srgbClr val="C00000"/>
                  </a:solidFill>
                  <a:latin typeface="Cambria Math" panose="02040503050406030204" pitchFamily="18" charset="0"/>
                </a:endParaRPr>
              </a:p>
              <a:p>
                <a:pPr lvl="1">
                  <a:buClr>
                    <a:schemeClr val="tx1"/>
                  </a:buClr>
                </a:pPr>
                <a14:m>
                  <m:oMath xmlns:m="http://schemas.openxmlformats.org/officeDocument/2006/math">
                    <m:r>
                      <a:rPr lang="en-US" i="1">
                        <a:solidFill>
                          <a:srgbClr val="C00000"/>
                        </a:solidFill>
                        <a:latin typeface="Cambria Math" panose="02040503050406030204" pitchFamily="18" charset="0"/>
                      </a:rPr>
                      <m:t>𝐹</m:t>
                    </m:r>
                    <m:d>
                      <m:dPr>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𝑧</m:t>
                        </m:r>
                        <m:r>
                          <a:rPr lang="en-US" i="1">
                            <a:solidFill>
                              <a:srgbClr val="C00000"/>
                            </a:solidFill>
                            <a:latin typeface="Cambria Math" panose="02040503050406030204" pitchFamily="18" charset="0"/>
                          </a:rPr>
                          <m:t>−</m:t>
                        </m:r>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𝑧</m:t>
                            </m:r>
                          </m:e>
                          <m:sup>
                            <m:r>
                              <a:rPr lang="en-US" i="1">
                                <a:solidFill>
                                  <a:srgbClr val="C00000"/>
                                </a:solidFill>
                                <a:latin typeface="Cambria Math" panose="02040503050406030204" pitchFamily="18" charset="0"/>
                              </a:rPr>
                              <m:t>′</m:t>
                            </m:r>
                          </m:sup>
                        </m:sSup>
                      </m:e>
                    </m:d>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𝐹</m:t>
                    </m:r>
                    <m:d>
                      <m:dPr>
                        <m:ctrlPr>
                          <a:rPr lang="en-US" i="1">
                            <a:solidFill>
                              <a:srgbClr val="C00000"/>
                            </a:solidFill>
                            <a:latin typeface="Cambria Math" panose="02040503050406030204" pitchFamily="18" charset="0"/>
                          </a:rPr>
                        </m:ctrlPr>
                      </m:dPr>
                      <m:e>
                        <m:sSup>
                          <m:sSupPr>
                            <m:ctrlPr>
                              <a:rPr lang="en-US" i="1">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𝑧</m:t>
                            </m:r>
                          </m:e>
                          <m:sup>
                            <m:r>
                              <a:rPr lang="en-US" i="1">
                                <a:solidFill>
                                  <a:srgbClr val="C00000"/>
                                </a:solidFill>
                                <a:latin typeface="Cambria Math" panose="02040503050406030204" pitchFamily="18" charset="0"/>
                              </a:rPr>
                              <m:t>′</m:t>
                            </m:r>
                          </m:sup>
                        </m:sSup>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𝑞</m:t>
                        </m:r>
                      </m:e>
                    </m:d>
                    <m:r>
                      <a:rPr lang="en-US" b="0" i="1" smtClean="0">
                        <a:solidFill>
                          <a:srgbClr val="C00000"/>
                        </a:solidFill>
                        <a:latin typeface="Cambria Math" panose="02040503050406030204" pitchFamily="18" charset="0"/>
                      </a:rPr>
                      <m:t>≤2</m:t>
                    </m:r>
                    <m:r>
                      <a:rPr lang="en-US" b="0" i="1" smtClean="0">
                        <a:solidFill>
                          <a:srgbClr val="C00000"/>
                        </a:solidFill>
                        <a:latin typeface="Cambria Math" panose="02040503050406030204" pitchFamily="18" charset="0"/>
                      </a:rPr>
                      <m:t>𝐹</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𝑧</m:t>
                        </m:r>
                        <m:r>
                          <a:rPr lang="en-US" b="0" i="1" smtClean="0">
                            <a:solidFill>
                              <a:srgbClr val="C00000"/>
                            </a:solidFill>
                            <a:latin typeface="Cambria Math" panose="02040503050406030204" pitchFamily="18" charset="0"/>
                          </a:rPr>
                          <m:t>−</m:t>
                        </m:r>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𝑧</m:t>
                            </m:r>
                          </m:e>
                          <m:sup>
                            <m:r>
                              <a:rPr lang="en-US" b="0" i="1" smtClean="0">
                                <a:solidFill>
                                  <a:srgbClr val="C00000"/>
                                </a:solidFill>
                                <a:latin typeface="Cambria Math" panose="02040503050406030204" pitchFamily="18" charset="0"/>
                              </a:rPr>
                              <m:t>′</m:t>
                            </m:r>
                          </m:sup>
                        </m:sSup>
                      </m:e>
                    </m:d>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𝐹</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𝑧</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𝑞</m:t>
                    </m:r>
                    <m:r>
                      <a:rPr lang="en-US" b="0" i="1" smtClean="0">
                        <a:solidFill>
                          <a:srgbClr val="C00000"/>
                        </a:solidFill>
                        <a:latin typeface="Cambria Math" panose="02040503050406030204" pitchFamily="18" charset="0"/>
                      </a:rPr>
                      <m:t>)</m:t>
                    </m:r>
                  </m:oMath>
                </a14:m>
                <a:endParaRPr lang="en-US" i="1" dirty="0"/>
              </a:p>
              <a:p>
                <a:pPr lvl="1">
                  <a:buClr>
                    <a:schemeClr val="tx1"/>
                  </a:buClr>
                </a:pPr>
                <a:endParaRPr lang="en-US" dirty="0"/>
              </a:p>
              <a:p>
                <a:pPr lvl="1">
                  <a:buClr>
                    <a:schemeClr val="tx1"/>
                  </a:buClr>
                </a:pPr>
                <a14:m>
                  <m:oMath xmlns:m="http://schemas.openxmlformats.org/officeDocument/2006/math">
                    <m:r>
                      <a:rPr lang="en-US" i="1">
                        <a:solidFill>
                          <a:srgbClr val="C00000"/>
                        </a:solidFill>
                        <a:latin typeface="Cambria Math" panose="02040503050406030204" pitchFamily="18" charset="0"/>
                      </a:rPr>
                      <m:t>𝐹</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𝑧</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𝑞</m:t>
                        </m:r>
                      </m:e>
                    </m:d>
                    <m:r>
                      <a:rPr lang="en-US" b="0" i="1" smtClean="0">
                        <a:solidFill>
                          <a:srgbClr val="C00000"/>
                        </a:solidFill>
                        <a:latin typeface="Cambria Math" panose="02040503050406030204" pitchFamily="18" charset="0"/>
                      </a:rPr>
                      <m:t>≤</m:t>
                    </m:r>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2</m:t>
                        </m:r>
                      </m:num>
                      <m:den>
                        <m:r>
                          <a:rPr lang="en-US" b="0" i="1" smtClean="0">
                            <a:solidFill>
                              <a:srgbClr val="C00000"/>
                            </a:solidFill>
                            <a:latin typeface="Cambria Math" panose="02040503050406030204" pitchFamily="18" charset="0"/>
                          </a:rPr>
                          <m:t>4</m:t>
                        </m:r>
                      </m:den>
                    </m:f>
                    <m:r>
                      <a:rPr lang="en-US" b="0" i="1" smtClean="0">
                        <a:solidFill>
                          <a:srgbClr val="C00000"/>
                        </a:solidFill>
                        <a:latin typeface="Cambria Math" panose="02040503050406030204" pitchFamily="18" charset="0"/>
                      </a:rPr>
                      <m:t>𝐹</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𝑧</m:t>
                        </m:r>
                        <m:r>
                          <a:rPr lang="en-US" b="0" i="1" smtClean="0">
                            <a:solidFill>
                              <a:srgbClr val="C00000"/>
                            </a:solidFill>
                            <a:latin typeface="Cambria Math" panose="02040503050406030204" pitchFamily="18" charset="0"/>
                          </a:rPr>
                          <m:t>−</m:t>
                        </m:r>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𝑧</m:t>
                            </m:r>
                          </m:e>
                          <m:sup>
                            <m:r>
                              <a:rPr lang="en-US" b="0" i="1" smtClean="0">
                                <a:solidFill>
                                  <a:srgbClr val="C00000"/>
                                </a:solidFill>
                                <a:latin typeface="Cambria Math" panose="02040503050406030204" pitchFamily="18" charset="0"/>
                              </a:rPr>
                              <m:t>′</m:t>
                            </m:r>
                          </m:sup>
                        </m:sSup>
                      </m:e>
                    </m:d>
                    <m:r>
                      <a:rPr lang="en-US" b="0" i="1" smtClean="0">
                        <a:solidFill>
                          <a:srgbClr val="C00000"/>
                        </a:solidFill>
                        <a:latin typeface="Cambria Math" panose="02040503050406030204" pitchFamily="18" charset="0"/>
                      </a:rPr>
                      <m:t>+</m:t>
                    </m:r>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1</m:t>
                        </m:r>
                      </m:num>
                      <m:den>
                        <m:r>
                          <a:rPr lang="en-US" b="0" i="1" smtClean="0">
                            <a:solidFill>
                              <a:srgbClr val="C00000"/>
                            </a:solidFill>
                            <a:latin typeface="Cambria Math" panose="02040503050406030204" pitchFamily="18" charset="0"/>
                          </a:rPr>
                          <m:t>4</m:t>
                        </m:r>
                      </m:den>
                    </m:f>
                    <m:r>
                      <a:rPr lang="en-US" b="0" i="1" smtClean="0">
                        <a:solidFill>
                          <a:srgbClr val="C00000"/>
                        </a:solidFill>
                        <a:latin typeface="Cambria Math" panose="02040503050406030204" pitchFamily="18" charset="0"/>
                      </a:rPr>
                      <m:t>𝐹</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𝑧</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𝑞</m:t>
                    </m:r>
                    <m:r>
                      <a:rPr lang="en-US" b="0" i="1" smtClean="0">
                        <a:solidFill>
                          <a:srgbClr val="C00000"/>
                        </a:solidFill>
                        <a:latin typeface="Cambria Math" panose="02040503050406030204" pitchFamily="18" charset="0"/>
                      </a:rPr>
                      <m:t>)</m:t>
                    </m:r>
                  </m:oMath>
                </a14:m>
                <a:endParaRPr lang="en-US" i="1" dirty="0"/>
              </a:p>
              <a:p>
                <a:pPr lvl="1">
                  <a:buClr>
                    <a:schemeClr val="tx1"/>
                  </a:buClr>
                </a:pPr>
                <a:endParaRPr lang="en-US" dirty="0"/>
              </a:p>
              <a:p>
                <a:pPr lvl="1">
                  <a:buClr>
                    <a:schemeClr val="tx1"/>
                  </a:buClr>
                </a:pPr>
                <a14:m>
                  <m:oMath xmlns:m="http://schemas.openxmlformats.org/officeDocument/2006/math">
                    <m:r>
                      <a:rPr lang="en-US" i="1">
                        <a:solidFill>
                          <a:srgbClr val="C00000"/>
                        </a:solidFill>
                        <a:latin typeface="Cambria Math" panose="02040503050406030204" pitchFamily="18" charset="0"/>
                      </a:rPr>
                      <m:t>𝐹</m:t>
                    </m:r>
                    <m:d>
                      <m:dPr>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𝑧</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𝑞</m:t>
                        </m:r>
                      </m:e>
                    </m:d>
                    <m:r>
                      <a:rPr lang="en-US" b="0" i="1" smtClean="0">
                        <a:solidFill>
                          <a:srgbClr val="C00000"/>
                        </a:solidFill>
                        <a:latin typeface="Cambria Math" panose="02040503050406030204" pitchFamily="18" charset="0"/>
                      </a:rPr>
                      <m:t>≤</m:t>
                    </m:r>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2</m:t>
                        </m:r>
                      </m:num>
                      <m:den>
                        <m:r>
                          <a:rPr lang="en-US" b="0" i="1" smtClean="0">
                            <a:solidFill>
                              <a:srgbClr val="C00000"/>
                            </a:solidFill>
                            <a:latin typeface="Cambria Math" panose="02040503050406030204" pitchFamily="18" charset="0"/>
                          </a:rPr>
                          <m:t>3</m:t>
                        </m:r>
                      </m:den>
                    </m:f>
                    <m:r>
                      <a:rPr lang="en-US" b="0" i="1" smtClean="0">
                        <a:solidFill>
                          <a:srgbClr val="C00000"/>
                        </a:solidFill>
                        <a:latin typeface="Cambria Math" panose="02040503050406030204" pitchFamily="18" charset="0"/>
                      </a:rPr>
                      <m:t>𝐹</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𝑧</m:t>
                    </m:r>
                    <m:r>
                      <a:rPr lang="en-US" b="0" i="1" smtClean="0">
                        <a:solidFill>
                          <a:srgbClr val="C00000"/>
                        </a:solidFill>
                        <a:latin typeface="Cambria Math" panose="02040503050406030204" pitchFamily="18" charset="0"/>
                      </a:rPr>
                      <m:t>−</m:t>
                    </m:r>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𝑧</m:t>
                        </m:r>
                      </m:e>
                      <m:sup>
                        <m:r>
                          <a:rPr lang="en-US" b="0" i="1" smtClean="0">
                            <a:solidFill>
                              <a:srgbClr val="C00000"/>
                            </a:solidFill>
                            <a:latin typeface="Cambria Math" panose="02040503050406030204" pitchFamily="18" charset="0"/>
                          </a:rPr>
                          <m:t>′</m:t>
                        </m:r>
                      </m:sup>
                    </m:sSup>
                    <m:r>
                      <a:rPr lang="en-US" b="0" i="1" smtClean="0">
                        <a:solidFill>
                          <a:srgbClr val="C00000"/>
                        </a:solidFill>
                        <a:latin typeface="Cambria Math" panose="02040503050406030204" pitchFamily="18" charset="0"/>
                      </a:rPr>
                      <m:t>)</m:t>
                    </m:r>
                  </m:oMath>
                </a14:m>
                <a:endParaRPr lang="en-US" i="1" dirty="0"/>
              </a:p>
              <a:p>
                <a:pPr>
                  <a:buClr>
                    <a:schemeClr val="tx1"/>
                  </a:buClr>
                </a:pPr>
                <a:endParaRPr lang="en-US" sz="2400" dirty="0"/>
              </a:p>
              <a:p>
                <a:pPr>
                  <a:buClr>
                    <a:schemeClr val="tx1"/>
                  </a:buClr>
                </a:pPr>
                <a:r>
                  <a:rPr lang="en-US" sz="2400" dirty="0"/>
                  <a:t>Set new</a:t>
                </a:r>
                <a:r>
                  <a:rPr lang="en-US" sz="2400" dirty="0">
                    <a:solidFill>
                      <a:srgbClr val="C00000"/>
                    </a:solidFill>
                  </a:rPr>
                  <a:t> </a:t>
                </a:r>
                <a14:m>
                  <m:oMath xmlns:m="http://schemas.openxmlformats.org/officeDocument/2006/math">
                    <m:sSup>
                      <m:sSupPr>
                        <m:ctrlPr>
                          <a:rPr lang="en-US" sz="2400" i="1">
                            <a:solidFill>
                              <a:srgbClr val="C00000"/>
                            </a:solidFill>
                            <a:latin typeface="Cambria Math" panose="02040503050406030204" pitchFamily="18" charset="0"/>
                          </a:rPr>
                        </m:ctrlPr>
                      </m:sSupPr>
                      <m:e>
                        <m:r>
                          <a:rPr lang="en-US" sz="2400" i="1">
                            <a:solidFill>
                              <a:srgbClr val="C00000"/>
                            </a:solidFill>
                            <a:latin typeface="Cambria Math" panose="02040503050406030204" pitchFamily="18" charset="0"/>
                          </a:rPr>
                          <m:t>𝑧</m:t>
                        </m:r>
                      </m:e>
                      <m:sup>
                        <m:r>
                          <a:rPr lang="en-US" sz="2400" i="1">
                            <a:solidFill>
                              <a:srgbClr val="C00000"/>
                            </a:solidFill>
                            <a:latin typeface="Cambria Math" panose="02040503050406030204" pitchFamily="18" charset="0"/>
                          </a:rPr>
                          <m:t>′</m:t>
                        </m:r>
                      </m:sup>
                    </m:sSup>
                  </m:oMath>
                </a14:m>
                <a:r>
                  <a:rPr lang="en-US" sz="2400" dirty="0">
                    <a:solidFill>
                      <a:srgbClr val="C00000"/>
                    </a:solidFill>
                  </a:rPr>
                  <a:t> </a:t>
                </a:r>
                <a:r>
                  <a:rPr lang="en-US" sz="2400" dirty="0"/>
                  <a:t>to be </a:t>
                </a:r>
                <a14:m>
                  <m:oMath xmlns:m="http://schemas.openxmlformats.org/officeDocument/2006/math">
                    <m:r>
                      <a:rPr lang="en-US" sz="2400" b="0" i="0"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𝑞</m:t>
                    </m:r>
                  </m:oMath>
                </a14:m>
                <a:endParaRPr lang="en-US" sz="2400" dirty="0">
                  <a:solidFill>
                    <a:srgbClr val="C00000"/>
                  </a:solidFill>
                </a:endParaRPr>
              </a:p>
              <a:p>
                <a:pPr>
                  <a:buClr>
                    <a:schemeClr val="tx1"/>
                  </a:buClr>
                </a:pPr>
                <a:endParaRPr lang="en-US" sz="2400" dirty="0"/>
              </a:p>
              <a:p>
                <a:pPr>
                  <a:buClr>
                    <a:schemeClr val="tx1"/>
                  </a:buClr>
                </a:pPr>
                <a:r>
                  <a:rPr lang="en-US" sz="2400" dirty="0"/>
                  <a:t>Generalizes to approximate triangle inequality</a:t>
                </a:r>
              </a:p>
            </p:txBody>
          </p:sp>
        </mc:Choice>
        <mc:Fallback xmlns="">
          <p:sp>
            <p:nvSpPr>
              <p:cNvPr id="3" name="Content Placeholder 2">
                <a:extLst>
                  <a:ext uri="{FF2B5EF4-FFF2-40B4-BE49-F238E27FC236}">
                    <a16:creationId xmlns:a16="http://schemas.microsoft.com/office/drawing/2014/main" id="{430E025F-B9D7-E673-B835-0FF31CDF488C}"/>
                  </a:ext>
                </a:extLst>
              </p:cNvPr>
              <p:cNvSpPr>
                <a:spLocks noGrp="1" noRot="1" noChangeAspect="1" noMove="1" noResize="1" noEditPoints="1" noAdjustHandles="1" noChangeArrowheads="1" noChangeShapeType="1" noTextEdit="1"/>
              </p:cNvSpPr>
              <p:nvPr>
                <p:ph idx="1"/>
              </p:nvPr>
            </p:nvSpPr>
            <p:spPr>
              <a:xfrm>
                <a:off x="838200" y="1690688"/>
                <a:ext cx="10515600" cy="4788239"/>
              </a:xfrm>
              <a:blipFill>
                <a:blip r:embed="rId3"/>
                <a:stretch>
                  <a:fillRect l="-812" t="-1781" b="-4707"/>
                </a:stretch>
              </a:blipFill>
            </p:spPr>
            <p:txBody>
              <a:bodyPr/>
              <a:lstStyle/>
              <a:p>
                <a:r>
                  <a:rPr lang="en-US">
                    <a:noFill/>
                  </a:rPr>
                  <a:t> </a:t>
                </a:r>
              </a:p>
            </p:txBody>
          </p:sp>
        </mc:Fallback>
      </mc:AlternateContent>
    </p:spTree>
    <p:extLst>
      <p:ext uri="{BB962C8B-B14F-4D97-AF65-F5344CB8AC3E}">
        <p14:creationId xmlns:p14="http://schemas.microsoft.com/office/powerpoint/2010/main" val="899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68B76-4415-F9B7-D740-AAFA612FE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4ED43-E17D-E63F-3A48-5194E85AAF8F}"/>
              </a:ext>
            </a:extLst>
          </p:cNvPr>
          <p:cNvSpPr>
            <a:spLocks noGrp="1"/>
          </p:cNvSpPr>
          <p:nvPr>
            <p:ph type="title"/>
          </p:nvPr>
        </p:nvSpPr>
        <p:spPr/>
        <p:txBody>
          <a:bodyPr/>
          <a:lstStyle/>
          <a:p>
            <a:r>
              <a:rPr lang="en-US" dirty="0">
                <a:solidFill>
                  <a:srgbClr val="C00000"/>
                </a:solidFill>
              </a:rPr>
              <a:t>Triangle Inequality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55845B-D978-D4D4-87C9-59C23B9BD0FF}"/>
                  </a:ext>
                </a:extLst>
              </p:cNvPr>
              <p:cNvSpPr>
                <a:spLocks noGrp="1"/>
              </p:cNvSpPr>
              <p:nvPr>
                <p:ph idx="1"/>
              </p:nvPr>
            </p:nvSpPr>
            <p:spPr>
              <a:xfrm>
                <a:off x="838200" y="1690688"/>
                <a:ext cx="10515600" cy="4788239"/>
              </a:xfrm>
            </p:spPr>
            <p:txBody>
              <a:bodyPr>
                <a:normAutofit/>
              </a:bodyPr>
              <a:lstStyle/>
              <a:p>
                <a:pPr>
                  <a:buClr>
                    <a:schemeClr val="tx1"/>
                  </a:buClr>
                </a:pPr>
                <a:r>
                  <a:rPr lang="en-US" sz="3000" dirty="0"/>
                  <a:t>Constant-factor compounding across each level, so set height of recursion tree to be a parameter </a:t>
                </a:r>
                <a14:m>
                  <m:oMath xmlns:m="http://schemas.openxmlformats.org/officeDocument/2006/math">
                    <m:r>
                      <a:rPr lang="en-US" sz="3000" b="0" i="1" smtClean="0">
                        <a:solidFill>
                          <a:srgbClr val="C00000"/>
                        </a:solidFill>
                        <a:latin typeface="Cambria Math" panose="02040503050406030204" pitchFamily="18" charset="0"/>
                      </a:rPr>
                      <m:t>𝐶</m:t>
                    </m:r>
                  </m:oMath>
                </a14:m>
                <a:endParaRPr lang="en-US" sz="3000" dirty="0">
                  <a:solidFill>
                    <a:srgbClr val="C00000"/>
                  </a:solidFill>
                </a:endParaRPr>
              </a:p>
              <a:p>
                <a:pPr>
                  <a:buClr>
                    <a:schemeClr val="tx1"/>
                  </a:buClr>
                </a:pPr>
                <a:endParaRPr lang="en-US" sz="3000" dirty="0"/>
              </a:p>
              <a:p>
                <a:pPr>
                  <a:buClr>
                    <a:schemeClr val="tx1"/>
                  </a:buClr>
                </a:pPr>
                <a:r>
                  <a:rPr lang="en-US" sz="3000" dirty="0"/>
                  <a:t>Each block has size </a:t>
                </a:r>
                <a14:m>
                  <m:oMath xmlns:m="http://schemas.openxmlformats.org/officeDocument/2006/math">
                    <m:sSup>
                      <m:sSupPr>
                        <m:ctrlPr>
                          <a:rPr lang="en-US" sz="3000" b="0" i="1" smtClean="0">
                            <a:solidFill>
                              <a:srgbClr val="C00000"/>
                            </a:solidFill>
                            <a:latin typeface="Cambria Math" panose="02040503050406030204" pitchFamily="18" charset="0"/>
                          </a:rPr>
                        </m:ctrlPr>
                      </m:sSupPr>
                      <m:e>
                        <m:r>
                          <a:rPr lang="en-US" sz="3000" b="0" i="1" smtClean="0">
                            <a:solidFill>
                              <a:srgbClr val="C00000"/>
                            </a:solidFill>
                            <a:latin typeface="Cambria Math" panose="02040503050406030204" pitchFamily="18" charset="0"/>
                          </a:rPr>
                          <m:t>𝑛</m:t>
                        </m:r>
                      </m:e>
                      <m:sup>
                        <m:r>
                          <a:rPr lang="en-US" sz="3000" b="0" i="1" smtClean="0">
                            <a:solidFill>
                              <a:srgbClr val="C00000"/>
                            </a:solidFill>
                            <a:latin typeface="Cambria Math" panose="02040503050406030204" pitchFamily="18" charset="0"/>
                          </a:rPr>
                          <m:t>1/</m:t>
                        </m:r>
                        <m:r>
                          <a:rPr lang="en-US" sz="3000" b="0" i="1" smtClean="0">
                            <a:solidFill>
                              <a:srgbClr val="C00000"/>
                            </a:solidFill>
                            <a:latin typeface="Cambria Math" panose="02040503050406030204" pitchFamily="18" charset="0"/>
                          </a:rPr>
                          <m:t>𝐶</m:t>
                        </m:r>
                      </m:sup>
                    </m:sSup>
                  </m:oMath>
                </a14:m>
                <a:endParaRPr lang="en-US" sz="3000" b="0" dirty="0">
                  <a:solidFill>
                    <a:srgbClr val="C00000"/>
                  </a:solidFill>
                </a:endParaRPr>
              </a:p>
              <a:p>
                <a:pPr>
                  <a:buClr>
                    <a:schemeClr val="tx1"/>
                  </a:buClr>
                </a:pPr>
                <a:endParaRPr lang="en-US" sz="3000" dirty="0"/>
              </a:p>
              <a:p>
                <a:pPr>
                  <a:buClr>
                    <a:schemeClr val="tx1"/>
                  </a:buClr>
                </a:pPr>
                <a:r>
                  <a:rPr lang="en-US" sz="3000" dirty="0"/>
                  <a:t>Algorithm must be robust to </a:t>
                </a:r>
                <a14:m>
                  <m:oMath xmlns:m="http://schemas.openxmlformats.org/officeDocument/2006/math">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𝑛</m:t>
                        </m:r>
                      </m:e>
                      <m:sup>
                        <m:r>
                          <a:rPr lang="en-US" sz="3000" b="0" i="1" smtClean="0">
                            <a:solidFill>
                              <a:srgbClr val="C00000"/>
                            </a:solidFill>
                            <a:latin typeface="Cambria Math" panose="02040503050406030204" pitchFamily="18" charset="0"/>
                          </a:rPr>
                          <m:t>1/</m:t>
                        </m:r>
                        <m:r>
                          <a:rPr lang="en-US" sz="3000" b="0" i="1" smtClean="0">
                            <a:solidFill>
                              <a:srgbClr val="C00000"/>
                            </a:solidFill>
                            <a:latin typeface="Cambria Math" panose="02040503050406030204" pitchFamily="18" charset="0"/>
                          </a:rPr>
                          <m:t>𝐶</m:t>
                        </m:r>
                      </m:sup>
                    </m:sSup>
                  </m:oMath>
                </a14:m>
                <a:r>
                  <a:rPr lang="en-US" sz="3000" dirty="0"/>
                  <a:t> adaptive queries</a:t>
                </a:r>
              </a:p>
              <a:p>
                <a:pPr>
                  <a:buClr>
                    <a:schemeClr val="tx1"/>
                  </a:buClr>
                </a:pPr>
                <a:endParaRPr lang="en-US" sz="3000" dirty="0"/>
              </a:p>
              <a:p>
                <a:pPr>
                  <a:buClr>
                    <a:schemeClr val="tx1"/>
                  </a:buClr>
                </a:pPr>
                <a14:m>
                  <m:oMath xmlns:m="http://schemas.openxmlformats.org/officeDocument/2006/math">
                    <m:sSup>
                      <m:sSupPr>
                        <m:ctrlPr>
                          <a:rPr lang="en-US" sz="3000" i="1">
                            <a:solidFill>
                              <a:srgbClr val="C00000"/>
                            </a:solidFill>
                            <a:latin typeface="Cambria Math" panose="02040503050406030204" pitchFamily="18" charset="0"/>
                          </a:rPr>
                        </m:ctrlPr>
                      </m:sSupPr>
                      <m:e>
                        <m:r>
                          <a:rPr lang="en-US" sz="3000" i="1">
                            <a:solidFill>
                              <a:srgbClr val="C00000"/>
                            </a:solidFill>
                            <a:latin typeface="Cambria Math" panose="02040503050406030204" pitchFamily="18" charset="0"/>
                          </a:rPr>
                          <m:t>𝑛</m:t>
                        </m:r>
                      </m:e>
                      <m:sup>
                        <m:r>
                          <a:rPr lang="en-US" sz="3000" i="1">
                            <a:solidFill>
                              <a:srgbClr val="C00000"/>
                            </a:solidFill>
                            <a:latin typeface="Cambria Math" panose="02040503050406030204" pitchFamily="18" charset="0"/>
                          </a:rPr>
                          <m:t>𝑂</m:t>
                        </m:r>
                        <m:r>
                          <a:rPr lang="en-US" sz="3000" i="1">
                            <a:solidFill>
                              <a:srgbClr val="C00000"/>
                            </a:solidFill>
                            <a:latin typeface="Cambria Math" panose="02040503050406030204" pitchFamily="18" charset="0"/>
                          </a:rPr>
                          <m:t>(1/</m:t>
                        </m:r>
                        <m:r>
                          <a:rPr lang="en-US" sz="3000" b="0" i="1" smtClean="0">
                            <a:solidFill>
                              <a:srgbClr val="C00000"/>
                            </a:solidFill>
                            <a:latin typeface="Cambria Math" panose="02040503050406030204" pitchFamily="18" charset="0"/>
                          </a:rPr>
                          <m:t>𝐶</m:t>
                        </m:r>
                        <m:r>
                          <a:rPr lang="en-US" sz="3000" i="1">
                            <a:solidFill>
                              <a:srgbClr val="C00000"/>
                            </a:solidFill>
                            <a:latin typeface="Cambria Math" panose="02040503050406030204" pitchFamily="18" charset="0"/>
                          </a:rPr>
                          <m:t>)</m:t>
                        </m:r>
                      </m:sup>
                    </m:sSup>
                  </m:oMath>
                </a14:m>
                <a:r>
                  <a:rPr lang="en-US" sz="3000" dirty="0"/>
                  <a:t> space and </a:t>
                </a:r>
                <a14:m>
                  <m:oMath xmlns:m="http://schemas.openxmlformats.org/officeDocument/2006/math">
                    <m:sSup>
                      <m:sSupPr>
                        <m:ctrlPr>
                          <a:rPr lang="en-US" sz="3000" b="0" i="1" smtClean="0">
                            <a:solidFill>
                              <a:srgbClr val="C00000"/>
                            </a:solidFill>
                            <a:latin typeface="Cambria Math" panose="02040503050406030204" pitchFamily="18" charset="0"/>
                          </a:rPr>
                        </m:ctrlPr>
                      </m:sSupPr>
                      <m:e>
                        <m:r>
                          <a:rPr lang="en-US" sz="3000" b="0" i="0" smtClean="0">
                            <a:solidFill>
                              <a:srgbClr val="C00000"/>
                            </a:solidFill>
                            <a:latin typeface="Cambria Math" panose="02040503050406030204" pitchFamily="18" charset="0"/>
                          </a:rPr>
                          <m:t>2</m:t>
                        </m:r>
                      </m:e>
                      <m:sup>
                        <m:r>
                          <a:rPr lang="en-US" sz="3000" b="0" i="1" smtClean="0">
                            <a:solidFill>
                              <a:srgbClr val="C00000"/>
                            </a:solidFill>
                            <a:latin typeface="Cambria Math" panose="02040503050406030204" pitchFamily="18" charset="0"/>
                          </a:rPr>
                          <m:t>𝑂</m:t>
                        </m:r>
                        <m:r>
                          <a:rPr lang="en-US" sz="3000" b="0" i="1" smtClean="0">
                            <a:solidFill>
                              <a:srgbClr val="C00000"/>
                            </a:solidFill>
                            <a:latin typeface="Cambria Math" panose="02040503050406030204" pitchFamily="18" charset="0"/>
                          </a:rPr>
                          <m:t>(</m:t>
                        </m:r>
                        <m:r>
                          <a:rPr lang="en-US" sz="3000" b="0" i="1" smtClean="0">
                            <a:solidFill>
                              <a:srgbClr val="C00000"/>
                            </a:solidFill>
                            <a:latin typeface="Cambria Math" panose="02040503050406030204" pitchFamily="18" charset="0"/>
                          </a:rPr>
                          <m:t>𝐶</m:t>
                        </m:r>
                        <m:r>
                          <a:rPr lang="en-US" sz="3000" b="0" i="1" smtClean="0">
                            <a:solidFill>
                              <a:srgbClr val="C00000"/>
                            </a:solidFill>
                            <a:latin typeface="Cambria Math" panose="02040503050406030204" pitchFamily="18" charset="0"/>
                          </a:rPr>
                          <m:t>)</m:t>
                        </m:r>
                      </m:sup>
                    </m:sSup>
                  </m:oMath>
                </a14:m>
                <a:r>
                  <a:rPr lang="en-US" sz="3000" dirty="0"/>
                  <a:t>-approximation</a:t>
                </a:r>
              </a:p>
              <a:p>
                <a:pPr>
                  <a:buClr>
                    <a:schemeClr val="tx1"/>
                  </a:buClr>
                </a:pPr>
                <a:endParaRPr lang="en-US" sz="3000" dirty="0"/>
              </a:p>
              <a:p>
                <a:pPr>
                  <a:buClr>
                    <a:schemeClr val="tx1"/>
                  </a:buClr>
                </a:pPr>
                <a:endParaRPr lang="en-US" sz="3000" dirty="0"/>
              </a:p>
            </p:txBody>
          </p:sp>
        </mc:Choice>
        <mc:Fallback xmlns="">
          <p:sp>
            <p:nvSpPr>
              <p:cNvPr id="3" name="Content Placeholder 2">
                <a:extLst>
                  <a:ext uri="{FF2B5EF4-FFF2-40B4-BE49-F238E27FC236}">
                    <a16:creationId xmlns:a16="http://schemas.microsoft.com/office/drawing/2014/main" id="{8355845B-D978-D4D4-87C9-59C23B9BD0FF}"/>
                  </a:ext>
                </a:extLst>
              </p:cNvPr>
              <p:cNvSpPr>
                <a:spLocks noGrp="1" noRot="1" noChangeAspect="1" noMove="1" noResize="1" noEditPoints="1" noAdjustHandles="1" noChangeArrowheads="1" noChangeShapeType="1" noTextEdit="1"/>
              </p:cNvSpPr>
              <p:nvPr>
                <p:ph idx="1"/>
              </p:nvPr>
            </p:nvSpPr>
            <p:spPr>
              <a:xfrm>
                <a:off x="838200" y="1690688"/>
                <a:ext cx="10515600" cy="4788239"/>
              </a:xfrm>
              <a:blipFill>
                <a:blip r:embed="rId3"/>
                <a:stretch>
                  <a:fillRect l="-1217" t="-2545"/>
                </a:stretch>
              </a:blipFill>
            </p:spPr>
            <p:txBody>
              <a:bodyPr/>
              <a:lstStyle/>
              <a:p>
                <a:r>
                  <a:rPr lang="en-US">
                    <a:noFill/>
                  </a:rPr>
                  <a:t> </a:t>
                </a:r>
              </a:p>
            </p:txBody>
          </p:sp>
        </mc:Fallback>
      </mc:AlternateContent>
    </p:spTree>
    <p:extLst>
      <p:ext uri="{BB962C8B-B14F-4D97-AF65-F5344CB8AC3E}">
        <p14:creationId xmlns:p14="http://schemas.microsoft.com/office/powerpoint/2010/main" val="615583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34361-E9AD-6959-087B-97E81B6A3C0D}"/>
            </a:ext>
          </a:extLst>
        </p:cNvPr>
        <p:cNvGrpSpPr/>
        <p:nvPr/>
      </p:nvGrpSpPr>
      <p:grpSpPr>
        <a:xfrm>
          <a:off x="0" y="0"/>
          <a:ext cx="0" cy="0"/>
          <a:chOff x="0" y="0"/>
          <a:chExt cx="0" cy="0"/>
        </a:xfrm>
      </p:grpSpPr>
      <p:pic>
        <p:nvPicPr>
          <p:cNvPr id="4" name="Picture 2" descr="Image result for thank you">
            <a:extLst>
              <a:ext uri="{FF2B5EF4-FFF2-40B4-BE49-F238E27FC236}">
                <a16:creationId xmlns:a16="http://schemas.microsoft.com/office/drawing/2014/main" id="{5FE8331E-DD49-252F-9987-D00539D23B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62" r="5" b="5"/>
          <a:stretch/>
        </p:blipFill>
        <p:spPr bwMode="auto">
          <a:xfrm>
            <a:off x="8560735" y="0"/>
            <a:ext cx="3425525" cy="192685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A079864-AF19-98EC-B063-8F77130C2439}"/>
              </a:ext>
            </a:extLst>
          </p:cNvPr>
          <p:cNvSpPr>
            <a:spLocks noGrp="1"/>
          </p:cNvSpPr>
          <p:nvPr>
            <p:ph type="title"/>
          </p:nvPr>
        </p:nvSpPr>
        <p:spPr/>
        <p:txBody>
          <a:bodyPr/>
          <a:lstStyle/>
          <a:p>
            <a:r>
              <a:rPr lang="en-US" dirty="0">
                <a:solidFill>
                  <a:srgbClr val="C00000"/>
                </a:solidFill>
              </a:rPr>
              <a:t>Future Directions?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AC0623-B849-E5B2-9B78-B8B41A0A24F2}"/>
                  </a:ext>
                </a:extLst>
              </p:cNvPr>
              <p:cNvSpPr>
                <a:spLocks noGrp="1"/>
              </p:cNvSpPr>
              <p:nvPr>
                <p:ph idx="1"/>
              </p:nvPr>
            </p:nvSpPr>
            <p:spPr>
              <a:xfrm>
                <a:off x="838200" y="1647825"/>
                <a:ext cx="10515600" cy="5210175"/>
              </a:xfrm>
            </p:spPr>
            <p:txBody>
              <a:bodyPr>
                <a:normAutofit/>
              </a:bodyPr>
              <a:lstStyle/>
              <a:p>
                <a:pPr>
                  <a:buClr>
                    <a:schemeClr val="tx1"/>
                  </a:buClr>
                </a:pPr>
                <a:r>
                  <a:rPr lang="en-US" sz="3000" dirty="0"/>
                  <a:t>Improve the concrete </a:t>
                </a:r>
                <a14:m>
                  <m:oMath xmlns:m="http://schemas.openxmlformats.org/officeDocument/2006/math">
                    <m:r>
                      <m:rPr>
                        <m:sty m:val="p"/>
                      </m:rPr>
                      <a:rPr lang="en-US" sz="3000">
                        <a:solidFill>
                          <a:srgbClr val="C00000"/>
                        </a:solidFill>
                        <a:latin typeface="Cambria Math" panose="02040503050406030204" pitchFamily="18" charset="0"/>
                      </a:rPr>
                      <m:t>poly</m:t>
                    </m:r>
                    <m:d>
                      <m:dPr>
                        <m:ctrlPr>
                          <a:rPr lang="en-US" sz="3000" i="1">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r>
                              <a:rPr lang="en-US" sz="3000" i="1">
                                <a:solidFill>
                                  <a:srgbClr val="C00000"/>
                                </a:solidFill>
                                <a:latin typeface="Cambria Math" panose="02040503050406030204" pitchFamily="18" charset="0"/>
                              </a:rPr>
                              <m:t>𝜀</m:t>
                            </m:r>
                          </m:den>
                        </m:f>
                        <m:r>
                          <a:rPr lang="en-US" sz="3000" i="1">
                            <a:solidFill>
                              <a:srgbClr val="C00000"/>
                            </a:solidFill>
                            <a:latin typeface="Cambria Math" panose="02040503050406030204" pitchFamily="18" charset="0"/>
                          </a:rPr>
                          <m:t>,</m:t>
                        </m:r>
                        <m:func>
                          <m:funcPr>
                            <m:ctrlPr>
                              <a:rPr lang="en-US" sz="3000" i="1">
                                <a:solidFill>
                                  <a:srgbClr val="C00000"/>
                                </a:solidFill>
                                <a:latin typeface="Cambria Math" panose="02040503050406030204" pitchFamily="18" charset="0"/>
                              </a:rPr>
                            </m:ctrlPr>
                          </m:funcPr>
                          <m:fName>
                            <m:r>
                              <m:rPr>
                                <m:sty m:val="p"/>
                              </m:rPr>
                              <a:rPr lang="en-US" sz="3000">
                                <a:solidFill>
                                  <a:srgbClr val="C00000"/>
                                </a:solidFill>
                                <a:latin typeface="Cambria Math" panose="02040503050406030204" pitchFamily="18" charset="0"/>
                              </a:rPr>
                              <m:t>log</m:t>
                            </m:r>
                          </m:fName>
                          <m:e>
                            <m:r>
                              <a:rPr lang="en-US" sz="3000" i="1">
                                <a:solidFill>
                                  <a:srgbClr val="C00000"/>
                                </a:solidFill>
                                <a:latin typeface="Cambria Math" panose="02040503050406030204" pitchFamily="18" charset="0"/>
                              </a:rPr>
                              <m:t>𝑛</m:t>
                            </m:r>
                          </m:e>
                        </m:func>
                      </m:e>
                    </m:d>
                  </m:oMath>
                </a14:m>
                <a:r>
                  <a:rPr lang="en-US" sz="3000" dirty="0"/>
                  <a:t> factors</a:t>
                </a:r>
              </a:p>
              <a:p>
                <a:pPr>
                  <a:buClr>
                    <a:schemeClr val="tx1"/>
                  </a:buClr>
                </a:pPr>
                <a:endParaRPr lang="en-US" sz="3000" dirty="0"/>
              </a:p>
              <a:p>
                <a:pPr>
                  <a:buClr>
                    <a:schemeClr val="tx1"/>
                  </a:buClr>
                </a:pPr>
                <a:r>
                  <a:rPr lang="en-US" sz="3000" dirty="0"/>
                  <a:t>Get </a:t>
                </a:r>
                <a14:m>
                  <m:oMath xmlns:m="http://schemas.openxmlformats.org/officeDocument/2006/math">
                    <m:d>
                      <m:dPr>
                        <m:ctrlPr>
                          <a:rPr lang="en-US" sz="3000" b="0" i="1" smtClean="0">
                            <a:solidFill>
                              <a:srgbClr val="C00000"/>
                            </a:solidFill>
                            <a:latin typeface="Cambria Math" panose="02040503050406030204" pitchFamily="18" charset="0"/>
                          </a:rPr>
                        </m:ctrlPr>
                      </m:dPr>
                      <m:e>
                        <m:r>
                          <a:rPr lang="en-US" sz="3000" b="0" i="1" smtClean="0">
                            <a:solidFill>
                              <a:srgbClr val="C00000"/>
                            </a:solidFill>
                            <a:latin typeface="Cambria Math" panose="02040503050406030204" pitchFamily="18" charset="0"/>
                          </a:rPr>
                          <m:t>1+</m:t>
                        </m:r>
                        <m:r>
                          <a:rPr lang="en-US" sz="3000" b="0" i="1" smtClean="0">
                            <a:solidFill>
                              <a:srgbClr val="C00000"/>
                            </a:solidFill>
                            <a:latin typeface="Cambria Math" panose="02040503050406030204" pitchFamily="18" charset="0"/>
                          </a:rPr>
                          <m:t>𝜀</m:t>
                        </m:r>
                      </m:e>
                    </m:d>
                  </m:oMath>
                </a14:m>
                <a:r>
                  <a:rPr lang="en-US" sz="3000" dirty="0"/>
                  <a:t>-approximation for other functions, e.g., distinct elements, </a:t>
                </a:r>
                <a14:m>
                  <m:oMath xmlns:m="http://schemas.openxmlformats.org/officeDocument/2006/math">
                    <m:sSub>
                      <m:sSubPr>
                        <m:ctrlPr>
                          <a:rPr lang="en-US" sz="3000" b="0" i="1" smtClean="0">
                            <a:solidFill>
                              <a:srgbClr val="C00000"/>
                            </a:solidFill>
                            <a:latin typeface="Cambria Math" panose="02040503050406030204" pitchFamily="18" charset="0"/>
                          </a:rPr>
                        </m:ctrlPr>
                      </m:sSubPr>
                      <m:e>
                        <m:r>
                          <a:rPr lang="en-US" sz="3000" b="0" i="1" smtClean="0">
                            <a:solidFill>
                              <a:srgbClr val="C00000"/>
                            </a:solidFill>
                            <a:latin typeface="Cambria Math" panose="02040503050406030204" pitchFamily="18" charset="0"/>
                          </a:rPr>
                          <m:t>𝐿</m:t>
                        </m:r>
                      </m:e>
                      <m:sub>
                        <m:r>
                          <a:rPr lang="en-US" sz="3000" b="0" i="1" smtClean="0">
                            <a:solidFill>
                              <a:srgbClr val="C00000"/>
                            </a:solidFill>
                            <a:latin typeface="Cambria Math" panose="02040503050406030204" pitchFamily="18" charset="0"/>
                          </a:rPr>
                          <m:t>𝑝</m:t>
                        </m:r>
                      </m:sub>
                    </m:sSub>
                  </m:oMath>
                </a14:m>
                <a:r>
                  <a:rPr lang="en-US" sz="3000" dirty="0"/>
                  <a:t> estimation, etc., with </a:t>
                </a:r>
                <a14:m>
                  <m:oMath xmlns:m="http://schemas.openxmlformats.org/officeDocument/2006/math">
                    <m:r>
                      <m:rPr>
                        <m:sty m:val="p"/>
                      </m:rPr>
                      <a:rPr lang="en-US" sz="3000">
                        <a:solidFill>
                          <a:srgbClr val="C00000"/>
                        </a:solidFill>
                        <a:latin typeface="Cambria Math" panose="02040503050406030204" pitchFamily="18" charset="0"/>
                      </a:rPr>
                      <m:t>poly</m:t>
                    </m:r>
                    <m:d>
                      <m:dPr>
                        <m:ctrlPr>
                          <a:rPr lang="en-US" sz="3000" i="1">
                            <a:solidFill>
                              <a:srgbClr val="C00000"/>
                            </a:solidFill>
                            <a:latin typeface="Cambria Math" panose="02040503050406030204" pitchFamily="18" charset="0"/>
                          </a:rPr>
                        </m:ctrlPr>
                      </m:dPr>
                      <m:e>
                        <m:f>
                          <m:fPr>
                            <m:ctrlPr>
                              <a:rPr lang="en-US" sz="3000" i="1">
                                <a:solidFill>
                                  <a:srgbClr val="C00000"/>
                                </a:solidFill>
                                <a:latin typeface="Cambria Math" panose="02040503050406030204" pitchFamily="18" charset="0"/>
                              </a:rPr>
                            </m:ctrlPr>
                          </m:fPr>
                          <m:num>
                            <m:r>
                              <a:rPr lang="en-US" sz="3000" i="1">
                                <a:solidFill>
                                  <a:srgbClr val="C00000"/>
                                </a:solidFill>
                                <a:latin typeface="Cambria Math" panose="02040503050406030204" pitchFamily="18" charset="0"/>
                              </a:rPr>
                              <m:t>1</m:t>
                            </m:r>
                          </m:num>
                          <m:den>
                            <m:r>
                              <a:rPr lang="en-US" sz="3000" i="1">
                                <a:solidFill>
                                  <a:srgbClr val="C00000"/>
                                </a:solidFill>
                                <a:latin typeface="Cambria Math" panose="02040503050406030204" pitchFamily="18" charset="0"/>
                              </a:rPr>
                              <m:t>𝜀</m:t>
                            </m:r>
                          </m:den>
                        </m:f>
                        <m:r>
                          <a:rPr lang="en-US" sz="3000" i="1">
                            <a:solidFill>
                              <a:srgbClr val="C00000"/>
                            </a:solidFill>
                            <a:latin typeface="Cambria Math" panose="02040503050406030204" pitchFamily="18" charset="0"/>
                          </a:rPr>
                          <m:t>,</m:t>
                        </m:r>
                        <m:func>
                          <m:funcPr>
                            <m:ctrlPr>
                              <a:rPr lang="en-US" sz="3000" i="1">
                                <a:solidFill>
                                  <a:srgbClr val="C00000"/>
                                </a:solidFill>
                                <a:latin typeface="Cambria Math" panose="02040503050406030204" pitchFamily="18" charset="0"/>
                              </a:rPr>
                            </m:ctrlPr>
                          </m:funcPr>
                          <m:fName>
                            <m:r>
                              <m:rPr>
                                <m:sty m:val="p"/>
                              </m:rPr>
                              <a:rPr lang="en-US" sz="3000">
                                <a:solidFill>
                                  <a:srgbClr val="C00000"/>
                                </a:solidFill>
                                <a:latin typeface="Cambria Math" panose="02040503050406030204" pitchFamily="18" charset="0"/>
                              </a:rPr>
                              <m:t>log</m:t>
                            </m:r>
                          </m:fName>
                          <m:e>
                            <m:r>
                              <a:rPr lang="en-US" sz="3000" i="1">
                                <a:solidFill>
                                  <a:srgbClr val="C00000"/>
                                </a:solidFill>
                                <a:latin typeface="Cambria Math" panose="02040503050406030204" pitchFamily="18" charset="0"/>
                              </a:rPr>
                              <m:t>𝑛</m:t>
                            </m:r>
                          </m:e>
                        </m:func>
                      </m:e>
                    </m:d>
                  </m:oMath>
                </a14:m>
                <a:r>
                  <a:rPr lang="en-US" sz="3000" dirty="0"/>
                  <a:t> overhead</a:t>
                </a:r>
              </a:p>
              <a:p>
                <a:pPr>
                  <a:buClr>
                    <a:schemeClr val="tx1"/>
                  </a:buClr>
                </a:pPr>
                <a:endParaRPr lang="en-US" sz="3000" dirty="0"/>
              </a:p>
              <a:p>
                <a:pPr>
                  <a:buClr>
                    <a:schemeClr val="tx1"/>
                  </a:buClr>
                </a:pPr>
                <a:r>
                  <a:rPr lang="en-US" sz="3000" dirty="0"/>
                  <a:t>Robust algorithms on insertion-deletion streams for </a:t>
                </a:r>
                <a:r>
                  <a:rPr lang="en-US" sz="3000" dirty="0">
                    <a:solidFill>
                      <a:srgbClr val="7030A0"/>
                    </a:solidFill>
                  </a:rPr>
                  <a:t>geometry</a:t>
                </a:r>
                <a:r>
                  <a:rPr lang="en-US" sz="3000" dirty="0"/>
                  <a:t> (e.g., facility location, clustering), </a:t>
                </a:r>
                <a:r>
                  <a:rPr lang="en-US" sz="3000" dirty="0">
                    <a:solidFill>
                      <a:srgbClr val="7030A0"/>
                    </a:solidFill>
                  </a:rPr>
                  <a:t>linear algebra </a:t>
                </a:r>
                <a:r>
                  <a:rPr lang="en-US" sz="3000" dirty="0"/>
                  <a:t>(e.g., regression), </a:t>
                </a:r>
                <a:r>
                  <a:rPr lang="en-US" sz="3000" dirty="0">
                    <a:solidFill>
                      <a:srgbClr val="7030A0"/>
                    </a:solidFill>
                  </a:rPr>
                  <a:t>graphs</a:t>
                </a:r>
                <a:r>
                  <a:rPr lang="en-US" sz="3000" dirty="0"/>
                  <a:t> (e.g., cut </a:t>
                </a:r>
                <a:r>
                  <a:rPr lang="en-US" sz="3000" dirty="0" err="1"/>
                  <a:t>sparsification</a:t>
                </a:r>
                <a:r>
                  <a:rPr lang="en-US" sz="3000" dirty="0"/>
                  <a:t>)</a:t>
                </a:r>
              </a:p>
            </p:txBody>
          </p:sp>
        </mc:Choice>
        <mc:Fallback xmlns="">
          <p:sp>
            <p:nvSpPr>
              <p:cNvPr id="3" name="Content Placeholder 2">
                <a:extLst>
                  <a:ext uri="{FF2B5EF4-FFF2-40B4-BE49-F238E27FC236}">
                    <a16:creationId xmlns:a16="http://schemas.microsoft.com/office/drawing/2014/main" id="{34AC0623-B849-E5B2-9B78-B8B41A0A24F2}"/>
                  </a:ext>
                </a:extLst>
              </p:cNvPr>
              <p:cNvSpPr>
                <a:spLocks noGrp="1" noRot="1" noChangeAspect="1" noMove="1" noResize="1" noEditPoints="1" noAdjustHandles="1" noChangeArrowheads="1" noChangeShapeType="1" noTextEdit="1"/>
              </p:cNvSpPr>
              <p:nvPr>
                <p:ph idx="1"/>
              </p:nvPr>
            </p:nvSpPr>
            <p:spPr>
              <a:xfrm>
                <a:off x="838200" y="1647825"/>
                <a:ext cx="10515600" cy="5210175"/>
              </a:xfrm>
              <a:blipFill>
                <a:blip r:embed="rId4"/>
                <a:stretch>
                  <a:fillRect l="-1217" t="-117" r="-1681"/>
                </a:stretch>
              </a:blipFill>
            </p:spPr>
            <p:txBody>
              <a:bodyPr/>
              <a:lstStyle/>
              <a:p>
                <a:r>
                  <a:rPr lang="en-US">
                    <a:noFill/>
                  </a:rPr>
                  <a:t> </a:t>
                </a:r>
              </a:p>
            </p:txBody>
          </p:sp>
        </mc:Fallback>
      </mc:AlternateContent>
    </p:spTree>
    <p:extLst>
      <p:ext uri="{BB962C8B-B14F-4D97-AF65-F5344CB8AC3E}">
        <p14:creationId xmlns:p14="http://schemas.microsoft.com/office/powerpoint/2010/main" val="26238020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2162</Words>
  <Application>Microsoft Office PowerPoint</Application>
  <PresentationFormat>Widescreen</PresentationFormat>
  <Paragraphs>375</Paragraphs>
  <Slides>40</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Cambria Math</vt:lpstr>
      <vt:lpstr>Office Theme</vt:lpstr>
      <vt:lpstr>High Probability Streaming Lower Bounds for F_2 Estimation</vt:lpstr>
      <vt:lpstr>Streaming Model</vt:lpstr>
      <vt:lpstr>Streaming Model</vt:lpstr>
      <vt:lpstr>Lots of problems…</vt:lpstr>
      <vt:lpstr>Frequency Moments</vt:lpstr>
      <vt:lpstr>Adversarially Robust Streaming</vt:lpstr>
      <vt:lpstr>Adversarially Robust Streaming</vt:lpstr>
      <vt:lpstr>Adversarially Robust Streaming</vt:lpstr>
      <vt:lpstr>Adversarially Robust Streaming</vt:lpstr>
      <vt:lpstr>Adversarially Robust Streaming</vt:lpstr>
      <vt:lpstr>Adversarially Robust Streaming</vt:lpstr>
      <vt:lpstr>Adversarially Robust Streaming</vt:lpstr>
      <vt:lpstr>Insertion-Only Streams</vt:lpstr>
      <vt:lpstr>Insertion-Deletion Streams</vt:lpstr>
      <vt:lpstr>Linear Sketch</vt:lpstr>
      <vt:lpstr>Our Results, Adversarial Robustness on  Insertion-Deletion Streams</vt:lpstr>
      <vt:lpstr>Bounded Computation Paths</vt:lpstr>
      <vt:lpstr>Intuition</vt:lpstr>
      <vt:lpstr>Intuition</vt:lpstr>
      <vt:lpstr>Intuition</vt:lpstr>
      <vt:lpstr>Intuition</vt:lpstr>
      <vt:lpstr>Estimator, Corrector, Learner</vt:lpstr>
      <vt:lpstr>Estimator, Corrector, Learner</vt:lpstr>
      <vt:lpstr>PowerPoint Presentation</vt:lpstr>
      <vt:lpstr>Estimator, Corrector, Learner</vt:lpstr>
      <vt:lpstr>Update Rule</vt:lpstr>
      <vt:lpstr>Update Rule</vt:lpstr>
      <vt:lpstr>Progress</vt:lpstr>
      <vt:lpstr>Progress</vt:lpstr>
      <vt:lpstr>Recursion</vt:lpstr>
      <vt:lpstr>Recursion</vt:lpstr>
      <vt:lpstr>PowerPoint Presentation</vt:lpstr>
      <vt:lpstr>PowerPoint Presentation</vt:lpstr>
      <vt:lpstr>Recursion Tree</vt:lpstr>
      <vt:lpstr>Space Complexity</vt:lpstr>
      <vt:lpstr>Heavy-Hitters</vt:lpstr>
      <vt:lpstr>Heavy-Hitters</vt:lpstr>
      <vt:lpstr>Triangle Inequality</vt:lpstr>
      <vt:lpstr>Triangle Inequality</vt:lpstr>
      <vt:lpstr>Future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Samson Zhou</dc:creator>
  <cp:lastModifiedBy>Samson Zhou</cp:lastModifiedBy>
  <cp:revision>1</cp:revision>
  <dcterms:created xsi:type="dcterms:W3CDTF">2026-08-14T21:48:45Z</dcterms:created>
  <dcterms:modified xsi:type="dcterms:W3CDTF">2026-08-15T02:56:22Z</dcterms:modified>
</cp:coreProperties>
</file>