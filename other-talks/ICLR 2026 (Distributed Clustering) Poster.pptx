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3"/>
  </p:notesMasterIdLst>
  <p:sldIdLst>
    <p:sldId id="256" r:id="rId2"/>
  </p:sldIdLst>
  <p:sldSz cx="32918400" cy="219456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1pPr>
    <a:lvl2pPr marL="0" marR="0" indent="326532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2pPr>
    <a:lvl3pPr marL="0" marR="0" indent="653064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3pPr>
    <a:lvl4pPr marL="0" marR="0" indent="979596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4pPr>
    <a:lvl5pPr marL="0" marR="0" indent="1306128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5pPr>
    <a:lvl6pPr marL="0" marR="0" indent="1632661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6pPr>
    <a:lvl7pPr marL="0" marR="0" indent="1959193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7pPr>
    <a:lvl8pPr marL="0" marR="0" indent="2285725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8pPr>
    <a:lvl9pPr marL="0" marR="0" indent="2612257" algn="l" defTabSz="326532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tabLst/>
      <a:defRPr kumimoji="0" sz="1200" b="0" i="0" u="none" strike="noStrike" cap="none" spc="0" normalizeH="0" baseline="0">
        <a:ln>
          <a:noFill/>
        </a:ln>
        <a:solidFill>
          <a:srgbClr val="000000"/>
        </a:solidFill>
        <a:effectLst/>
        <a:uFillTx/>
        <a:latin typeface="+mn-lt"/>
        <a:ea typeface="+mn-ea"/>
        <a:cs typeface="+mn-cs"/>
        <a:sym typeface="Calibri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940675A-B579-460E-94D1-54222C63F5DA}">
  <a:tblStyle styleId="{4C3C2611-4C71-4FC5-86AE-919BDF0F9419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DD4EA"/>
          </a:solidFill>
        </a:fill>
      </a:tcStyle>
    </a:wholeTbl>
    <a:band2H>
      <a:tcTxStyle/>
      <a:tcStyle>
        <a:tcBdr/>
        <a:fill>
          <a:solidFill>
            <a:srgbClr val="E8EBF5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1"/>
          </a:solidFill>
        </a:fill>
      </a:tcStyle>
    </a:firstRow>
  </a:tblStyle>
  <a:tblStyle styleId="{C7B018BB-80A7-4F77-B60F-C8B233D01FF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E0E0E0"/>
          </a:solidFill>
        </a:fill>
      </a:tcStyle>
    </a:wholeTbl>
    <a:band2H>
      <a:tcTxStyle/>
      <a:tcStyle>
        <a:tcBdr/>
        <a:fill>
          <a:solidFill>
            <a:srgbClr val="F0F0F0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3"/>
          </a:solidFill>
        </a:fill>
      </a:tcStyle>
    </a:firstRow>
  </a:tblStyle>
  <a:tblStyle styleId="{EEE7283C-3CF3-47DC-8721-378D4A62B228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D4E2CE"/>
          </a:solidFill>
        </a:fill>
      </a:tcStyle>
    </a:wholeTbl>
    <a:band2H>
      <a:tcTxStyle/>
      <a:tcStyle>
        <a:tcBdr/>
        <a:fill>
          <a:solidFill>
            <a:srgbClr val="EBF1E8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chemeClr val="accent6"/>
          </a:solidFill>
        </a:fill>
      </a:tcStyle>
    </a:firstRow>
  </a:tblStyle>
  <a:tblStyle styleId="{CF821DB8-F4EB-4A41-A1BA-3FCAFE7338EE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E6E6E6"/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12700" cap="flat">
              <a:noFill/>
              <a:miter lim="400000"/>
            </a:ln>
          </a:top>
          <a:bottom>
            <a:ln w="12700" cap="flat">
              <a:noFill/>
              <a:miter lim="400000"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rgbClr val="FFFFFF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noFill/>
              <a:miter lim="400000"/>
            </a:ln>
          </a:left>
          <a:right>
            <a:ln w="12700" cap="flat">
              <a:noFill/>
              <a:miter lim="400000"/>
            </a:ln>
          </a:right>
          <a:top>
            <a:ln w="254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noFill/>
              <a:miter lim="400000"/>
            </a:ln>
          </a:insideH>
          <a:insideV>
            <a:ln w="12700" cap="flat">
              <a:noFill/>
              <a:miter lim="400000"/>
            </a:ln>
          </a:insideV>
        </a:tcBdr>
        <a:fill>
          <a:solidFill>
            <a:schemeClr val="accent1"/>
          </a:solidFill>
        </a:fill>
      </a:tcStyle>
    </a:firstRow>
  </a:tblStyle>
  <a:tblStyle styleId="{33BA23B1-9221-436E-865A-0063620EA4FD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CACACA"/>
          </a:solidFill>
        </a:fill>
      </a:tcStyle>
    </a:wholeTbl>
    <a:band2H>
      <a:tcTxStyle/>
      <a:tcStyle>
        <a:tcBdr/>
        <a:fill>
          <a:solidFill>
            <a:srgbClr val="E6E6E6"/>
          </a:solidFill>
        </a:fill>
      </a:tcStyle>
    </a:band2H>
    <a:firstCol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Col>
    <a:la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38100" cap="flat">
              <a:solidFill>
                <a:srgbClr val="FFFFFF"/>
              </a:solidFill>
              <a:prstDash val="solid"/>
              <a:round/>
            </a:ln>
          </a:top>
          <a:bottom>
            <a:ln w="127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lastRow>
    <a:firstRow>
      <a:tcTxStyle b="on" i="off">
        <a:fontRef idx="minor">
          <a:srgbClr val="FFFFFF"/>
        </a:fontRef>
        <a:srgbClr val="FFFFFF"/>
      </a:tcTxStyle>
      <a:tcStyle>
        <a:tcBdr>
          <a:left>
            <a:ln w="12700" cap="flat">
              <a:solidFill>
                <a:srgbClr val="FFFFFF"/>
              </a:solidFill>
              <a:prstDash val="solid"/>
              <a:round/>
            </a:ln>
          </a:left>
          <a:right>
            <a:ln w="12700" cap="flat">
              <a:solidFill>
                <a:srgbClr val="FFFFFF"/>
              </a:solidFill>
              <a:prstDash val="solid"/>
              <a:round/>
            </a:ln>
          </a:right>
          <a:top>
            <a:ln w="12700" cap="flat">
              <a:solidFill>
                <a:srgbClr val="FFFFFF"/>
              </a:solidFill>
              <a:prstDash val="solid"/>
              <a:round/>
            </a:ln>
          </a:top>
          <a:bottom>
            <a:ln w="38100" cap="flat">
              <a:solidFill>
                <a:srgbClr val="FFFFFF"/>
              </a:solidFill>
              <a:prstDash val="solid"/>
              <a:round/>
            </a:ln>
          </a:bottom>
          <a:insideH>
            <a:ln w="12700" cap="flat">
              <a:solidFill>
                <a:srgbClr val="FFFFFF"/>
              </a:solidFill>
              <a:prstDash val="solid"/>
              <a:round/>
            </a:ln>
          </a:insideH>
          <a:insideV>
            <a:ln w="12700" cap="flat">
              <a:solidFill>
                <a:srgbClr val="FFFFFF"/>
              </a:solidFill>
              <a:prstDash val="solid"/>
              <a:round/>
            </a:ln>
          </a:insideV>
        </a:tcBdr>
        <a:fill>
          <a:solidFill>
            <a:srgbClr val="000000"/>
          </a:solidFill>
        </a:fill>
      </a:tcStyle>
    </a:firstRow>
  </a:tblStyle>
  <a:tblStyle styleId="{2708684C-4D16-4618-839F-0558EEFCDFE6}" styleName="">
    <a:tblBg/>
    <a:wholeTbl>
      <a:tcTxStyle b="off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wholeTbl>
    <a:band2H>
      <a:tcTxStyle/>
      <a:tcStyle>
        <a:tcBdr/>
        <a:fill>
          <a:solidFill>
            <a:srgbClr val="FFFFFF"/>
          </a:solidFill>
        </a:fill>
      </a:tcStyle>
    </a:band2H>
    <a:firstCol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solidFill>
            <a:srgbClr val="000000">
              <a:alpha val="20000"/>
            </a:srgbClr>
          </a:solidFill>
        </a:fill>
      </a:tcStyle>
    </a:firstCol>
    <a:la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50800" cap="flat">
              <a:solidFill>
                <a:srgbClr val="000000"/>
              </a:solidFill>
              <a:prstDash val="solid"/>
              <a:round/>
            </a:ln>
          </a:top>
          <a:bottom>
            <a:ln w="127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lastRow>
    <a:firstRow>
      <a:tcTxStyle b="on" i="off">
        <a:fontRef idx="minor">
          <a:srgbClr val="000000"/>
        </a:fontRef>
        <a:srgbClr val="000000"/>
      </a:tcTxStyle>
      <a:tcStyle>
        <a:tcBdr>
          <a:left>
            <a:ln w="12700" cap="flat">
              <a:solidFill>
                <a:srgbClr val="000000"/>
              </a:solidFill>
              <a:prstDash val="solid"/>
              <a:round/>
            </a:ln>
          </a:left>
          <a:right>
            <a:ln w="12700" cap="flat">
              <a:solidFill>
                <a:srgbClr val="000000"/>
              </a:solidFill>
              <a:prstDash val="solid"/>
              <a:round/>
            </a:ln>
          </a:right>
          <a:top>
            <a:ln w="12700" cap="flat">
              <a:solidFill>
                <a:srgbClr val="000000"/>
              </a:solidFill>
              <a:prstDash val="solid"/>
              <a:round/>
            </a:ln>
          </a:top>
          <a:bottom>
            <a:ln w="25400" cap="flat">
              <a:solidFill>
                <a:srgbClr val="000000"/>
              </a:solidFill>
              <a:prstDash val="solid"/>
              <a:round/>
            </a:ln>
          </a:bottom>
          <a:insideH>
            <a:ln w="12700" cap="flat">
              <a:solidFill>
                <a:srgbClr val="000000"/>
              </a:solidFill>
              <a:prstDash val="solid"/>
              <a:round/>
            </a:ln>
          </a:insideH>
          <a:insideV>
            <a:ln w="12700" cap="flat">
              <a:solidFill>
                <a:srgbClr val="000000"/>
              </a:solidFill>
              <a:prstDash val="solid"/>
              <a:round/>
            </a:ln>
          </a:insideV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94"/>
  </p:normalViewPr>
  <p:slideViewPr>
    <p:cSldViewPr snapToGrid="0" snapToObjects="1">
      <p:cViewPr>
        <p:scale>
          <a:sx n="40" d="100"/>
          <a:sy n="40" d="100"/>
        </p:scale>
        <p:origin x="192" y="15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Shape 24"/>
          <p:cNvSpPr>
            <a:spLocks noGrp="1" noRot="1" noChangeAspect="1"/>
          </p:cNvSpPr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25" name="Shape 25"/>
          <p:cNvSpPr>
            <a:spLocks noGrp="1"/>
          </p:cNvSpPr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2633155" latinLnBrk="0">
      <a:defRPr sz="3400">
        <a:latin typeface="+mn-lt"/>
        <a:ea typeface="+mn-ea"/>
        <a:cs typeface="+mn-cs"/>
        <a:sym typeface="Calibri"/>
      </a:defRPr>
    </a:lvl1pPr>
    <a:lvl2pPr indent="228600" defTabSz="2633155" latinLnBrk="0">
      <a:defRPr sz="3400">
        <a:latin typeface="+mn-lt"/>
        <a:ea typeface="+mn-ea"/>
        <a:cs typeface="+mn-cs"/>
        <a:sym typeface="Calibri"/>
      </a:defRPr>
    </a:lvl2pPr>
    <a:lvl3pPr indent="457200" defTabSz="2633155" latinLnBrk="0">
      <a:defRPr sz="3400">
        <a:latin typeface="+mn-lt"/>
        <a:ea typeface="+mn-ea"/>
        <a:cs typeface="+mn-cs"/>
        <a:sym typeface="Calibri"/>
      </a:defRPr>
    </a:lvl3pPr>
    <a:lvl4pPr indent="685800" defTabSz="2633155" latinLnBrk="0">
      <a:defRPr sz="3400">
        <a:latin typeface="+mn-lt"/>
        <a:ea typeface="+mn-ea"/>
        <a:cs typeface="+mn-cs"/>
        <a:sym typeface="Calibri"/>
      </a:defRPr>
    </a:lvl4pPr>
    <a:lvl5pPr indent="914400" defTabSz="2633155" latinLnBrk="0">
      <a:defRPr sz="3400">
        <a:latin typeface="+mn-lt"/>
        <a:ea typeface="+mn-ea"/>
        <a:cs typeface="+mn-cs"/>
        <a:sym typeface="Calibri"/>
      </a:defRPr>
    </a:lvl5pPr>
    <a:lvl6pPr indent="1143000" defTabSz="2633155" latinLnBrk="0">
      <a:defRPr sz="3400">
        <a:latin typeface="+mn-lt"/>
        <a:ea typeface="+mn-ea"/>
        <a:cs typeface="+mn-cs"/>
        <a:sym typeface="Calibri"/>
      </a:defRPr>
    </a:lvl6pPr>
    <a:lvl7pPr indent="1371600" defTabSz="2633155" latinLnBrk="0">
      <a:defRPr sz="3400">
        <a:latin typeface="+mn-lt"/>
        <a:ea typeface="+mn-ea"/>
        <a:cs typeface="+mn-cs"/>
        <a:sym typeface="Calibri"/>
      </a:defRPr>
    </a:lvl7pPr>
    <a:lvl8pPr indent="1600200" defTabSz="2633155" latinLnBrk="0">
      <a:defRPr sz="3400">
        <a:latin typeface="+mn-lt"/>
        <a:ea typeface="+mn-ea"/>
        <a:cs typeface="+mn-cs"/>
        <a:sym typeface="Calibri"/>
      </a:defRPr>
    </a:lvl8pPr>
    <a:lvl9pPr indent="1828800" defTabSz="2633155" latinLnBrk="0">
      <a:defRPr sz="3400">
        <a:latin typeface="+mn-lt"/>
        <a:ea typeface="+mn-ea"/>
        <a:cs typeface="+mn-cs"/>
        <a:sym typeface="Calibri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857250" y="685800"/>
            <a:ext cx="51435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71040798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FB AI Research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Slide Number"/>
          <p:cNvSpPr txBox="1">
            <a:spLocks noGrp="1"/>
          </p:cNvSpPr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t>‹#›</a:t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Text"/>
          <p:cNvSpPr txBox="1">
            <a:spLocks noGrp="1"/>
          </p:cNvSpPr>
          <p:nvPr>
            <p:ph type="title"/>
          </p:nvPr>
        </p:nvSpPr>
        <p:spPr>
          <a:xfrm>
            <a:off x="1645920" y="294640"/>
            <a:ext cx="29626561" cy="482600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 anchor="ctr"/>
          <a:lstStyle/>
          <a:p>
            <a:r>
              <a:t>Title Text</a:t>
            </a:r>
          </a:p>
        </p:txBody>
      </p:sp>
      <p:sp>
        <p:nvSpPr>
          <p:cNvPr id="3" name="Body Level One…"/>
          <p:cNvSpPr txBox="1">
            <a:spLocks noGrp="1"/>
          </p:cNvSpPr>
          <p:nvPr>
            <p:ph type="body" idx="1"/>
          </p:nvPr>
        </p:nvSpPr>
        <p:spPr>
          <a:xfrm>
            <a:off x="1645920" y="5120640"/>
            <a:ext cx="29626561" cy="1682496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lIns="45719" rIns="45719"/>
          <a:lstStyle/>
          <a:p>
            <a:r>
              <a:t>Body Level One</a:t>
            </a:r>
          </a:p>
          <a:p>
            <a:pPr lvl="1"/>
            <a:r>
              <a:t>Body Level Two</a:t>
            </a:r>
          </a:p>
          <a:p>
            <a:pPr lvl="2"/>
            <a:r>
              <a:t>Body Level Three</a:t>
            </a:r>
          </a:p>
          <a:p>
            <a:pPr lvl="3"/>
            <a:r>
              <a:t>Body Level Four</a:t>
            </a:r>
          </a:p>
          <a:p>
            <a:pPr lvl="4"/>
            <a:r>
              <a:t>Body Level Five</a:t>
            </a:r>
          </a:p>
        </p:txBody>
      </p:sp>
      <p:sp>
        <p:nvSpPr>
          <p:cNvPr id="4" name="Slide Number"/>
          <p:cNvSpPr txBox="1">
            <a:spLocks noGrp="1"/>
          </p:cNvSpPr>
          <p:nvPr>
            <p:ph type="sldNum" sz="quarter" idx="2"/>
          </p:nvPr>
        </p:nvSpPr>
        <p:spPr>
          <a:xfrm>
            <a:off x="15910559" y="19756119"/>
            <a:ext cx="7680961" cy="1168401"/>
          </a:xfrm>
          <a:prstGeom prst="rect">
            <a:avLst/>
          </a:prstGeom>
          <a:ln w="12700">
            <a:miter lim="400000"/>
          </a:ln>
        </p:spPr>
        <p:txBody>
          <a:bodyPr wrap="none" lIns="45719" rIns="45719" anchor="ctr">
            <a:spAutoFit/>
          </a:bodyPr>
          <a:lstStyle>
            <a:lvl1pPr algn="r"/>
          </a:lstStyle>
          <a:p>
            <a:fld id="{86CB4B4D-7CA3-9044-876B-883B54F8677D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ransition spd="med"/>
  <p:txStyles>
    <p:titleStyle>
      <a:lvl1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1pPr>
      <a:lvl2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2pPr>
      <a:lvl3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3pPr>
      <a:lvl4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4pPr>
      <a:lvl5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5pPr>
      <a:lvl6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6pPr>
      <a:lvl7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7pPr>
      <a:lvl8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8pPr>
      <a:lvl9pPr marL="0" marR="0" indent="0" algn="l" defTabSz="2926226" rtl="0" latinLnBrk="0">
        <a:lnSpc>
          <a:spcPct val="9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4000" b="0" i="0" u="none" strike="noStrike" cap="none" spc="0" baseline="0">
          <a:solidFill>
            <a:srgbClr val="000000"/>
          </a:solidFill>
          <a:uFillTx/>
          <a:latin typeface="Calibri Light"/>
          <a:ea typeface="Calibri Light"/>
          <a:cs typeface="Calibri Light"/>
          <a:sym typeface="Calibri Light"/>
        </a:defRPr>
      </a:lvl9pPr>
    </p:titleStyle>
    <p:bodyStyle>
      <a:lvl1pPr marL="731556" marR="0" indent="-731556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1pPr>
      <a:lvl2pPr marL="2319804" marR="0" indent="-85669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2pPr>
      <a:lvl3pPr marL="3943547" marR="0" indent="-1017321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3pPr>
      <a:lvl4pPr marL="5531594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4pPr>
      <a:lvl5pPr marL="699470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5pPr>
      <a:lvl6pPr marL="845782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6pPr>
      <a:lvl7pPr marL="9920933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7pPr>
      <a:lvl8pPr marL="11384047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8pPr>
      <a:lvl9pPr marL="12847160" marR="0" indent="-1142255" algn="l" defTabSz="2926226" rtl="0" latinLnBrk="0">
        <a:lnSpc>
          <a:spcPct val="90000"/>
        </a:lnSpc>
        <a:spcBef>
          <a:spcPts val="3200"/>
        </a:spcBef>
        <a:spcAft>
          <a:spcPts val="0"/>
        </a:spcAft>
        <a:buClrTx/>
        <a:buSzPct val="100000"/>
        <a:buFont typeface="Arial"/>
        <a:buChar char="•"/>
        <a:tabLst/>
        <a:defRPr sz="89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Calibri"/>
        </a:defRPr>
      </a:lvl9pPr>
    </p:bodyStyle>
    <p:otherStyle>
      <a:lvl1pPr marL="0" marR="0" indent="0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1pPr>
      <a:lvl2pPr marL="0" marR="0" indent="326532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2pPr>
      <a:lvl3pPr marL="0" marR="0" indent="653064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3pPr>
      <a:lvl4pPr marL="0" marR="0" indent="979596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4pPr>
      <a:lvl5pPr marL="0" marR="0" indent="1306128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5pPr>
      <a:lvl6pPr marL="0" marR="0" indent="1632661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6pPr>
      <a:lvl7pPr marL="0" marR="0" indent="1959193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7pPr>
      <a:lvl8pPr marL="0" marR="0" indent="2285725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8pPr>
      <a:lvl9pPr marL="0" marR="0" indent="2612257" algn="r" defTabSz="326532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tabLst/>
        <a:defRPr sz="12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Calibri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1.png"/><Relationship Id="rId7" Type="http://schemas.openxmlformats.org/officeDocument/2006/relationships/image" Target="../media/image40.png"/><Relationship Id="rId12" Type="http://schemas.openxmlformats.org/officeDocument/2006/relationships/image" Target="../media/image9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11" Type="http://schemas.openxmlformats.org/officeDocument/2006/relationships/image" Target="../media/image8.png"/><Relationship Id="rId5" Type="http://schemas.openxmlformats.org/officeDocument/2006/relationships/image" Target="../media/image3.png"/><Relationship Id="rId10" Type="http://schemas.openxmlformats.org/officeDocument/2006/relationships/image" Target="../media/image7.png"/><Relationship Id="rId4" Type="http://schemas.openxmlformats.org/officeDocument/2006/relationships/image" Target="../media/image2.jpe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C4287FE1-24BF-0273-5794-8254DE365BC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83131" y="18109396"/>
            <a:ext cx="11235350" cy="3762890"/>
          </a:xfrm>
          <a:prstGeom prst="rect">
            <a:avLst/>
          </a:prstGeom>
        </p:spPr>
      </p:pic>
      <p:pic>
        <p:nvPicPr>
          <p:cNvPr id="56" name="Picture 2" descr="ICLR 2021 Announces List of Accepted Papers | Synced">
            <a:extLst>
              <a:ext uri="{FF2B5EF4-FFF2-40B4-BE49-F238E27FC236}">
                <a16:creationId xmlns:a16="http://schemas.microsoft.com/office/drawing/2014/main" id="{D3DBD5BE-4E3A-450F-B600-5B8AB34C1A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091670" y="1062771"/>
            <a:ext cx="4868517" cy="243425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30" name="TextBox 35"/>
          <p:cNvSpPr txBox="1"/>
          <p:nvPr/>
        </p:nvSpPr>
        <p:spPr>
          <a:xfrm>
            <a:off x="968275" y="784521"/>
            <a:ext cx="10454285" cy="1785104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55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dirty="0"/>
              <a:t>Distributed Algorithms for Euclidean Clustering</a:t>
            </a:r>
            <a:endParaRPr dirty="0"/>
          </a:p>
        </p:txBody>
      </p:sp>
      <p:sp>
        <p:nvSpPr>
          <p:cNvPr id="33" name="TextBox 38"/>
          <p:cNvSpPr txBox="1"/>
          <p:nvPr/>
        </p:nvSpPr>
        <p:spPr>
          <a:xfrm>
            <a:off x="336885" y="2809468"/>
            <a:ext cx="4614454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Problem Statement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4" name="TextBox 39"/>
              <p:cNvSpPr txBox="1"/>
              <p:nvPr/>
            </p:nvSpPr>
            <p:spPr>
              <a:xfrm>
                <a:off x="336885" y="3649968"/>
                <a:ext cx="11166004" cy="6331220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Construct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/>
                  <a:t>-</a:t>
                </a:r>
                <a:r>
                  <a:rPr lang="en-US" sz="2800" dirty="0">
                    <a:solidFill>
                      <a:schemeClr val="tx1"/>
                    </a:solidFill>
                  </a:rPr>
                  <a:t>coresets for Euclidean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-clustering in the distributed setting.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data points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,…,</m:t>
                    </m:r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∈</m:t>
                    </m:r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are partitioned across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sites.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Find a set of at most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centers that minimizes the clustering cost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nary>
                          <m:naryPr>
                            <m:chr m:val="∑"/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naryPr>
                          <m: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=1</m:t>
                            </m:r>
                          </m:sub>
                          <m:sup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  <m:e>
                            <m:r>
                              <m:rPr>
                                <m:sty m:val="p"/>
                              </m:rPr>
                              <a:rPr lang="en-US" sz="280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min</m:t>
                            </m:r>
                          </m:e>
                        </m:nary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∈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Sup>
                      <m:sSubSup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SupPr>
                      <m:e>
                        <m:d>
                          <m:dPr>
                            <m:begChr m:val="‖"/>
                            <m:endChr m:val="‖"/>
                            <m:ctrlP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b>
                              <m:sSubPr>
                                <m:ctrlP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sSubPr>
                              <m:e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b>
                                <m:r>
                                  <a:rPr lang="en-US" sz="2800" i="1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𝑖</m:t>
                                </m:r>
                              </m:sub>
                            </m:sSub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d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𝑧</m:t>
                        </m:r>
                      </m:sup>
                    </m:sSubSup>
                  </m:oMath>
                </a14:m>
                <a:r>
                  <a:rPr lang="en-US" sz="2800" dirty="0"/>
                  <a:t>,</a:t>
                </a:r>
                <a:r>
                  <a:rPr lang="en-US" sz="2800" dirty="0">
                    <a:solidFill>
                      <a:schemeClr val="tx1"/>
                    </a:solidFill>
                  </a:rPr>
                  <a:t>​ up to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-multiplicative factor.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Goal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Minimize the total communication cost (number of bits exchanged).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Evaluated in two models</a:t>
                </a:r>
                <a:r>
                  <a:rPr lang="en-US" sz="2800" dirty="0">
                    <a:solidFill>
                      <a:schemeClr val="tx1"/>
                    </a:solidFill>
                  </a:rPr>
                  <a:t>: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70C0"/>
                    </a:solidFill>
                  </a:rPr>
                  <a:t>Coordinator model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sites communicate only with a central coordinator over private channels.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70C0"/>
                    </a:solidFill>
                  </a:rPr>
                  <a:t>Blackboard model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sites broadcast messages to a shared public blackboard visible to all.</a:t>
                </a:r>
              </a:p>
            </p:txBody>
          </p:sp>
        </mc:Choice>
        <mc:Fallback>
          <p:sp>
            <p:nvSpPr>
              <p:cNvPr id="34" name="TextBox 3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5" y="3649968"/>
                <a:ext cx="11166004" cy="6331220"/>
              </a:xfrm>
              <a:prstGeom prst="rect">
                <a:avLst/>
              </a:prstGeom>
              <a:blipFill>
                <a:blip r:embed="rId5"/>
                <a:stretch>
                  <a:fillRect l="-1365" t="-482" b="-173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TextBox 37"/>
          <p:cNvSpPr txBox="1"/>
          <p:nvPr/>
        </p:nvSpPr>
        <p:spPr>
          <a:xfrm>
            <a:off x="12771519" y="427155"/>
            <a:ext cx="10044537" cy="2062103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/>
          <a:p>
            <a:r>
              <a:rPr lang="en-US" sz="3200" dirty="0"/>
              <a:t>Vincent Cohen-</a:t>
            </a:r>
            <a:r>
              <a:rPr lang="en-US" sz="3200" dirty="0" err="1"/>
              <a:t>Addad</a:t>
            </a:r>
            <a:r>
              <a:rPr lang="en-US" sz="3200" dirty="0"/>
              <a:t> (Google Research) </a:t>
            </a:r>
          </a:p>
          <a:p>
            <a:r>
              <a:rPr lang="en-US" sz="3200" dirty="0" err="1"/>
              <a:t>Liudeng</a:t>
            </a:r>
            <a:r>
              <a:rPr lang="en-US" sz="3200" dirty="0"/>
              <a:t> Wang (Texas A&amp;M University)  </a:t>
            </a:r>
          </a:p>
          <a:p>
            <a:r>
              <a:rPr lang="en-US" sz="3200" dirty="0"/>
              <a:t>David P. Woodruff (Carnegie Mellon University)  </a:t>
            </a:r>
          </a:p>
          <a:p>
            <a:r>
              <a:rPr lang="en-US" sz="3200" dirty="0"/>
              <a:t>Samson Zhou (Texas A&amp;M University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227" name="TextBox 39">
                <a:extLst>
                  <a:ext uri="{FF2B5EF4-FFF2-40B4-BE49-F238E27FC236}">
                    <a16:creationId xmlns:a16="http://schemas.microsoft.com/office/drawing/2014/main" id="{872CBA4F-57C6-4BE7-A79C-69A910CD037D}"/>
                  </a:ext>
                </a:extLst>
              </p:cNvPr>
              <p:cNvSpPr txBox="1"/>
              <p:nvPr/>
            </p:nvSpPr>
            <p:spPr>
              <a:xfrm>
                <a:off x="336884" y="10972800"/>
                <a:ext cx="11235350" cy="7044172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Coordinator Model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Achieves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-strong coreset with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𝑠𝑘</m:t>
                        </m:r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𝑑𝑘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800" b="0" i="1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b="0" i="0" dirty="0" smtClean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8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800" b="0" i="1" dirty="0" smtClean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2+</m:t>
                                        </m:r>
                                        <m:r>
                                          <a:rPr lang="en-US" sz="2800" b="0" i="1" dirty="0" smtClean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𝑑𝑘</m:t>
                        </m:r>
                        <m:func>
                          <m:funcPr>
                            <m:ctrlP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func>
                      </m:e>
                    </m:d>
                    <m:r>
                      <a:rPr lang="en-US" sz="2800" b="0" i="1" smtClean="0">
                        <a:solidFill>
                          <a:schemeClr val="tx1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bits of total communication.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Improves upon </a:t>
                </a:r>
                <a:r>
                  <a:rPr lang="en-US" sz="2800" dirty="0">
                    <a:solidFill>
                      <a:srgbClr val="7030A0"/>
                    </a:solidFill>
                  </a:rPr>
                  <a:t>[CSWZ16] </a:t>
                </a:r>
                <a:r>
                  <a:rPr lang="en-US" sz="2800" dirty="0">
                    <a:solidFill>
                      <a:schemeClr val="tx1"/>
                    </a:solidFill>
                  </a:rPr>
                  <a:t>by eliminating the need to communicate explicit point coordinates in-the-clear across all servers.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Blackboard Model</a:t>
                </a:r>
                <a:r>
                  <a:rPr lang="en-US" sz="2800" dirty="0">
                    <a:solidFill>
                      <a:schemeClr val="tx1"/>
                    </a:solidFill>
                  </a:rPr>
                  <a:t>: Achieves a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-strong coreset with</a:t>
                </a:r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func>
                          <m:funcPr>
                            <m:ctrlP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func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ctrlP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𝑑𝑘</m:t>
                            </m:r>
                          </m:num>
                          <m:den>
                            <m:func>
                              <m:funcPr>
                                <m:ctrlPr>
                                  <a:rPr lang="en-US" sz="2800" i="1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uncPr>
                              <m:fName>
                                <m:r>
                                  <m:rPr>
                                    <m:sty m:val="p"/>
                                  </m:rPr>
                                  <a:rPr lang="en-US" sz="2800" dirty="0">
                                    <a:solidFill>
                                      <a:srgbClr val="C00000"/>
                                    </a:solidFill>
                                    <a:latin typeface="Cambria Math" panose="02040503050406030204" pitchFamily="18" charset="0"/>
                                  </a:rPr>
                                  <m:t>min</m:t>
                                </m:r>
                              </m:fName>
                              <m:e>
                                <m:d>
                                  <m:dPr>
                                    <m:ctrlPr>
                                      <a:rPr lang="en-US" sz="28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dPr>
                                  <m:e>
                                    <m:sSup>
                                      <m:sSupPr>
                                        <m:ctrlP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4</m:t>
                                        </m:r>
                                      </m:sup>
                                    </m:sSup>
                                    <m:r>
                                      <a:rPr lang="en-US" sz="2800" i="1" dirty="0">
                                        <a:solidFill>
                                          <a:srgbClr val="C00000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,</m:t>
                                    </m:r>
                                    <m:sSup>
                                      <m:sSupPr>
                                        <m:ctrlP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</m:ctrlPr>
                                      </m:sSupPr>
                                      <m:e>
                                        <m: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𝜀</m:t>
                                        </m:r>
                                      </m:e>
                                      <m:sup>
                                        <m: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2+</m:t>
                                        </m:r>
                                        <m:r>
                                          <a:rPr lang="en-US" sz="2800" i="1" dirty="0">
                                            <a:solidFill>
                                              <a:srgbClr val="C00000"/>
                                            </a:solidFill>
                                            <a:latin typeface="Cambria Math" panose="02040503050406030204" pitchFamily="18" charset="0"/>
                                          </a:rPr>
                                          <m:t>𝑧</m:t>
                                        </m:r>
                                      </m:sup>
                                    </m:sSup>
                                  </m:e>
                                </m:d>
                              </m:e>
                            </m:func>
                          </m:den>
                        </m:f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𝑑𝑘</m:t>
                        </m:r>
                        <m:func>
                          <m:funcPr>
                            <m:ctrlP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i="1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sz="2800" dirty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Improves previous blackboard bounds from constant-factor to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-approximations while removing extraneous </a:t>
                </a:r>
                <a14:m>
                  <m:oMath xmlns:m="http://schemas.openxmlformats.org/officeDocument/2006/math">
                    <m:func>
                      <m:funcPr>
                        <m:ctrlP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funcPr>
                      <m:fName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</m:fName>
                      <m:e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US" sz="2800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Δ</m:t>
                        </m:r>
                      </m:e>
                    </m:func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factors.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Both models achieve optimal protocols matching the communication costs of the best-known offline coreset constructions and existing lower bounds (up to polylogarithmic factors) </a:t>
                </a:r>
                <a:r>
                  <a:rPr lang="en-US" sz="2800" dirty="0">
                    <a:solidFill>
                      <a:srgbClr val="7030A0"/>
                    </a:solidFill>
                  </a:rPr>
                  <a:t>[HLW24]</a:t>
                </a:r>
                <a:r>
                  <a:rPr lang="en-US" sz="2800" dirty="0">
                    <a:solidFill>
                      <a:schemeClr val="tx1"/>
                    </a:solidFill>
                  </a:rPr>
                  <a:t>.</a:t>
                </a:r>
                <a:endParaRPr lang="en-US" sz="2800" i="1" dirty="0">
                  <a:solidFill>
                    <a:schemeClr val="tx1"/>
                  </a:solidFill>
                </a:endParaRPr>
              </a:p>
            </p:txBody>
          </p:sp>
        </mc:Choice>
        <mc:Fallback>
          <p:sp>
            <p:nvSpPr>
              <p:cNvPr id="227" name="TextBox 39">
                <a:extLst>
                  <a:ext uri="{FF2B5EF4-FFF2-40B4-BE49-F238E27FC236}">
                    <a16:creationId xmlns:a16="http://schemas.microsoft.com/office/drawing/2014/main" id="{872CBA4F-57C6-4BE7-A79C-69A910CD03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36884" y="10972800"/>
                <a:ext cx="11235350" cy="7044172"/>
              </a:xfrm>
              <a:prstGeom prst="rect">
                <a:avLst/>
              </a:prstGeom>
              <a:blipFill>
                <a:blip r:embed="rId6"/>
                <a:stretch>
                  <a:fillRect l="-1356" t="-346" r="-868" b="-138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8" name="TextBox 38">
            <a:extLst>
              <a:ext uri="{FF2B5EF4-FFF2-40B4-BE49-F238E27FC236}">
                <a16:creationId xmlns:a16="http://schemas.microsoft.com/office/drawing/2014/main" id="{57C3C0AF-2C5E-446B-BC7D-DDB22247477D}"/>
              </a:ext>
            </a:extLst>
          </p:cNvPr>
          <p:cNvSpPr txBox="1"/>
          <p:nvPr/>
        </p:nvSpPr>
        <p:spPr>
          <a:xfrm>
            <a:off x="336885" y="10113579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Results and Related Work</a:t>
            </a:r>
            <a:endParaRPr sz="3600" dirty="0"/>
          </a:p>
        </p:txBody>
      </p:sp>
      <p:sp>
        <p:nvSpPr>
          <p:cNvPr id="229" name="TextBox 38">
            <a:extLst>
              <a:ext uri="{FF2B5EF4-FFF2-40B4-BE49-F238E27FC236}">
                <a16:creationId xmlns:a16="http://schemas.microsoft.com/office/drawing/2014/main" id="{ACD66178-5F48-4A8C-B170-22AA930CD9B3}"/>
              </a:ext>
            </a:extLst>
          </p:cNvPr>
          <p:cNvSpPr txBox="1"/>
          <p:nvPr/>
        </p:nvSpPr>
        <p:spPr>
          <a:xfrm>
            <a:off x="12020194" y="2621015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Applications / Motivations</a:t>
            </a:r>
            <a:endParaRPr sz="36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30" name="TextBox 39">
                <a:extLst>
                  <a:ext uri="{FF2B5EF4-FFF2-40B4-BE49-F238E27FC236}">
                    <a16:creationId xmlns:a16="http://schemas.microsoft.com/office/drawing/2014/main" id="{C142CDD1-EA7E-4D16-83D4-808A38FA6754}"/>
                  </a:ext>
                </a:extLst>
              </p:cNvPr>
              <p:cNvSpPr txBox="1"/>
              <p:nvPr/>
            </p:nvSpPr>
            <p:spPr>
              <a:xfrm>
                <a:off x="11834483" y="3400366"/>
                <a:ext cx="10785513" cy="6249596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Substantial growth in modern datasets requires large-scale computational models that process data across multiple machines.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Centralized access to the full dataset is frequently unavailable or infeasible.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Transmitting entire datasets incurs prohibitive communication costs that are linear in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Methods for succinctly quantizing data for better memory and communication efficiency are critical for scaling large language and machine learning models.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Broad applications across bioinformatics, combinatorial optimization, computer graphics, and data science.</a:t>
                </a:r>
              </a:p>
            </p:txBody>
          </p:sp>
        </mc:Choice>
        <mc:Fallback xmlns="">
          <p:sp>
            <p:nvSpPr>
              <p:cNvPr id="230" name="TextBox 39">
                <a:extLst>
                  <a:ext uri="{FF2B5EF4-FFF2-40B4-BE49-F238E27FC236}">
                    <a16:creationId xmlns:a16="http://schemas.microsoft.com/office/drawing/2014/main" id="{C142CDD1-EA7E-4D16-83D4-808A38FA6754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834483" y="3400366"/>
                <a:ext cx="10785513" cy="6249596"/>
              </a:xfrm>
              <a:prstGeom prst="rect">
                <a:avLst/>
              </a:prstGeom>
              <a:blipFill>
                <a:blip r:embed="rId7"/>
                <a:stretch>
                  <a:fillRect l="-1412" t="-488" r="-1751" b="-175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335" name="TextBox 38">
            <a:extLst>
              <a:ext uri="{FF2B5EF4-FFF2-40B4-BE49-F238E27FC236}">
                <a16:creationId xmlns:a16="http://schemas.microsoft.com/office/drawing/2014/main" id="{20453FE5-C1DA-4144-985E-30F9D6FA7767}"/>
              </a:ext>
            </a:extLst>
          </p:cNvPr>
          <p:cNvSpPr txBox="1"/>
          <p:nvPr/>
        </p:nvSpPr>
        <p:spPr>
          <a:xfrm>
            <a:off x="22689342" y="650177"/>
            <a:ext cx="8634957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Algorithm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336" name="TextBox 39">
                <a:extLst>
                  <a:ext uri="{FF2B5EF4-FFF2-40B4-BE49-F238E27FC236}">
                    <a16:creationId xmlns:a16="http://schemas.microsoft.com/office/drawing/2014/main" id="{78F4E2AA-46E5-4369-9AA0-1DEED6C82BB6}"/>
                  </a:ext>
                </a:extLst>
              </p:cNvPr>
              <p:cNvSpPr txBox="1"/>
              <p:nvPr/>
            </p:nvSpPr>
            <p:spPr>
              <a:xfrm>
                <a:off x="22619996" y="1432292"/>
                <a:ext cx="9578613" cy="1090317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>
                  <a:buClr>
                    <a:schemeClr val="tx1"/>
                  </a:buClr>
                </a:pPr>
                <a:r>
                  <a:rPr lang="en-US" sz="2800" dirty="0">
                    <a:solidFill>
                      <a:srgbClr val="0070C0"/>
                    </a:solidFill>
                  </a:rPr>
                  <a:t>Blackboard Model Protoco</a:t>
                </a:r>
                <a:r>
                  <a:rPr lang="en-US" sz="2800" dirty="0">
                    <a:solidFill>
                      <a:schemeClr val="tx1"/>
                    </a:solidFill>
                  </a:rPr>
                  <a:t>l:    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Lazy Adaptive Sampling</a:t>
                </a:r>
                <a:r>
                  <a:rPr lang="en-US" sz="2800" dirty="0">
                    <a:solidFill>
                      <a:schemeClr val="tx1"/>
                    </a:solidFill>
                  </a:rPr>
                  <a:t>: Sites use approximate weights on the blackboard to sample points, updating the blackboard only when local weights change significantly.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14:m>
                  <m:oMath xmlns:m="http://schemas.openxmlformats.org/officeDocument/2006/math">
                    <m:sSub>
                      <m:sSub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B050"/>
                    </a:solidFill>
                  </a:rPr>
                  <a:t> Sampling</a:t>
                </a:r>
                <a:r>
                  <a:rPr lang="en-US" sz="2800" dirty="0">
                    <a:solidFill>
                      <a:schemeClr val="tx1"/>
                    </a:solidFill>
                  </a:rPr>
                  <a:t>: Subroutine checks if the global weight sum has decreased significantly to trigger synchronization.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Distributed Morris Counters</a:t>
                </a:r>
                <a:r>
                  <a:rPr lang="en-US" sz="2800" dirty="0">
                    <a:solidFill>
                      <a:schemeClr val="tx1"/>
                    </a:solidFill>
                  </a:rPr>
                  <a:t>: Adapt streaming counters to generate constant-factor approximations for cluster costs and sizes.    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Apply sensitivity sampling locally and encode points efficiently for upload.      </a:t>
                </a:r>
              </a:p>
              <a:p>
                <a:pPr>
                  <a:buClr>
                    <a:schemeClr val="tx1"/>
                  </a:buClr>
                </a:pPr>
                <a:r>
                  <a:rPr lang="en-US" sz="2800" dirty="0">
                    <a:solidFill>
                      <a:srgbClr val="0070C0"/>
                    </a:solidFill>
                  </a:rPr>
                  <a:t>Coordinator Model Protoco</a:t>
                </a:r>
                <a:r>
                  <a:rPr lang="en-US" sz="2800" dirty="0">
                    <a:solidFill>
                      <a:schemeClr val="tx1"/>
                    </a:solidFill>
                  </a:rPr>
                  <a:t>l: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Sites generate local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  <m:d>
                          <m:d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i="1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𝜀</m:t>
                            </m:r>
                          </m:e>
                        </m:d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-coresets.    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Apply a Johnson-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Lindenstrauss</a:t>
                </a:r>
                <a:r>
                  <a:rPr lang="en-US" sz="2800" dirty="0">
                    <a:solidFill>
                      <a:schemeClr val="tx1"/>
                    </a:solidFill>
                  </a:rPr>
                  <a:t> (JL) transformation to reduce data to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US" sz="2800" b="0" i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log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⁡(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𝑠𝑘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 dimensions.    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</a:rPr>
                  <a:t>Efficient Communication</a:t>
                </a:r>
                <a:r>
                  <a:rPr lang="en-US" sz="2800" dirty="0">
                    <a:solidFill>
                      <a:schemeClr val="tx1"/>
                    </a:solidFill>
                  </a:rPr>
                  <a:t>: Coordinator and site perform a distributed binary search on sorted coordinates to find the closest match and transmit a small offset.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</a:rPr>
                  <a:t>Perform sensitivity sampling with approximate center assignments, encode, and merge sampled points into the global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-coreset.</a:t>
                </a:r>
              </a:p>
            </p:txBody>
          </p:sp>
        </mc:Choice>
        <mc:Fallback>
          <p:sp>
            <p:nvSpPr>
              <p:cNvPr id="336" name="TextBox 39">
                <a:extLst>
                  <a:ext uri="{FF2B5EF4-FFF2-40B4-BE49-F238E27FC236}">
                    <a16:creationId xmlns:a16="http://schemas.microsoft.com/office/drawing/2014/main" id="{78F4E2AA-46E5-4369-9AA0-1DEED6C82BB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619996" y="1432292"/>
                <a:ext cx="9578613" cy="10903178"/>
              </a:xfrm>
              <a:prstGeom prst="rect">
                <a:avLst/>
              </a:prstGeom>
              <a:blipFill>
                <a:blip r:embed="rId8"/>
                <a:stretch>
                  <a:fillRect l="-1782" t="-279" r="-2419" b="-1174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TextBox 38">
            <a:extLst>
              <a:ext uri="{FF2B5EF4-FFF2-40B4-BE49-F238E27FC236}">
                <a16:creationId xmlns:a16="http://schemas.microsoft.com/office/drawing/2014/main" id="{3E61E522-BD33-8583-07F1-1503CE4DB47D}"/>
              </a:ext>
            </a:extLst>
          </p:cNvPr>
          <p:cNvSpPr txBox="1"/>
          <p:nvPr/>
        </p:nvSpPr>
        <p:spPr>
          <a:xfrm>
            <a:off x="11641580" y="9636487"/>
            <a:ext cx="1007384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Assumptions</a:t>
            </a:r>
            <a:endParaRPr sz="240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5" name="TextBox 39">
                <a:extLst>
                  <a:ext uri="{FF2B5EF4-FFF2-40B4-BE49-F238E27FC236}">
                    <a16:creationId xmlns:a16="http://schemas.microsoft.com/office/drawing/2014/main" id="{BB0B6ADB-52BA-B461-EDDB-5C86B2124B12}"/>
                  </a:ext>
                </a:extLst>
              </p:cNvPr>
              <p:cNvSpPr txBox="1"/>
              <p:nvPr/>
            </p:nvSpPr>
            <p:spPr>
              <a:xfrm>
                <a:off x="11641580" y="10436745"/>
                <a:ext cx="10388800" cy="3147208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Finite precision: Input points lie within the grid 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d>
                          <m:dPr>
                            <m:begChr m:val="{"/>
                            <m:endChr m:val="}"/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1,…,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d>
                      </m:e>
                      <m:sup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sup>
                    </m:sSup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, where the grid size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Δ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US" sz="2800" b="0" i="0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poly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Each coordinate can be communicated efficiently and stored using </a:t>
                </a:r>
                <a14:m>
                  <m:oMath xmlns:m="http://schemas.openxmlformats.org/officeDocument/2006/math">
                    <m:r>
                      <a:rPr lang="en-US" sz="2800" b="0" i="1" smtClean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𝑂</m:t>
                    </m:r>
                    <m:d>
                      <m:dPr>
                        <m:ctrlP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unc>
                          <m:funcPr>
                            <m:ctrlP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US" sz="2800" b="0" i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Δ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bits.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Protocols are sequential, round-based, and self-delimiting.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Each server has access to private sources of randomness.</a:t>
                </a:r>
              </a:p>
            </p:txBody>
          </p:sp>
        </mc:Choice>
        <mc:Fallback xmlns="">
          <p:sp>
            <p:nvSpPr>
              <p:cNvPr id="15" name="TextBox 39">
                <a:extLst>
                  <a:ext uri="{FF2B5EF4-FFF2-40B4-BE49-F238E27FC236}">
                    <a16:creationId xmlns:a16="http://schemas.microsoft.com/office/drawing/2014/main" id="{BB0B6ADB-52BA-B461-EDDB-5C86B2124B12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641580" y="10436745"/>
                <a:ext cx="10388800" cy="3147208"/>
              </a:xfrm>
              <a:prstGeom prst="rect">
                <a:avLst/>
              </a:prstGeom>
              <a:blipFill>
                <a:blip r:embed="rId9"/>
                <a:stretch>
                  <a:fillRect l="-1526" t="-581" b="-4845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:ma14="http://schemas.microsoft.com/office/mac/drawingml/2011/main" xmlns:m="http://schemas.openxmlformats.org/officeDocument/2006/math" xmlns="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" name="TextBox 38">
            <a:extLst>
              <a:ext uri="{FF2B5EF4-FFF2-40B4-BE49-F238E27FC236}">
                <a16:creationId xmlns:a16="http://schemas.microsoft.com/office/drawing/2014/main" id="{69A2C2F8-F533-CED2-D9A1-93EF6E927A77}"/>
              </a:ext>
            </a:extLst>
          </p:cNvPr>
          <p:cNvSpPr txBox="1"/>
          <p:nvPr/>
        </p:nvSpPr>
        <p:spPr>
          <a:xfrm>
            <a:off x="22030380" y="12600247"/>
            <a:ext cx="10073843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Contribution / Intuition</a:t>
            </a:r>
            <a:endParaRPr sz="24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7" name="TextBox 39">
                <a:extLst>
                  <a:ext uri="{FF2B5EF4-FFF2-40B4-BE49-F238E27FC236}">
                    <a16:creationId xmlns:a16="http://schemas.microsoft.com/office/drawing/2014/main" id="{8644D51B-C4E8-6D4C-102D-F33A205182B5}"/>
                  </a:ext>
                </a:extLst>
              </p:cNvPr>
              <p:cNvSpPr txBox="1"/>
              <p:nvPr/>
            </p:nvSpPr>
            <p:spPr>
              <a:xfrm>
                <a:off x="22030380" y="13400505"/>
                <a:ext cx="10388800" cy="8317854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Robustness to Outdated Information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Prove “lazy” adaptive sampling, allowing sites to delay updates until weights change by a constant factor.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Global Weight Detection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</a:t>
                </a:r>
                <a:r>
                  <a:rPr lang="en-US" sz="2800" dirty="0">
                    <a:solidFill>
                      <a:srgbClr val="C00000"/>
                    </a:solidFill>
                  </a:rPr>
                  <a:t>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𝐿</m:t>
                        </m:r>
                      </m:e>
                      <m:sub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2800" dirty="0">
                    <a:solidFill>
                      <a:srgbClr val="00B050"/>
                    </a:solidFill>
                  </a:rPr>
                  <a:t> 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​ sampling efficiently detects significant changes in global weight without querying all sites.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Coordinate-wise Sampling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Transmitting a small offset via distributed binary search rather than sending full high-dimensional centers decouples communication overhead from the dimension </a:t>
                </a:r>
                <a14:m>
                  <m:oMath xmlns:m="http://schemas.openxmlformats.org/officeDocument/2006/math">
                    <m:r>
                      <a:rPr lang="en-US" sz="2800" i="1" dirty="0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𝑑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.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Distributed Approximate Counting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Adapting Morris counters to the distributed setting estimates cluster sizes and costs for sensitivity sampling using </a:t>
                </a:r>
                <a14:m>
                  <m:oMath xmlns:m="http://schemas.openxmlformats.org/officeDocument/2006/math">
                    <m:acc>
                      <m:accPr>
                        <m:chr m:val="̃"/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  <a:cs typeface="Arial" panose="020B0604020202020204" pitchFamily="34" charset="0"/>
                          </a:rPr>
                        </m:ctrlPr>
                      </m:accPr>
                      <m:e>
                        <m:r>
                          <a:rPr lang="en-US" sz="2800" i="1" dirty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𝑂</m:t>
                        </m:r>
                      </m:e>
                    </m:acc>
                    <m:d>
                      <m:dPr>
                        <m:ctrlP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US" sz="2800" b="0" i="1" dirty="0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func>
                          <m:funcPr>
                            <m:ctrlP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uncPr>
                          <m:fName>
                            <m:r>
                              <m:rPr>
                                <m:sty m:val="p"/>
                              </m:rPr>
                              <a:rPr lang="en-US" sz="2800" b="0" i="0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log</m:t>
                            </m:r>
                          </m:fName>
                          <m:e>
                            <m:r>
                              <a:rPr lang="en-US" sz="2800" b="0" i="1" dirty="0" smtClean="0">
                                <a:solidFill>
                                  <a:srgbClr val="C00000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</m:func>
                      </m:e>
                    </m:d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 bits.      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00B050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Efficient Compact Encoding</a:t>
                </a:r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: Points are decomposed into their closest center and a residual offset vector. Rounding the offset to the nearest power of </a:t>
                </a:r>
                <a14:m>
                  <m:oMath xmlns:m="http://schemas.openxmlformats.org/officeDocument/2006/math">
                    <m:d>
                      <m:dPr>
                        <m:ctrlP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1+</m:t>
                        </m:r>
                        <m:r>
                          <a:rPr lang="en-US" sz="2800" i="1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𝜀</m:t>
                        </m:r>
                        <m:r>
                          <a:rPr lang="en-US" sz="2800" b="0" i="1" smtClean="0">
                            <a:solidFill>
                              <a:srgbClr val="C00000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e>
                    </m:d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rPr>
                  <a:t>gives high compression without significantly distorting clustering costs.</a:t>
                </a:r>
              </a:p>
            </p:txBody>
          </p:sp>
        </mc:Choice>
        <mc:Fallback>
          <p:sp>
            <p:nvSpPr>
              <p:cNvPr id="7" name="TextBox 39">
                <a:extLst>
                  <a:ext uri="{FF2B5EF4-FFF2-40B4-BE49-F238E27FC236}">
                    <a16:creationId xmlns:a16="http://schemas.microsoft.com/office/drawing/2014/main" id="{8644D51B-C4E8-6D4C-102D-F33A205182B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30380" y="13400505"/>
                <a:ext cx="10388800" cy="8317854"/>
              </a:xfrm>
              <a:prstGeom prst="rect">
                <a:avLst/>
              </a:prstGeom>
              <a:blipFill>
                <a:blip r:embed="rId10"/>
                <a:stretch>
                  <a:fillRect l="-1526" t="-293" r="-5634" b="-1172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3" name="Picture 2">
            <a:extLst>
              <a:ext uri="{FF2B5EF4-FFF2-40B4-BE49-F238E27FC236}">
                <a16:creationId xmlns:a16="http://schemas.microsoft.com/office/drawing/2014/main" id="{FA5F6F01-D2D9-575C-9E0E-218768F7FB2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1347780" y="13436679"/>
            <a:ext cx="10661441" cy="4630877"/>
          </a:xfrm>
          <a:prstGeom prst="rect">
            <a:avLst/>
          </a:prstGeom>
        </p:spPr>
      </p:pic>
      <p:sp>
        <p:nvSpPr>
          <p:cNvPr id="10" name="TextBox 38">
            <a:extLst>
              <a:ext uri="{FF2B5EF4-FFF2-40B4-BE49-F238E27FC236}">
                <a16:creationId xmlns:a16="http://schemas.microsoft.com/office/drawing/2014/main" id="{3217409D-7529-D761-04F0-6C1D6BFE0777}"/>
              </a:ext>
            </a:extLst>
          </p:cNvPr>
          <p:cNvSpPr txBox="1"/>
          <p:nvPr/>
        </p:nvSpPr>
        <p:spPr>
          <a:xfrm>
            <a:off x="499220" y="18214517"/>
            <a:ext cx="5833601" cy="646331"/>
          </a:xfrm>
          <a:prstGeom prst="rect">
            <a:avLst/>
          </a:prstGeom>
          <a:ln w="12700">
            <a:miter lim="400000"/>
          </a:ln>
          <a:extLst>
            <a:ext uri="{C572A759-6A51-4108-AA02-DFA0A04FC94B}">
              <ma14:wrappingTextBoxFlag xmlns="" xmlns:m="http://schemas.openxmlformats.org/officeDocument/2006/math" xmlns:a14="http://schemas.microsoft.com/office/drawing/2010/main" xmlns:ma14="http://schemas.microsoft.com/office/mac/drawingml/2011/main" val="1"/>
            </a:ext>
          </a:extLst>
        </p:spPr>
        <p:txBody>
          <a:bodyPr wrap="square" lIns="45719" rIns="45719">
            <a:spAutoFit/>
          </a:bodyPr>
          <a:lstStyle>
            <a:lvl1pPr>
              <a:defRPr sz="3400">
                <a:latin typeface="Arial"/>
                <a:ea typeface="Arial"/>
                <a:cs typeface="Arial"/>
                <a:sym typeface="Arial"/>
              </a:defRPr>
            </a:lvl1pPr>
          </a:lstStyle>
          <a:p>
            <a:r>
              <a:rPr lang="en-US" sz="3600" dirty="0"/>
              <a:t>References</a:t>
            </a:r>
            <a:endParaRPr sz="360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39">
                <a:extLst>
                  <a:ext uri="{FF2B5EF4-FFF2-40B4-BE49-F238E27FC236}">
                    <a16:creationId xmlns:a16="http://schemas.microsoft.com/office/drawing/2014/main" id="{25DFDAF0-8DF8-1AB8-F804-3CCE8F62EBDA}"/>
                  </a:ext>
                </a:extLst>
              </p:cNvPr>
              <p:cNvSpPr txBox="1"/>
              <p:nvPr/>
            </p:nvSpPr>
            <p:spPr>
              <a:xfrm>
                <a:off x="241775" y="19100691"/>
                <a:ext cx="10741356" cy="2113079"/>
              </a:xfrm>
              <a:prstGeom prst="rect">
                <a:avLst/>
              </a:prstGeom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val="1"/>
                </a:ext>
              </a:extLst>
            </p:spPr>
            <p:txBody>
              <a:bodyPr wrap="square" lIns="45719" rIns="45719">
                <a:spAutoFit/>
              </a:bodyPr>
              <a:lstStyle>
                <a:lvl1pPr>
                  <a:lnSpc>
                    <a:spcPct val="120000"/>
                  </a:lnSpc>
                  <a:defRPr sz="2100">
                    <a:solidFill>
                      <a:srgbClr val="344854"/>
                    </a:solidFill>
                    <a:latin typeface="Arial"/>
                    <a:ea typeface="Arial"/>
                    <a:cs typeface="Arial"/>
                    <a:sym typeface="Arial"/>
                  </a:defRPr>
                </a:lvl1pPr>
              </a:lstStyle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7030A0"/>
                    </a:solidFill>
                  </a:rPr>
                  <a:t>[CSWZ16] 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Jiecao</a:t>
                </a:r>
                <a:r>
                  <a:rPr lang="en-US" sz="2800" dirty="0">
                    <a:solidFill>
                      <a:schemeClr val="tx1"/>
                    </a:solidFill>
                  </a:rPr>
                  <a:t> Chen, He Sun, David P. Woodruff, Qin Zhang: Communication-optimal distributed clustering. 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NeurIPS</a:t>
                </a:r>
                <a:r>
                  <a:rPr lang="en-US" sz="2800" dirty="0">
                    <a:solidFill>
                      <a:schemeClr val="tx1"/>
                    </a:solidFill>
                  </a:rPr>
                  <a:t> 2016.</a:t>
                </a:r>
              </a:p>
              <a:p>
                <a:pPr marL="457200" indent="-457200">
                  <a:buClr>
                    <a:schemeClr val="tx1"/>
                  </a:buClr>
                  <a:buFont typeface="Arial" panose="020B0604020202020204" pitchFamily="34" charset="0"/>
                  <a:buChar char="•"/>
                </a:pPr>
                <a:r>
                  <a:rPr lang="en-US" sz="2800" dirty="0">
                    <a:solidFill>
                      <a:srgbClr val="7030A0"/>
                    </a:solidFill>
                  </a:rPr>
                  <a:t>[HLW24] </a:t>
                </a:r>
                <a:r>
                  <a:rPr lang="en-US" sz="2800" dirty="0" err="1">
                    <a:solidFill>
                      <a:schemeClr val="tx1"/>
                    </a:solidFill>
                  </a:rPr>
                  <a:t>Lingxiao</a:t>
                </a:r>
                <a:r>
                  <a:rPr lang="en-US" sz="2800" dirty="0">
                    <a:solidFill>
                      <a:schemeClr val="tx1"/>
                    </a:solidFill>
                  </a:rPr>
                  <a:t> Huang, Jian Li, Xuan Wu: On optimal coreset construction for Euclidean </a:t>
                </a:r>
                <a14:m>
                  <m:oMath xmlns:m="http://schemas.openxmlformats.org/officeDocument/2006/math"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𝑧</m:t>
                    </m:r>
                    <m:r>
                      <a:rPr lang="en-US" sz="2800" i="1">
                        <a:solidFill>
                          <a:srgbClr val="C00000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lang="en-US" sz="2800" dirty="0">
                    <a:solidFill>
                      <a:schemeClr val="tx1"/>
                    </a:solidFill>
                  </a:rPr>
                  <a:t>-clustering. STOC 2024.  </a:t>
                </a:r>
              </a:p>
            </p:txBody>
          </p:sp>
        </mc:Choice>
        <mc:Fallback>
          <p:sp>
            <p:nvSpPr>
              <p:cNvPr id="12" name="TextBox 39">
                <a:extLst>
                  <a:ext uri="{FF2B5EF4-FFF2-40B4-BE49-F238E27FC236}">
                    <a16:creationId xmlns:a16="http://schemas.microsoft.com/office/drawing/2014/main" id="{25DFDAF0-8DF8-1AB8-F804-3CCE8F62EBD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41775" y="19100691"/>
                <a:ext cx="10741356" cy="2113079"/>
              </a:xfrm>
              <a:prstGeom prst="rect">
                <a:avLst/>
              </a:prstGeom>
              <a:blipFill>
                <a:blip r:embed="rId12"/>
                <a:stretch>
                  <a:fillRect l="-1476" t="-1153" r="-2100" b="-6916"/>
                </a:stretch>
              </a:blipFill>
              <a:ln w="12700">
                <a:miter lim="400000"/>
              </a:ln>
              <a:extLst>
                <a:ext uri="{C572A759-6A51-4108-AA02-DFA0A04FC94B}">
                  <ma14:wrappingTextBoxFlag xmlns="" xmlns:m="http://schemas.openxmlformats.org/officeDocument/2006/math" xmlns:ma14="http://schemas.microsoft.com/office/mac/drawingml/2011/main" xmlns:a14="http://schemas.microsoft.com/office/drawing/2010/main" val="1"/>
                </a:ext>
              </a:extLst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 Theme">
      <a:dk1>
        <a:srgbClr val="000000"/>
      </a:dk1>
      <a:lt1>
        <a:srgbClr val="FFFFFF"/>
      </a:lt1>
      <a:dk2>
        <a:srgbClr val="A7A7A7"/>
      </a:dk2>
      <a:lt2>
        <a:srgbClr val="535353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000FF"/>
      </a:hlink>
      <a:folHlink>
        <a:srgbClr val="FF00FF"/>
      </a:folHlink>
    </a:clrScheme>
    <a:fontScheme name="Office Theme">
      <a:majorFont>
        <a:latin typeface="Helvetica"/>
        <a:ea typeface="Helvetica"/>
        <a:cs typeface="Helvetica"/>
      </a:majorFont>
      <a:minorFont>
        <a:latin typeface="Calibri"/>
        <a:ea typeface="Calibri"/>
        <a:cs typeface="Calibri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FFFFFF"/>
        </a:solidFill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ctr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spDef>
    <a:lnDef>
      <a:spPr>
        <a:noFill/>
        <a:ln w="12700" cap="flat">
          <a:solidFill>
            <a:schemeClr val="accent1"/>
          </a:solidFill>
          <a:prstDash val="solid"/>
          <a:miter lim="800000"/>
        </a:ln>
        <a:effectLst/>
        <a:sp3d/>
      </a:spPr>
      <a:bodyPr rot="0" spcFirstLastPara="1" vertOverflow="overflow" horzOverflow="overflow" vert="horz" wrap="square" lIns="91439" tIns="45719" rIns="91439" bIns="45719" numCol="1" spcCol="38100" rtlCol="0" anchor="t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lnDef>
    <a:txDef>
      <a:spPr>
        <a:noFill/>
        <a:ln w="12700" cap="flat">
          <a:noFill/>
          <a:miter lim="400000"/>
        </a:ln>
        <a:effectLst/>
        <a:sp3d/>
      </a:spPr>
      <a:bodyPr rot="0" spcFirstLastPara="1" vertOverflow="overflow" horzOverflow="overflow" vert="horz" wrap="square" lIns="45719" tIns="45719" rIns="45719" bIns="45719" numCol="1" spcCol="38100" rtlCol="0" anchor="t">
        <a:spAutoFit/>
      </a:bodyPr>
      <a:lstStyle>
        <a:defPPr marL="0" marR="0" indent="0" algn="l" defTabSz="326532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2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  <a:latin typeface="+mn-lt"/>
            <a:ea typeface="+mn-ea"/>
            <a:cs typeface="+mn-cs"/>
            <a:sym typeface="Calibri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tabLst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none"/>
      </a:style>
    </a:tx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521</TotalTime>
  <Words>709</Words>
  <Application>Microsoft Office PowerPoint</Application>
  <PresentationFormat>Custom</PresentationFormat>
  <Paragraphs>50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Cambria Math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samson</dc:creator>
  <cp:lastModifiedBy>Samson Zhou</cp:lastModifiedBy>
  <cp:revision>17</cp:revision>
  <dcterms:modified xsi:type="dcterms:W3CDTF">2026-04-20T22:34:08Z</dcterms:modified>
</cp:coreProperties>
</file>