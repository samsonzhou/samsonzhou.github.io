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491" r:id="rId2"/>
    <p:sldId id="493" r:id="rId3"/>
    <p:sldId id="494"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63" d="100"/>
          <a:sy n="63" d="100"/>
        </p:scale>
        <p:origin x="1929"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DCAB61-6CD8-483E-AED8-DF4FC63E77F6}"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C5E47C-ACDF-4854-B36B-D4D7763DF573}" type="slidenum">
              <a:rPr lang="en-US" smtClean="0"/>
              <a:t>‹#›</a:t>
            </a:fld>
            <a:endParaRPr lang="en-US"/>
          </a:p>
        </p:txBody>
      </p:sp>
    </p:spTree>
    <p:extLst>
      <p:ext uri="{BB962C8B-B14F-4D97-AF65-F5344CB8AC3E}">
        <p14:creationId xmlns:p14="http://schemas.microsoft.com/office/powerpoint/2010/main" val="2893508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breaking down each of the terms in the title. To understand the sliding window model, we first have to understand the streaming model of computation, in which elements of an underlying data set S, arrive sequentially and the goal is to evaluate or approximate some given function on this dataset, using space sublinear in S. In the sliding window model, only the W most recent updates form the underlying data set</a:t>
            </a:r>
          </a:p>
        </p:txBody>
      </p:sp>
      <p:sp>
        <p:nvSpPr>
          <p:cNvPr id="4" name="Slide Number Placeholder 3"/>
          <p:cNvSpPr>
            <a:spLocks noGrp="1"/>
          </p:cNvSpPr>
          <p:nvPr>
            <p:ph type="sldNum" sz="quarter" idx="5"/>
          </p:nvPr>
        </p:nvSpPr>
        <p:spPr/>
        <p:txBody>
          <a:bodyPr/>
          <a:lstStyle/>
          <a:p>
            <a:fld id="{3486229C-5C56-46D3-8AF7-8CB2C6C5FD7A}" type="slidenum">
              <a:rPr lang="en-US" smtClean="0"/>
              <a:t>1</a:t>
            </a:fld>
            <a:endParaRPr lang="en-US"/>
          </a:p>
        </p:txBody>
      </p:sp>
    </p:spTree>
    <p:extLst>
      <p:ext uri="{BB962C8B-B14F-4D97-AF65-F5344CB8AC3E}">
        <p14:creationId xmlns:p14="http://schemas.microsoft.com/office/powerpoint/2010/main" val="280382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661C2-4DB4-792B-7FF6-1A4B69644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13D93-8FE4-C9BD-9EF7-785FE6078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162AC-36C6-7C4A-B195-00574F98B458}"/>
              </a:ext>
            </a:extLst>
          </p:cNvPr>
          <p:cNvSpPr>
            <a:spLocks noGrp="1"/>
          </p:cNvSpPr>
          <p:nvPr>
            <p:ph type="body" idx="1"/>
          </p:nvPr>
        </p:nvSpPr>
        <p:spPr/>
        <p:txBody>
          <a:bodyPr/>
          <a:lstStyle/>
          <a:p>
            <a:r>
              <a:rPr lang="en-US" dirty="0"/>
              <a:t>Let’s start by breaking down each of the terms in the title. To understand the sliding window model, we first have to understand the streaming model of computation, in which elements of an underlying data set S, arrive sequentially and the goal is to evaluate or approximate some given function on this dataset, using space sublinear in S. In the sliding window model, only the W most recent updates form the underlying data set</a:t>
            </a:r>
          </a:p>
        </p:txBody>
      </p:sp>
      <p:sp>
        <p:nvSpPr>
          <p:cNvPr id="4" name="Slide Number Placeholder 3">
            <a:extLst>
              <a:ext uri="{FF2B5EF4-FFF2-40B4-BE49-F238E27FC236}">
                <a16:creationId xmlns:a16="http://schemas.microsoft.com/office/drawing/2014/main" id="{911C9B38-662B-8899-22A6-79EAE43AE621}"/>
              </a:ext>
            </a:extLst>
          </p:cNvPr>
          <p:cNvSpPr>
            <a:spLocks noGrp="1"/>
          </p:cNvSpPr>
          <p:nvPr>
            <p:ph type="sldNum" sz="quarter" idx="5"/>
          </p:nvPr>
        </p:nvSpPr>
        <p:spPr/>
        <p:txBody>
          <a:bodyPr/>
          <a:lstStyle/>
          <a:p>
            <a:fld id="{3486229C-5C56-46D3-8AF7-8CB2C6C5FD7A}" type="slidenum">
              <a:rPr lang="en-US" smtClean="0"/>
              <a:t>2</a:t>
            </a:fld>
            <a:endParaRPr lang="en-US"/>
          </a:p>
        </p:txBody>
      </p:sp>
    </p:spTree>
    <p:extLst>
      <p:ext uri="{BB962C8B-B14F-4D97-AF65-F5344CB8AC3E}">
        <p14:creationId xmlns:p14="http://schemas.microsoft.com/office/powerpoint/2010/main" val="1080663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D353A-AF2A-D6AE-3086-F7A8407C1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2B28F-F5DC-7EAB-E85A-5DB76705A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35FDF-79FB-736F-F086-FA5085D49EC9}"/>
              </a:ext>
            </a:extLst>
          </p:cNvPr>
          <p:cNvSpPr>
            <a:spLocks noGrp="1"/>
          </p:cNvSpPr>
          <p:nvPr>
            <p:ph type="body" idx="1"/>
          </p:nvPr>
        </p:nvSpPr>
        <p:spPr/>
        <p:txBody>
          <a:bodyPr/>
          <a:lstStyle/>
          <a:p>
            <a:r>
              <a:rPr lang="en-US" dirty="0"/>
              <a:t>Let’s start by breaking down each of the terms in the title. To understand the sliding window model, we first have to understand the streaming model of computation, in which elements of an underlying data set S, arrive sequentially and the goal is to evaluate or approximate some given function on this dataset, using space sublinear in S. In the sliding window model, only the W most recent updates form the underlying data set</a:t>
            </a:r>
          </a:p>
        </p:txBody>
      </p:sp>
      <p:sp>
        <p:nvSpPr>
          <p:cNvPr id="4" name="Slide Number Placeholder 3">
            <a:extLst>
              <a:ext uri="{FF2B5EF4-FFF2-40B4-BE49-F238E27FC236}">
                <a16:creationId xmlns:a16="http://schemas.microsoft.com/office/drawing/2014/main" id="{D879E2D5-B133-792D-0949-1671985B845B}"/>
              </a:ext>
            </a:extLst>
          </p:cNvPr>
          <p:cNvSpPr>
            <a:spLocks noGrp="1"/>
          </p:cNvSpPr>
          <p:nvPr>
            <p:ph type="sldNum" sz="quarter" idx="5"/>
          </p:nvPr>
        </p:nvSpPr>
        <p:spPr/>
        <p:txBody>
          <a:bodyPr/>
          <a:lstStyle/>
          <a:p>
            <a:fld id="{3486229C-5C56-46D3-8AF7-8CB2C6C5FD7A}" type="slidenum">
              <a:rPr lang="en-US" smtClean="0"/>
              <a:t>3</a:t>
            </a:fld>
            <a:endParaRPr lang="en-US"/>
          </a:p>
        </p:txBody>
      </p:sp>
    </p:spTree>
    <p:extLst>
      <p:ext uri="{BB962C8B-B14F-4D97-AF65-F5344CB8AC3E}">
        <p14:creationId xmlns:p14="http://schemas.microsoft.com/office/powerpoint/2010/main" val="3528199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24121-BA3E-8DD8-23A3-25450E3CCD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A3AB34-A354-84F8-9EDE-B474F91C5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52ADD1-8C9F-5147-28A3-52F7CB528145}"/>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5" name="Footer Placeholder 4">
            <a:extLst>
              <a:ext uri="{FF2B5EF4-FFF2-40B4-BE49-F238E27FC236}">
                <a16:creationId xmlns:a16="http://schemas.microsoft.com/office/drawing/2014/main" id="{4A022E73-1222-65A2-42A6-393F11E8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B42A6-F263-1C10-6D8C-FD1FD18D5B8D}"/>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3199690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1E00F-00AE-43C9-83A8-78575984C7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AD275-3999-1A7D-2882-04396C88A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0F047-401C-476A-A2DA-08899439F63F}"/>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5" name="Footer Placeholder 4">
            <a:extLst>
              <a:ext uri="{FF2B5EF4-FFF2-40B4-BE49-F238E27FC236}">
                <a16:creationId xmlns:a16="http://schemas.microsoft.com/office/drawing/2014/main" id="{E10B9038-EECB-4D57-634E-BB5116C8D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83A88D-2B32-2FCE-FFC1-344B7056987B}"/>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482022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8FD0A-AD7F-6A11-41BB-45A2F44644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BCE82E-B47C-49BA-E03D-7DAE8FC438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B74236-E4B0-4591-0C96-B9B55C6DCC3A}"/>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5" name="Footer Placeholder 4">
            <a:extLst>
              <a:ext uri="{FF2B5EF4-FFF2-40B4-BE49-F238E27FC236}">
                <a16:creationId xmlns:a16="http://schemas.microsoft.com/office/drawing/2014/main" id="{A79FF918-B7D9-D7C9-74E0-BC6E2A371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4033AD-7612-7124-60AE-C823B4F86F1D}"/>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295738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769B-3C6F-FE45-EA5D-316A62D562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17270-88FF-0869-3220-1ABD016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C6AA1F-B85B-429A-A63B-018218607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663172-5638-35D1-300C-D0992BF9C99A}"/>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6" name="Footer Placeholder 5">
            <a:extLst>
              <a:ext uri="{FF2B5EF4-FFF2-40B4-BE49-F238E27FC236}">
                <a16:creationId xmlns:a16="http://schemas.microsoft.com/office/drawing/2014/main" id="{735335F0-9693-0305-D171-AADA96689C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4371E1-8F83-55B5-DF0B-4E48FB2BEBA0}"/>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1607655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5C2A8-56FE-3B8B-9C22-63247F1A92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AA8FF7-7746-65E0-BCD3-B50F6E7304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E34EA9-45EE-2D15-DAF5-F67925E009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5F8C0C-8467-1952-05EB-51E3D7E760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7B9A68-EF67-BFC6-3301-D6326481E3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12BFBC-FD53-105C-6377-9BBF04A68EE5}"/>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8" name="Footer Placeholder 7">
            <a:extLst>
              <a:ext uri="{FF2B5EF4-FFF2-40B4-BE49-F238E27FC236}">
                <a16:creationId xmlns:a16="http://schemas.microsoft.com/office/drawing/2014/main" id="{AEDBAE3A-0377-0959-852F-30115CEFDD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9EB41A-C16E-7D17-D7D4-E78A95090FC2}"/>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2554574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1804-04B4-4C79-7BA6-4E183AFB52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35D796-B674-4454-3938-E0A6430BCF29}"/>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4" name="Footer Placeholder 3">
            <a:extLst>
              <a:ext uri="{FF2B5EF4-FFF2-40B4-BE49-F238E27FC236}">
                <a16:creationId xmlns:a16="http://schemas.microsoft.com/office/drawing/2014/main" id="{FAE6D24C-0B3F-DCC7-3E99-6F1DC7D17D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91B518-E420-BA3C-F586-FB73E77EC3D6}"/>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2704751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1EDEAE-2548-2B4C-A007-7EB96E27EF69}"/>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3" name="Footer Placeholder 2">
            <a:extLst>
              <a:ext uri="{FF2B5EF4-FFF2-40B4-BE49-F238E27FC236}">
                <a16:creationId xmlns:a16="http://schemas.microsoft.com/office/drawing/2014/main" id="{3F01A76F-E5BC-C669-98CA-A4CA356D41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488598-618A-3300-244A-FD3E92BFB6DF}"/>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1108628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1ADB5-2F8C-F715-B33F-8CF844B23C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6B3DBE-DB66-41DB-4352-21B2C5C7AE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9BF818-539B-6C60-8CA0-0F6D4505D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BF760-51A2-D4D0-D17B-B746010F3710}"/>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6" name="Footer Placeholder 5">
            <a:extLst>
              <a:ext uri="{FF2B5EF4-FFF2-40B4-BE49-F238E27FC236}">
                <a16:creationId xmlns:a16="http://schemas.microsoft.com/office/drawing/2014/main" id="{8C11D365-91A1-60A7-F7E1-C9993C59A7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EC04AD-468C-9D06-3A05-5916B9557AB7}"/>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1457951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C05DD-0B12-8EA0-96A4-FD66A1361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C59BF5-CA3C-BDD6-0EEA-9C57487BB8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6B0619-792D-6C9D-8412-0432488387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1E6EF-4660-3CCF-632B-53FCC6A6A68B}"/>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6" name="Footer Placeholder 5">
            <a:extLst>
              <a:ext uri="{FF2B5EF4-FFF2-40B4-BE49-F238E27FC236}">
                <a16:creationId xmlns:a16="http://schemas.microsoft.com/office/drawing/2014/main" id="{F029D339-303E-E2ED-1B84-9808CA572B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4587B-3C3B-2385-CCAC-C5885064E4EF}"/>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3279089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D8103-E86D-C8BD-8272-54BC9EB979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25FB78-2562-568E-99AC-A1FCBF153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AEA5-AFC3-B143-6ED2-C0BDA88B2C39}"/>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5" name="Footer Placeholder 4">
            <a:extLst>
              <a:ext uri="{FF2B5EF4-FFF2-40B4-BE49-F238E27FC236}">
                <a16:creationId xmlns:a16="http://schemas.microsoft.com/office/drawing/2014/main" id="{6E08CDAB-5365-97F2-0EE7-E41A1F436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4BB7C-E554-6BC1-7E2B-865BBA95B7FB}"/>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3685756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13909D-47A1-44C6-49E7-C751700CEF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C52ACD-32BB-10A7-124F-03654D8924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F0D0A-3364-B55D-38E0-9FFA8FBAABEE}"/>
              </a:ext>
            </a:extLst>
          </p:cNvPr>
          <p:cNvSpPr>
            <a:spLocks noGrp="1"/>
          </p:cNvSpPr>
          <p:nvPr>
            <p:ph type="dt" sz="half" idx="10"/>
          </p:nvPr>
        </p:nvSpPr>
        <p:spPr/>
        <p:txBody>
          <a:bodyPr/>
          <a:lstStyle/>
          <a:p>
            <a:fld id="{D302A9CA-E28F-4989-B793-3052FF27A153}" type="datetimeFigureOut">
              <a:rPr lang="en-US" smtClean="0"/>
              <a:t>12/14/2025</a:t>
            </a:fld>
            <a:endParaRPr lang="en-US"/>
          </a:p>
        </p:txBody>
      </p:sp>
      <p:sp>
        <p:nvSpPr>
          <p:cNvPr id="5" name="Footer Placeholder 4">
            <a:extLst>
              <a:ext uri="{FF2B5EF4-FFF2-40B4-BE49-F238E27FC236}">
                <a16:creationId xmlns:a16="http://schemas.microsoft.com/office/drawing/2014/main" id="{F6E3EECC-497B-02B6-8887-6E4C952C0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E1191-ABD1-2EBF-6767-645BF7908507}"/>
              </a:ext>
            </a:extLst>
          </p:cNvPr>
          <p:cNvSpPr>
            <a:spLocks noGrp="1"/>
          </p:cNvSpPr>
          <p:nvPr>
            <p:ph type="sldNum" sz="quarter" idx="12"/>
          </p:nvPr>
        </p:nvSpPr>
        <p:spPr/>
        <p:txBody>
          <a:bodyPr/>
          <a:lstStyle/>
          <a:p>
            <a:fld id="{F39E6EDA-9C6E-48ED-AE5F-63E55DD30C28}" type="slidenum">
              <a:rPr lang="en-US" smtClean="0"/>
              <a:t>‹#›</a:t>
            </a:fld>
            <a:endParaRPr lang="en-US"/>
          </a:p>
        </p:txBody>
      </p:sp>
    </p:spTree>
    <p:extLst>
      <p:ext uri="{BB962C8B-B14F-4D97-AF65-F5344CB8AC3E}">
        <p14:creationId xmlns:p14="http://schemas.microsoft.com/office/powerpoint/2010/main" val="1262293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E942CE-4CAE-339B-D3C4-6A040A75A2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322914-02AE-6F64-A5BE-1C9A399322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93F8E2-EE88-07BD-B944-A437DD7EBB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2A9CA-E28F-4989-B793-3052FF27A153}" type="datetimeFigureOut">
              <a:rPr lang="en-US" smtClean="0"/>
              <a:t>12/14/2025</a:t>
            </a:fld>
            <a:endParaRPr lang="en-US"/>
          </a:p>
        </p:txBody>
      </p:sp>
      <p:sp>
        <p:nvSpPr>
          <p:cNvPr id="5" name="Footer Placeholder 4">
            <a:extLst>
              <a:ext uri="{FF2B5EF4-FFF2-40B4-BE49-F238E27FC236}">
                <a16:creationId xmlns:a16="http://schemas.microsoft.com/office/drawing/2014/main" id="{1240B3C3-9671-5CC0-C8DF-6E9FBE1C63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D60958-EE51-F0E2-6BA2-A5AA7B6FD9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9E6EDA-9C6E-48ED-AE5F-63E55DD30C28}" type="slidenum">
              <a:rPr lang="en-US" smtClean="0"/>
              <a:t>‹#›</a:t>
            </a:fld>
            <a:endParaRPr lang="en-US"/>
          </a:p>
        </p:txBody>
      </p:sp>
    </p:spTree>
    <p:extLst>
      <p:ext uri="{BB962C8B-B14F-4D97-AF65-F5344CB8AC3E}">
        <p14:creationId xmlns:p14="http://schemas.microsoft.com/office/powerpoint/2010/main" val="2919852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err="1">
                <a:solidFill>
                  <a:srgbClr val="C00000"/>
                </a:solidFill>
              </a:rPr>
              <a:t>Derandomization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p:txBody>
              <a:bodyPr>
                <a:normAutofit/>
              </a:bodyPr>
              <a:lstStyle/>
              <a:p>
                <a:pPr>
                  <a:buClr>
                    <a:schemeClr val="tx1"/>
                  </a:buClr>
                </a:pPr>
                <a:r>
                  <a:rPr lang="en-US" sz="3200" dirty="0"/>
                  <a:t>Multiple sources of randomness: </a:t>
                </a:r>
              </a:p>
              <a:p>
                <a:pPr lvl="1">
                  <a:buClr>
                    <a:schemeClr val="tx1"/>
                  </a:buClr>
                </a:pPr>
                <a14:m>
                  <m:oMath xmlns:m="http://schemas.openxmlformats.org/officeDocument/2006/math">
                    <m:r>
                      <m:rPr>
                        <m:sty m:val="p"/>
                      </m:rPr>
                      <a:rPr lang="en-US" sz="2800" b="0" i="0" smtClean="0">
                        <a:solidFill>
                          <a:srgbClr val="C00000"/>
                        </a:solidFill>
                        <a:latin typeface="Cambria Math" panose="02040503050406030204" pitchFamily="18" charset="0"/>
                      </a:rPr>
                      <m:t>poly</m:t>
                    </m:r>
                    <m:r>
                      <a:rPr lang="en-US" sz="2800" b="0" i="1" smtClean="0">
                        <a:solidFill>
                          <a:srgbClr val="C00000"/>
                        </a:solidFill>
                        <a:latin typeface="Cambria Math" panose="02040503050406030204" pitchFamily="18" charset="0"/>
                      </a:rPr>
                      <m:t>(</m:t>
                    </m:r>
                    <m:r>
                      <a:rPr lang="en-US" sz="2800" b="0" i="1" smtClean="0">
                        <a:solidFill>
                          <a:srgbClr val="C00000"/>
                        </a:solidFill>
                        <a:latin typeface="Cambria Math" panose="02040503050406030204" pitchFamily="18" charset="0"/>
                      </a:rPr>
                      <m:t>𝑛</m:t>
                    </m:r>
                    <m:r>
                      <a:rPr lang="en-US" sz="2800" b="0" i="1" smtClean="0">
                        <a:solidFill>
                          <a:srgbClr val="C00000"/>
                        </a:solidFill>
                        <a:latin typeface="Cambria Math" panose="02040503050406030204" pitchFamily="18" charset="0"/>
                      </a:rPr>
                      <m:t>)</m:t>
                    </m:r>
                  </m:oMath>
                </a14:m>
                <a:r>
                  <a:rPr lang="en-US" sz="2800" dirty="0"/>
                  <a:t> exponential random variables (exponential </a:t>
                </a:r>
                <a:r>
                  <a:rPr lang="en-US" sz="2800" dirty="0" err="1"/>
                  <a:t>scalings</a:t>
                </a:r>
                <a:r>
                  <a:rPr lang="en-US" sz="2800" dirty="0"/>
                  <a:t>)</a:t>
                </a:r>
              </a:p>
              <a:p>
                <a:pPr lvl="1">
                  <a:buClr>
                    <a:schemeClr val="tx1"/>
                  </a:buClr>
                </a:pPr>
                <a14:m>
                  <m:oMath xmlns:m="http://schemas.openxmlformats.org/officeDocument/2006/math">
                    <m:r>
                      <m:rPr>
                        <m:sty m:val="p"/>
                      </m:rPr>
                      <a:rPr lang="en-US" sz="2800" b="0" i="0" smtClean="0">
                        <a:solidFill>
                          <a:srgbClr val="C00000"/>
                        </a:solidFill>
                        <a:latin typeface="Cambria Math" panose="02040503050406030204" pitchFamily="18" charset="0"/>
                      </a:rPr>
                      <m:t>poly</m:t>
                    </m:r>
                    <m:r>
                      <a:rPr lang="en-US" sz="2800" b="0" i="1" smtClean="0">
                        <a:solidFill>
                          <a:srgbClr val="C00000"/>
                        </a:solidFill>
                        <a:latin typeface="Cambria Math" panose="02040503050406030204" pitchFamily="18" charset="0"/>
                      </a:rPr>
                      <m:t>(</m:t>
                    </m:r>
                    <m:r>
                      <a:rPr lang="en-US" sz="2800" b="0" i="1" smtClean="0">
                        <a:solidFill>
                          <a:srgbClr val="C00000"/>
                        </a:solidFill>
                        <a:latin typeface="Cambria Math" panose="02040503050406030204" pitchFamily="18" charset="0"/>
                      </a:rPr>
                      <m:t>𝑛</m:t>
                    </m:r>
                    <m:r>
                      <a:rPr lang="en-US" sz="2800" b="0" i="1" smtClean="0">
                        <a:solidFill>
                          <a:srgbClr val="C00000"/>
                        </a:solidFill>
                        <a:latin typeface="Cambria Math" panose="02040503050406030204" pitchFamily="18" charset="0"/>
                      </a:rPr>
                      <m:t>)</m:t>
                    </m:r>
                  </m:oMath>
                </a14:m>
                <a:r>
                  <a:rPr lang="en-US" sz="2800" dirty="0"/>
                  <a:t> Gaussian random variables (dense </a:t>
                </a:r>
                <a:r>
                  <a:rPr lang="en-US" sz="2800" dirty="0" err="1"/>
                  <a:t>CountSketch</a:t>
                </a:r>
                <a:r>
                  <a:rPr lang="en-US" sz="2800" dirty="0"/>
                  <a:t>)</a:t>
                </a:r>
              </a:p>
              <a:p>
                <a:pPr lvl="1">
                  <a:buClr>
                    <a:schemeClr val="tx1"/>
                  </a:buClr>
                </a:pPr>
                <a14:m>
                  <m:oMath xmlns:m="http://schemas.openxmlformats.org/officeDocument/2006/math">
                    <m:r>
                      <m:rPr>
                        <m:sty m:val="p"/>
                      </m:rPr>
                      <a:rPr lang="en-US" sz="2800" b="0" i="0" smtClean="0">
                        <a:solidFill>
                          <a:srgbClr val="C00000"/>
                        </a:solidFill>
                        <a:latin typeface="Cambria Math" panose="02040503050406030204" pitchFamily="18" charset="0"/>
                      </a:rPr>
                      <m:t>poly</m:t>
                    </m:r>
                    <m:r>
                      <a:rPr lang="en-US" sz="2800" b="0" i="1" smtClean="0">
                        <a:solidFill>
                          <a:srgbClr val="C00000"/>
                        </a:solidFill>
                        <a:latin typeface="Cambria Math" panose="02040503050406030204" pitchFamily="18" charset="0"/>
                      </a:rPr>
                      <m:t>(</m:t>
                    </m:r>
                    <m:r>
                      <a:rPr lang="en-US" sz="2800" b="0" i="1" smtClean="0">
                        <a:solidFill>
                          <a:srgbClr val="C00000"/>
                        </a:solidFill>
                        <a:latin typeface="Cambria Math" panose="02040503050406030204" pitchFamily="18" charset="0"/>
                      </a:rPr>
                      <m:t>𝑛</m:t>
                    </m:r>
                    <m:r>
                      <a:rPr lang="en-US" sz="2800" b="0" i="1" smtClean="0">
                        <a:solidFill>
                          <a:srgbClr val="C00000"/>
                        </a:solidFill>
                        <a:latin typeface="Cambria Math" panose="02040503050406030204" pitchFamily="18" charset="0"/>
                      </a:rPr>
                      <m:t>)</m:t>
                    </m:r>
                  </m:oMath>
                </a14:m>
                <a:r>
                  <a:rPr lang="en-US" sz="2800" dirty="0"/>
                  <a:t> random variables (simulate the order statistics)</a:t>
                </a:r>
              </a:p>
              <a:p>
                <a:pPr lvl="1">
                  <a:buClr>
                    <a:schemeClr val="tx1"/>
                  </a:buClr>
                </a:pPr>
                <a:endParaRPr lang="en-US" sz="2800" dirty="0"/>
              </a:p>
              <a:p>
                <a:pPr>
                  <a:buClr>
                    <a:schemeClr val="tx1"/>
                  </a:buClr>
                </a:pPr>
                <a:r>
                  <a:rPr lang="en-US" sz="3200" dirty="0"/>
                  <a:t>Since we use</a:t>
                </a:r>
                <a:r>
                  <a:rPr lang="en-US" sz="3200" dirty="0">
                    <a:solidFill>
                      <a:srgbClr val="C00000"/>
                    </a:solidFill>
                  </a:rPr>
                  <a:t> </a:t>
                </a:r>
                <a14:m>
                  <m:oMath xmlns:m="http://schemas.openxmlformats.org/officeDocument/2006/math">
                    <m:r>
                      <m:rPr>
                        <m:sty m:val="p"/>
                      </m:rPr>
                      <a:rPr lang="en-US" sz="3200" b="0" i="0" smtClean="0">
                        <a:solidFill>
                          <a:srgbClr val="C00000"/>
                        </a:solidFill>
                        <a:latin typeface="Cambria Math" panose="02040503050406030204" pitchFamily="18" charset="0"/>
                      </a:rPr>
                      <m:t>poly</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𝑛</m:t>
                    </m:r>
                    <m:r>
                      <a:rPr lang="en-US" sz="3200" b="0" i="1" smtClean="0">
                        <a:solidFill>
                          <a:srgbClr val="C00000"/>
                        </a:solidFill>
                        <a:latin typeface="Cambria Math" panose="02040503050406030204" pitchFamily="18" charset="0"/>
                      </a:rPr>
                      <m:t>)</m:t>
                    </m:r>
                  </m:oMath>
                </a14:m>
                <a:r>
                  <a:rPr lang="en-US" sz="3200" dirty="0"/>
                  <a:t> bits of randomness, Nisan’s PRG would blow up the space by </a:t>
                </a:r>
                <a14:m>
                  <m:oMath xmlns:m="http://schemas.openxmlformats.org/officeDocument/2006/math">
                    <m:r>
                      <a:rPr lang="en-US" sz="3200" b="0" i="1" smtClean="0">
                        <a:solidFill>
                          <a:srgbClr val="C00000"/>
                        </a:solidFill>
                        <a:latin typeface="Cambria Math" panose="02040503050406030204" pitchFamily="18" charset="0"/>
                      </a:rPr>
                      <m:t>𝑂</m:t>
                    </m:r>
                    <m:d>
                      <m:dPr>
                        <m:ctrlPr>
                          <a:rPr lang="en-US" sz="3200" b="0" i="1" smtClean="0">
                            <a:solidFill>
                              <a:srgbClr val="C00000"/>
                            </a:solidFill>
                            <a:latin typeface="Cambria Math" panose="02040503050406030204" pitchFamily="18" charset="0"/>
                          </a:rPr>
                        </m:ctrlPr>
                      </m:dPr>
                      <m:e>
                        <m:func>
                          <m:funcPr>
                            <m:ctrlPr>
                              <a:rPr lang="en-US" sz="3200" b="0" i="1" smtClean="0">
                                <a:solidFill>
                                  <a:srgbClr val="C00000"/>
                                </a:solidFill>
                                <a:latin typeface="Cambria Math" panose="02040503050406030204" pitchFamily="18" charset="0"/>
                              </a:rPr>
                            </m:ctrlPr>
                          </m:funcPr>
                          <m:fName>
                            <m:r>
                              <m:rPr>
                                <m:sty m:val="p"/>
                              </m:rPr>
                              <a:rPr lang="en-US" sz="3200" b="0" i="0" smtClean="0">
                                <a:solidFill>
                                  <a:srgbClr val="C00000"/>
                                </a:solidFill>
                                <a:latin typeface="Cambria Math" panose="02040503050406030204" pitchFamily="18" charset="0"/>
                              </a:rPr>
                              <m:t>log</m:t>
                            </m:r>
                          </m:fName>
                          <m:e>
                            <m:r>
                              <a:rPr lang="en-US" sz="3200" b="0" i="1" smtClean="0">
                                <a:solidFill>
                                  <a:srgbClr val="C00000"/>
                                </a:solidFill>
                                <a:latin typeface="Cambria Math" panose="02040503050406030204" pitchFamily="18" charset="0"/>
                              </a:rPr>
                              <m:t>𝑛</m:t>
                            </m:r>
                          </m:e>
                        </m:func>
                      </m:e>
                    </m:d>
                  </m:oMath>
                </a14:m>
                <a:endParaRPr lang="en-US" sz="3200" dirty="0"/>
              </a:p>
            </p:txBody>
          </p:sp>
        </mc:Choice>
        <mc:Fallback>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941" r="-1681"/>
                </a:stretch>
              </a:blipFill>
            </p:spPr>
            <p:txBody>
              <a:bodyPr/>
              <a:lstStyle/>
              <a:p>
                <a:r>
                  <a:rPr lang="en-US">
                    <a:noFill/>
                  </a:rPr>
                  <a:t> </a:t>
                </a:r>
              </a:p>
            </p:txBody>
          </p:sp>
        </mc:Fallback>
      </mc:AlternateContent>
    </p:spTree>
    <p:extLst>
      <p:ext uri="{BB962C8B-B14F-4D97-AF65-F5344CB8AC3E}">
        <p14:creationId xmlns:p14="http://schemas.microsoft.com/office/powerpoint/2010/main" val="115385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2EB19-C504-7FB4-F7C1-BA9AC6377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DB0BB-1D5F-4575-98D8-B6D5BFF4970E}"/>
              </a:ext>
            </a:extLst>
          </p:cNvPr>
          <p:cNvSpPr>
            <a:spLocks noGrp="1"/>
          </p:cNvSpPr>
          <p:nvPr>
            <p:ph type="title"/>
          </p:nvPr>
        </p:nvSpPr>
        <p:spPr/>
        <p:txBody>
          <a:bodyPr/>
          <a:lstStyle/>
          <a:p>
            <a:r>
              <a:rPr lang="en-US" dirty="0" err="1">
                <a:solidFill>
                  <a:srgbClr val="C00000"/>
                </a:solidFill>
              </a:rPr>
              <a:t>Derandomization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F83F09-FAFF-B450-FCA8-BCB35B1E00FB}"/>
                  </a:ext>
                </a:extLst>
              </p:cNvPr>
              <p:cNvSpPr>
                <a:spLocks noGrp="1"/>
              </p:cNvSpPr>
              <p:nvPr>
                <p:ph idx="1"/>
              </p:nvPr>
            </p:nvSpPr>
            <p:spPr/>
            <p:txBody>
              <a:bodyPr>
                <a:normAutofit/>
              </a:bodyPr>
              <a:lstStyle/>
              <a:p>
                <a:pPr>
                  <a:buClr>
                    <a:schemeClr val="tx1"/>
                  </a:buClr>
                </a:pPr>
                <a:r>
                  <a:rPr lang="en-US" sz="3200" dirty="0"/>
                  <a:t>Let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𝑔</m:t>
                        </m:r>
                      </m:sub>
                    </m:sSub>
                  </m:oMath>
                </a14:m>
                <a:r>
                  <a:rPr lang="en-US" sz="3200" dirty="0"/>
                  <a:t> denote the randomness for Gaussian random variables,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𝑒</m:t>
                        </m:r>
                      </m:sub>
                    </m:sSub>
                  </m:oMath>
                </a14:m>
                <a:r>
                  <a:rPr lang="en-US" sz="3200" dirty="0"/>
                  <a:t> denote the “large” exponential random variables, and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𝑡</m:t>
                        </m:r>
                      </m:sub>
                    </m:sSub>
                  </m:oMath>
                </a14:m>
                <a:r>
                  <a:rPr lang="en-US" sz="3200" dirty="0"/>
                  <a:t> denote the randomness for the tail statistics</a:t>
                </a:r>
              </a:p>
              <a:p>
                <a:pPr>
                  <a:buClr>
                    <a:schemeClr val="tx1"/>
                  </a:buClr>
                </a:pPr>
                <a:endParaRPr lang="en-US" sz="3200" dirty="0"/>
              </a:p>
              <a:p>
                <a:pPr>
                  <a:buClr>
                    <a:schemeClr val="tx1"/>
                  </a:buClr>
                </a:pPr>
                <a:r>
                  <a:rPr lang="en-US" sz="3200" dirty="0">
                    <a:solidFill>
                      <a:srgbClr val="FF0000"/>
                    </a:solidFill>
                  </a:rPr>
                  <a:t>Challenge</a:t>
                </a:r>
                <a:r>
                  <a:rPr lang="en-US" sz="3200" dirty="0"/>
                  <a:t>: Dependencies between the random variables</a:t>
                </a:r>
              </a:p>
              <a:p>
                <a:pPr>
                  <a:buClr>
                    <a:schemeClr val="tx1"/>
                  </a:buClr>
                </a:pPr>
                <a:r>
                  <a:rPr lang="en-US" sz="3200" b="0" dirty="0"/>
                  <a:t>Values of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𝑒</m:t>
                        </m:r>
                      </m:sub>
                    </m:sSub>
                  </m:oMath>
                </a14:m>
                <a:r>
                  <a:rPr lang="en-US" sz="3200" dirty="0"/>
                  <a:t> change the distribution of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𝑡</m:t>
                        </m:r>
                      </m:sub>
                    </m:sSub>
                  </m:oMath>
                </a14:m>
                <a:r>
                  <a:rPr lang="en-US" sz="3200" dirty="0"/>
                  <a:t> </a:t>
                </a:r>
              </a:p>
            </p:txBody>
          </p:sp>
        </mc:Choice>
        <mc:Fallback>
          <p:sp>
            <p:nvSpPr>
              <p:cNvPr id="3" name="Content Placeholder 2">
                <a:extLst>
                  <a:ext uri="{FF2B5EF4-FFF2-40B4-BE49-F238E27FC236}">
                    <a16:creationId xmlns:a16="http://schemas.microsoft.com/office/drawing/2014/main" id="{5CF83F09-FAFF-B450-FCA8-BCB35B1E00FB}"/>
                  </a:ext>
                </a:extLst>
              </p:cNvPr>
              <p:cNvSpPr>
                <a:spLocks noGrp="1" noRot="1" noChangeAspect="1" noMove="1" noResize="1" noEditPoints="1" noAdjustHandles="1" noChangeArrowheads="1" noChangeShapeType="1" noTextEdit="1"/>
              </p:cNvSpPr>
              <p:nvPr>
                <p:ph idx="1"/>
              </p:nvPr>
            </p:nvSpPr>
            <p:spPr>
              <a:blipFill>
                <a:blip r:embed="rId3"/>
                <a:stretch>
                  <a:fillRect l="-1333" t="-2521"/>
                </a:stretch>
              </a:blipFill>
            </p:spPr>
            <p:txBody>
              <a:bodyPr/>
              <a:lstStyle/>
              <a:p>
                <a:r>
                  <a:rPr lang="en-US">
                    <a:noFill/>
                  </a:rPr>
                  <a:t> </a:t>
                </a:r>
              </a:p>
            </p:txBody>
          </p:sp>
        </mc:Fallback>
      </mc:AlternateContent>
    </p:spTree>
    <p:extLst>
      <p:ext uri="{BB962C8B-B14F-4D97-AF65-F5344CB8AC3E}">
        <p14:creationId xmlns:p14="http://schemas.microsoft.com/office/powerpoint/2010/main" val="3006503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D4A6-FD8E-102B-5B94-151751782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AD9F8-AC8B-DE91-F8D2-7AF2E0764459}"/>
              </a:ext>
            </a:extLst>
          </p:cNvPr>
          <p:cNvSpPr>
            <a:spLocks noGrp="1"/>
          </p:cNvSpPr>
          <p:nvPr>
            <p:ph type="title"/>
          </p:nvPr>
        </p:nvSpPr>
        <p:spPr/>
        <p:txBody>
          <a:bodyPr/>
          <a:lstStyle/>
          <a:p>
            <a:r>
              <a:rPr lang="en-US" dirty="0" err="1">
                <a:solidFill>
                  <a:srgbClr val="C00000"/>
                </a:solidFill>
              </a:rPr>
              <a:t>Derandomization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540E2E-D6B6-4C8A-7E7C-1D758C55C39D}"/>
                  </a:ext>
                </a:extLst>
              </p:cNvPr>
              <p:cNvSpPr>
                <a:spLocks noGrp="1"/>
              </p:cNvSpPr>
              <p:nvPr>
                <p:ph idx="1"/>
              </p:nvPr>
            </p:nvSpPr>
            <p:spPr/>
            <p:txBody>
              <a:bodyPr>
                <a:normAutofit/>
              </a:bodyPr>
              <a:lstStyle/>
              <a:p>
                <a:pPr>
                  <a:buClr>
                    <a:schemeClr val="tx1"/>
                  </a:buClr>
                </a:pPr>
                <a:r>
                  <a:rPr lang="en-US" sz="3200" dirty="0">
                    <a:solidFill>
                      <a:srgbClr val="00B050"/>
                    </a:solidFill>
                  </a:rPr>
                  <a:t>Hybrid argument</a:t>
                </a:r>
                <a:r>
                  <a:rPr lang="en-US" sz="3200" dirty="0"/>
                  <a:t>: Separately derandomize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𝑔</m:t>
                        </m:r>
                      </m:sub>
                    </m:sSub>
                  </m:oMath>
                </a14:m>
                <a:r>
                  <a:rPr lang="en-US" sz="3200" dirty="0"/>
                  <a:t>,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𝑒</m:t>
                        </m:r>
                      </m:sub>
                    </m:sSub>
                  </m:oMath>
                </a14:m>
                <a:r>
                  <a:rPr lang="en-US" sz="3200" dirty="0"/>
                  <a:t>,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𝑡</m:t>
                        </m:r>
                      </m:sub>
                    </m:sSub>
                  </m:oMath>
                </a14:m>
                <a:r>
                  <a:rPr lang="en-US" sz="3200" dirty="0"/>
                  <a:t> </a:t>
                </a:r>
              </a:p>
              <a:p>
                <a:pPr>
                  <a:buClr>
                    <a:schemeClr val="tx1"/>
                  </a:buClr>
                </a:pPr>
                <a:r>
                  <a:rPr lang="en-US" sz="3200" b="0" dirty="0"/>
                  <a:t>A PRG that fools large sets of half-space testers can fool the tester for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𝑔</m:t>
                        </m:r>
                      </m:sub>
                    </m:sSub>
                  </m:oMath>
                </a14:m>
                <a:r>
                  <a:rPr lang="en-US" sz="3200" dirty="0"/>
                  <a:t> </a:t>
                </a:r>
                <a:r>
                  <a:rPr lang="en-US" sz="3200" dirty="0">
                    <a:solidFill>
                      <a:srgbClr val="0070C0"/>
                    </a:solidFill>
                  </a:rPr>
                  <a:t>[GopalanKaneMeka18]</a:t>
                </a:r>
              </a:p>
              <a:p>
                <a:pPr>
                  <a:buClr>
                    <a:schemeClr val="tx1"/>
                  </a:buClr>
                </a:pPr>
                <a:r>
                  <a:rPr lang="en-US" sz="3200" dirty="0"/>
                  <a:t>A PRG that fools linear threshold functions for the largest </a:t>
                </a:r>
                <a:r>
                  <a:rPr lang="en-US" sz="3200" dirty="0" err="1"/>
                  <a:t>scalings</a:t>
                </a:r>
                <a:r>
                  <a:rPr lang="en-US" sz="3200" dirty="0"/>
                  <a:t> can fool the tester for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𝑒</m:t>
                        </m:r>
                      </m:sub>
                    </m:sSub>
                  </m:oMath>
                </a14:m>
                <a:r>
                  <a:rPr lang="en-US" sz="3200" dirty="0"/>
                  <a:t> </a:t>
                </a:r>
                <a:r>
                  <a:rPr lang="en-US" sz="3200" dirty="0">
                    <a:solidFill>
                      <a:srgbClr val="0070C0"/>
                    </a:solidFill>
                  </a:rPr>
                  <a:t>[JayaramWoodruff18]</a:t>
                </a:r>
                <a:endParaRPr lang="en-US" sz="3200" dirty="0"/>
              </a:p>
              <a:p>
                <a:pPr>
                  <a:buClr>
                    <a:schemeClr val="tx1"/>
                  </a:buClr>
                </a:pPr>
                <a:r>
                  <a:rPr lang="en-US" sz="3200" dirty="0"/>
                  <a:t>A PRG that fools Fourier shapes for the TVD on the CDF’s domain can fool </a:t>
                </a:r>
                <a14:m>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𝑅</m:t>
                        </m:r>
                      </m:e>
                      <m:sub>
                        <m:r>
                          <a:rPr lang="en-US" sz="3200" b="0" i="1" smtClean="0">
                            <a:solidFill>
                              <a:srgbClr val="C00000"/>
                            </a:solidFill>
                            <a:latin typeface="Cambria Math" panose="02040503050406030204" pitchFamily="18" charset="0"/>
                          </a:rPr>
                          <m:t>𝑡</m:t>
                        </m:r>
                      </m:sub>
                    </m:sSub>
                  </m:oMath>
                </a14:m>
                <a:r>
                  <a:rPr lang="en-US" sz="3200" dirty="0"/>
                  <a:t> </a:t>
                </a:r>
                <a:r>
                  <a:rPr lang="en-US" sz="3200" dirty="0">
                    <a:solidFill>
                      <a:srgbClr val="0070C0"/>
                    </a:solidFill>
                  </a:rPr>
                  <a:t>[</a:t>
                </a:r>
                <a:r>
                  <a:rPr lang="en-US" sz="3200">
                    <a:solidFill>
                      <a:srgbClr val="0070C0"/>
                    </a:solidFill>
                  </a:rPr>
                  <a:t>GopalanKaneMeka18]</a:t>
                </a:r>
                <a:endParaRPr lang="en-US" sz="3200" dirty="0">
                  <a:solidFill>
                    <a:srgbClr val="0070C0"/>
                  </a:solidFill>
                </a:endParaRPr>
              </a:p>
            </p:txBody>
          </p:sp>
        </mc:Choice>
        <mc:Fallback>
          <p:sp>
            <p:nvSpPr>
              <p:cNvPr id="3" name="Content Placeholder 2">
                <a:extLst>
                  <a:ext uri="{FF2B5EF4-FFF2-40B4-BE49-F238E27FC236}">
                    <a16:creationId xmlns:a16="http://schemas.microsoft.com/office/drawing/2014/main" id="{74540E2E-D6B6-4C8A-7E7C-1D758C55C39D}"/>
                  </a:ext>
                </a:extLst>
              </p:cNvPr>
              <p:cNvSpPr>
                <a:spLocks noGrp="1" noRot="1" noChangeAspect="1" noMove="1" noResize="1" noEditPoints="1" noAdjustHandles="1" noChangeArrowheads="1" noChangeShapeType="1" noTextEdit="1"/>
              </p:cNvSpPr>
              <p:nvPr>
                <p:ph idx="1"/>
              </p:nvPr>
            </p:nvSpPr>
            <p:spPr>
              <a:blipFill>
                <a:blip r:embed="rId3"/>
                <a:stretch>
                  <a:fillRect l="-1333" t="-2521"/>
                </a:stretch>
              </a:blipFill>
            </p:spPr>
            <p:txBody>
              <a:bodyPr/>
              <a:lstStyle/>
              <a:p>
                <a:r>
                  <a:rPr lang="en-US">
                    <a:noFill/>
                  </a:rPr>
                  <a:t> </a:t>
                </a:r>
              </a:p>
            </p:txBody>
          </p:sp>
        </mc:Fallback>
      </mc:AlternateContent>
    </p:spTree>
    <p:extLst>
      <p:ext uri="{BB962C8B-B14F-4D97-AF65-F5344CB8AC3E}">
        <p14:creationId xmlns:p14="http://schemas.microsoft.com/office/powerpoint/2010/main" val="3190477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420</Words>
  <Application>Microsoft Office PowerPoint</Application>
  <PresentationFormat>Widescreen</PresentationFormat>
  <Paragraphs>23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Cambria Math</vt:lpstr>
      <vt:lpstr>Office Theme</vt:lpstr>
      <vt:lpstr>Derandomization</vt:lpstr>
      <vt:lpstr>Derandomization</vt:lpstr>
      <vt:lpstr>Derandomization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Samson Zhou</dc:creator>
  <cp:lastModifiedBy>Samson Zhou</cp:lastModifiedBy>
  <cp:revision>1</cp:revision>
  <dcterms:created xsi:type="dcterms:W3CDTF">2025-12-15T04:26:39Z</dcterms:created>
  <dcterms:modified xsi:type="dcterms:W3CDTF">2025-12-15T05:22:10Z</dcterms:modified>
</cp:coreProperties>
</file>