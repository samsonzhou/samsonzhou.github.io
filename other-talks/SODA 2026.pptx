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7" r:id="rId2"/>
    <p:sldId id="289" r:id="rId3"/>
    <p:sldId id="293" r:id="rId4"/>
    <p:sldId id="294" r:id="rId5"/>
    <p:sldId id="295" r:id="rId6"/>
    <p:sldId id="299" r:id="rId7"/>
    <p:sldId id="290" r:id="rId8"/>
    <p:sldId id="300" r:id="rId9"/>
    <p:sldId id="304" r:id="rId10"/>
    <p:sldId id="322" r:id="rId11"/>
    <p:sldId id="305" r:id="rId12"/>
    <p:sldId id="323" r:id="rId13"/>
    <p:sldId id="258" r:id="rId14"/>
    <p:sldId id="307" r:id="rId15"/>
    <p:sldId id="309" r:id="rId16"/>
    <p:sldId id="291" r:id="rId17"/>
    <p:sldId id="310" r:id="rId18"/>
    <p:sldId id="311" r:id="rId19"/>
    <p:sldId id="312" r:id="rId20"/>
    <p:sldId id="313" r:id="rId21"/>
    <p:sldId id="314" r:id="rId22"/>
    <p:sldId id="320" r:id="rId23"/>
    <p:sldId id="315" r:id="rId24"/>
    <p:sldId id="292" r:id="rId25"/>
    <p:sldId id="318" r:id="rId26"/>
    <p:sldId id="319" r:id="rId27"/>
    <p:sldId id="321" r:id="rId28"/>
    <p:sldId id="301" r:id="rId29"/>
    <p:sldId id="306" r:id="rId30"/>
    <p:sldId id="30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38B3B9-8E5D-4915-BD1F-560EDF1323DA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0CE53B-9A48-4112-BF8D-833B32DC6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78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23bb96f40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23bb96f40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C8F4864-153B-1E3D-6E58-CF021978B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23bb96f400_0_1:notes">
            <a:extLst>
              <a:ext uri="{FF2B5EF4-FFF2-40B4-BE49-F238E27FC236}">
                <a16:creationId xmlns:a16="http://schemas.microsoft.com/office/drawing/2014/main" id="{39A9A62E-38BB-34D3-26B4-0F724FF346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23bb96f400_0_1:notes">
            <a:extLst>
              <a:ext uri="{FF2B5EF4-FFF2-40B4-BE49-F238E27FC236}">
                <a16:creationId xmlns:a16="http://schemas.microsoft.com/office/drawing/2014/main" id="{1D548732-7636-4F19-E777-FF621AF0DB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2597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A28C6E5E-2287-B7D8-A2BF-2E4B8B771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23bb96f400_0_1:notes">
            <a:extLst>
              <a:ext uri="{FF2B5EF4-FFF2-40B4-BE49-F238E27FC236}">
                <a16:creationId xmlns:a16="http://schemas.microsoft.com/office/drawing/2014/main" id="{C957CB32-3E96-4176-73F4-0A89120A64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23bb96f400_0_1:notes">
            <a:extLst>
              <a:ext uri="{FF2B5EF4-FFF2-40B4-BE49-F238E27FC236}">
                <a16:creationId xmlns:a16="http://schemas.microsoft.com/office/drawing/2014/main" id="{A1F00C02-C82E-2F73-F8D5-94CFA5A3A5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3872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5A0186BF-8800-D23E-F410-AB3F53EC2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23bb96f400_0_1:notes">
            <a:extLst>
              <a:ext uri="{FF2B5EF4-FFF2-40B4-BE49-F238E27FC236}">
                <a16:creationId xmlns:a16="http://schemas.microsoft.com/office/drawing/2014/main" id="{90305FED-5656-A322-BCE3-B264CF8627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23bb96f400_0_1:notes">
            <a:extLst>
              <a:ext uri="{FF2B5EF4-FFF2-40B4-BE49-F238E27FC236}">
                <a16:creationId xmlns:a16="http://schemas.microsoft.com/office/drawing/2014/main" id="{A657D254-F9AA-0F9D-619C-69EC40131D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720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B182D4A-E58C-43AF-A681-8779D50F6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23bb96f400_0_1:notes">
            <a:extLst>
              <a:ext uri="{FF2B5EF4-FFF2-40B4-BE49-F238E27FC236}">
                <a16:creationId xmlns:a16="http://schemas.microsoft.com/office/drawing/2014/main" id="{50746148-B2BB-22DB-D84D-574B0C59BC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23bb96f400_0_1:notes">
            <a:extLst>
              <a:ext uri="{FF2B5EF4-FFF2-40B4-BE49-F238E27FC236}">
                <a16:creationId xmlns:a16="http://schemas.microsoft.com/office/drawing/2014/main" id="{5973DC0A-4A43-11FB-7384-84E6BD02EC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4752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78FA766E-EA32-0557-5BFD-5784161E6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23bb96f400_0_1:notes">
            <a:extLst>
              <a:ext uri="{FF2B5EF4-FFF2-40B4-BE49-F238E27FC236}">
                <a16:creationId xmlns:a16="http://schemas.microsoft.com/office/drawing/2014/main" id="{5C7F884F-D2AA-8D2C-0EE2-EC99AF3E36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23bb96f400_0_1:notes">
            <a:extLst>
              <a:ext uri="{FF2B5EF4-FFF2-40B4-BE49-F238E27FC236}">
                <a16:creationId xmlns:a16="http://schemas.microsoft.com/office/drawing/2014/main" id="{F5224A3C-C75B-6476-3376-73F4EFC337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2754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16806902-7035-FDA6-F19C-9E0B4D83C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23bb96f400_0_1:notes">
            <a:extLst>
              <a:ext uri="{FF2B5EF4-FFF2-40B4-BE49-F238E27FC236}">
                <a16:creationId xmlns:a16="http://schemas.microsoft.com/office/drawing/2014/main" id="{2AE193A4-3B93-61BD-A8EB-10D4CF0D80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23bb96f400_0_1:notes">
            <a:extLst>
              <a:ext uri="{FF2B5EF4-FFF2-40B4-BE49-F238E27FC236}">
                <a16:creationId xmlns:a16="http://schemas.microsoft.com/office/drawing/2014/main" id="{458DAF47-AE90-A292-DAEB-5B16474B78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317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We need good estimates at all times to ensure best expert stays in pool / bad experts are evicted from pool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CE53B-9A48-4112-BF8D-833B32DC627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657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FB410-79C6-124B-9BBE-54C680BC50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147733-F342-7A19-610A-CC665050AB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8BA5A-610E-F494-9FB1-02F9C66BF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43E69-C83C-483A-87B8-C8AE9230D59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E519D-7E40-33D3-A978-2B132F940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3FFFC-9454-25EE-81F5-4453AEDE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FA25A-8D26-44CA-8BC5-F41C1E7AA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65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C833F-A5B0-A68D-7683-4095F4888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5D9A2-7607-DC38-E05A-22550DA35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993A6-09E0-CF46-169A-964AE8156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43E69-C83C-483A-87B8-C8AE9230D59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68E75-B475-6456-6C9D-1C913D829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EE21F-C01B-08AD-9C7C-8F1E3F984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FA25A-8D26-44CA-8BC5-F41C1E7AA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0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00927-121B-2B3E-A3B9-03BF1D458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A3160-EA0D-CB7A-8F8C-76CE58E79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345C7-F545-A5A6-9548-F7C387D23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43E69-C83C-483A-87B8-C8AE9230D59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359FF-C9E4-C750-F130-C0CBD291B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E03A3-6272-B764-50AF-98E9CD0DA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FA25A-8D26-44CA-8BC5-F41C1E7AA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076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655D4-1B10-1FB4-6F73-459BF916C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A72E8-F352-524A-247B-61AE45AC6B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CB8A98-5460-F855-62A9-D7D02EBD1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A76C1-79DB-57C3-EE21-F5D80AFFC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43E69-C83C-483A-87B8-C8AE9230D59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0AC8C-B26D-FF90-A180-59D22C853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78A4B-3B68-2097-DD51-6121B540C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FA25A-8D26-44CA-8BC5-F41C1E7AA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79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571B7-34C2-ECC9-BA7B-BC53A6F03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272C2-13D3-F45F-94A5-6C3B9183E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BAE8C2-0992-F5E9-9627-60F7D4ABD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B007BD-F417-F284-0F39-668B0CA021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6FAE61-118E-072A-9E12-743D822FFA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4FC88C-2ADB-72F9-93E7-B92C875B5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43E69-C83C-483A-87B8-C8AE9230D59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436D38-C868-8937-C789-E26D52AEC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AECD45-9D38-FE02-E5D2-DBCB4BE69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FA25A-8D26-44CA-8BC5-F41C1E7AA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904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64C61-433B-C4C6-1A8D-4061FFACB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A1B1D5-3E24-59C1-4EF0-9037C865E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43E69-C83C-483A-87B8-C8AE9230D59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2575A5-8EA6-657D-052C-A4B44A8DC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261022-B2FF-9A8B-1CD1-0AC383CA8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FA25A-8D26-44CA-8BC5-F41C1E7AA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949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F0F06A-BA78-EB76-E454-217EA6821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43E69-C83C-483A-87B8-C8AE9230D59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ABB990-8F35-4573-6BCB-B68287036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9F3CD-4231-5C96-8F82-9FA1970C1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FA25A-8D26-44CA-8BC5-F41C1E7AA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95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6555A-E859-45E8-13C1-747F3F9C1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8A4DC-8488-E92F-524A-69AF4C82D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665C0-12F0-C14A-EE9C-E45A88549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495DF-6E5B-502C-E403-9E43532B9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43E69-C83C-483A-87B8-C8AE9230D59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162CE4-5377-5BB7-9710-C2E46E017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BBE27-6022-9A90-CB30-980F91B59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FA25A-8D26-44CA-8BC5-F41C1E7AA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437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8EBDF-4D69-888C-3B9A-AAC82884A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216F7C-A2C5-7416-66FA-B46CD705A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0DCBA7-D315-696A-AFF3-4D6C9B4B8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06526-85B0-9A68-B903-ABD0EF604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43E69-C83C-483A-87B8-C8AE9230D59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3DF0AF-34BC-9A37-8F9A-E332827DF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44361-45EF-2234-7D36-8D1F08355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FA25A-8D26-44CA-8BC5-F41C1E7AA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072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6BA62-F68D-5FA4-6C07-F311CEDCA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09AEF6-4A73-7BC3-9C42-507E8C8C4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4DEB8-CAA3-8C73-9E10-706A748A9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43E69-C83C-483A-87B8-C8AE9230D59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3CC20-038C-07F7-152A-B8D9890E9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79340-D339-2ABB-473B-322570181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FA25A-8D26-44CA-8BC5-F41C1E7AA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017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9A5603-C922-6DED-7CE8-FADD54A861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5B653C-A509-9D89-8AC7-78D8F392A0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E900F-EE60-3F53-1E55-09C63CDA8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43E69-C83C-483A-87B8-C8AE9230D59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8DD4B-48B2-04EA-C46D-CF8359250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18D9F-C9AA-D26E-D049-85ADE0D79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FA25A-8D26-44CA-8BC5-F41C1E7AA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414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62391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C65833-00B8-F3BB-1FE3-CB759614B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089D5-79B8-628B-3999-C72244DD1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C14C1-56C7-D1D5-1AE0-9F212D8E0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243E69-C83C-483A-87B8-C8AE9230D59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2E220-A6EC-FAA5-4435-D05BD67E93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48ED3-47A9-8E8D-08A1-6A4E6CBA7C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FA25A-8D26-44CA-8BC5-F41C1E7AA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03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jpe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12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1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10" Type="http://schemas.openxmlformats.org/officeDocument/2006/relationships/image" Target="../media/image10.png"/><Relationship Id="rId4" Type="http://schemas.openxmlformats.org/officeDocument/2006/relationships/image" Target="../media/image13.png"/><Relationship Id="rId9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1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10" Type="http://schemas.openxmlformats.org/officeDocument/2006/relationships/image" Target="../media/image10.png"/><Relationship Id="rId4" Type="http://schemas.openxmlformats.org/officeDocument/2006/relationships/image" Target="../media/image13.png"/><Relationship Id="rId9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1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10" Type="http://schemas.openxmlformats.org/officeDocument/2006/relationships/image" Target="../media/image10.png"/><Relationship Id="rId4" Type="http://schemas.openxmlformats.org/officeDocument/2006/relationships/image" Target="../media/image13.png"/><Relationship Id="rId9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1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13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1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57016-3150-422D-BDF4-D46B070C6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641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Online Learning with Limited Information in the Sliding Window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537D36-8F95-4A5A-8460-45FA8B3F8D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1601" y="2774016"/>
            <a:ext cx="5308797" cy="2841673"/>
          </a:xfrm>
        </p:spPr>
        <p:txBody>
          <a:bodyPr>
            <a:noAutofit/>
          </a:bodyPr>
          <a:lstStyle/>
          <a:p>
            <a:r>
              <a:rPr lang="en-US" sz="3000" dirty="0"/>
              <a:t>Vladimir Braverman</a:t>
            </a:r>
          </a:p>
          <a:p>
            <a:r>
              <a:rPr lang="en-US" sz="3000" dirty="0"/>
              <a:t>Sumegha Garg</a:t>
            </a:r>
          </a:p>
          <a:p>
            <a:r>
              <a:rPr lang="en-US" sz="3000" dirty="0"/>
              <a:t>Chen Wang</a:t>
            </a:r>
          </a:p>
          <a:p>
            <a:r>
              <a:rPr lang="en-US" sz="3000" dirty="0"/>
              <a:t>David P. Woodruff</a:t>
            </a:r>
          </a:p>
          <a:p>
            <a:r>
              <a:rPr lang="en-US" sz="3000" dirty="0">
                <a:solidFill>
                  <a:srgbClr val="FF0000"/>
                </a:solidFill>
              </a:rPr>
              <a:t>Samson Zhou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7AB9DA-AEC7-41A5-B587-BFEE033F68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1499" y="4545586"/>
            <a:ext cx="1655762" cy="1655762"/>
          </a:xfrm>
          <a:prstGeom prst="rect">
            <a:avLst/>
          </a:prstGeom>
        </p:spPr>
      </p:pic>
      <p:pic>
        <p:nvPicPr>
          <p:cNvPr id="1028" name="Picture 4" descr="Chen Wang">
            <a:extLst>
              <a:ext uri="{FF2B5EF4-FFF2-40B4-BE49-F238E27FC236}">
                <a16:creationId xmlns:a16="http://schemas.microsoft.com/office/drawing/2014/main" id="{CCCCC7A4-AF90-BA2D-3AA2-5D1091F56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460892"/>
            <a:ext cx="1149769" cy="165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FA8F8D5-D1DB-28FD-DA35-8653545E7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1499" y="2301987"/>
            <a:ext cx="1655762" cy="1625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icture">
            <a:extLst>
              <a:ext uri="{FF2B5EF4-FFF2-40B4-BE49-F238E27FC236}">
                <a16:creationId xmlns:a16="http://schemas.microsoft.com/office/drawing/2014/main" id="{1D471859-0082-281E-BCA2-648149326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380" y="2270952"/>
            <a:ext cx="1472232" cy="1472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1956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1849271" y="1323245"/>
            <a:ext cx="8520600" cy="7635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Fundamental Problem of </a:t>
            </a:r>
            <a:r>
              <a:rPr lang="en" b="1" dirty="0">
                <a:solidFill>
                  <a:srgbClr val="EF5000"/>
                </a:solidFill>
              </a:rPr>
              <a:t>Sequential Prediction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1030662" y="2348841"/>
            <a:ext cx="9477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 dirty="0"/>
              <a:t>Day</a:t>
            </a:r>
            <a:endParaRPr sz="3000" b="1" dirty="0"/>
          </a:p>
        </p:txBody>
      </p:sp>
      <p:sp>
        <p:nvSpPr>
          <p:cNvPr id="68" name="Google Shape;68;p14"/>
          <p:cNvSpPr txBox="1"/>
          <p:nvPr/>
        </p:nvSpPr>
        <p:spPr>
          <a:xfrm>
            <a:off x="8089283" y="2348841"/>
            <a:ext cx="878562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/>
              <a:t>You</a:t>
            </a:r>
            <a:endParaRPr sz="3000" b="1"/>
          </a:p>
        </p:txBody>
      </p:sp>
      <p:sp>
        <p:nvSpPr>
          <p:cNvPr id="69" name="Google Shape;69;p14"/>
          <p:cNvSpPr txBox="1"/>
          <p:nvPr/>
        </p:nvSpPr>
        <p:spPr>
          <a:xfrm>
            <a:off x="9402644" y="2348841"/>
            <a:ext cx="17529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 dirty="0"/>
              <a:t>Outcome</a:t>
            </a:r>
            <a:endParaRPr sz="3000" b="1" dirty="0"/>
          </a:p>
        </p:txBody>
      </p:sp>
      <p:sp>
        <p:nvSpPr>
          <p:cNvPr id="70" name="Google Shape;70;p14"/>
          <p:cNvSpPr txBox="1"/>
          <p:nvPr/>
        </p:nvSpPr>
        <p:spPr>
          <a:xfrm>
            <a:off x="1286634" y="3609796"/>
            <a:ext cx="5202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/>
              <a:t>1</a:t>
            </a:r>
            <a:endParaRPr sz="3000" b="1"/>
          </a:p>
        </p:txBody>
      </p:sp>
      <p:sp>
        <p:nvSpPr>
          <p:cNvPr id="76" name="Google Shape;76;p14"/>
          <p:cNvSpPr txBox="1"/>
          <p:nvPr/>
        </p:nvSpPr>
        <p:spPr>
          <a:xfrm>
            <a:off x="1185534" y="4598846"/>
            <a:ext cx="7224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/>
              <a:t>2</a:t>
            </a:r>
            <a:endParaRPr sz="3000" b="1"/>
          </a:p>
        </p:txBody>
      </p:sp>
      <p:sp>
        <p:nvSpPr>
          <p:cNvPr id="81" name="Google Shape;81;p14"/>
          <p:cNvSpPr txBox="1"/>
          <p:nvPr/>
        </p:nvSpPr>
        <p:spPr>
          <a:xfrm>
            <a:off x="1185534" y="5587896"/>
            <a:ext cx="7224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/>
              <a:t>3</a:t>
            </a:r>
            <a:endParaRPr sz="3000" b="1"/>
          </a:p>
        </p:txBody>
      </p:sp>
      <p:sp>
        <p:nvSpPr>
          <p:cNvPr id="94" name="Google Shape;94;p14"/>
          <p:cNvSpPr txBox="1"/>
          <p:nvPr/>
        </p:nvSpPr>
        <p:spPr>
          <a:xfrm>
            <a:off x="8028082" y="3638987"/>
            <a:ext cx="10347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 dirty="0">
                <a:solidFill>
                  <a:srgbClr val="598E00"/>
                </a:solidFill>
              </a:rPr>
              <a:t>?</a:t>
            </a:r>
            <a:endParaRPr sz="3000" b="1" dirty="0">
              <a:solidFill>
                <a:srgbClr val="598E00"/>
              </a:solidFill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8028082" y="4628037"/>
            <a:ext cx="10347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 dirty="0">
                <a:solidFill>
                  <a:srgbClr val="598E00"/>
                </a:solidFill>
              </a:rPr>
              <a:t>?</a:t>
            </a:r>
            <a:endParaRPr sz="3000" b="1" dirty="0">
              <a:solidFill>
                <a:srgbClr val="598E00"/>
              </a:solidFill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8028082" y="5565237"/>
            <a:ext cx="10347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>
                <a:solidFill>
                  <a:srgbClr val="598E00"/>
                </a:solidFill>
              </a:rPr>
              <a:t>?</a:t>
            </a:r>
            <a:endParaRPr sz="3000" b="1">
              <a:solidFill>
                <a:srgbClr val="598E00"/>
              </a:solidFill>
            </a:endParaRP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3A304BFF-2F2D-4D81-B3D6-0B6D0EFE5AE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>
                <a:solidFill>
                  <a:srgbClr val="C00000"/>
                </a:solidFill>
              </a:rPr>
              <a:t>Online Learning with Experts</a:t>
            </a:r>
          </a:p>
        </p:txBody>
      </p:sp>
      <p:pic>
        <p:nvPicPr>
          <p:cNvPr id="2052" name="Picture 4" descr="Albert Einstein Thinking Cartoon ...">
            <a:extLst>
              <a:ext uri="{FF2B5EF4-FFF2-40B4-BE49-F238E27FC236}">
                <a16:creationId xmlns:a16="http://schemas.microsoft.com/office/drawing/2014/main" id="{4C541916-40AC-D082-1E8B-16A0DD178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832" y="2036959"/>
            <a:ext cx="621325" cy="1486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ow to Draw Gandalf - Really Easy ...">
            <a:extLst>
              <a:ext uri="{FF2B5EF4-FFF2-40B4-BE49-F238E27FC236}">
                <a16:creationId xmlns:a16="http://schemas.microsoft.com/office/drawing/2014/main" id="{9B70A0AD-6262-A385-FD0D-9102F0B53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478" y="2159131"/>
            <a:ext cx="1091071" cy="1292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0" descr="Lisa Simpson - Wikipedia">
            <a:extLst>
              <a:ext uri="{FF2B5EF4-FFF2-40B4-BE49-F238E27FC236}">
                <a16:creationId xmlns:a16="http://schemas.microsoft.com/office/drawing/2014/main" id="{246DA7FA-04AE-EAAE-47C8-2CDF4DD98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980" y="2138613"/>
            <a:ext cx="852456" cy="1385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freetoedit #picsart #starwars #disney ...">
            <a:extLst>
              <a:ext uri="{FF2B5EF4-FFF2-40B4-BE49-F238E27FC236}">
                <a16:creationId xmlns:a16="http://schemas.microsoft.com/office/drawing/2014/main" id="{139CCC9D-5C59-4E79-020B-BC24F26CA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2029" y="2272059"/>
            <a:ext cx="910005" cy="1156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Scroll - Free vector clipart images on ...">
            <a:extLst>
              <a:ext uri="{FF2B5EF4-FFF2-40B4-BE49-F238E27FC236}">
                <a16:creationId xmlns:a16="http://schemas.microsoft.com/office/drawing/2014/main" id="{4C497FFD-9965-B5C6-6232-5C3F0DC08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832" y="3685628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4" descr="Scroll - Free vector clipart images on ...">
            <a:extLst>
              <a:ext uri="{FF2B5EF4-FFF2-40B4-BE49-F238E27FC236}">
                <a16:creationId xmlns:a16="http://schemas.microsoft.com/office/drawing/2014/main" id="{8F16C3D3-2CB1-59C5-9DD9-87DE04961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832" y="4628037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Scroll - Free vector clipart images on ...">
            <a:extLst>
              <a:ext uri="{FF2B5EF4-FFF2-40B4-BE49-F238E27FC236}">
                <a16:creationId xmlns:a16="http://schemas.microsoft.com/office/drawing/2014/main" id="{38C318C9-648C-8F87-0556-B053374A0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832" y="5574099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Scroll - Free vector clipart images on ...">
            <a:extLst>
              <a:ext uri="{FF2B5EF4-FFF2-40B4-BE49-F238E27FC236}">
                <a16:creationId xmlns:a16="http://schemas.microsoft.com/office/drawing/2014/main" id="{6B7A87E5-BDE7-6EAB-FFDD-61A2FC299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9030" y="3685628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4" descr="Scroll - Free vector clipart images on ...">
            <a:extLst>
              <a:ext uri="{FF2B5EF4-FFF2-40B4-BE49-F238E27FC236}">
                <a16:creationId xmlns:a16="http://schemas.microsoft.com/office/drawing/2014/main" id="{9E9B3A67-7398-FC79-EE50-42F6CBFCB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9030" y="4628037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Scroll - Free vector clipart images on ...">
            <a:extLst>
              <a:ext uri="{FF2B5EF4-FFF2-40B4-BE49-F238E27FC236}">
                <a16:creationId xmlns:a16="http://schemas.microsoft.com/office/drawing/2014/main" id="{BA4E84FC-89B5-0667-1B89-9DBF5EF95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9030" y="5574099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Scroll - Free vector clipart images on ...">
            <a:extLst>
              <a:ext uri="{FF2B5EF4-FFF2-40B4-BE49-F238E27FC236}">
                <a16:creationId xmlns:a16="http://schemas.microsoft.com/office/drawing/2014/main" id="{E6C5601F-72EB-77F9-1C9C-9079F350C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203" y="3685628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Scroll - Free vector clipart images on ...">
            <a:extLst>
              <a:ext uri="{FF2B5EF4-FFF2-40B4-BE49-F238E27FC236}">
                <a16:creationId xmlns:a16="http://schemas.microsoft.com/office/drawing/2014/main" id="{5EAC5A2E-A636-34AF-B5A2-23DDEA7B9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203" y="4628037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 descr="Scroll - Free vector clipart images on ...">
            <a:extLst>
              <a:ext uri="{FF2B5EF4-FFF2-40B4-BE49-F238E27FC236}">
                <a16:creationId xmlns:a16="http://schemas.microsoft.com/office/drawing/2014/main" id="{51F2F725-BC42-F193-74A6-D139762B4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203" y="5574099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4" descr="Scroll - Free vector clipart images on ...">
            <a:extLst>
              <a:ext uri="{FF2B5EF4-FFF2-40B4-BE49-F238E27FC236}">
                <a16:creationId xmlns:a16="http://schemas.microsoft.com/office/drawing/2014/main" id="{33D61271-348B-7B99-F13C-4078A6F83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981" y="3685628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4" descr="Scroll - Free vector clipart images on ...">
            <a:extLst>
              <a:ext uri="{FF2B5EF4-FFF2-40B4-BE49-F238E27FC236}">
                <a16:creationId xmlns:a16="http://schemas.microsoft.com/office/drawing/2014/main" id="{F754B883-1BCE-5DA1-78C4-018445A014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981" y="4628037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Scroll - Free vector clipart images on ...">
            <a:extLst>
              <a:ext uri="{FF2B5EF4-FFF2-40B4-BE49-F238E27FC236}">
                <a16:creationId xmlns:a16="http://schemas.microsoft.com/office/drawing/2014/main" id="{FAEFBAD9-68A1-6824-F2BD-FCF79BE42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981" y="5574099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Left Brace 1">
            <a:extLst>
              <a:ext uri="{FF2B5EF4-FFF2-40B4-BE49-F238E27FC236}">
                <a16:creationId xmlns:a16="http://schemas.microsoft.com/office/drawing/2014/main" id="{DE553C71-0C96-9A8C-01EA-D4FFBB2756AB}"/>
              </a:ext>
            </a:extLst>
          </p:cNvPr>
          <p:cNvSpPr/>
          <p:nvPr/>
        </p:nvSpPr>
        <p:spPr>
          <a:xfrm>
            <a:off x="590213" y="3523854"/>
            <a:ext cx="497467" cy="2611225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0169FBA-3D68-3C4E-7CB6-EF2719BEFEF3}"/>
                  </a:ext>
                </a:extLst>
              </p:cNvPr>
              <p:cNvSpPr txBox="1"/>
              <p:nvPr/>
            </p:nvSpPr>
            <p:spPr>
              <a:xfrm>
                <a:off x="176955" y="4573744"/>
                <a:ext cx="4286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0169FBA-3D68-3C4E-7CB6-EF2719BEF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955" y="4573744"/>
                <a:ext cx="428608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Brace 16">
            <a:extLst>
              <a:ext uri="{FF2B5EF4-FFF2-40B4-BE49-F238E27FC236}">
                <a16:creationId xmlns:a16="http://schemas.microsoft.com/office/drawing/2014/main" id="{797FF0D1-F85F-3EC4-1325-ECD22234FC53}"/>
              </a:ext>
            </a:extLst>
          </p:cNvPr>
          <p:cNvSpPr/>
          <p:nvPr/>
        </p:nvSpPr>
        <p:spPr>
          <a:xfrm rot="5400000">
            <a:off x="4727495" y="4138190"/>
            <a:ext cx="339665" cy="4369706"/>
          </a:xfrm>
          <a:prstGeom prst="righ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A7A2EF2-9682-9E2B-3838-03A08C7BF259}"/>
                  </a:ext>
                </a:extLst>
              </p:cNvPr>
              <p:cNvSpPr txBox="1"/>
              <p:nvPr/>
            </p:nvSpPr>
            <p:spPr>
              <a:xfrm>
                <a:off x="4702372" y="6329051"/>
                <a:ext cx="4286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A7A2EF2-9682-9E2B-3838-03A08C7BF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2372" y="6329051"/>
                <a:ext cx="428608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Google Shape;95;p14">
            <a:extLst>
              <a:ext uri="{FF2B5EF4-FFF2-40B4-BE49-F238E27FC236}">
                <a16:creationId xmlns:a16="http://schemas.microsoft.com/office/drawing/2014/main" id="{C1A4987C-F061-BFF9-B23E-F564BDD73CCC}"/>
              </a:ext>
            </a:extLst>
          </p:cNvPr>
          <p:cNvSpPr txBox="1"/>
          <p:nvPr/>
        </p:nvSpPr>
        <p:spPr>
          <a:xfrm>
            <a:off x="9854767" y="3609796"/>
            <a:ext cx="10347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 dirty="0">
                <a:solidFill>
                  <a:srgbClr val="598E00"/>
                </a:solidFill>
              </a:rPr>
              <a:t>?</a:t>
            </a:r>
            <a:endParaRPr sz="3000" b="1" dirty="0">
              <a:solidFill>
                <a:srgbClr val="598E00"/>
              </a:solidFill>
            </a:endParaRPr>
          </a:p>
        </p:txBody>
      </p:sp>
      <p:sp>
        <p:nvSpPr>
          <p:cNvPr id="20" name="Google Shape;95;p14">
            <a:extLst>
              <a:ext uri="{FF2B5EF4-FFF2-40B4-BE49-F238E27FC236}">
                <a16:creationId xmlns:a16="http://schemas.microsoft.com/office/drawing/2014/main" id="{AC702C54-D329-E529-F973-B70745F3F442}"/>
              </a:ext>
            </a:extLst>
          </p:cNvPr>
          <p:cNvSpPr txBox="1"/>
          <p:nvPr/>
        </p:nvSpPr>
        <p:spPr>
          <a:xfrm>
            <a:off x="9854767" y="4628037"/>
            <a:ext cx="10347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 dirty="0">
                <a:solidFill>
                  <a:srgbClr val="598E00"/>
                </a:solidFill>
              </a:rPr>
              <a:t>?</a:t>
            </a:r>
            <a:endParaRPr sz="3000" b="1" dirty="0">
              <a:solidFill>
                <a:srgbClr val="598E00"/>
              </a:solidFill>
            </a:endParaRPr>
          </a:p>
        </p:txBody>
      </p:sp>
      <p:sp>
        <p:nvSpPr>
          <p:cNvPr id="21" name="Google Shape;95;p14">
            <a:extLst>
              <a:ext uri="{FF2B5EF4-FFF2-40B4-BE49-F238E27FC236}">
                <a16:creationId xmlns:a16="http://schemas.microsoft.com/office/drawing/2014/main" id="{3E5B5EFA-6F12-FFE0-0FF3-45D58F75F290}"/>
              </a:ext>
            </a:extLst>
          </p:cNvPr>
          <p:cNvSpPr txBox="1"/>
          <p:nvPr/>
        </p:nvSpPr>
        <p:spPr>
          <a:xfrm>
            <a:off x="9854767" y="5587896"/>
            <a:ext cx="10347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 dirty="0">
                <a:solidFill>
                  <a:srgbClr val="598E00"/>
                </a:solidFill>
              </a:rPr>
              <a:t>?</a:t>
            </a:r>
            <a:endParaRPr sz="3000" b="1" dirty="0">
              <a:solidFill>
                <a:srgbClr val="598E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4AD1AE54-BC0D-3DFC-053E-47177F906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D1247B2D-A8BC-A1F6-34E2-F9752049F3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49271" y="1323245"/>
            <a:ext cx="8520600" cy="7635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Fundamental Problem of </a:t>
            </a:r>
            <a:r>
              <a:rPr lang="en" b="1" dirty="0">
                <a:solidFill>
                  <a:srgbClr val="EF5000"/>
                </a:solidFill>
              </a:rPr>
              <a:t>Sequential Prediction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44B2365E-1CCB-E411-BB16-A9D14998B777}"/>
              </a:ext>
            </a:extLst>
          </p:cNvPr>
          <p:cNvSpPr txBox="1"/>
          <p:nvPr/>
        </p:nvSpPr>
        <p:spPr>
          <a:xfrm>
            <a:off x="1030662" y="2348841"/>
            <a:ext cx="9477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 dirty="0"/>
              <a:t>Day</a:t>
            </a:r>
            <a:endParaRPr sz="3000" b="1" dirty="0"/>
          </a:p>
        </p:txBody>
      </p:sp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3DB9C2F0-9AFA-FA2A-C38F-01BB51E11C8F}"/>
              </a:ext>
            </a:extLst>
          </p:cNvPr>
          <p:cNvSpPr txBox="1"/>
          <p:nvPr/>
        </p:nvSpPr>
        <p:spPr>
          <a:xfrm>
            <a:off x="8089283" y="2348841"/>
            <a:ext cx="878562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/>
              <a:t>You</a:t>
            </a:r>
            <a:endParaRPr sz="3000" b="1"/>
          </a:p>
        </p:txBody>
      </p:sp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D08269B7-0278-8847-1407-D470A0A5DBE9}"/>
              </a:ext>
            </a:extLst>
          </p:cNvPr>
          <p:cNvSpPr txBox="1"/>
          <p:nvPr/>
        </p:nvSpPr>
        <p:spPr>
          <a:xfrm>
            <a:off x="9402644" y="2348841"/>
            <a:ext cx="17529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 dirty="0"/>
              <a:t>Outcome</a:t>
            </a:r>
            <a:endParaRPr sz="3000" b="1" dirty="0"/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53132D73-0CB6-BAE7-4DC2-DAFF5B827B07}"/>
              </a:ext>
            </a:extLst>
          </p:cNvPr>
          <p:cNvSpPr txBox="1"/>
          <p:nvPr/>
        </p:nvSpPr>
        <p:spPr>
          <a:xfrm>
            <a:off x="1286634" y="3609796"/>
            <a:ext cx="5202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/>
              <a:t>1</a:t>
            </a:r>
            <a:endParaRPr sz="3000" b="1"/>
          </a:p>
        </p:txBody>
      </p:sp>
      <p:pic>
        <p:nvPicPr>
          <p:cNvPr id="75" name="Google Shape;75;p14">
            <a:extLst>
              <a:ext uri="{FF2B5EF4-FFF2-40B4-BE49-F238E27FC236}">
                <a16:creationId xmlns:a16="http://schemas.microsoft.com/office/drawing/2014/main" id="{6754BC1E-3A49-0608-6B33-FABE06EAB6A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8683" y="3595986"/>
            <a:ext cx="722400" cy="74116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3398DCCE-0F92-A01D-C67C-5BBFF31ECE9D}"/>
              </a:ext>
            </a:extLst>
          </p:cNvPr>
          <p:cNvSpPr txBox="1"/>
          <p:nvPr/>
        </p:nvSpPr>
        <p:spPr>
          <a:xfrm>
            <a:off x="1185534" y="4598846"/>
            <a:ext cx="7224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/>
              <a:t>2</a:t>
            </a:r>
            <a:endParaRPr sz="3000" b="1"/>
          </a:p>
        </p:txBody>
      </p:sp>
      <p:sp>
        <p:nvSpPr>
          <p:cNvPr id="81" name="Google Shape;81;p14">
            <a:extLst>
              <a:ext uri="{FF2B5EF4-FFF2-40B4-BE49-F238E27FC236}">
                <a16:creationId xmlns:a16="http://schemas.microsoft.com/office/drawing/2014/main" id="{668F4698-75B9-CDD2-154B-069E167A8FB8}"/>
              </a:ext>
            </a:extLst>
          </p:cNvPr>
          <p:cNvSpPr txBox="1"/>
          <p:nvPr/>
        </p:nvSpPr>
        <p:spPr>
          <a:xfrm>
            <a:off x="1185534" y="5587896"/>
            <a:ext cx="7224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/>
              <a:t>3</a:t>
            </a:r>
            <a:endParaRPr sz="3000" b="1"/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7588306C-DD5B-5A83-222A-1C577AE2D9F5}"/>
              </a:ext>
            </a:extLst>
          </p:cNvPr>
          <p:cNvSpPr txBox="1"/>
          <p:nvPr/>
        </p:nvSpPr>
        <p:spPr>
          <a:xfrm>
            <a:off x="8028082" y="4628037"/>
            <a:ext cx="10347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>
                <a:solidFill>
                  <a:srgbClr val="598E00"/>
                </a:solidFill>
              </a:rPr>
              <a:t>?</a:t>
            </a:r>
            <a:endParaRPr sz="3000" b="1">
              <a:solidFill>
                <a:srgbClr val="598E00"/>
              </a:solidFill>
            </a:endParaRPr>
          </a:p>
        </p:txBody>
      </p:sp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52D1C7F-2339-255F-F9C1-B976E0DD4C46}"/>
              </a:ext>
            </a:extLst>
          </p:cNvPr>
          <p:cNvSpPr txBox="1"/>
          <p:nvPr/>
        </p:nvSpPr>
        <p:spPr>
          <a:xfrm>
            <a:off x="8028082" y="5565237"/>
            <a:ext cx="10347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>
                <a:solidFill>
                  <a:srgbClr val="598E00"/>
                </a:solidFill>
              </a:rPr>
              <a:t>?</a:t>
            </a:r>
            <a:endParaRPr sz="3000" b="1">
              <a:solidFill>
                <a:srgbClr val="598E00"/>
              </a:solidFill>
            </a:endParaRP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EC6701FE-8221-BD87-501A-D1F6D28C262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>
                <a:solidFill>
                  <a:srgbClr val="C00000"/>
                </a:solidFill>
              </a:rPr>
              <a:t>Online Learning with Experts</a:t>
            </a:r>
          </a:p>
        </p:txBody>
      </p:sp>
      <p:pic>
        <p:nvPicPr>
          <p:cNvPr id="2052" name="Picture 4" descr="Albert Einstein Thinking Cartoon ...">
            <a:extLst>
              <a:ext uri="{FF2B5EF4-FFF2-40B4-BE49-F238E27FC236}">
                <a16:creationId xmlns:a16="http://schemas.microsoft.com/office/drawing/2014/main" id="{52C157CC-0702-3079-E687-DD68DF005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832" y="2036959"/>
            <a:ext cx="621325" cy="1486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ow to Draw Gandalf - Really Easy ...">
            <a:extLst>
              <a:ext uri="{FF2B5EF4-FFF2-40B4-BE49-F238E27FC236}">
                <a16:creationId xmlns:a16="http://schemas.microsoft.com/office/drawing/2014/main" id="{BA2A4265-5723-586B-E001-69583E031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478" y="2159131"/>
            <a:ext cx="1091071" cy="1292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0" descr="Lisa Simpson - Wikipedia">
            <a:extLst>
              <a:ext uri="{FF2B5EF4-FFF2-40B4-BE49-F238E27FC236}">
                <a16:creationId xmlns:a16="http://schemas.microsoft.com/office/drawing/2014/main" id="{48484C5A-653D-1232-4426-E2FFDA32C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980" y="2138613"/>
            <a:ext cx="852456" cy="1385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freetoedit #picsart #starwars #disney ...">
            <a:extLst>
              <a:ext uri="{FF2B5EF4-FFF2-40B4-BE49-F238E27FC236}">
                <a16:creationId xmlns:a16="http://schemas.microsoft.com/office/drawing/2014/main" id="{59D21AD4-8CC5-D14A-DB64-B37485850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2029" y="2272059"/>
            <a:ext cx="910005" cy="1156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Scroll - Free vector clipart images on ...">
            <a:extLst>
              <a:ext uri="{FF2B5EF4-FFF2-40B4-BE49-F238E27FC236}">
                <a16:creationId xmlns:a16="http://schemas.microsoft.com/office/drawing/2014/main" id="{4E21B740-1ECD-7AA1-7253-791B73FB6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832" y="3685628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4" descr="Scroll - Free vector clipart images on ...">
            <a:extLst>
              <a:ext uri="{FF2B5EF4-FFF2-40B4-BE49-F238E27FC236}">
                <a16:creationId xmlns:a16="http://schemas.microsoft.com/office/drawing/2014/main" id="{55CAC53F-E5CD-C2D2-9116-01178E5C5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832" y="4628037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Scroll - Free vector clipart images on ...">
            <a:extLst>
              <a:ext uri="{FF2B5EF4-FFF2-40B4-BE49-F238E27FC236}">
                <a16:creationId xmlns:a16="http://schemas.microsoft.com/office/drawing/2014/main" id="{8AEA4AD0-1D8B-6A7F-A7C3-F3F3FF381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832" y="5574099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Scroll - Free vector clipart images on ...">
            <a:extLst>
              <a:ext uri="{FF2B5EF4-FFF2-40B4-BE49-F238E27FC236}">
                <a16:creationId xmlns:a16="http://schemas.microsoft.com/office/drawing/2014/main" id="{1E5DB9DE-E606-35E6-E8BD-7B407B154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9030" y="3685628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4" descr="Scroll - Free vector clipart images on ...">
            <a:extLst>
              <a:ext uri="{FF2B5EF4-FFF2-40B4-BE49-F238E27FC236}">
                <a16:creationId xmlns:a16="http://schemas.microsoft.com/office/drawing/2014/main" id="{93EB76B6-C5C3-C10E-5BB4-28F729A02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9030" y="4628037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Scroll - Free vector clipart images on ...">
            <a:extLst>
              <a:ext uri="{FF2B5EF4-FFF2-40B4-BE49-F238E27FC236}">
                <a16:creationId xmlns:a16="http://schemas.microsoft.com/office/drawing/2014/main" id="{359CFF1F-93C1-5CD8-C839-D52B2A0C9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9030" y="5574099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Scroll - Free vector clipart images on ...">
            <a:extLst>
              <a:ext uri="{FF2B5EF4-FFF2-40B4-BE49-F238E27FC236}">
                <a16:creationId xmlns:a16="http://schemas.microsoft.com/office/drawing/2014/main" id="{1AFFCC8C-177E-D6F1-DDAB-432658025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203" y="4628037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 descr="Scroll - Free vector clipart images on ...">
            <a:extLst>
              <a:ext uri="{FF2B5EF4-FFF2-40B4-BE49-F238E27FC236}">
                <a16:creationId xmlns:a16="http://schemas.microsoft.com/office/drawing/2014/main" id="{474ECD0F-939F-BCD2-9630-F2DA21B53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203" y="5574099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4" descr="Scroll - Free vector clipart images on ...">
            <a:extLst>
              <a:ext uri="{FF2B5EF4-FFF2-40B4-BE49-F238E27FC236}">
                <a16:creationId xmlns:a16="http://schemas.microsoft.com/office/drawing/2014/main" id="{E58C3983-B483-669C-BF08-300EA0DA0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981" y="4628037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Scroll - Free vector clipart images on ...">
            <a:extLst>
              <a:ext uri="{FF2B5EF4-FFF2-40B4-BE49-F238E27FC236}">
                <a16:creationId xmlns:a16="http://schemas.microsoft.com/office/drawing/2014/main" id="{A451CF7B-B243-CB0A-037A-F3F2194F7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981" y="5574099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Google Shape;73;p14">
            <a:extLst>
              <a:ext uri="{FF2B5EF4-FFF2-40B4-BE49-F238E27FC236}">
                <a16:creationId xmlns:a16="http://schemas.microsoft.com/office/drawing/2014/main" id="{A931897C-DF44-1493-1F0E-30F8D07985B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1005" y="3551733"/>
            <a:ext cx="722400" cy="74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74;p14">
            <a:extLst>
              <a:ext uri="{FF2B5EF4-FFF2-40B4-BE49-F238E27FC236}">
                <a16:creationId xmlns:a16="http://schemas.microsoft.com/office/drawing/2014/main" id="{23912B7F-595F-88E2-35A0-C5359985CE1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6327" y="3551733"/>
            <a:ext cx="722400" cy="74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75;p14">
            <a:extLst>
              <a:ext uri="{FF2B5EF4-FFF2-40B4-BE49-F238E27FC236}">
                <a16:creationId xmlns:a16="http://schemas.microsoft.com/office/drawing/2014/main" id="{95B4AE03-CD04-8FA2-6217-4C538EE3FCA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4232" y="3581004"/>
            <a:ext cx="722400" cy="74116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95;p14">
            <a:extLst>
              <a:ext uri="{FF2B5EF4-FFF2-40B4-BE49-F238E27FC236}">
                <a16:creationId xmlns:a16="http://schemas.microsoft.com/office/drawing/2014/main" id="{C85AEF5D-CC5C-D681-BB48-5366BC020410}"/>
              </a:ext>
            </a:extLst>
          </p:cNvPr>
          <p:cNvSpPr txBox="1"/>
          <p:nvPr/>
        </p:nvSpPr>
        <p:spPr>
          <a:xfrm>
            <a:off x="9854767" y="4628037"/>
            <a:ext cx="10347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 dirty="0">
                <a:solidFill>
                  <a:srgbClr val="598E00"/>
                </a:solidFill>
              </a:rPr>
              <a:t>?</a:t>
            </a:r>
            <a:endParaRPr sz="3000" b="1" dirty="0">
              <a:solidFill>
                <a:srgbClr val="598E00"/>
              </a:solidFill>
            </a:endParaRPr>
          </a:p>
        </p:txBody>
      </p:sp>
      <p:sp>
        <p:nvSpPr>
          <p:cNvPr id="10" name="Google Shape;95;p14">
            <a:extLst>
              <a:ext uri="{FF2B5EF4-FFF2-40B4-BE49-F238E27FC236}">
                <a16:creationId xmlns:a16="http://schemas.microsoft.com/office/drawing/2014/main" id="{09729ADD-C7D3-C39E-8742-DD5079E6645E}"/>
              </a:ext>
            </a:extLst>
          </p:cNvPr>
          <p:cNvSpPr txBox="1"/>
          <p:nvPr/>
        </p:nvSpPr>
        <p:spPr>
          <a:xfrm>
            <a:off x="9854767" y="5587896"/>
            <a:ext cx="10347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 dirty="0">
                <a:solidFill>
                  <a:srgbClr val="598E00"/>
                </a:solidFill>
              </a:rPr>
              <a:t>?</a:t>
            </a:r>
            <a:endParaRPr sz="3000" b="1" dirty="0">
              <a:solidFill>
                <a:srgbClr val="598E00"/>
              </a:solidFill>
            </a:endParaRP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0DE08B5D-0DE6-A62A-D8C0-63EF440D9D6E}"/>
              </a:ext>
            </a:extLst>
          </p:cNvPr>
          <p:cNvSpPr/>
          <p:nvPr/>
        </p:nvSpPr>
        <p:spPr>
          <a:xfrm>
            <a:off x="590213" y="3523854"/>
            <a:ext cx="497467" cy="2611225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1C72403-6D26-D251-2CBB-66D412AE9175}"/>
                  </a:ext>
                </a:extLst>
              </p:cNvPr>
              <p:cNvSpPr txBox="1"/>
              <p:nvPr/>
            </p:nvSpPr>
            <p:spPr>
              <a:xfrm>
                <a:off x="176955" y="4573744"/>
                <a:ext cx="4286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1C72403-6D26-D251-2CBB-66D412AE9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955" y="4573744"/>
                <a:ext cx="428608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7021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172757CB-5AE0-2A3E-F41D-C88CBAE53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7AFFD1D0-E448-992E-04A9-D89516CD1C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49271" y="1323245"/>
            <a:ext cx="8520600" cy="7635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Fundamental Problem of </a:t>
            </a:r>
            <a:r>
              <a:rPr lang="en" b="1" dirty="0">
                <a:solidFill>
                  <a:srgbClr val="EF5000"/>
                </a:solidFill>
              </a:rPr>
              <a:t>Sequential Prediction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7BBD6A20-053E-72F4-90B1-DF6372FF5DC0}"/>
              </a:ext>
            </a:extLst>
          </p:cNvPr>
          <p:cNvSpPr txBox="1"/>
          <p:nvPr/>
        </p:nvSpPr>
        <p:spPr>
          <a:xfrm>
            <a:off x="1030662" y="2348841"/>
            <a:ext cx="9477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 dirty="0"/>
              <a:t>Day</a:t>
            </a:r>
            <a:endParaRPr sz="3000" b="1" dirty="0"/>
          </a:p>
        </p:txBody>
      </p:sp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E20633F6-23E4-83AE-1631-FA7ABD680CCD}"/>
              </a:ext>
            </a:extLst>
          </p:cNvPr>
          <p:cNvSpPr txBox="1"/>
          <p:nvPr/>
        </p:nvSpPr>
        <p:spPr>
          <a:xfrm>
            <a:off x="8089283" y="2348841"/>
            <a:ext cx="878562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/>
              <a:t>You</a:t>
            </a:r>
            <a:endParaRPr sz="3000" b="1"/>
          </a:p>
        </p:txBody>
      </p:sp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0C9A70FC-B0CA-A47F-555A-669413140753}"/>
              </a:ext>
            </a:extLst>
          </p:cNvPr>
          <p:cNvSpPr txBox="1"/>
          <p:nvPr/>
        </p:nvSpPr>
        <p:spPr>
          <a:xfrm>
            <a:off x="9402644" y="2348841"/>
            <a:ext cx="17529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 dirty="0"/>
              <a:t>Outcome</a:t>
            </a:r>
            <a:endParaRPr sz="3000" b="1" dirty="0"/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710446CE-AF68-3BF5-D8E2-DCFD5EF78A6B}"/>
              </a:ext>
            </a:extLst>
          </p:cNvPr>
          <p:cNvSpPr txBox="1"/>
          <p:nvPr/>
        </p:nvSpPr>
        <p:spPr>
          <a:xfrm>
            <a:off x="1286634" y="3609796"/>
            <a:ext cx="5202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/>
              <a:t>1</a:t>
            </a:r>
            <a:endParaRPr sz="3000" b="1"/>
          </a:p>
        </p:txBody>
      </p:sp>
      <p:pic>
        <p:nvPicPr>
          <p:cNvPr id="75" name="Google Shape;75;p14">
            <a:extLst>
              <a:ext uri="{FF2B5EF4-FFF2-40B4-BE49-F238E27FC236}">
                <a16:creationId xmlns:a16="http://schemas.microsoft.com/office/drawing/2014/main" id="{CA49D621-C651-AB96-41D8-7AE78BC3592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8683" y="3595986"/>
            <a:ext cx="722400" cy="74116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F151CDD0-5E72-D2BE-B67B-3CC6058E4F8D}"/>
              </a:ext>
            </a:extLst>
          </p:cNvPr>
          <p:cNvSpPr txBox="1"/>
          <p:nvPr/>
        </p:nvSpPr>
        <p:spPr>
          <a:xfrm>
            <a:off x="1185534" y="4598846"/>
            <a:ext cx="7224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/>
              <a:t>2</a:t>
            </a:r>
            <a:endParaRPr sz="3000" b="1"/>
          </a:p>
        </p:txBody>
      </p:sp>
      <p:pic>
        <p:nvPicPr>
          <p:cNvPr id="80" name="Google Shape;80;p14">
            <a:extLst>
              <a:ext uri="{FF2B5EF4-FFF2-40B4-BE49-F238E27FC236}">
                <a16:creationId xmlns:a16="http://schemas.microsoft.com/office/drawing/2014/main" id="{8F96FC7E-CBCD-C78F-C6F2-673B079D5AF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9209" y="4636899"/>
            <a:ext cx="621325" cy="637457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>
            <a:extLst>
              <a:ext uri="{FF2B5EF4-FFF2-40B4-BE49-F238E27FC236}">
                <a16:creationId xmlns:a16="http://schemas.microsoft.com/office/drawing/2014/main" id="{43BD1D24-B8E4-E442-C087-7F7B9E4028FC}"/>
              </a:ext>
            </a:extLst>
          </p:cNvPr>
          <p:cNvSpPr txBox="1"/>
          <p:nvPr/>
        </p:nvSpPr>
        <p:spPr>
          <a:xfrm>
            <a:off x="1185534" y="5587896"/>
            <a:ext cx="7224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/>
              <a:t>3</a:t>
            </a:r>
            <a:endParaRPr sz="3000" b="1"/>
          </a:p>
        </p:txBody>
      </p:sp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0D18125C-0AD4-7650-13DE-EF4BE2BF2407}"/>
              </a:ext>
            </a:extLst>
          </p:cNvPr>
          <p:cNvSpPr txBox="1"/>
          <p:nvPr/>
        </p:nvSpPr>
        <p:spPr>
          <a:xfrm>
            <a:off x="8028082" y="5565237"/>
            <a:ext cx="10347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>
                <a:solidFill>
                  <a:srgbClr val="598E00"/>
                </a:solidFill>
              </a:rPr>
              <a:t>?</a:t>
            </a:r>
            <a:endParaRPr sz="3000" b="1">
              <a:solidFill>
                <a:srgbClr val="598E00"/>
              </a:solidFill>
            </a:endParaRP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DEB503E2-DC6A-66F3-1ED9-211564D85B7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>
                <a:solidFill>
                  <a:srgbClr val="C00000"/>
                </a:solidFill>
              </a:rPr>
              <a:t>Online Learning with Experts</a:t>
            </a:r>
          </a:p>
        </p:txBody>
      </p:sp>
      <p:pic>
        <p:nvPicPr>
          <p:cNvPr id="2052" name="Picture 4" descr="Albert Einstein Thinking Cartoon ...">
            <a:extLst>
              <a:ext uri="{FF2B5EF4-FFF2-40B4-BE49-F238E27FC236}">
                <a16:creationId xmlns:a16="http://schemas.microsoft.com/office/drawing/2014/main" id="{A6CE871F-7029-F9B9-1545-F305BC721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832" y="2036959"/>
            <a:ext cx="621325" cy="1486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ow to Draw Gandalf - Really Easy ...">
            <a:extLst>
              <a:ext uri="{FF2B5EF4-FFF2-40B4-BE49-F238E27FC236}">
                <a16:creationId xmlns:a16="http://schemas.microsoft.com/office/drawing/2014/main" id="{CD0C4751-FE01-14B7-992C-D6AA12BAC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478" y="2159131"/>
            <a:ext cx="1091071" cy="1292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0" descr="Lisa Simpson - Wikipedia">
            <a:extLst>
              <a:ext uri="{FF2B5EF4-FFF2-40B4-BE49-F238E27FC236}">
                <a16:creationId xmlns:a16="http://schemas.microsoft.com/office/drawing/2014/main" id="{D89008A1-3C48-B20D-1170-D0618A0B7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980" y="2138613"/>
            <a:ext cx="852456" cy="1385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freetoedit #picsart #starwars #disney ...">
            <a:extLst>
              <a:ext uri="{FF2B5EF4-FFF2-40B4-BE49-F238E27FC236}">
                <a16:creationId xmlns:a16="http://schemas.microsoft.com/office/drawing/2014/main" id="{22FB46FE-9F33-FF42-3114-A6DE22E86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2029" y="2272059"/>
            <a:ext cx="910005" cy="1156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Scroll - Free vector clipart images on ...">
            <a:extLst>
              <a:ext uri="{FF2B5EF4-FFF2-40B4-BE49-F238E27FC236}">
                <a16:creationId xmlns:a16="http://schemas.microsoft.com/office/drawing/2014/main" id="{35C799E7-624C-AA6D-9399-F58F35C21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832" y="3685628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Scroll - Free vector clipart images on ...">
            <a:extLst>
              <a:ext uri="{FF2B5EF4-FFF2-40B4-BE49-F238E27FC236}">
                <a16:creationId xmlns:a16="http://schemas.microsoft.com/office/drawing/2014/main" id="{0CD9FDB7-7E6A-FC66-8219-824BD0E87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832" y="5574099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Scroll - Free vector clipart images on ...">
            <a:extLst>
              <a:ext uri="{FF2B5EF4-FFF2-40B4-BE49-F238E27FC236}">
                <a16:creationId xmlns:a16="http://schemas.microsoft.com/office/drawing/2014/main" id="{5FA3749B-C16F-F9A4-BC6F-C28AA61AF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9030" y="3685628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Scroll - Free vector clipart images on ...">
            <a:extLst>
              <a:ext uri="{FF2B5EF4-FFF2-40B4-BE49-F238E27FC236}">
                <a16:creationId xmlns:a16="http://schemas.microsoft.com/office/drawing/2014/main" id="{EE749B15-4BF3-02ED-D090-AE012CC7A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9030" y="5574099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Scroll - Free vector clipart images on ...">
            <a:extLst>
              <a:ext uri="{FF2B5EF4-FFF2-40B4-BE49-F238E27FC236}">
                <a16:creationId xmlns:a16="http://schemas.microsoft.com/office/drawing/2014/main" id="{A0B7E4FF-29AC-065C-C061-91DD07C05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203" y="4628037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 descr="Scroll - Free vector clipart images on ...">
            <a:extLst>
              <a:ext uri="{FF2B5EF4-FFF2-40B4-BE49-F238E27FC236}">
                <a16:creationId xmlns:a16="http://schemas.microsoft.com/office/drawing/2014/main" id="{2E87A0CB-B4AA-84EB-29AB-7A92CA281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203" y="5574099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4" descr="Scroll - Free vector clipart images on ...">
            <a:extLst>
              <a:ext uri="{FF2B5EF4-FFF2-40B4-BE49-F238E27FC236}">
                <a16:creationId xmlns:a16="http://schemas.microsoft.com/office/drawing/2014/main" id="{DE42A859-D67D-4C0F-2AA9-7671AE9B7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981" y="4628037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Scroll - Free vector clipart images on ...">
            <a:extLst>
              <a:ext uri="{FF2B5EF4-FFF2-40B4-BE49-F238E27FC236}">
                <a16:creationId xmlns:a16="http://schemas.microsoft.com/office/drawing/2014/main" id="{AE1AFEC6-0CD5-E033-A004-A6146C671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981" y="5574099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Google Shape;73;p14">
            <a:extLst>
              <a:ext uri="{FF2B5EF4-FFF2-40B4-BE49-F238E27FC236}">
                <a16:creationId xmlns:a16="http://schemas.microsoft.com/office/drawing/2014/main" id="{3172C1CA-727D-52DF-5E59-1EC62A5927F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1005" y="3551733"/>
            <a:ext cx="722400" cy="74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74;p14">
            <a:extLst>
              <a:ext uri="{FF2B5EF4-FFF2-40B4-BE49-F238E27FC236}">
                <a16:creationId xmlns:a16="http://schemas.microsoft.com/office/drawing/2014/main" id="{DE2E20A3-0EC3-516F-48D7-649ECE6CB99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6327" y="3551733"/>
            <a:ext cx="722400" cy="74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75;p14">
            <a:extLst>
              <a:ext uri="{FF2B5EF4-FFF2-40B4-BE49-F238E27FC236}">
                <a16:creationId xmlns:a16="http://schemas.microsoft.com/office/drawing/2014/main" id="{A1F3FA8C-7D53-6174-CE98-BC7E875056E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4232" y="3581004"/>
            <a:ext cx="722400" cy="74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77;p14">
            <a:extLst>
              <a:ext uri="{FF2B5EF4-FFF2-40B4-BE49-F238E27FC236}">
                <a16:creationId xmlns:a16="http://schemas.microsoft.com/office/drawing/2014/main" id="{27A112F5-C1FE-338D-CA32-3E95BA5A65D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3358" y="4680246"/>
            <a:ext cx="621325" cy="637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78;p14">
            <a:extLst>
              <a:ext uri="{FF2B5EF4-FFF2-40B4-BE49-F238E27FC236}">
                <a16:creationId xmlns:a16="http://schemas.microsoft.com/office/drawing/2014/main" id="{33A51C5E-C89A-98A1-2491-0FA29F9135C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0369" y="4649769"/>
            <a:ext cx="621325" cy="637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8;p14">
            <a:extLst>
              <a:ext uri="{FF2B5EF4-FFF2-40B4-BE49-F238E27FC236}">
                <a16:creationId xmlns:a16="http://schemas.microsoft.com/office/drawing/2014/main" id="{80C22E4C-A15B-8628-9AC3-5A14627F702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4769" y="4638093"/>
            <a:ext cx="621325" cy="63745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95;p14">
            <a:extLst>
              <a:ext uri="{FF2B5EF4-FFF2-40B4-BE49-F238E27FC236}">
                <a16:creationId xmlns:a16="http://schemas.microsoft.com/office/drawing/2014/main" id="{70FBC497-80C9-674B-F276-488C7822C1E5}"/>
              </a:ext>
            </a:extLst>
          </p:cNvPr>
          <p:cNvSpPr txBox="1"/>
          <p:nvPr/>
        </p:nvSpPr>
        <p:spPr>
          <a:xfrm>
            <a:off x="9854767" y="5587896"/>
            <a:ext cx="10347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 dirty="0">
                <a:solidFill>
                  <a:srgbClr val="598E00"/>
                </a:solidFill>
              </a:rPr>
              <a:t>?</a:t>
            </a:r>
            <a:endParaRPr sz="3000" b="1" dirty="0">
              <a:solidFill>
                <a:srgbClr val="598E00"/>
              </a:solidFill>
            </a:endParaRP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B780F00B-A7D9-A442-BFB0-A1A03111D3E6}"/>
              </a:ext>
            </a:extLst>
          </p:cNvPr>
          <p:cNvSpPr/>
          <p:nvPr/>
        </p:nvSpPr>
        <p:spPr>
          <a:xfrm>
            <a:off x="590213" y="3523854"/>
            <a:ext cx="497467" cy="2611225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750390-D8E4-FBCF-1A86-7F8A6CB8F689}"/>
                  </a:ext>
                </a:extLst>
              </p:cNvPr>
              <p:cNvSpPr txBox="1"/>
              <p:nvPr/>
            </p:nvSpPr>
            <p:spPr>
              <a:xfrm>
                <a:off x="176955" y="4573744"/>
                <a:ext cx="4286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750390-D8E4-FBCF-1A86-7F8A6CB8F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955" y="4573744"/>
                <a:ext cx="428608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6936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57680CD1-8022-AE96-AA2A-6DF7541F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D887AF5F-D324-DC72-9918-EB302FD98B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49271" y="1323245"/>
            <a:ext cx="8520600" cy="7635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Fundamental Problem of </a:t>
            </a:r>
            <a:r>
              <a:rPr lang="en" b="1" dirty="0">
                <a:solidFill>
                  <a:srgbClr val="EF5000"/>
                </a:solidFill>
              </a:rPr>
              <a:t>Sequential Prediction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E0A0958C-6405-02D4-45E4-AEF4D6253625}"/>
              </a:ext>
            </a:extLst>
          </p:cNvPr>
          <p:cNvSpPr txBox="1"/>
          <p:nvPr/>
        </p:nvSpPr>
        <p:spPr>
          <a:xfrm>
            <a:off x="1030662" y="2348841"/>
            <a:ext cx="9477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 dirty="0"/>
              <a:t>Day</a:t>
            </a:r>
            <a:endParaRPr sz="3000" b="1" dirty="0"/>
          </a:p>
        </p:txBody>
      </p:sp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40051EC4-79FD-6EA4-3570-113747B3777B}"/>
              </a:ext>
            </a:extLst>
          </p:cNvPr>
          <p:cNvSpPr txBox="1"/>
          <p:nvPr/>
        </p:nvSpPr>
        <p:spPr>
          <a:xfrm>
            <a:off x="8089283" y="2348841"/>
            <a:ext cx="878562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/>
              <a:t>You</a:t>
            </a:r>
            <a:endParaRPr sz="3000" b="1"/>
          </a:p>
        </p:txBody>
      </p:sp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F9F9CFDC-5F7A-B90D-3EA1-6F145C1D22D5}"/>
              </a:ext>
            </a:extLst>
          </p:cNvPr>
          <p:cNvSpPr txBox="1"/>
          <p:nvPr/>
        </p:nvSpPr>
        <p:spPr>
          <a:xfrm>
            <a:off x="9402644" y="2348841"/>
            <a:ext cx="17529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 dirty="0"/>
              <a:t>Outcome</a:t>
            </a:r>
            <a:endParaRPr sz="3000" b="1" dirty="0"/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F9FB079A-8503-33C3-CC5A-9D7C9DE7364B}"/>
              </a:ext>
            </a:extLst>
          </p:cNvPr>
          <p:cNvSpPr txBox="1"/>
          <p:nvPr/>
        </p:nvSpPr>
        <p:spPr>
          <a:xfrm>
            <a:off x="1286634" y="3609796"/>
            <a:ext cx="5202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/>
              <a:t>1</a:t>
            </a:r>
            <a:endParaRPr sz="3000" b="1"/>
          </a:p>
        </p:txBody>
      </p:sp>
      <p:pic>
        <p:nvPicPr>
          <p:cNvPr id="75" name="Google Shape;75;p14">
            <a:extLst>
              <a:ext uri="{FF2B5EF4-FFF2-40B4-BE49-F238E27FC236}">
                <a16:creationId xmlns:a16="http://schemas.microsoft.com/office/drawing/2014/main" id="{A9008B27-9212-DB01-B1E4-A42496D3264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8683" y="3595986"/>
            <a:ext cx="722400" cy="74116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BEABC9A6-0978-6C30-7FB6-452312803875}"/>
              </a:ext>
            </a:extLst>
          </p:cNvPr>
          <p:cNvSpPr txBox="1"/>
          <p:nvPr/>
        </p:nvSpPr>
        <p:spPr>
          <a:xfrm>
            <a:off x="1185534" y="4598846"/>
            <a:ext cx="7224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/>
              <a:t>2</a:t>
            </a:r>
            <a:endParaRPr sz="3000" b="1"/>
          </a:p>
        </p:txBody>
      </p:sp>
      <p:pic>
        <p:nvPicPr>
          <p:cNvPr id="80" name="Google Shape;80;p14">
            <a:extLst>
              <a:ext uri="{FF2B5EF4-FFF2-40B4-BE49-F238E27FC236}">
                <a16:creationId xmlns:a16="http://schemas.microsoft.com/office/drawing/2014/main" id="{7E078389-65BF-421F-4B61-EF3CF01C748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9209" y="4636899"/>
            <a:ext cx="621325" cy="637457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>
            <a:extLst>
              <a:ext uri="{FF2B5EF4-FFF2-40B4-BE49-F238E27FC236}">
                <a16:creationId xmlns:a16="http://schemas.microsoft.com/office/drawing/2014/main" id="{76193696-7465-C325-16DE-59349E4AD9E3}"/>
              </a:ext>
            </a:extLst>
          </p:cNvPr>
          <p:cNvSpPr txBox="1"/>
          <p:nvPr/>
        </p:nvSpPr>
        <p:spPr>
          <a:xfrm>
            <a:off x="1185534" y="5587896"/>
            <a:ext cx="7224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/>
              <a:t>3</a:t>
            </a:r>
            <a:endParaRPr sz="3000" b="1"/>
          </a:p>
        </p:txBody>
      </p:sp>
      <p:pic>
        <p:nvPicPr>
          <p:cNvPr id="86" name="Google Shape;86;p14">
            <a:extLst>
              <a:ext uri="{FF2B5EF4-FFF2-40B4-BE49-F238E27FC236}">
                <a16:creationId xmlns:a16="http://schemas.microsoft.com/office/drawing/2014/main" id="{80D434F0-5612-4B84-F2B8-181FA93AF3B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9209" y="5574099"/>
            <a:ext cx="621325" cy="637457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F8499656-5451-2281-5FAF-FD280128F90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>
                <a:solidFill>
                  <a:srgbClr val="C00000"/>
                </a:solidFill>
              </a:rPr>
              <a:t>Online Learning with Experts</a:t>
            </a:r>
          </a:p>
        </p:txBody>
      </p:sp>
      <p:pic>
        <p:nvPicPr>
          <p:cNvPr id="2052" name="Picture 4" descr="Albert Einstein Thinking Cartoon ...">
            <a:extLst>
              <a:ext uri="{FF2B5EF4-FFF2-40B4-BE49-F238E27FC236}">
                <a16:creationId xmlns:a16="http://schemas.microsoft.com/office/drawing/2014/main" id="{CA5CF56D-1039-C05C-A844-54CCFB7F6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832" y="2036959"/>
            <a:ext cx="621325" cy="1486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ow to Draw Gandalf - Really Easy ...">
            <a:extLst>
              <a:ext uri="{FF2B5EF4-FFF2-40B4-BE49-F238E27FC236}">
                <a16:creationId xmlns:a16="http://schemas.microsoft.com/office/drawing/2014/main" id="{002D612F-A30A-B960-5586-76E388A5D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478" y="2159131"/>
            <a:ext cx="1091071" cy="1292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0" descr="Lisa Simpson - Wikipedia">
            <a:extLst>
              <a:ext uri="{FF2B5EF4-FFF2-40B4-BE49-F238E27FC236}">
                <a16:creationId xmlns:a16="http://schemas.microsoft.com/office/drawing/2014/main" id="{0CA62173-853B-F2A5-28F8-F31064668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980" y="2138613"/>
            <a:ext cx="852456" cy="1385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freetoedit #picsart #starwars #disney ...">
            <a:extLst>
              <a:ext uri="{FF2B5EF4-FFF2-40B4-BE49-F238E27FC236}">
                <a16:creationId xmlns:a16="http://schemas.microsoft.com/office/drawing/2014/main" id="{AE17486C-AD22-7381-7066-E1BCEBB12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2029" y="2272059"/>
            <a:ext cx="910005" cy="1156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Scroll - Free vector clipart images on ...">
            <a:extLst>
              <a:ext uri="{FF2B5EF4-FFF2-40B4-BE49-F238E27FC236}">
                <a16:creationId xmlns:a16="http://schemas.microsoft.com/office/drawing/2014/main" id="{C58137D4-86E5-2244-2A99-F91433B3D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832" y="3685628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Scroll - Free vector clipart images on ...">
            <a:extLst>
              <a:ext uri="{FF2B5EF4-FFF2-40B4-BE49-F238E27FC236}">
                <a16:creationId xmlns:a16="http://schemas.microsoft.com/office/drawing/2014/main" id="{511FF03B-EC52-D2AF-0F70-76BE3E61D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9030" y="3685628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Scroll - Free vector clipart images on ...">
            <a:extLst>
              <a:ext uri="{FF2B5EF4-FFF2-40B4-BE49-F238E27FC236}">
                <a16:creationId xmlns:a16="http://schemas.microsoft.com/office/drawing/2014/main" id="{CE593BD1-2B8D-E4E1-8E8C-6B4BB9AC7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9030" y="5574099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Scroll - Free vector clipart images on ...">
            <a:extLst>
              <a:ext uri="{FF2B5EF4-FFF2-40B4-BE49-F238E27FC236}">
                <a16:creationId xmlns:a16="http://schemas.microsoft.com/office/drawing/2014/main" id="{2B0A9444-3222-0D20-7650-86D7CAD54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203" y="4628037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 descr="Scroll - Free vector clipart images on ...">
            <a:extLst>
              <a:ext uri="{FF2B5EF4-FFF2-40B4-BE49-F238E27FC236}">
                <a16:creationId xmlns:a16="http://schemas.microsoft.com/office/drawing/2014/main" id="{4503A794-AC28-411C-D897-B097BBF195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203" y="5574099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4" descr="Scroll - Free vector clipart images on ...">
            <a:extLst>
              <a:ext uri="{FF2B5EF4-FFF2-40B4-BE49-F238E27FC236}">
                <a16:creationId xmlns:a16="http://schemas.microsoft.com/office/drawing/2014/main" id="{A34AC8D4-786A-3A75-7820-03EB4E7AC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981" y="4628037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Google Shape;73;p14">
            <a:extLst>
              <a:ext uri="{FF2B5EF4-FFF2-40B4-BE49-F238E27FC236}">
                <a16:creationId xmlns:a16="http://schemas.microsoft.com/office/drawing/2014/main" id="{CB8A2C23-7EE1-7B0F-9E1C-2774298DF5E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1005" y="3551733"/>
            <a:ext cx="722400" cy="74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74;p14">
            <a:extLst>
              <a:ext uri="{FF2B5EF4-FFF2-40B4-BE49-F238E27FC236}">
                <a16:creationId xmlns:a16="http://schemas.microsoft.com/office/drawing/2014/main" id="{9B68B7A3-66A4-3532-5EC8-EF5C80C6D16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6327" y="3551733"/>
            <a:ext cx="722400" cy="74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75;p14">
            <a:extLst>
              <a:ext uri="{FF2B5EF4-FFF2-40B4-BE49-F238E27FC236}">
                <a16:creationId xmlns:a16="http://schemas.microsoft.com/office/drawing/2014/main" id="{60DE06BF-2261-E169-CF04-87EDCDB3C0C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4232" y="3581004"/>
            <a:ext cx="722400" cy="74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77;p14">
            <a:extLst>
              <a:ext uri="{FF2B5EF4-FFF2-40B4-BE49-F238E27FC236}">
                <a16:creationId xmlns:a16="http://schemas.microsoft.com/office/drawing/2014/main" id="{D9EB0445-137A-246D-3ED2-41E995A6EFA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3358" y="4680246"/>
            <a:ext cx="621325" cy="637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78;p14">
            <a:extLst>
              <a:ext uri="{FF2B5EF4-FFF2-40B4-BE49-F238E27FC236}">
                <a16:creationId xmlns:a16="http://schemas.microsoft.com/office/drawing/2014/main" id="{C4FFC231-F3CE-C642-695F-FB5EE590942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0369" y="4649769"/>
            <a:ext cx="621325" cy="637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8;p14">
            <a:extLst>
              <a:ext uri="{FF2B5EF4-FFF2-40B4-BE49-F238E27FC236}">
                <a16:creationId xmlns:a16="http://schemas.microsoft.com/office/drawing/2014/main" id="{633FD9E8-9812-5F10-A613-B4F6F32AB6A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4769" y="4638093"/>
            <a:ext cx="621325" cy="637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2;p14">
            <a:extLst>
              <a:ext uri="{FF2B5EF4-FFF2-40B4-BE49-F238E27FC236}">
                <a16:creationId xmlns:a16="http://schemas.microsoft.com/office/drawing/2014/main" id="{F8B2FCBE-6CCB-0D53-06DF-05915DA6E2D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282" y="5469475"/>
            <a:ext cx="722400" cy="74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5;p14">
            <a:extLst>
              <a:ext uri="{FF2B5EF4-FFF2-40B4-BE49-F238E27FC236}">
                <a16:creationId xmlns:a16="http://schemas.microsoft.com/office/drawing/2014/main" id="{787B3FA3-6C93-E21C-8E8F-B5E0F269B6F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6327" y="5529833"/>
            <a:ext cx="722400" cy="74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85;p14">
            <a:extLst>
              <a:ext uri="{FF2B5EF4-FFF2-40B4-BE49-F238E27FC236}">
                <a16:creationId xmlns:a16="http://schemas.microsoft.com/office/drawing/2014/main" id="{083C8CBC-4DF6-F71E-CF1A-593A20A0877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0419" y="5540464"/>
            <a:ext cx="722400" cy="74116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Left Brace 5">
            <a:extLst>
              <a:ext uri="{FF2B5EF4-FFF2-40B4-BE49-F238E27FC236}">
                <a16:creationId xmlns:a16="http://schemas.microsoft.com/office/drawing/2014/main" id="{CFCF0071-F1B3-B026-0B0E-51CBD4997FE0}"/>
              </a:ext>
            </a:extLst>
          </p:cNvPr>
          <p:cNvSpPr/>
          <p:nvPr/>
        </p:nvSpPr>
        <p:spPr>
          <a:xfrm>
            <a:off x="590213" y="3523854"/>
            <a:ext cx="497467" cy="2611225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B06B6C-7776-928B-0FAF-8381B48659D0}"/>
                  </a:ext>
                </a:extLst>
              </p:cNvPr>
              <p:cNvSpPr txBox="1"/>
              <p:nvPr/>
            </p:nvSpPr>
            <p:spPr>
              <a:xfrm>
                <a:off x="176955" y="4573744"/>
                <a:ext cx="4286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B06B6C-7776-928B-0FAF-8381B4865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955" y="4573744"/>
                <a:ext cx="428608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699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4A5174C8-CBAC-1164-B92E-F23AFD8F8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17134F7E-1BC4-9629-27C1-D05C382954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49271" y="1323245"/>
            <a:ext cx="8520600" cy="7635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Fundamental Problem of </a:t>
            </a:r>
            <a:r>
              <a:rPr lang="en" b="1" dirty="0">
                <a:solidFill>
                  <a:srgbClr val="EF5000"/>
                </a:solidFill>
              </a:rPr>
              <a:t>Sequential Prediction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EE7E2120-CCD3-D4C7-E2E1-D2109CD48181}"/>
              </a:ext>
            </a:extLst>
          </p:cNvPr>
          <p:cNvSpPr txBox="1"/>
          <p:nvPr/>
        </p:nvSpPr>
        <p:spPr>
          <a:xfrm>
            <a:off x="1030662" y="2348841"/>
            <a:ext cx="9477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 dirty="0"/>
              <a:t>Day</a:t>
            </a:r>
            <a:endParaRPr sz="3000" b="1" dirty="0"/>
          </a:p>
        </p:txBody>
      </p:sp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26E7B440-C4DA-8994-440E-FB625B93395C}"/>
              </a:ext>
            </a:extLst>
          </p:cNvPr>
          <p:cNvSpPr txBox="1"/>
          <p:nvPr/>
        </p:nvSpPr>
        <p:spPr>
          <a:xfrm>
            <a:off x="8089283" y="2348841"/>
            <a:ext cx="878562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/>
              <a:t>You</a:t>
            </a:r>
            <a:endParaRPr sz="3000" b="1"/>
          </a:p>
        </p:txBody>
      </p:sp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0317BD47-99AB-2E15-7FFA-5D6755E7A346}"/>
              </a:ext>
            </a:extLst>
          </p:cNvPr>
          <p:cNvSpPr txBox="1"/>
          <p:nvPr/>
        </p:nvSpPr>
        <p:spPr>
          <a:xfrm>
            <a:off x="9402644" y="2348841"/>
            <a:ext cx="17529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 dirty="0"/>
              <a:t>Outcome</a:t>
            </a:r>
            <a:endParaRPr sz="3000" b="1" dirty="0"/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C5BCD6F5-B146-DE30-C322-3568B7029587}"/>
              </a:ext>
            </a:extLst>
          </p:cNvPr>
          <p:cNvSpPr txBox="1"/>
          <p:nvPr/>
        </p:nvSpPr>
        <p:spPr>
          <a:xfrm>
            <a:off x="1286634" y="3609796"/>
            <a:ext cx="5202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/>
              <a:t>1</a:t>
            </a:r>
            <a:endParaRPr sz="3000" b="1"/>
          </a:p>
        </p:txBody>
      </p:sp>
      <p:pic>
        <p:nvPicPr>
          <p:cNvPr id="75" name="Google Shape;75;p14">
            <a:extLst>
              <a:ext uri="{FF2B5EF4-FFF2-40B4-BE49-F238E27FC236}">
                <a16:creationId xmlns:a16="http://schemas.microsoft.com/office/drawing/2014/main" id="{3771CB4A-BECA-A9B2-A604-2E85EAFE31E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8683" y="3595986"/>
            <a:ext cx="722400" cy="74116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3CDD311B-C6A3-817E-5165-68ACC70E6129}"/>
              </a:ext>
            </a:extLst>
          </p:cNvPr>
          <p:cNvSpPr txBox="1"/>
          <p:nvPr/>
        </p:nvSpPr>
        <p:spPr>
          <a:xfrm>
            <a:off x="1185534" y="4598846"/>
            <a:ext cx="7224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/>
              <a:t>2</a:t>
            </a:r>
            <a:endParaRPr sz="3000" b="1"/>
          </a:p>
        </p:txBody>
      </p:sp>
      <p:pic>
        <p:nvPicPr>
          <p:cNvPr id="80" name="Google Shape;80;p14">
            <a:extLst>
              <a:ext uri="{FF2B5EF4-FFF2-40B4-BE49-F238E27FC236}">
                <a16:creationId xmlns:a16="http://schemas.microsoft.com/office/drawing/2014/main" id="{C82D64B0-BA02-A004-B5DA-B3822915536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9209" y="4636899"/>
            <a:ext cx="621325" cy="637457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>
            <a:extLst>
              <a:ext uri="{FF2B5EF4-FFF2-40B4-BE49-F238E27FC236}">
                <a16:creationId xmlns:a16="http://schemas.microsoft.com/office/drawing/2014/main" id="{9EEF4091-800F-6C0C-91BA-C7D803CEECFE}"/>
              </a:ext>
            </a:extLst>
          </p:cNvPr>
          <p:cNvSpPr txBox="1"/>
          <p:nvPr/>
        </p:nvSpPr>
        <p:spPr>
          <a:xfrm>
            <a:off x="1185534" y="5587896"/>
            <a:ext cx="7224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/>
              <a:t>3</a:t>
            </a:r>
            <a:endParaRPr sz="3000" b="1"/>
          </a:p>
        </p:txBody>
      </p:sp>
      <p:pic>
        <p:nvPicPr>
          <p:cNvPr id="86" name="Google Shape;86;p14">
            <a:extLst>
              <a:ext uri="{FF2B5EF4-FFF2-40B4-BE49-F238E27FC236}">
                <a16:creationId xmlns:a16="http://schemas.microsoft.com/office/drawing/2014/main" id="{ED856E9D-BF8D-A0DE-F234-C9E9E5D93FE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9209" y="5574099"/>
            <a:ext cx="621325" cy="637457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854CC3EA-7583-D0FC-2705-143702C6087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>
                <a:solidFill>
                  <a:srgbClr val="C00000"/>
                </a:solidFill>
              </a:rPr>
              <a:t>Online Learning with Experts</a:t>
            </a:r>
          </a:p>
        </p:txBody>
      </p:sp>
      <p:pic>
        <p:nvPicPr>
          <p:cNvPr id="2052" name="Picture 4" descr="Albert Einstein Thinking Cartoon ...">
            <a:extLst>
              <a:ext uri="{FF2B5EF4-FFF2-40B4-BE49-F238E27FC236}">
                <a16:creationId xmlns:a16="http://schemas.microsoft.com/office/drawing/2014/main" id="{2B5BA7C1-CC0E-AD9E-3250-FB875D7FE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832" y="2036959"/>
            <a:ext cx="621325" cy="1486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ow to Draw Gandalf - Really Easy ...">
            <a:extLst>
              <a:ext uri="{FF2B5EF4-FFF2-40B4-BE49-F238E27FC236}">
                <a16:creationId xmlns:a16="http://schemas.microsoft.com/office/drawing/2014/main" id="{17A434F8-8C81-6D22-F9F1-EC4F305B7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478" y="2159131"/>
            <a:ext cx="1091071" cy="1292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0" descr="Lisa Simpson - Wikipedia">
            <a:extLst>
              <a:ext uri="{FF2B5EF4-FFF2-40B4-BE49-F238E27FC236}">
                <a16:creationId xmlns:a16="http://schemas.microsoft.com/office/drawing/2014/main" id="{68E3320E-4E4C-F130-E683-C05B46403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980" y="2138613"/>
            <a:ext cx="852456" cy="1385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freetoedit #picsart #starwars #disney ...">
            <a:extLst>
              <a:ext uri="{FF2B5EF4-FFF2-40B4-BE49-F238E27FC236}">
                <a16:creationId xmlns:a16="http://schemas.microsoft.com/office/drawing/2014/main" id="{D7AFF602-7FDF-2C40-2D8B-27E293294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2029" y="2272059"/>
            <a:ext cx="910005" cy="1156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Scroll - Free vector clipart images on ...">
            <a:extLst>
              <a:ext uri="{FF2B5EF4-FFF2-40B4-BE49-F238E27FC236}">
                <a16:creationId xmlns:a16="http://schemas.microsoft.com/office/drawing/2014/main" id="{90DE6CB6-1C3B-320E-9966-04329D820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832" y="3685628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Scroll - Free vector clipart images on ...">
            <a:extLst>
              <a:ext uri="{FF2B5EF4-FFF2-40B4-BE49-F238E27FC236}">
                <a16:creationId xmlns:a16="http://schemas.microsoft.com/office/drawing/2014/main" id="{CAFD0955-C671-23D9-0F22-D2314665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9030" y="3685628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Scroll - Free vector clipart images on ...">
            <a:extLst>
              <a:ext uri="{FF2B5EF4-FFF2-40B4-BE49-F238E27FC236}">
                <a16:creationId xmlns:a16="http://schemas.microsoft.com/office/drawing/2014/main" id="{F4AFD080-5153-794F-43E0-577532708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9030" y="5574099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Scroll - Free vector clipart images on ...">
            <a:extLst>
              <a:ext uri="{FF2B5EF4-FFF2-40B4-BE49-F238E27FC236}">
                <a16:creationId xmlns:a16="http://schemas.microsoft.com/office/drawing/2014/main" id="{32AB175E-82D9-F3CF-E0CF-34C860DDB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203" y="4628037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 descr="Scroll - Free vector clipart images on ...">
            <a:extLst>
              <a:ext uri="{FF2B5EF4-FFF2-40B4-BE49-F238E27FC236}">
                <a16:creationId xmlns:a16="http://schemas.microsoft.com/office/drawing/2014/main" id="{3542C2DE-E78B-0781-16A4-646D3CD37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203" y="5574099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4" descr="Scroll - Free vector clipart images on ...">
            <a:extLst>
              <a:ext uri="{FF2B5EF4-FFF2-40B4-BE49-F238E27FC236}">
                <a16:creationId xmlns:a16="http://schemas.microsoft.com/office/drawing/2014/main" id="{FB9C70E9-E00A-59E3-04E6-D01764DDA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981" y="4628037"/>
            <a:ext cx="520200" cy="53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Google Shape;73;p14">
            <a:extLst>
              <a:ext uri="{FF2B5EF4-FFF2-40B4-BE49-F238E27FC236}">
                <a16:creationId xmlns:a16="http://schemas.microsoft.com/office/drawing/2014/main" id="{A0820088-BF99-BCAA-C874-C0E5C24B932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1005" y="3551733"/>
            <a:ext cx="722400" cy="74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74;p14">
            <a:extLst>
              <a:ext uri="{FF2B5EF4-FFF2-40B4-BE49-F238E27FC236}">
                <a16:creationId xmlns:a16="http://schemas.microsoft.com/office/drawing/2014/main" id="{EC9D76EC-60B7-9F9A-A375-BDFA7FEAE6C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6327" y="3551733"/>
            <a:ext cx="722400" cy="74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75;p14">
            <a:extLst>
              <a:ext uri="{FF2B5EF4-FFF2-40B4-BE49-F238E27FC236}">
                <a16:creationId xmlns:a16="http://schemas.microsoft.com/office/drawing/2014/main" id="{2B618501-B43E-0D19-94B2-145241E8EC2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4232" y="3581004"/>
            <a:ext cx="722400" cy="74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77;p14">
            <a:extLst>
              <a:ext uri="{FF2B5EF4-FFF2-40B4-BE49-F238E27FC236}">
                <a16:creationId xmlns:a16="http://schemas.microsoft.com/office/drawing/2014/main" id="{257FC483-BB04-A3AA-087F-F3E565678D1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3358" y="4680246"/>
            <a:ext cx="621325" cy="637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78;p14">
            <a:extLst>
              <a:ext uri="{FF2B5EF4-FFF2-40B4-BE49-F238E27FC236}">
                <a16:creationId xmlns:a16="http://schemas.microsoft.com/office/drawing/2014/main" id="{D33DE367-5E1A-1B7E-781E-4BFD6119005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0369" y="4649769"/>
            <a:ext cx="621325" cy="637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8;p14">
            <a:extLst>
              <a:ext uri="{FF2B5EF4-FFF2-40B4-BE49-F238E27FC236}">
                <a16:creationId xmlns:a16="http://schemas.microsoft.com/office/drawing/2014/main" id="{C24F1AD6-411C-388C-567C-D0EAC919F29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4769" y="4638093"/>
            <a:ext cx="621325" cy="637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5;p14">
            <a:extLst>
              <a:ext uri="{FF2B5EF4-FFF2-40B4-BE49-F238E27FC236}">
                <a16:creationId xmlns:a16="http://schemas.microsoft.com/office/drawing/2014/main" id="{613E004F-929A-CABF-0D21-9364142A129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6327" y="5529833"/>
            <a:ext cx="722400" cy="74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85;p14">
            <a:extLst>
              <a:ext uri="{FF2B5EF4-FFF2-40B4-BE49-F238E27FC236}">
                <a16:creationId xmlns:a16="http://schemas.microsoft.com/office/drawing/2014/main" id="{A166F47E-F9CE-C05D-A593-3E9E9558C31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0419" y="5540464"/>
            <a:ext cx="722400" cy="74116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1D81F11-771D-8AAD-A031-2BF7CEB68469}"/>
              </a:ext>
            </a:extLst>
          </p:cNvPr>
          <p:cNvSpPr/>
          <p:nvPr/>
        </p:nvSpPr>
        <p:spPr>
          <a:xfrm>
            <a:off x="7881649" y="5529833"/>
            <a:ext cx="3090672" cy="7411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oogle Shape;82;p14">
            <a:extLst>
              <a:ext uri="{FF2B5EF4-FFF2-40B4-BE49-F238E27FC236}">
                <a16:creationId xmlns:a16="http://schemas.microsoft.com/office/drawing/2014/main" id="{135577DA-9B32-621A-B5E9-7F91B28D854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282" y="5469475"/>
            <a:ext cx="722400" cy="74116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141FCE-3073-9A11-4485-AEF02A9E6C8D}"/>
              </a:ext>
            </a:extLst>
          </p:cNvPr>
          <p:cNvSpPr txBox="1"/>
          <p:nvPr/>
        </p:nvSpPr>
        <p:spPr>
          <a:xfrm>
            <a:off x="8600387" y="6255822"/>
            <a:ext cx="15721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1 mistake</a:t>
            </a: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D677528A-6FFA-B3E6-227D-174D8758BB56}"/>
              </a:ext>
            </a:extLst>
          </p:cNvPr>
          <p:cNvSpPr/>
          <p:nvPr/>
        </p:nvSpPr>
        <p:spPr>
          <a:xfrm>
            <a:off x="590213" y="3523854"/>
            <a:ext cx="497467" cy="2611225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CEAF508-F72D-8494-A537-FAB9A9FA3DB9}"/>
                  </a:ext>
                </a:extLst>
              </p:cNvPr>
              <p:cNvSpPr txBox="1"/>
              <p:nvPr/>
            </p:nvSpPr>
            <p:spPr>
              <a:xfrm>
                <a:off x="176955" y="4573744"/>
                <a:ext cx="4286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CEAF508-F72D-8494-A537-FAB9A9FA3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955" y="4573744"/>
                <a:ext cx="428608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3699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D4CD483A-3249-0110-1C53-4C08255AA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718FC5C4-0796-D066-70CD-085E62344A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49271" y="1323245"/>
            <a:ext cx="8520600" cy="7635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Fundamental Problem of </a:t>
            </a:r>
            <a:r>
              <a:rPr lang="en" b="1" dirty="0">
                <a:solidFill>
                  <a:srgbClr val="EF5000"/>
                </a:solidFill>
              </a:rPr>
              <a:t>Sequential Prediction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1C514DDD-5198-92E2-A68F-11421583B95B}"/>
              </a:ext>
            </a:extLst>
          </p:cNvPr>
          <p:cNvSpPr txBox="1"/>
          <p:nvPr/>
        </p:nvSpPr>
        <p:spPr>
          <a:xfrm>
            <a:off x="1030662" y="2348841"/>
            <a:ext cx="9477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 dirty="0"/>
              <a:t>Day</a:t>
            </a:r>
            <a:endParaRPr sz="3000" b="1" dirty="0"/>
          </a:p>
        </p:txBody>
      </p:sp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7B9726F8-DB38-7DC8-0724-E87E29AB206D}"/>
              </a:ext>
            </a:extLst>
          </p:cNvPr>
          <p:cNvSpPr txBox="1"/>
          <p:nvPr/>
        </p:nvSpPr>
        <p:spPr>
          <a:xfrm>
            <a:off x="8089283" y="2348841"/>
            <a:ext cx="878562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/>
              <a:t>You</a:t>
            </a:r>
            <a:endParaRPr sz="3000" b="1"/>
          </a:p>
        </p:txBody>
      </p:sp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7663FD96-FC0A-EA75-CB25-F8FF305A3C41}"/>
              </a:ext>
            </a:extLst>
          </p:cNvPr>
          <p:cNvSpPr txBox="1"/>
          <p:nvPr/>
        </p:nvSpPr>
        <p:spPr>
          <a:xfrm>
            <a:off x="9402644" y="2348841"/>
            <a:ext cx="17529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 dirty="0"/>
              <a:t>Outcome</a:t>
            </a:r>
            <a:endParaRPr sz="3000" b="1" dirty="0"/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82F6EECC-0C31-4F48-AD8B-5597CBFE221D}"/>
              </a:ext>
            </a:extLst>
          </p:cNvPr>
          <p:cNvSpPr txBox="1"/>
          <p:nvPr/>
        </p:nvSpPr>
        <p:spPr>
          <a:xfrm>
            <a:off x="1286634" y="3609796"/>
            <a:ext cx="5202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/>
              <a:t>1</a:t>
            </a:r>
            <a:endParaRPr sz="3000" b="1"/>
          </a:p>
        </p:txBody>
      </p:sp>
      <p:pic>
        <p:nvPicPr>
          <p:cNvPr id="71" name="Google Shape;71;p14">
            <a:extLst>
              <a:ext uri="{FF2B5EF4-FFF2-40B4-BE49-F238E27FC236}">
                <a16:creationId xmlns:a16="http://schemas.microsoft.com/office/drawing/2014/main" id="{207B0012-849D-B674-E8B7-6E0F6C71B9F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2832" y="3639333"/>
            <a:ext cx="722400" cy="74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>
            <a:extLst>
              <a:ext uri="{FF2B5EF4-FFF2-40B4-BE49-F238E27FC236}">
                <a16:creationId xmlns:a16="http://schemas.microsoft.com/office/drawing/2014/main" id="{0BAB1D82-04CB-5FA9-5107-9DEE875DD0E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0369" y="3660719"/>
            <a:ext cx="621325" cy="637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>
            <a:extLst>
              <a:ext uri="{FF2B5EF4-FFF2-40B4-BE49-F238E27FC236}">
                <a16:creationId xmlns:a16="http://schemas.microsoft.com/office/drawing/2014/main" id="{0D597254-98F7-2F09-3F60-76AC31E4B1C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1005" y="3551733"/>
            <a:ext cx="722400" cy="74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>
            <a:extLst>
              <a:ext uri="{FF2B5EF4-FFF2-40B4-BE49-F238E27FC236}">
                <a16:creationId xmlns:a16="http://schemas.microsoft.com/office/drawing/2014/main" id="{7E1FDCC1-BAB5-CB86-67E7-70B60D421BD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6327" y="3551733"/>
            <a:ext cx="722400" cy="74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>
            <a:extLst>
              <a:ext uri="{FF2B5EF4-FFF2-40B4-BE49-F238E27FC236}">
                <a16:creationId xmlns:a16="http://schemas.microsoft.com/office/drawing/2014/main" id="{F3F2E689-8456-37CA-FCE1-293B132353E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8683" y="3595986"/>
            <a:ext cx="722400" cy="74116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1B5136BE-AF66-4B9F-7085-831A57C0EF7E}"/>
              </a:ext>
            </a:extLst>
          </p:cNvPr>
          <p:cNvSpPr txBox="1"/>
          <p:nvPr/>
        </p:nvSpPr>
        <p:spPr>
          <a:xfrm>
            <a:off x="1185534" y="4598846"/>
            <a:ext cx="7224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/>
              <a:t>2</a:t>
            </a:r>
            <a:endParaRPr sz="3000" b="1"/>
          </a:p>
        </p:txBody>
      </p:sp>
      <p:pic>
        <p:nvPicPr>
          <p:cNvPr id="77" name="Google Shape;77;p14">
            <a:extLst>
              <a:ext uri="{FF2B5EF4-FFF2-40B4-BE49-F238E27FC236}">
                <a16:creationId xmlns:a16="http://schemas.microsoft.com/office/drawing/2014/main" id="{D6978803-2334-1438-D958-EAB05FB6F91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3358" y="4680246"/>
            <a:ext cx="621325" cy="637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>
            <a:extLst>
              <a:ext uri="{FF2B5EF4-FFF2-40B4-BE49-F238E27FC236}">
                <a16:creationId xmlns:a16="http://schemas.microsoft.com/office/drawing/2014/main" id="{792C768B-1582-7A09-AFB9-5640E940D54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0369" y="4649769"/>
            <a:ext cx="621325" cy="637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4">
            <a:extLst>
              <a:ext uri="{FF2B5EF4-FFF2-40B4-BE49-F238E27FC236}">
                <a16:creationId xmlns:a16="http://schemas.microsoft.com/office/drawing/2014/main" id="{2E76ADD3-41D8-5721-2E0B-F3C24193CD3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0980" y="4540783"/>
            <a:ext cx="722400" cy="74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4">
            <a:extLst>
              <a:ext uri="{FF2B5EF4-FFF2-40B4-BE49-F238E27FC236}">
                <a16:creationId xmlns:a16="http://schemas.microsoft.com/office/drawing/2014/main" id="{26082FD5-7E00-725C-3527-2C2D01E89F8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9209" y="4636899"/>
            <a:ext cx="621325" cy="637457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>
            <a:extLst>
              <a:ext uri="{FF2B5EF4-FFF2-40B4-BE49-F238E27FC236}">
                <a16:creationId xmlns:a16="http://schemas.microsoft.com/office/drawing/2014/main" id="{257F66BE-0D4F-FD5D-B479-B85CBD91DAA9}"/>
              </a:ext>
            </a:extLst>
          </p:cNvPr>
          <p:cNvSpPr txBox="1"/>
          <p:nvPr/>
        </p:nvSpPr>
        <p:spPr>
          <a:xfrm>
            <a:off x="1185534" y="5587896"/>
            <a:ext cx="7224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/>
              <a:t>3</a:t>
            </a:r>
            <a:endParaRPr sz="3000" b="1"/>
          </a:p>
        </p:txBody>
      </p:sp>
      <p:pic>
        <p:nvPicPr>
          <p:cNvPr id="83" name="Google Shape;83;p14">
            <a:extLst>
              <a:ext uri="{FF2B5EF4-FFF2-40B4-BE49-F238E27FC236}">
                <a16:creationId xmlns:a16="http://schemas.microsoft.com/office/drawing/2014/main" id="{E65CB87D-8ED4-D95E-912B-B838CD2C0B2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1144" y="5638819"/>
            <a:ext cx="621325" cy="637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4">
            <a:extLst>
              <a:ext uri="{FF2B5EF4-FFF2-40B4-BE49-F238E27FC236}">
                <a16:creationId xmlns:a16="http://schemas.microsoft.com/office/drawing/2014/main" id="{D69546AD-535D-21F3-D4FB-A8927BF246F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1005" y="5529833"/>
            <a:ext cx="722400" cy="74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4">
            <a:extLst>
              <a:ext uri="{FF2B5EF4-FFF2-40B4-BE49-F238E27FC236}">
                <a16:creationId xmlns:a16="http://schemas.microsoft.com/office/drawing/2014/main" id="{22AF2D77-FF4C-5707-E9BE-2BCBC19BE1C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6327" y="5529833"/>
            <a:ext cx="722400" cy="74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4">
            <a:extLst>
              <a:ext uri="{FF2B5EF4-FFF2-40B4-BE49-F238E27FC236}">
                <a16:creationId xmlns:a16="http://schemas.microsoft.com/office/drawing/2014/main" id="{8ADD59AA-B073-2348-165D-5CC5ED779A5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9209" y="5574099"/>
            <a:ext cx="621325" cy="637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>
            <a:extLst>
              <a:ext uri="{FF2B5EF4-FFF2-40B4-BE49-F238E27FC236}">
                <a16:creationId xmlns:a16="http://schemas.microsoft.com/office/drawing/2014/main" id="{73A30049-1272-E667-FC6F-F35A0356CBE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32341" y="4592646"/>
            <a:ext cx="621325" cy="637457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73CD6AB7-B35A-1011-860B-9513ED7395D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>
                <a:solidFill>
                  <a:srgbClr val="C00000"/>
                </a:solidFill>
              </a:rPr>
              <a:t>Online Learning with Experts</a:t>
            </a:r>
          </a:p>
        </p:txBody>
      </p:sp>
      <p:pic>
        <p:nvPicPr>
          <p:cNvPr id="2052" name="Picture 4" descr="Albert Einstein Thinking Cartoon ...">
            <a:extLst>
              <a:ext uri="{FF2B5EF4-FFF2-40B4-BE49-F238E27FC236}">
                <a16:creationId xmlns:a16="http://schemas.microsoft.com/office/drawing/2014/main" id="{4DC09C73-5747-D128-7537-2720887FA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832" y="2036959"/>
            <a:ext cx="621325" cy="1486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ow to Draw Gandalf - Really Easy ...">
            <a:extLst>
              <a:ext uri="{FF2B5EF4-FFF2-40B4-BE49-F238E27FC236}">
                <a16:creationId xmlns:a16="http://schemas.microsoft.com/office/drawing/2014/main" id="{96665E87-7A1C-02F4-1C0E-CD830AD18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478" y="2159131"/>
            <a:ext cx="1091071" cy="1292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0" descr="Lisa Simpson - Wikipedia">
            <a:extLst>
              <a:ext uri="{FF2B5EF4-FFF2-40B4-BE49-F238E27FC236}">
                <a16:creationId xmlns:a16="http://schemas.microsoft.com/office/drawing/2014/main" id="{97EAD691-1C5B-1474-6EFB-E08952782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980" y="2138613"/>
            <a:ext cx="852456" cy="1385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freetoedit #picsart #starwars #disney ...">
            <a:extLst>
              <a:ext uri="{FF2B5EF4-FFF2-40B4-BE49-F238E27FC236}">
                <a16:creationId xmlns:a16="http://schemas.microsoft.com/office/drawing/2014/main" id="{3C70EA86-A7B5-345A-8FD6-818E36120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2029" y="2272059"/>
            <a:ext cx="910005" cy="1156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75;p14">
            <a:extLst>
              <a:ext uri="{FF2B5EF4-FFF2-40B4-BE49-F238E27FC236}">
                <a16:creationId xmlns:a16="http://schemas.microsoft.com/office/drawing/2014/main" id="{B62ADF3F-2DC3-C963-B495-DCAF800DF40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4232" y="3581004"/>
            <a:ext cx="722400" cy="74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78;p14">
            <a:extLst>
              <a:ext uri="{FF2B5EF4-FFF2-40B4-BE49-F238E27FC236}">
                <a16:creationId xmlns:a16="http://schemas.microsoft.com/office/drawing/2014/main" id="{F3E01730-5F6B-9B3C-D504-B153414033F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4769" y="4638093"/>
            <a:ext cx="621325" cy="637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5;p14">
            <a:extLst>
              <a:ext uri="{FF2B5EF4-FFF2-40B4-BE49-F238E27FC236}">
                <a16:creationId xmlns:a16="http://schemas.microsoft.com/office/drawing/2014/main" id="{D26C2E8D-3AE4-ED3C-DF16-7D57208E990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0419" y="5540464"/>
            <a:ext cx="722400" cy="74116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374F870-EF39-6FE0-019F-6F60F7202A5A}"/>
              </a:ext>
            </a:extLst>
          </p:cNvPr>
          <p:cNvSpPr/>
          <p:nvPr/>
        </p:nvSpPr>
        <p:spPr>
          <a:xfrm>
            <a:off x="5103437" y="4506847"/>
            <a:ext cx="777486" cy="8090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CD30E2-C035-8759-71B1-023A9571D097}"/>
              </a:ext>
            </a:extLst>
          </p:cNvPr>
          <p:cNvSpPr/>
          <p:nvPr/>
        </p:nvSpPr>
        <p:spPr>
          <a:xfrm>
            <a:off x="3802494" y="3562050"/>
            <a:ext cx="777486" cy="8090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239EA4-E728-E9BC-6B92-B235347CE1AF}"/>
              </a:ext>
            </a:extLst>
          </p:cNvPr>
          <p:cNvSpPr/>
          <p:nvPr/>
        </p:nvSpPr>
        <p:spPr>
          <a:xfrm>
            <a:off x="5103803" y="5470721"/>
            <a:ext cx="777486" cy="8090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1BCB00-36DF-98C3-5780-9E6B53C0F556}"/>
              </a:ext>
            </a:extLst>
          </p:cNvPr>
          <p:cNvSpPr/>
          <p:nvPr/>
        </p:nvSpPr>
        <p:spPr>
          <a:xfrm>
            <a:off x="6454238" y="5470721"/>
            <a:ext cx="777486" cy="8090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oogle Shape;82;p14">
            <a:extLst>
              <a:ext uri="{FF2B5EF4-FFF2-40B4-BE49-F238E27FC236}">
                <a16:creationId xmlns:a16="http://schemas.microsoft.com/office/drawing/2014/main" id="{703E44EE-01BD-1F50-5C7E-29F85504B3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282" y="5469475"/>
            <a:ext cx="722400" cy="74116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310DFEF-F1A7-D721-59BC-3D9ADE8573A5}"/>
              </a:ext>
            </a:extLst>
          </p:cNvPr>
          <p:cNvSpPr/>
          <p:nvPr/>
        </p:nvSpPr>
        <p:spPr>
          <a:xfrm>
            <a:off x="2510709" y="5461961"/>
            <a:ext cx="777486" cy="8090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E3B6C6-29C2-62AF-C807-F8F488F44299}"/>
              </a:ext>
            </a:extLst>
          </p:cNvPr>
          <p:cNvSpPr/>
          <p:nvPr/>
        </p:nvSpPr>
        <p:spPr>
          <a:xfrm>
            <a:off x="7881649" y="5529833"/>
            <a:ext cx="3090672" cy="7411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3D6C75-25BE-EFDA-3165-ACA37972775B}"/>
              </a:ext>
            </a:extLst>
          </p:cNvPr>
          <p:cNvSpPr txBox="1"/>
          <p:nvPr/>
        </p:nvSpPr>
        <p:spPr>
          <a:xfrm>
            <a:off x="8600387" y="6255822"/>
            <a:ext cx="15721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1 mistake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F7568B-8A6E-7460-38F1-1D8B3C0498CE}"/>
              </a:ext>
            </a:extLst>
          </p:cNvPr>
          <p:cNvSpPr txBox="1"/>
          <p:nvPr/>
        </p:nvSpPr>
        <p:spPr>
          <a:xfrm>
            <a:off x="1907934" y="6291779"/>
            <a:ext cx="15721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1 mistake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378242-CC81-7EB7-867B-E719FA5E7A67}"/>
              </a:ext>
            </a:extLst>
          </p:cNvPr>
          <p:cNvSpPr txBox="1"/>
          <p:nvPr/>
        </p:nvSpPr>
        <p:spPr>
          <a:xfrm>
            <a:off x="3385725" y="6291779"/>
            <a:ext cx="15721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1 mistake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ED2385-574F-2635-4CEC-7E30C12DE759}"/>
              </a:ext>
            </a:extLst>
          </p:cNvPr>
          <p:cNvSpPr txBox="1"/>
          <p:nvPr/>
        </p:nvSpPr>
        <p:spPr>
          <a:xfrm>
            <a:off x="4854452" y="6286500"/>
            <a:ext cx="17132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2 mistakes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D8E687-D9E3-59B4-1688-519C574BEA8A}"/>
              </a:ext>
            </a:extLst>
          </p:cNvPr>
          <p:cNvSpPr txBox="1"/>
          <p:nvPr/>
        </p:nvSpPr>
        <p:spPr>
          <a:xfrm>
            <a:off x="6480936" y="6285665"/>
            <a:ext cx="15721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1 mistake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954BAF89-34D9-9F89-51EC-1D873C7F08C6}"/>
              </a:ext>
            </a:extLst>
          </p:cNvPr>
          <p:cNvSpPr/>
          <p:nvPr/>
        </p:nvSpPr>
        <p:spPr>
          <a:xfrm>
            <a:off x="590213" y="3523854"/>
            <a:ext cx="497467" cy="2611225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6D7C13-6184-8DDF-AE88-8CDBFC61E8ED}"/>
                  </a:ext>
                </a:extLst>
              </p:cNvPr>
              <p:cNvSpPr txBox="1"/>
              <p:nvPr/>
            </p:nvSpPr>
            <p:spPr>
              <a:xfrm>
                <a:off x="176955" y="4573744"/>
                <a:ext cx="4286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6D7C13-6184-8DDF-AE88-8CDBFC61E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955" y="4573744"/>
                <a:ext cx="428608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3179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03685F60-2942-E2C4-0FC1-DC130285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3DCFDA0C-B024-7833-C7F9-AAACA8E900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49271" y="1323245"/>
            <a:ext cx="8520600" cy="7635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Fundamental Problem of </a:t>
            </a:r>
            <a:r>
              <a:rPr lang="en" b="1" dirty="0">
                <a:solidFill>
                  <a:srgbClr val="EF5000"/>
                </a:solidFill>
              </a:rPr>
              <a:t>Sequential Prediction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3392EC0D-1755-065E-3D34-3F11DEECB44F}"/>
              </a:ext>
            </a:extLst>
          </p:cNvPr>
          <p:cNvSpPr txBox="1"/>
          <p:nvPr/>
        </p:nvSpPr>
        <p:spPr>
          <a:xfrm>
            <a:off x="1030662" y="2348841"/>
            <a:ext cx="9477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 dirty="0"/>
              <a:t>Day</a:t>
            </a:r>
            <a:endParaRPr sz="3000" b="1" dirty="0"/>
          </a:p>
        </p:txBody>
      </p:sp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5852C6B6-121E-1D8A-F498-EEE2CEBAC700}"/>
              </a:ext>
            </a:extLst>
          </p:cNvPr>
          <p:cNvSpPr txBox="1"/>
          <p:nvPr/>
        </p:nvSpPr>
        <p:spPr>
          <a:xfrm>
            <a:off x="8089283" y="2348841"/>
            <a:ext cx="878562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/>
              <a:t>You</a:t>
            </a:r>
            <a:endParaRPr sz="3000" b="1"/>
          </a:p>
        </p:txBody>
      </p:sp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21FCD112-FE73-DEF2-BF4B-D3FE20726B14}"/>
              </a:ext>
            </a:extLst>
          </p:cNvPr>
          <p:cNvSpPr txBox="1"/>
          <p:nvPr/>
        </p:nvSpPr>
        <p:spPr>
          <a:xfrm>
            <a:off x="9402644" y="2348841"/>
            <a:ext cx="17529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 dirty="0"/>
              <a:t>Outcome</a:t>
            </a:r>
            <a:endParaRPr sz="3000" b="1" dirty="0"/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EF259751-A30F-147D-3D8A-920A06E604EF}"/>
              </a:ext>
            </a:extLst>
          </p:cNvPr>
          <p:cNvSpPr txBox="1"/>
          <p:nvPr/>
        </p:nvSpPr>
        <p:spPr>
          <a:xfrm>
            <a:off x="1286634" y="3609796"/>
            <a:ext cx="5202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/>
              <a:t>1</a:t>
            </a:r>
            <a:endParaRPr sz="3000" b="1"/>
          </a:p>
        </p:txBody>
      </p:sp>
      <p:pic>
        <p:nvPicPr>
          <p:cNvPr id="71" name="Google Shape;71;p14">
            <a:extLst>
              <a:ext uri="{FF2B5EF4-FFF2-40B4-BE49-F238E27FC236}">
                <a16:creationId xmlns:a16="http://schemas.microsoft.com/office/drawing/2014/main" id="{5C5FB910-06E2-09C7-6C17-BFA22009A2D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2832" y="3639333"/>
            <a:ext cx="722400" cy="74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>
            <a:extLst>
              <a:ext uri="{FF2B5EF4-FFF2-40B4-BE49-F238E27FC236}">
                <a16:creationId xmlns:a16="http://schemas.microsoft.com/office/drawing/2014/main" id="{C5497183-BDF6-C29A-4E74-CBCC9A13D16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0369" y="3660719"/>
            <a:ext cx="621325" cy="637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>
            <a:extLst>
              <a:ext uri="{FF2B5EF4-FFF2-40B4-BE49-F238E27FC236}">
                <a16:creationId xmlns:a16="http://schemas.microsoft.com/office/drawing/2014/main" id="{D392213A-B726-6310-E424-8976BC2BA0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1005" y="3551733"/>
            <a:ext cx="722400" cy="74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>
            <a:extLst>
              <a:ext uri="{FF2B5EF4-FFF2-40B4-BE49-F238E27FC236}">
                <a16:creationId xmlns:a16="http://schemas.microsoft.com/office/drawing/2014/main" id="{19909D47-BEE5-123F-5B59-8895525DB80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6327" y="3551733"/>
            <a:ext cx="722400" cy="74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>
            <a:extLst>
              <a:ext uri="{FF2B5EF4-FFF2-40B4-BE49-F238E27FC236}">
                <a16:creationId xmlns:a16="http://schemas.microsoft.com/office/drawing/2014/main" id="{5BB2A7E6-7945-BE13-054C-66B6090B466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8683" y="3595986"/>
            <a:ext cx="722400" cy="74116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411435B4-ADAC-BEEE-E76B-AC0956D52212}"/>
              </a:ext>
            </a:extLst>
          </p:cNvPr>
          <p:cNvSpPr txBox="1"/>
          <p:nvPr/>
        </p:nvSpPr>
        <p:spPr>
          <a:xfrm>
            <a:off x="1185534" y="4598846"/>
            <a:ext cx="7224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/>
              <a:t>2</a:t>
            </a:r>
            <a:endParaRPr sz="3000" b="1"/>
          </a:p>
        </p:txBody>
      </p:sp>
      <p:pic>
        <p:nvPicPr>
          <p:cNvPr id="77" name="Google Shape;77;p14">
            <a:extLst>
              <a:ext uri="{FF2B5EF4-FFF2-40B4-BE49-F238E27FC236}">
                <a16:creationId xmlns:a16="http://schemas.microsoft.com/office/drawing/2014/main" id="{6BF82BF5-7B43-0111-33D1-BE4A419F0F6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3358" y="4680246"/>
            <a:ext cx="621325" cy="637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>
            <a:extLst>
              <a:ext uri="{FF2B5EF4-FFF2-40B4-BE49-F238E27FC236}">
                <a16:creationId xmlns:a16="http://schemas.microsoft.com/office/drawing/2014/main" id="{AB0E559C-3611-BBF7-05F9-2467A0CE393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0369" y="4649769"/>
            <a:ext cx="621325" cy="637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4">
            <a:extLst>
              <a:ext uri="{FF2B5EF4-FFF2-40B4-BE49-F238E27FC236}">
                <a16:creationId xmlns:a16="http://schemas.microsoft.com/office/drawing/2014/main" id="{8712FE46-487A-01CC-E373-FB2EC7CDF6E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0980" y="4540783"/>
            <a:ext cx="722400" cy="74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4">
            <a:extLst>
              <a:ext uri="{FF2B5EF4-FFF2-40B4-BE49-F238E27FC236}">
                <a16:creationId xmlns:a16="http://schemas.microsoft.com/office/drawing/2014/main" id="{0D41F73B-2AED-6249-1886-9EDABF4C016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9209" y="4636899"/>
            <a:ext cx="621325" cy="637457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>
            <a:extLst>
              <a:ext uri="{FF2B5EF4-FFF2-40B4-BE49-F238E27FC236}">
                <a16:creationId xmlns:a16="http://schemas.microsoft.com/office/drawing/2014/main" id="{D7459DE5-136F-4E11-EA5A-36983B300529}"/>
              </a:ext>
            </a:extLst>
          </p:cNvPr>
          <p:cNvSpPr txBox="1"/>
          <p:nvPr/>
        </p:nvSpPr>
        <p:spPr>
          <a:xfrm>
            <a:off x="1185534" y="5587896"/>
            <a:ext cx="7224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3000" b="1"/>
              <a:t>3</a:t>
            </a:r>
            <a:endParaRPr sz="3000" b="1"/>
          </a:p>
        </p:txBody>
      </p:sp>
      <p:pic>
        <p:nvPicPr>
          <p:cNvPr id="83" name="Google Shape;83;p14">
            <a:extLst>
              <a:ext uri="{FF2B5EF4-FFF2-40B4-BE49-F238E27FC236}">
                <a16:creationId xmlns:a16="http://schemas.microsoft.com/office/drawing/2014/main" id="{F2261891-FB95-3CA1-7227-8ED032553F0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1144" y="5638819"/>
            <a:ext cx="621325" cy="637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4">
            <a:extLst>
              <a:ext uri="{FF2B5EF4-FFF2-40B4-BE49-F238E27FC236}">
                <a16:creationId xmlns:a16="http://schemas.microsoft.com/office/drawing/2014/main" id="{F602BDCE-5F68-EA80-DD67-B3FD9CC83AF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1005" y="5529833"/>
            <a:ext cx="722400" cy="74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4">
            <a:extLst>
              <a:ext uri="{FF2B5EF4-FFF2-40B4-BE49-F238E27FC236}">
                <a16:creationId xmlns:a16="http://schemas.microsoft.com/office/drawing/2014/main" id="{ACDAC270-FE48-6D84-86B0-3ABC2FB02D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6327" y="5529833"/>
            <a:ext cx="722400" cy="74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4">
            <a:extLst>
              <a:ext uri="{FF2B5EF4-FFF2-40B4-BE49-F238E27FC236}">
                <a16:creationId xmlns:a16="http://schemas.microsoft.com/office/drawing/2014/main" id="{005E99A4-BFBF-4517-D398-4EB5390CF9F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9209" y="5574099"/>
            <a:ext cx="621325" cy="637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>
            <a:extLst>
              <a:ext uri="{FF2B5EF4-FFF2-40B4-BE49-F238E27FC236}">
                <a16:creationId xmlns:a16="http://schemas.microsoft.com/office/drawing/2014/main" id="{3DC3420D-6FE4-0EF8-8A38-02EF42018FF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32341" y="4592646"/>
            <a:ext cx="621325" cy="637457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C0667E8B-E610-847C-5CA4-E376F115174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>
                <a:solidFill>
                  <a:srgbClr val="C00000"/>
                </a:solidFill>
              </a:rPr>
              <a:t>Online Learning with Experts</a:t>
            </a:r>
          </a:p>
        </p:txBody>
      </p:sp>
      <p:pic>
        <p:nvPicPr>
          <p:cNvPr id="2052" name="Picture 4" descr="Albert Einstein Thinking Cartoon ...">
            <a:extLst>
              <a:ext uri="{FF2B5EF4-FFF2-40B4-BE49-F238E27FC236}">
                <a16:creationId xmlns:a16="http://schemas.microsoft.com/office/drawing/2014/main" id="{1C27083B-B492-A6E8-7C89-F7D7738A6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832" y="2036959"/>
            <a:ext cx="621325" cy="1486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ow to Draw Gandalf - Really Easy ...">
            <a:extLst>
              <a:ext uri="{FF2B5EF4-FFF2-40B4-BE49-F238E27FC236}">
                <a16:creationId xmlns:a16="http://schemas.microsoft.com/office/drawing/2014/main" id="{829E1E17-183A-0CF5-EC96-8EF693562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478" y="2159131"/>
            <a:ext cx="1091071" cy="1292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0" descr="Lisa Simpson - Wikipedia">
            <a:extLst>
              <a:ext uri="{FF2B5EF4-FFF2-40B4-BE49-F238E27FC236}">
                <a16:creationId xmlns:a16="http://schemas.microsoft.com/office/drawing/2014/main" id="{ED99C367-6A48-6897-5487-1A4D51459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980" y="2138613"/>
            <a:ext cx="852456" cy="1385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freetoedit #picsart #starwars #disney ...">
            <a:extLst>
              <a:ext uri="{FF2B5EF4-FFF2-40B4-BE49-F238E27FC236}">
                <a16:creationId xmlns:a16="http://schemas.microsoft.com/office/drawing/2014/main" id="{5C2B058D-04AA-E3F4-B100-EFCE4105B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2029" y="2272059"/>
            <a:ext cx="910005" cy="1156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75;p14">
            <a:extLst>
              <a:ext uri="{FF2B5EF4-FFF2-40B4-BE49-F238E27FC236}">
                <a16:creationId xmlns:a16="http://schemas.microsoft.com/office/drawing/2014/main" id="{DE9F9F98-4830-1A97-6E8C-AE1E74BBE82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4232" y="3581004"/>
            <a:ext cx="722400" cy="74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78;p14">
            <a:extLst>
              <a:ext uri="{FF2B5EF4-FFF2-40B4-BE49-F238E27FC236}">
                <a16:creationId xmlns:a16="http://schemas.microsoft.com/office/drawing/2014/main" id="{671E2EB8-B965-351D-210C-F954589E1B3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4769" y="4638093"/>
            <a:ext cx="621325" cy="637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5;p14">
            <a:extLst>
              <a:ext uri="{FF2B5EF4-FFF2-40B4-BE49-F238E27FC236}">
                <a16:creationId xmlns:a16="http://schemas.microsoft.com/office/drawing/2014/main" id="{7D6A2536-3557-C68F-34F2-8181B3CAD52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0419" y="5540464"/>
            <a:ext cx="722400" cy="74116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9FFA542-EA80-8D5A-84EC-64F382527120}"/>
              </a:ext>
            </a:extLst>
          </p:cNvPr>
          <p:cNvSpPr/>
          <p:nvPr/>
        </p:nvSpPr>
        <p:spPr>
          <a:xfrm>
            <a:off x="5103437" y="4506847"/>
            <a:ext cx="777486" cy="8090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BE9830-28BE-E56C-2499-C7C6D10AD7EB}"/>
              </a:ext>
            </a:extLst>
          </p:cNvPr>
          <p:cNvSpPr/>
          <p:nvPr/>
        </p:nvSpPr>
        <p:spPr>
          <a:xfrm>
            <a:off x="3802494" y="3562050"/>
            <a:ext cx="777486" cy="8090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049124-2570-244D-F01A-CEE14F21FDA8}"/>
              </a:ext>
            </a:extLst>
          </p:cNvPr>
          <p:cNvSpPr/>
          <p:nvPr/>
        </p:nvSpPr>
        <p:spPr>
          <a:xfrm>
            <a:off x="5103803" y="5470721"/>
            <a:ext cx="777486" cy="8090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17CEE6-C58B-E093-2658-D2A8187B251B}"/>
              </a:ext>
            </a:extLst>
          </p:cNvPr>
          <p:cNvSpPr/>
          <p:nvPr/>
        </p:nvSpPr>
        <p:spPr>
          <a:xfrm>
            <a:off x="6454238" y="5470721"/>
            <a:ext cx="777486" cy="8090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oogle Shape;82;p14">
            <a:extLst>
              <a:ext uri="{FF2B5EF4-FFF2-40B4-BE49-F238E27FC236}">
                <a16:creationId xmlns:a16="http://schemas.microsoft.com/office/drawing/2014/main" id="{B1E7DEE2-92BD-A1D0-E532-7003C6ACDAA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282" y="5469475"/>
            <a:ext cx="722400" cy="74116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7B5EF04-DD9B-6797-C253-62BA155CB973}"/>
              </a:ext>
            </a:extLst>
          </p:cNvPr>
          <p:cNvSpPr/>
          <p:nvPr/>
        </p:nvSpPr>
        <p:spPr>
          <a:xfrm>
            <a:off x="2510709" y="5461961"/>
            <a:ext cx="777486" cy="8090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6CE7D5-F856-ABEC-35E8-DA99D5FF1FD0}"/>
              </a:ext>
            </a:extLst>
          </p:cNvPr>
          <p:cNvSpPr/>
          <p:nvPr/>
        </p:nvSpPr>
        <p:spPr>
          <a:xfrm>
            <a:off x="7881649" y="5529833"/>
            <a:ext cx="3090672" cy="7411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AA588F-AE0B-5274-B857-D8EBA16E83E5}"/>
              </a:ext>
            </a:extLst>
          </p:cNvPr>
          <p:cNvSpPr txBox="1"/>
          <p:nvPr/>
        </p:nvSpPr>
        <p:spPr>
          <a:xfrm>
            <a:off x="8600387" y="6255822"/>
            <a:ext cx="15721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1 mistake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817D45-B13B-EFD2-53C4-0390F054A8A7}"/>
              </a:ext>
            </a:extLst>
          </p:cNvPr>
          <p:cNvSpPr txBox="1"/>
          <p:nvPr/>
        </p:nvSpPr>
        <p:spPr>
          <a:xfrm>
            <a:off x="1907934" y="6291779"/>
            <a:ext cx="15721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1 mistake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6834E1-A687-95B8-EB37-934BA4D82D93}"/>
              </a:ext>
            </a:extLst>
          </p:cNvPr>
          <p:cNvSpPr txBox="1"/>
          <p:nvPr/>
        </p:nvSpPr>
        <p:spPr>
          <a:xfrm>
            <a:off x="3385725" y="6291779"/>
            <a:ext cx="15721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1 mistake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F70DD9-AE9F-0A56-7299-2C6EBCFD0E35}"/>
              </a:ext>
            </a:extLst>
          </p:cNvPr>
          <p:cNvSpPr txBox="1"/>
          <p:nvPr/>
        </p:nvSpPr>
        <p:spPr>
          <a:xfrm>
            <a:off x="4854452" y="6286500"/>
            <a:ext cx="17132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2 mistakes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D1142C-EF02-2816-8C60-A61F4F77DE76}"/>
              </a:ext>
            </a:extLst>
          </p:cNvPr>
          <p:cNvSpPr txBox="1"/>
          <p:nvPr/>
        </p:nvSpPr>
        <p:spPr>
          <a:xfrm>
            <a:off x="6480936" y="6285665"/>
            <a:ext cx="15721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1 mistake</a:t>
            </a:r>
          </a:p>
        </p:txBody>
      </p:sp>
      <p:sp>
        <p:nvSpPr>
          <p:cNvPr id="6" name="Wave 5">
            <a:extLst>
              <a:ext uri="{FF2B5EF4-FFF2-40B4-BE49-F238E27FC236}">
                <a16:creationId xmlns:a16="http://schemas.microsoft.com/office/drawing/2014/main" id="{3536134E-182C-B70A-9AF7-DA0342825204}"/>
              </a:ext>
            </a:extLst>
          </p:cNvPr>
          <p:cNvSpPr/>
          <p:nvPr/>
        </p:nvSpPr>
        <p:spPr>
          <a:xfrm>
            <a:off x="2405349" y="1619596"/>
            <a:ext cx="7156174" cy="2958044"/>
          </a:xfrm>
          <a:prstGeom prst="wave">
            <a:avLst/>
          </a:prstGeom>
          <a:solidFill>
            <a:schemeClr val="accent4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70C0"/>
                </a:solidFill>
              </a:rPr>
              <a:t>Regret</a:t>
            </a:r>
            <a:r>
              <a:rPr lang="en-US" sz="3200" dirty="0">
                <a:solidFill>
                  <a:schemeClr val="tx1"/>
                </a:solidFill>
              </a:rPr>
              <a:t>: # of mistakes by algorithm- # of mistakes by best expert</a:t>
            </a:r>
          </a:p>
        </p:txBody>
      </p:sp>
    </p:spTree>
    <p:extLst>
      <p:ext uri="{BB962C8B-B14F-4D97-AF65-F5344CB8AC3E}">
        <p14:creationId xmlns:p14="http://schemas.microsoft.com/office/powerpoint/2010/main" val="1691318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A1D99-742F-8E3F-9938-5525C897D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76AFB-11DA-5CB5-71F0-3900C44A0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Challenges and Motivation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B19AF5-2F85-6675-2499-0D4EAECA5F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667251"/>
              </a:xfrm>
            </p:spPr>
            <p:txBody>
              <a:bodyPr>
                <a:normAutofit/>
              </a:bodyPr>
              <a:lstStyle/>
              <a:p>
                <a:r>
                  <a:rPr lang="en-US" sz="3000" dirty="0"/>
                  <a:t>Number of experts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000" dirty="0"/>
                  <a:t> can be very large – online learning under memory constraints</a:t>
                </a:r>
              </a:p>
              <a:p>
                <a:endParaRPr lang="en-US" sz="3000" dirty="0"/>
              </a:p>
              <a:p>
                <a:r>
                  <a:rPr lang="en-US" sz="3000" dirty="0"/>
                  <a:t>Not all times are created equal – recent data more valuable than older data</a:t>
                </a:r>
              </a:p>
              <a:p>
                <a:endParaRPr lang="en-US" sz="3000" dirty="0"/>
              </a:p>
              <a:p>
                <a:r>
                  <a:rPr lang="en-US" sz="3000" dirty="0"/>
                  <a:t>Querying experts can be expensive – need strong regret guarantees with limited queries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B19AF5-2F85-6675-2499-0D4EAECA5F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667251"/>
              </a:xfrm>
              <a:blipFill>
                <a:blip r:embed="rId2"/>
                <a:stretch>
                  <a:fillRect l="-1217" t="-2611" r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4717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97B2C-228C-CA0E-2AB4-BF6B111D6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4CDDB-6A98-621B-FA9D-1B205E916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Preview of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D990974-99DE-EB0B-2040-0CC8357F574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Input</a:t>
                </a:r>
                <a:r>
                  <a:rPr lang="en-US" sz="3000" dirty="0"/>
                  <a:t>: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000" dirty="0"/>
                  <a:t> experts, time horizon of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000" dirty="0"/>
                  <a:t> days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Task</a:t>
                </a:r>
                <a:r>
                  <a:rPr lang="en-US" sz="3000" dirty="0"/>
                  <a:t>: online learning with experts 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Two queries are very strong!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sz="3000" i="1" dirty="0">
                    <a:solidFill>
                      <a:srgbClr val="0070C0"/>
                    </a:solidFill>
                  </a:rPr>
                  <a:t>Separation</a:t>
                </a:r>
                <a:r>
                  <a:rPr lang="en-US" sz="3000" dirty="0"/>
                  <a:t> between regret with two queries and single query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sz="3000" dirty="0"/>
                  <a:t>Can achieve </a:t>
                </a:r>
                <a:r>
                  <a:rPr lang="en-US" sz="3000" i="1" dirty="0">
                    <a:solidFill>
                      <a:srgbClr val="0070C0"/>
                    </a:solidFill>
                  </a:rPr>
                  <a:t>optimal</a:t>
                </a:r>
                <a:r>
                  <a:rPr lang="en-US" sz="3000" dirty="0"/>
                  <a:t> regret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polylog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3000" dirty="0"/>
                  <a:t> memory for many notions of regret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Can get </a:t>
                </a:r>
                <a:r>
                  <a:rPr lang="en-US" sz="3000" i="1" dirty="0">
                    <a:solidFill>
                      <a:srgbClr val="0070C0"/>
                    </a:solidFill>
                  </a:rPr>
                  <a:t>sublinear</a:t>
                </a:r>
                <a:r>
                  <a:rPr lang="en-US" sz="3000" dirty="0"/>
                  <a:t> regret in streaming model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polylog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3000" dirty="0"/>
                  <a:t> memory and a single query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sz="3000" i="1" dirty="0">
                    <a:solidFill>
                      <a:srgbClr val="0070C0"/>
                    </a:solidFill>
                  </a:rPr>
                  <a:t>Optimal</a:t>
                </a:r>
                <a:r>
                  <a:rPr lang="en-US" sz="3000" dirty="0"/>
                  <a:t> regret if best expert is distributed “randomly”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D990974-99DE-EB0B-2040-0CC8357F57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1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7357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419F0-1AC1-BB66-EA17-35AE83962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6EA65-5D89-2C58-0F4B-9CB7DE306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Classic Experts Problem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B0F459-09E6-0A43-EB6C-13FD204C69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Input</a:t>
                </a:r>
                <a:r>
                  <a:rPr lang="en-US" sz="3000" dirty="0"/>
                  <a:t>: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000" dirty="0"/>
                  <a:t> experts, time horizon of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000" dirty="0"/>
                  <a:t> days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r>
                  <a:rPr lang="en-US" sz="3000" dirty="0"/>
                  <a:t>(Randomized) weighted majority algorithm / multiplicative weights</a:t>
                </a:r>
                <a:r>
                  <a:rPr lang="en-US" sz="3000" dirty="0">
                    <a:solidFill>
                      <a:srgbClr val="C00000"/>
                    </a:solidFill>
                  </a:rPr>
                  <a:t> </a:t>
                </a:r>
                <a:r>
                  <a:rPr lang="en-US" sz="3000" dirty="0">
                    <a:solidFill>
                      <a:srgbClr val="7030A0"/>
                    </a:solidFill>
                  </a:rPr>
                  <a:t>[</a:t>
                </a:r>
                <a:r>
                  <a:rPr lang="en-US" sz="3000" dirty="0" err="1">
                    <a:solidFill>
                      <a:srgbClr val="7030A0"/>
                    </a:solidFill>
                  </a:rPr>
                  <a:t>Littlestone</a:t>
                </a:r>
                <a:r>
                  <a:rPr lang="en-US" sz="3000" dirty="0">
                    <a:solidFill>
                      <a:srgbClr val="7030A0"/>
                    </a:solidFill>
                  </a:rPr>
                  <a:t>, Warmuth 89] </a:t>
                </a:r>
                <a:r>
                  <a:rPr lang="en-US" sz="3000" dirty="0"/>
                  <a:t>keeps weights for each expert and updates these weights on incorrect predictions</a:t>
                </a:r>
              </a:p>
              <a:p>
                <a:pPr marL="0" indent="0">
                  <a:buNone/>
                </a:pPr>
                <a:endParaRPr lang="en-US" sz="3000" dirty="0"/>
              </a:p>
              <a:p>
                <a:r>
                  <a:rPr lang="en-US" sz="3000" dirty="0"/>
                  <a:t>These algorithms achieve regret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func>
                              <m:func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30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rad>
                      </m:e>
                    </m:d>
                  </m:oMath>
                </a14:m>
                <a:r>
                  <a:rPr lang="en-US" sz="3000" dirty="0"/>
                  <a:t> – and best possible regret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func>
                              <m:func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30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rad>
                      </m:e>
                    </m:d>
                  </m:oMath>
                </a14:m>
                <a:r>
                  <a:rPr lang="en-US" sz="3000" dirty="0">
                    <a:solidFill>
                      <a:srgbClr val="7030A0"/>
                    </a:solidFill>
                  </a:rPr>
                  <a:t> [Cover 66]</a:t>
                </a:r>
                <a:endParaRPr lang="en-US" sz="3000" dirty="0"/>
              </a:p>
              <a:p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B0F459-09E6-0A43-EB6C-13FD204C69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801" r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2844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92213-69C2-9A22-3F91-1E7C5855F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87276-F676-65D0-DAA5-9A995742B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Resource Constraints (Query Complexity)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F9832-3BF0-DAE3-08A5-94FA539CB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/>
          </a:bodyPr>
          <a:lstStyle/>
          <a:p>
            <a:endParaRPr lang="en-US" sz="3000" dirty="0"/>
          </a:p>
          <a:p>
            <a:endParaRPr 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BAADD42-A14C-A331-1523-D9DB5BAD95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3000" dirty="0"/>
                  <a:t>Small query complexity, ideally just a single query per time, i.e., bandit setting</a:t>
                </a:r>
              </a:p>
              <a:p>
                <a:endParaRPr lang="en-US" sz="3000" dirty="0"/>
              </a:p>
              <a:p>
                <a:endParaRPr lang="en-US" sz="3000" dirty="0"/>
              </a:p>
              <a:p>
                <a:r>
                  <a:rPr lang="en-US" sz="3000" dirty="0"/>
                  <a:t>Classical algorithms, e.g., EXP3, achieve regret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3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rad>
                      </m:e>
                    </m:d>
                  </m:oMath>
                </a14:m>
                <a:r>
                  <a:rPr lang="en-US" sz="3000" dirty="0"/>
                  <a:t>, which is known to be optimal </a:t>
                </a:r>
                <a:r>
                  <a:rPr lang="en-US" sz="3000" dirty="0">
                    <a:solidFill>
                      <a:srgbClr val="7030A0"/>
                    </a:solidFill>
                  </a:rPr>
                  <a:t>[Auer, </a:t>
                </a:r>
                <a:r>
                  <a:rPr lang="en-US" sz="3000" dirty="0" err="1">
                    <a:solidFill>
                      <a:srgbClr val="7030A0"/>
                    </a:solidFill>
                  </a:rPr>
                  <a:t>Cesa</a:t>
                </a:r>
                <a:r>
                  <a:rPr lang="en-US" sz="3000" dirty="0">
                    <a:solidFill>
                      <a:srgbClr val="7030A0"/>
                    </a:solidFill>
                  </a:rPr>
                  <a:t>-Bianchi, Fruend-</a:t>
                </a:r>
                <a:r>
                  <a:rPr lang="en-US" sz="3000" dirty="0" err="1">
                    <a:solidFill>
                      <a:srgbClr val="7030A0"/>
                    </a:solidFill>
                  </a:rPr>
                  <a:t>Schapire</a:t>
                </a:r>
                <a:r>
                  <a:rPr lang="en-US" sz="3000" dirty="0">
                    <a:solidFill>
                      <a:srgbClr val="7030A0"/>
                    </a:solidFill>
                  </a:rPr>
                  <a:t> 02]</a:t>
                </a:r>
                <a:endParaRPr lang="en-US" sz="30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BAADD42-A14C-A331-1523-D9DB5BAD9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1217" t="-2801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1611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A2156-9181-4F6C-929F-A57DDD11A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Resource Constraints (Memory)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28885-F462-4E45-82DA-47F81F0B6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/>
          </a:bodyPr>
          <a:lstStyle/>
          <a:p>
            <a:endParaRPr lang="en-US" sz="3000" dirty="0"/>
          </a:p>
          <a:p>
            <a:endParaRPr 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96F427D-18C5-09D6-107C-2F55352BD6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>
                    <a:schemeClr val="tx1"/>
                  </a:buClr>
                </a:pPr>
                <a:r>
                  <a:rPr lang="en-US" sz="3000" dirty="0"/>
                  <a:t>Large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000" dirty="0"/>
                  <a:t> and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3000" dirty="0"/>
                  <a:t>, sublinear memory desired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Sequence of works </a:t>
                </a:r>
                <a:r>
                  <a:rPr lang="en-US" sz="3000" dirty="0">
                    <a:solidFill>
                      <a:srgbClr val="7030A0"/>
                    </a:solidFill>
                  </a:rPr>
                  <a:t>[Srinivas, Woodruff, Xu, Zhou 22], [Peng, Zhang 23], [Aamand, Chen, Nguyen, Silwal 23], [Peng, Rubinstein 23]</a:t>
                </a:r>
                <a:r>
                  <a:rPr lang="en-US" sz="3000" dirty="0"/>
                  <a:t> culminating in near-optimal regret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30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0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</m:acc>
                      </m:e>
                      <m:sub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rad>
                      </m:e>
                    </m:d>
                  </m:oMath>
                </a14:m>
                <a:r>
                  <a:rPr lang="en-US" sz="3000" dirty="0"/>
                  <a:t>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polylog</m:t>
                    </m:r>
                    <m:d>
                      <m:d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3000" dirty="0"/>
                  <a:t> memory 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96F427D-18C5-09D6-107C-2F55352BD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1217" t="-280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8375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EC36E-4230-1BFB-8338-4B6F896D1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0256F-2395-114A-2296-44A0D7AC1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Regret Notions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36BCA26-EAD3-D376-D02E-869FE26410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Cumulative regret</a:t>
                </a:r>
                <a:r>
                  <a:rPr lang="en-US" sz="3000" dirty="0"/>
                  <a:t>: Regret over full history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Sliding window regret</a:t>
                </a:r>
                <a:r>
                  <a:rPr lang="en-US" sz="3000" dirty="0"/>
                  <a:t>: Regret over last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3000" dirty="0"/>
                  <a:t> days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sz="3000" dirty="0"/>
                  <a:t>Generalizes cumulative regret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Interval regret</a:t>
                </a:r>
                <a:r>
                  <a:rPr lang="en-US" sz="3000" dirty="0"/>
                  <a:t>: Regret over </a:t>
                </a:r>
                <a:r>
                  <a:rPr lang="en-US" sz="3000" i="1" dirty="0">
                    <a:solidFill>
                      <a:srgbClr val="0070C0"/>
                    </a:solidFill>
                  </a:rPr>
                  <a:t>any interval</a:t>
                </a:r>
                <a:r>
                  <a:rPr lang="en-US" sz="3000" dirty="0"/>
                  <a:t>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sz="3000" dirty="0"/>
              </a:p>
              <a:p>
                <a:pPr lvl="1">
                  <a:buClr>
                    <a:schemeClr val="tx1"/>
                  </a:buClr>
                </a:pPr>
                <a:r>
                  <a:rPr lang="en-US" sz="3000" dirty="0"/>
                  <a:t>Generalizes sliding window regret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36BCA26-EAD3-D376-D02E-869FE2641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1217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9928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5774A-FB46-5401-EF6C-9CF88327C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FEAEB-6790-E892-955F-3A0ACEB2E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Lower Bounds for Interval Regret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C8C8FA6-0464-33F9-6758-BE473C7675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1 query per time </a:t>
                </a:r>
                <a:r>
                  <a:rPr lang="en-US" sz="3000" dirty="0"/>
                  <a:t>(bandit setting):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3000" dirty="0"/>
                  <a:t> regret, for all fixed constants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3000" dirty="0"/>
                  <a:t> </a:t>
                </a:r>
                <a:r>
                  <a:rPr lang="en-US" sz="3000" dirty="0">
                    <a:solidFill>
                      <a:srgbClr val="7030A0"/>
                    </a:solidFill>
                  </a:rPr>
                  <a:t>[Daniely, Gonen, Shalev-Shwartz 15]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Constant number of queries</a:t>
                </a:r>
                <a:r>
                  <a:rPr lang="en-US" sz="30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d>
                          </m:e>
                        </m:rad>
                      </m:e>
                    </m:d>
                  </m:oMath>
                </a14:m>
                <a:r>
                  <a:rPr lang="en-US" sz="3000" dirty="0"/>
                  <a:t> regret </a:t>
                </a:r>
                <a:r>
                  <a:rPr lang="en-US" sz="3000" dirty="0">
                    <a:solidFill>
                      <a:srgbClr val="7030A0"/>
                    </a:solidFill>
                  </a:rPr>
                  <a:t>[Auer, </a:t>
                </a:r>
                <a:r>
                  <a:rPr lang="en-US" sz="3000" dirty="0" err="1">
                    <a:solidFill>
                      <a:srgbClr val="7030A0"/>
                    </a:solidFill>
                  </a:rPr>
                  <a:t>Cesa</a:t>
                </a:r>
                <a:r>
                  <a:rPr lang="en-US" sz="3000" dirty="0">
                    <a:solidFill>
                      <a:srgbClr val="7030A0"/>
                    </a:solidFill>
                  </a:rPr>
                  <a:t>-Bianchi, Freund, </a:t>
                </a:r>
                <a:r>
                  <a:rPr lang="en-US" sz="3000" dirty="0" err="1">
                    <a:solidFill>
                      <a:srgbClr val="7030A0"/>
                    </a:solidFill>
                  </a:rPr>
                  <a:t>Schapire</a:t>
                </a:r>
                <a:r>
                  <a:rPr lang="en-US" sz="3000" dirty="0">
                    <a:solidFill>
                      <a:srgbClr val="7030A0"/>
                    </a:solidFill>
                  </a:rPr>
                  <a:t> 02]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C8C8FA6-0464-33F9-6758-BE473C767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1217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9717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BFA28-C54C-FC9F-EFC2-458870E08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Our Results (I)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133B828-75AF-71D2-1EB0-AA2CA78BE91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Input</a:t>
                </a:r>
                <a:r>
                  <a:rPr lang="en-US" sz="3000" dirty="0"/>
                  <a:t>: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000" dirty="0"/>
                  <a:t> experts, time horizon of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000" dirty="0"/>
                  <a:t> days</a:t>
                </a:r>
              </a:p>
              <a:p>
                <a:pPr marL="114300" indent="0">
                  <a:buClr>
                    <a:schemeClr val="tx1"/>
                  </a:buClr>
                  <a:buNone/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Task</a:t>
                </a:r>
                <a:r>
                  <a:rPr lang="en-US" sz="3000" dirty="0"/>
                  <a:t>: online learning with experts 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Theorem</a:t>
                </a:r>
                <a:r>
                  <a:rPr lang="en-US" sz="3000" dirty="0"/>
                  <a:t>: Algorithm with interval regret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3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d>
                          </m:e>
                        </m:rad>
                      </m:e>
                    </m:d>
                  </m:oMath>
                </a14:m>
                <a:r>
                  <a:rPr lang="en-US" sz="3000" dirty="0"/>
                  <a:t> using </a:t>
                </a:r>
                <a:r>
                  <a:rPr lang="en-US" sz="3000" dirty="0">
                    <a:solidFill>
                      <a:srgbClr val="0070C0"/>
                    </a:solidFill>
                  </a:rPr>
                  <a:t>two</a:t>
                </a:r>
                <a:r>
                  <a:rPr lang="en-US" sz="3000" dirty="0"/>
                  <a:t> queries per time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polylog</m:t>
                    </m:r>
                    <m:d>
                      <m:d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3000" dirty="0"/>
                  <a:t> memory for any interval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Corollary</a:t>
                </a:r>
                <a:r>
                  <a:rPr lang="en-US" sz="3000" dirty="0"/>
                  <a:t>: Algorithm for </a:t>
                </a:r>
                <a:r>
                  <a:rPr lang="en-US" sz="3000" i="1" dirty="0">
                    <a:solidFill>
                      <a:srgbClr val="0070C0"/>
                    </a:solidFill>
                  </a:rPr>
                  <a:t>sliding window model</a:t>
                </a:r>
                <a:r>
                  <a:rPr lang="en-US" sz="3000" dirty="0"/>
                  <a:t> with interval regret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3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𝑛𝑊</m:t>
                            </m:r>
                          </m:e>
                        </m:rad>
                      </m:e>
                    </m:d>
                  </m:oMath>
                </a14:m>
                <a:r>
                  <a:rPr lang="en-US" sz="3000" dirty="0"/>
                  <a:t> using </a:t>
                </a:r>
                <a:r>
                  <a:rPr lang="en-US" sz="3000" dirty="0">
                    <a:solidFill>
                      <a:srgbClr val="0070C0"/>
                    </a:solidFill>
                  </a:rPr>
                  <a:t>two</a:t>
                </a:r>
                <a:r>
                  <a:rPr lang="en-US" sz="3000" dirty="0"/>
                  <a:t> queries per time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polylog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3000" dirty="0"/>
                  <a:t> memory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133B828-75AF-71D2-1EB0-AA2CA78BE9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1606" r="-1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1379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9B646-9DDE-7B34-AB28-E80F72FC1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D6B24-2740-230B-B30B-018559ECD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Our Results (I)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1C7AE39-E846-B103-8323-C1AB030F6C6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Input</a:t>
                </a:r>
                <a:r>
                  <a:rPr lang="en-US" sz="3000" dirty="0"/>
                  <a:t>: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000" dirty="0"/>
                  <a:t> experts, time horizon of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000" dirty="0"/>
                  <a:t> days</a:t>
                </a:r>
              </a:p>
              <a:p>
                <a:pPr marL="114300" indent="0">
                  <a:buClr>
                    <a:schemeClr val="tx1"/>
                  </a:buClr>
                  <a:buNone/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Task</a:t>
                </a:r>
                <a:r>
                  <a:rPr lang="en-US" sz="3000" dirty="0"/>
                  <a:t>: online learning with experts 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Theorem</a:t>
                </a:r>
                <a:r>
                  <a:rPr lang="en-US" sz="3000" dirty="0"/>
                  <a:t>: Algorithm with interval regret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3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d>
                          </m:e>
                        </m:rad>
                      </m:e>
                    </m:d>
                  </m:oMath>
                </a14:m>
                <a:r>
                  <a:rPr lang="en-US" sz="3000" dirty="0"/>
                  <a:t> using </a:t>
                </a:r>
                <a:r>
                  <a:rPr lang="en-US" sz="3000" dirty="0">
                    <a:solidFill>
                      <a:srgbClr val="0070C0"/>
                    </a:solidFill>
                  </a:rPr>
                  <a:t>two</a:t>
                </a:r>
                <a:r>
                  <a:rPr lang="en-US" sz="3000" dirty="0"/>
                  <a:t> queries per time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polylog</m:t>
                    </m:r>
                    <m:d>
                      <m:d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3000" dirty="0"/>
                  <a:t> memory for any interval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Corollary</a:t>
                </a:r>
                <a:r>
                  <a:rPr lang="en-US" sz="3000" dirty="0"/>
                  <a:t>: Algorithm for </a:t>
                </a:r>
                <a:r>
                  <a:rPr lang="en-US" sz="3000" i="1" dirty="0">
                    <a:solidFill>
                      <a:srgbClr val="0070C0"/>
                    </a:solidFill>
                  </a:rPr>
                  <a:t>sliding window model</a:t>
                </a:r>
                <a:r>
                  <a:rPr lang="en-US" sz="3000" dirty="0"/>
                  <a:t> with interval regret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3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𝑛𝑊</m:t>
                            </m:r>
                          </m:e>
                        </m:rad>
                      </m:e>
                    </m:d>
                  </m:oMath>
                </a14:m>
                <a:r>
                  <a:rPr lang="en-US" sz="3000" dirty="0"/>
                  <a:t> using </a:t>
                </a:r>
                <a:r>
                  <a:rPr lang="en-US" sz="3000" dirty="0">
                    <a:solidFill>
                      <a:srgbClr val="0070C0"/>
                    </a:solidFill>
                  </a:rPr>
                  <a:t>two</a:t>
                </a:r>
                <a:r>
                  <a:rPr lang="en-US" sz="3000" dirty="0"/>
                  <a:t> queries per time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polylog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3000" dirty="0"/>
                  <a:t> memory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1C7AE39-E846-B103-8323-C1AB030F6C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1606" r="-1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Wave 3">
                <a:extLst>
                  <a:ext uri="{FF2B5EF4-FFF2-40B4-BE49-F238E27FC236}">
                    <a16:creationId xmlns:a16="http://schemas.microsoft.com/office/drawing/2014/main" id="{A5A1E21D-2F73-C646-32D5-5150DBB21CFC}"/>
                  </a:ext>
                </a:extLst>
              </p:cNvPr>
              <p:cNvSpPr/>
              <p:nvPr/>
            </p:nvSpPr>
            <p:spPr>
              <a:xfrm>
                <a:off x="359941" y="2025113"/>
                <a:ext cx="11288720" cy="2958044"/>
              </a:xfrm>
              <a:prstGeom prst="wav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0070C0"/>
                    </a:solidFill>
                  </a:rPr>
                  <a:t>Note: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3200" dirty="0"/>
                  <a:t> </a:t>
                </a:r>
                <a:r>
                  <a:rPr lang="en-US" sz="3200" dirty="0">
                    <a:solidFill>
                      <a:schemeClr val="tx1"/>
                    </a:solidFill>
                  </a:rPr>
                  <a:t>regret for one query</a:t>
                </a:r>
              </a:p>
              <a:p>
                <a:pPr algn="ctr"/>
                <a:r>
                  <a:rPr lang="en-US" sz="3200" dirty="0">
                    <a:solidFill>
                      <a:srgbClr val="7030A0"/>
                    </a:solidFill>
                  </a:rPr>
                  <a:t>[Daniely, Gonen, Shalev-Shwartz 15]</a:t>
                </a:r>
              </a:p>
              <a:p>
                <a:pPr algn="ctr"/>
                <a:r>
                  <a:rPr lang="en-US" sz="3200" dirty="0">
                    <a:solidFill>
                      <a:schemeClr val="tx1"/>
                    </a:solidFill>
                  </a:rPr>
                  <a:t>Separation between one and two queries in sliding window model</a:t>
                </a:r>
              </a:p>
            </p:txBody>
          </p:sp>
        </mc:Choice>
        <mc:Fallback xmlns="">
          <p:sp>
            <p:nvSpPr>
              <p:cNvPr id="4" name="Wave 3">
                <a:extLst>
                  <a:ext uri="{FF2B5EF4-FFF2-40B4-BE49-F238E27FC236}">
                    <a16:creationId xmlns:a16="http://schemas.microsoft.com/office/drawing/2014/main" id="{A5A1E21D-2F73-C646-32D5-5150DBB21C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41" y="2025113"/>
                <a:ext cx="11288720" cy="2958044"/>
              </a:xfrm>
              <a:prstGeom prst="wave">
                <a:avLst/>
              </a:prstGeom>
              <a:blipFill>
                <a:blip r:embed="rId3"/>
                <a:stretch>
                  <a:fillRect l="-377" r="-377"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2412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C36C3-E0FE-7A51-5639-2A6FB240E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3BC95D4-A39A-568E-40AD-8C719A117AB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5600" y="1536633"/>
                <a:ext cx="11360800" cy="4555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>
                    <a:schemeClr val="tx1"/>
                  </a:buClr>
                </a:pPr>
                <a:r>
                  <a:rPr lang="en-US" sz="3000" dirty="0"/>
                  <a:t>Sliding window model incompatible with linear sketches due to implicit expiration of data</a:t>
                </a:r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Smooth histograms, online sampling, and coresets do not work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Existing interval regret algorithms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000" dirty="0"/>
                  <a:t> memory, e.g., by partitioning the experts into blocks of “meta-experts” and forming hierarchical tree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3BC95D4-A39A-568E-40AD-8C719A117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00" y="1536633"/>
                <a:ext cx="11360800" cy="4555200"/>
              </a:xfrm>
              <a:prstGeom prst="rect">
                <a:avLst/>
              </a:prstGeom>
              <a:blipFill>
                <a:blip r:embed="rId2"/>
                <a:stretch>
                  <a:fillRect l="-1073" t="-2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20190F3A-76D0-3923-57F9-9F794462598B}"/>
              </a:ext>
            </a:extLst>
          </p:cNvPr>
          <p:cNvSpPr txBox="1">
            <a:spLocks/>
          </p:cNvSpPr>
          <p:nvPr/>
        </p:nvSpPr>
        <p:spPr>
          <a:xfrm>
            <a:off x="415600" y="593367"/>
            <a:ext cx="11360800" cy="763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Sliding Window Technical Challenges</a:t>
            </a:r>
          </a:p>
        </p:txBody>
      </p:sp>
    </p:spTree>
    <p:extLst>
      <p:ext uri="{BB962C8B-B14F-4D97-AF65-F5344CB8AC3E}">
        <p14:creationId xmlns:p14="http://schemas.microsoft.com/office/powerpoint/2010/main" val="714018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3E6C6-05A6-8298-1C2F-442F99D3D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CBDBB65-CAF2-E418-BAAF-CD2101BAC3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5600" y="1536633"/>
                <a:ext cx="11360800" cy="4555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>
                    <a:schemeClr val="tx1"/>
                  </a:buClr>
                </a:pPr>
                <a:r>
                  <a:rPr lang="en-US" sz="3000" dirty="0"/>
                  <a:t>Maintain small pool of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3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polylog</m:t>
                    </m:r>
                    <m:r>
                      <a:rPr lang="en-US" sz="3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000" dirty="0"/>
                  <a:t> experts on epochs of length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Want good performance if best expert is in pool </a:t>
                </a:r>
              </a:p>
              <a:p>
                <a:pPr lvl="1">
                  <a:buClr>
                    <a:schemeClr val="tx1"/>
                  </a:buClr>
                  <a:buFont typeface="Calibri" panose="020F0502020204030204" pitchFamily="34" charset="0"/>
                  <a:buChar char="→"/>
                </a:pPr>
                <a:r>
                  <a:rPr lang="en-US" sz="3000" dirty="0"/>
                  <a:t>Run bandit algorithm, e.g., EXP3, on pool</a:t>
                </a:r>
              </a:p>
              <a:p>
                <a:pPr lvl="1">
                  <a:buClr>
                    <a:schemeClr val="tx1"/>
                  </a:buClr>
                  <a:buFont typeface="Calibri" panose="020F0502020204030204" pitchFamily="34" charset="0"/>
                  <a:buChar char="→"/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Want to get new experts if all experts in pool are bad</a:t>
                </a:r>
              </a:p>
              <a:p>
                <a:pPr lvl="1">
                  <a:buClr>
                    <a:schemeClr val="tx1"/>
                  </a:buClr>
                  <a:buFont typeface="Calibri" panose="020F0502020204030204" pitchFamily="34" charset="0"/>
                  <a:buChar char="→"/>
                </a:pPr>
                <a:r>
                  <a:rPr lang="en-US" sz="3000" dirty="0"/>
                  <a:t>Sample and prune after epoch, evict experts not beating a baseline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CBDBB65-CAF2-E418-BAAF-CD2101BAC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00" y="1536633"/>
                <a:ext cx="11360800" cy="4555200"/>
              </a:xfrm>
              <a:prstGeom prst="rect">
                <a:avLst/>
              </a:prstGeom>
              <a:blipFill>
                <a:blip r:embed="rId2"/>
                <a:stretch>
                  <a:fillRect l="-1073" t="-2677" r="-8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97C4D6BE-9F4A-70FB-9D3A-7DBDFC19E05D}"/>
              </a:ext>
            </a:extLst>
          </p:cNvPr>
          <p:cNvSpPr txBox="1">
            <a:spLocks/>
          </p:cNvSpPr>
          <p:nvPr/>
        </p:nvSpPr>
        <p:spPr>
          <a:xfrm>
            <a:off x="415600" y="593367"/>
            <a:ext cx="11360800" cy="763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Sampling and Pruning</a:t>
            </a:r>
          </a:p>
        </p:txBody>
      </p:sp>
    </p:spTree>
    <p:extLst>
      <p:ext uri="{BB962C8B-B14F-4D97-AF65-F5344CB8AC3E}">
        <p14:creationId xmlns:p14="http://schemas.microsoft.com/office/powerpoint/2010/main" val="561142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4D292-3375-F941-C5C2-CE93F2486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80B9724-A9E8-C119-CCD9-E439CBA236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5600" y="1536633"/>
                <a:ext cx="11360800" cy="4555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Good epoch </a:t>
                </a:r>
                <a:r>
                  <a:rPr lang="en-US" sz="3000" dirty="0"/>
                  <a:t>= experts in pool are doing well (formally, best expert eventually evicted if sampled during this epoch)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Good regret on good epochs: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rad>
                  </m:oMath>
                </a14:m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Bad epoch </a:t>
                </a:r>
                <a:r>
                  <a:rPr lang="en-US" sz="3000" dirty="0"/>
                  <a:t>= no expert in pool is doing well (formally, best expert will stay if sampled during this epoch)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Bad regret on bad epochs: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BUT bounded number of bad epochs (because the best expert will get sampled and stay in pool), roughly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300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80B9724-A9E8-C119-CCD9-E439CBA23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00" y="1536633"/>
                <a:ext cx="11360800" cy="4555200"/>
              </a:xfrm>
              <a:prstGeom prst="rect">
                <a:avLst/>
              </a:prstGeom>
              <a:blipFill>
                <a:blip r:embed="rId2"/>
                <a:stretch>
                  <a:fillRect l="-1073" t="-2677" r="-590" b="-2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C79514CE-0E6F-0D36-1A00-657C0F01CE24}"/>
              </a:ext>
            </a:extLst>
          </p:cNvPr>
          <p:cNvSpPr txBox="1">
            <a:spLocks/>
          </p:cNvSpPr>
          <p:nvPr/>
        </p:nvSpPr>
        <p:spPr>
          <a:xfrm>
            <a:off x="415600" y="593367"/>
            <a:ext cx="11360800" cy="763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Good vs. Bad Epochs</a:t>
            </a:r>
          </a:p>
        </p:txBody>
      </p:sp>
    </p:spTree>
    <p:extLst>
      <p:ext uri="{BB962C8B-B14F-4D97-AF65-F5344CB8AC3E}">
        <p14:creationId xmlns:p14="http://schemas.microsoft.com/office/powerpoint/2010/main" val="1887471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15556-C490-7BA0-2F83-6C3B96034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506FA17-B51F-F40B-8014-720D4BF0D8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5600" y="1536633"/>
                <a:ext cx="11360800" cy="4555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>
                    <a:schemeClr val="tx1"/>
                  </a:buClr>
                </a:pPr>
                <a:r>
                  <a:rPr lang="en-US" sz="3000" dirty="0"/>
                  <a:t>Longer epoch lengths = larger regret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rad>
                  </m:oMath>
                </a14:m>
                <a:r>
                  <a:rPr lang="en-US" sz="3000" dirty="0"/>
                  <a:t> within good epoch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Small epoch lengths = larger number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000" dirty="0"/>
                  <a:t> of “restarts”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>
                  <a:solidFill>
                    <a:srgbClr val="00B05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Good epoch</a:t>
                </a:r>
                <a:r>
                  <a:rPr lang="en-US" sz="3000" dirty="0"/>
                  <a:t>: regret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rad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Bad epoch</a:t>
                </a:r>
                <a:r>
                  <a:rPr lang="en-US" sz="3000" dirty="0"/>
                  <a:t>: regret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Balanced at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2/3</m:t>
                        </m:r>
                      </m:sup>
                    </m:sSup>
                  </m:oMath>
                </a14:m>
                <a:endParaRPr lang="en-US" sz="300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506FA17-B51F-F40B-8014-720D4BF0D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00" y="1536633"/>
                <a:ext cx="11360800" cy="4555200"/>
              </a:xfrm>
              <a:prstGeom prst="rect">
                <a:avLst/>
              </a:prstGeom>
              <a:blipFill>
                <a:blip r:embed="rId2"/>
                <a:stretch>
                  <a:fillRect l="-1073" t="-1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81629922-D2C6-C0C7-4FE6-9C016DF22945}"/>
              </a:ext>
            </a:extLst>
          </p:cNvPr>
          <p:cNvSpPr txBox="1">
            <a:spLocks/>
          </p:cNvSpPr>
          <p:nvPr/>
        </p:nvSpPr>
        <p:spPr>
          <a:xfrm>
            <a:off x="415600" y="593367"/>
            <a:ext cx="11360800" cy="763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Baseline Tradeoff</a:t>
            </a:r>
          </a:p>
        </p:txBody>
      </p:sp>
    </p:spTree>
    <p:extLst>
      <p:ext uri="{BB962C8B-B14F-4D97-AF65-F5344CB8AC3E}">
        <p14:creationId xmlns:p14="http://schemas.microsoft.com/office/powerpoint/2010/main" val="1333499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55300-F693-9B98-54E6-25A0DFD18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7BF3A25-BE67-81F5-37AA-D257B14126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5600" y="1536633"/>
                <a:ext cx="11360800" cy="4555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>
                    <a:schemeClr val="tx1"/>
                  </a:buClr>
                </a:pPr>
                <a:r>
                  <a:rPr lang="en-US" sz="3000" dirty="0"/>
                  <a:t>Run a separate instance with time horizon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000" dirty="0"/>
                  <a:t> to improve regret on bad epochs (boosting)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Run EXP3 on these baselines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However, the days we play each baseline depend on the past loss sequences, i.e., the randomness is not independent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EXP3 avoids this because loss sequence of experts is fixed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Loss sequence of baselines is NOT fixed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7BF3A25-BE67-81F5-37AA-D257B1412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00" y="1536633"/>
                <a:ext cx="11360800" cy="4555200"/>
              </a:xfrm>
              <a:prstGeom prst="rect">
                <a:avLst/>
              </a:prstGeom>
              <a:blipFill>
                <a:blip r:embed="rId3"/>
                <a:stretch>
                  <a:fillRect l="-1073" t="-3481" r="-6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EB6AE99E-69F8-AF92-0A28-3F286022E6B4}"/>
              </a:ext>
            </a:extLst>
          </p:cNvPr>
          <p:cNvSpPr txBox="1">
            <a:spLocks/>
          </p:cNvSpPr>
          <p:nvPr/>
        </p:nvSpPr>
        <p:spPr>
          <a:xfrm>
            <a:off x="415600" y="593367"/>
            <a:ext cx="11360800" cy="763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Boosting and Correlated Dependencies</a:t>
            </a:r>
          </a:p>
        </p:txBody>
      </p:sp>
    </p:spTree>
    <p:extLst>
      <p:ext uri="{BB962C8B-B14F-4D97-AF65-F5344CB8AC3E}">
        <p14:creationId xmlns:p14="http://schemas.microsoft.com/office/powerpoint/2010/main" val="22734909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52E81-7D16-A4A5-67E9-CAA976F2D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56FD6-8ADD-A573-7C77-3E90FC54B12A}"/>
              </a:ext>
            </a:extLst>
          </p:cNvPr>
          <p:cNvSpPr txBox="1">
            <a:spLocks/>
          </p:cNvSpPr>
          <p:nvPr/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</a:pPr>
            <a:r>
              <a:rPr lang="en-US" sz="3000" dirty="0">
                <a:solidFill>
                  <a:srgbClr val="00B050"/>
                </a:solidFill>
              </a:rPr>
              <a:t>Key insight</a:t>
            </a:r>
            <a:r>
              <a:rPr lang="en-US" sz="3000" dirty="0"/>
              <a:t>: separate learning and playing</a:t>
            </a:r>
          </a:p>
          <a:p>
            <a:pPr>
              <a:buClr>
                <a:schemeClr val="tx1"/>
              </a:buClr>
            </a:pPr>
            <a:r>
              <a:rPr lang="en-US" sz="3000" dirty="0"/>
              <a:t>Fix exploration randomness</a:t>
            </a:r>
          </a:p>
          <a:p>
            <a:pPr>
              <a:buClr>
                <a:schemeClr val="tx1"/>
              </a:buClr>
            </a:pPr>
            <a:endParaRPr lang="en-US" sz="3000" dirty="0"/>
          </a:p>
          <a:p>
            <a:pPr>
              <a:buClr>
                <a:schemeClr val="tx1"/>
              </a:buClr>
            </a:pPr>
            <a:r>
              <a:rPr lang="en-US" sz="3000" dirty="0"/>
              <a:t>Query 1: Play expert</a:t>
            </a:r>
          </a:p>
          <a:p>
            <a:pPr>
              <a:buClr>
                <a:schemeClr val="tx1"/>
              </a:buClr>
            </a:pPr>
            <a:r>
              <a:rPr lang="en-US" sz="3000" dirty="0"/>
              <a:t>Query 2: Uniform estimation on experts and baselines</a:t>
            </a:r>
          </a:p>
          <a:p>
            <a:pPr marL="0" indent="0">
              <a:buClr>
                <a:schemeClr val="tx1"/>
              </a:buClr>
              <a:buNone/>
            </a:pPr>
            <a:endParaRPr lang="en-US" sz="3000" dirty="0">
              <a:solidFill>
                <a:srgbClr val="00B050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3000" dirty="0">
                <a:solidFill>
                  <a:srgbClr val="00B050"/>
                </a:solidFill>
              </a:rPr>
              <a:t>Interval regret</a:t>
            </a:r>
            <a:r>
              <a:rPr lang="en-US" sz="3000" dirty="0"/>
              <a:t>: Algorithms for geometrically sized intervals</a:t>
            </a:r>
          </a:p>
          <a:p>
            <a:pPr>
              <a:buClr>
                <a:schemeClr val="tx1"/>
              </a:buClr>
            </a:pPr>
            <a:r>
              <a:rPr lang="en-US" sz="3000" dirty="0">
                <a:solidFill>
                  <a:srgbClr val="00B050"/>
                </a:solidFill>
              </a:rPr>
              <a:t>Outer controller</a:t>
            </a:r>
            <a:r>
              <a:rPr lang="en-US" sz="3000" dirty="0"/>
              <a:t>: Run EXP3 / MWU on these intervals</a:t>
            </a:r>
          </a:p>
          <a:p>
            <a:pPr>
              <a:buClr>
                <a:schemeClr val="tx1"/>
              </a:buClr>
            </a:pPr>
            <a:endParaRPr lang="en-US" sz="3000" dirty="0"/>
          </a:p>
          <a:p>
            <a:pPr>
              <a:buClr>
                <a:schemeClr val="tx1"/>
              </a:buClr>
            </a:pPr>
            <a:endParaRPr lang="en-US" sz="3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3098CC1-BABB-D0C2-1C57-45F155E4BB24}"/>
              </a:ext>
            </a:extLst>
          </p:cNvPr>
          <p:cNvSpPr txBox="1">
            <a:spLocks/>
          </p:cNvSpPr>
          <p:nvPr/>
        </p:nvSpPr>
        <p:spPr>
          <a:xfrm>
            <a:off x="415600" y="593367"/>
            <a:ext cx="11360800" cy="763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 Two-Query Fix and Interval Regret</a:t>
            </a:r>
          </a:p>
        </p:txBody>
      </p:sp>
    </p:spTree>
    <p:extLst>
      <p:ext uri="{BB962C8B-B14F-4D97-AF65-F5344CB8AC3E}">
        <p14:creationId xmlns:p14="http://schemas.microsoft.com/office/powerpoint/2010/main" val="2625460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197CB-ECCC-F01B-8C21-9F073EA48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19C06-5C8D-10A8-BDF7-B24CDCFCE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Our Results (II)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84415CD-CE6C-725B-85FB-587FBCF82A7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Input</a:t>
                </a:r>
                <a:r>
                  <a:rPr lang="en-US" sz="3000" dirty="0"/>
                  <a:t>: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000" dirty="0"/>
                  <a:t> experts, time horizon of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000" dirty="0"/>
                  <a:t> days</a:t>
                </a:r>
              </a:p>
              <a:p>
                <a:pPr marL="114300" indent="0">
                  <a:buClr>
                    <a:schemeClr val="tx1"/>
                  </a:buClr>
                  <a:buNone/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Task</a:t>
                </a:r>
                <a:r>
                  <a:rPr lang="en-US" sz="3000" dirty="0"/>
                  <a:t>: online learning with experts 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Theorem</a:t>
                </a:r>
                <a:r>
                  <a:rPr lang="en-US" sz="3000" dirty="0"/>
                  <a:t>: Algorithm for </a:t>
                </a:r>
                <a:r>
                  <a:rPr lang="en-US" sz="3000" i="1" dirty="0">
                    <a:solidFill>
                      <a:srgbClr val="0070C0"/>
                    </a:solidFill>
                  </a:rPr>
                  <a:t>the streaming model </a:t>
                </a:r>
                <a:r>
                  <a:rPr lang="en-US" sz="3000" dirty="0"/>
                  <a:t>with regret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3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2/3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3000" dirty="0"/>
                  <a:t> using </a:t>
                </a:r>
                <a:r>
                  <a:rPr lang="en-US" sz="3000" dirty="0">
                    <a:solidFill>
                      <a:srgbClr val="0070C0"/>
                    </a:solidFill>
                  </a:rPr>
                  <a:t>one</a:t>
                </a:r>
                <a:r>
                  <a:rPr lang="en-US" sz="3000" dirty="0"/>
                  <a:t> query per time (bandit setting)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polylog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3000" dirty="0"/>
                  <a:t> memory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Theorem</a:t>
                </a:r>
                <a:r>
                  <a:rPr lang="en-US" sz="3000" dirty="0"/>
                  <a:t>: Algorithm for </a:t>
                </a:r>
                <a:r>
                  <a:rPr lang="en-US" sz="3000" i="1" dirty="0">
                    <a:solidFill>
                      <a:srgbClr val="0070C0"/>
                    </a:solidFill>
                  </a:rPr>
                  <a:t>random order streams</a:t>
                </a:r>
                <a:r>
                  <a:rPr lang="en-US" sz="3000" dirty="0"/>
                  <a:t> with regret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3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𝑛𝑇</m:t>
                            </m:r>
                          </m:e>
                        </m:rad>
                      </m:e>
                    </m:d>
                  </m:oMath>
                </a14:m>
                <a:r>
                  <a:rPr lang="en-US" sz="3000" dirty="0"/>
                  <a:t> using </a:t>
                </a:r>
                <a:r>
                  <a:rPr lang="en-US" sz="3000" dirty="0">
                    <a:solidFill>
                      <a:srgbClr val="0070C0"/>
                    </a:solidFill>
                  </a:rPr>
                  <a:t>one</a:t>
                </a:r>
                <a:r>
                  <a:rPr lang="en-US" sz="3000" dirty="0"/>
                  <a:t> query per time (bandit setting)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polylog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3000" dirty="0"/>
                  <a:t> memory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84415CD-CE6C-725B-85FB-587FBCF82A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1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3694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440E4-5932-1921-9A9A-3DE331EB9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0CF24-06DB-2FFB-2F8D-73A2BF1DE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Single Query Technique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D875283-9F5C-EEFE-1181-8FBAA19A243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Forced exploration, explore at rate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3000" dirty="0"/>
                  <a:t> 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Careful balancing between: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 lvl="1"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/>
                  <a:t> (Exploration loss)</a:t>
                </a:r>
              </a:p>
              <a:p>
                <a:pPr lvl="1"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/>
                  <a:t> (Loss on bad epochs)</a:t>
                </a:r>
              </a:p>
              <a:p>
                <a:pPr lvl="1">
                  <a:buClr>
                    <a:schemeClr val="tx1"/>
                  </a:buClr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num>
                          <m:den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sz="2800" dirty="0"/>
                  <a:t> (Loss on good epochs)</a:t>
                </a:r>
              </a:p>
              <a:p>
                <a:pPr lvl="1">
                  <a:buClr>
                    <a:schemeClr val="tx1"/>
                  </a:buClr>
                </a:pPr>
                <a:endParaRPr lang="en-US" sz="26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Boosting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D875283-9F5C-EEFE-1181-8FBAA19A24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1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82078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6EDCE-47DD-6975-DEF0-96591F4BB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BDFFA-1E89-A526-1EB5-5B9C397F4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Random-Order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F3DA4-61B5-EA6A-BCC3-49F467C3B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3000" dirty="0"/>
              <a:t>Best expert losses permuted (weaker assumption)</a:t>
            </a:r>
          </a:p>
          <a:p>
            <a:pPr>
              <a:buClr>
                <a:schemeClr val="tx1"/>
              </a:buClr>
            </a:pPr>
            <a:endParaRPr lang="en-US" sz="3000" dirty="0"/>
          </a:p>
          <a:p>
            <a:pPr>
              <a:buClr>
                <a:schemeClr val="tx1"/>
              </a:buClr>
            </a:pPr>
            <a:r>
              <a:rPr lang="en-US" sz="3000" dirty="0"/>
              <a:t>Search for the “correct” error rate of the best expert, starting low and going high</a:t>
            </a:r>
          </a:p>
          <a:p>
            <a:pPr>
              <a:buClr>
                <a:schemeClr val="tx1"/>
              </a:buClr>
            </a:pPr>
            <a:endParaRPr lang="en-US" sz="3000" dirty="0"/>
          </a:p>
          <a:p>
            <a:pPr>
              <a:buClr>
                <a:schemeClr val="tx1"/>
              </a:buClr>
            </a:pPr>
            <a:r>
              <a:rPr lang="en-US" sz="3000" dirty="0"/>
              <a:t>Cycle through all experts and check whether the loss exceeds the desired error rate</a:t>
            </a:r>
          </a:p>
          <a:p>
            <a:pPr>
              <a:buClr>
                <a:schemeClr val="tx1"/>
              </a:buClr>
            </a:pPr>
            <a:endParaRPr lang="en-US" sz="3000" dirty="0"/>
          </a:p>
          <a:p>
            <a:pPr>
              <a:buClr>
                <a:schemeClr val="tx1"/>
              </a:buClr>
            </a:pPr>
            <a:r>
              <a:rPr lang="en-US" sz="3000" dirty="0"/>
              <a:t>If a bad expert “fakes” having a good error rate, we get “negative” regret!</a:t>
            </a:r>
          </a:p>
        </p:txBody>
      </p:sp>
    </p:spTree>
    <p:extLst>
      <p:ext uri="{BB962C8B-B14F-4D97-AF65-F5344CB8AC3E}">
        <p14:creationId xmlns:p14="http://schemas.microsoft.com/office/powerpoint/2010/main" val="21903185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1F90B-D0EB-5A67-498E-7175E8F99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FE4CE-4C7B-43BB-498D-CBE476362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Future Work?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F48C830-E07F-433A-EDE2-02C3B540B27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Is it possible to achieve algorithm for </a:t>
                </a:r>
                <a:r>
                  <a:rPr lang="en-US" sz="3000" i="1" dirty="0">
                    <a:solidFill>
                      <a:srgbClr val="0070C0"/>
                    </a:solidFill>
                  </a:rPr>
                  <a:t>the streaming model </a:t>
                </a:r>
                <a:r>
                  <a:rPr lang="en-US" sz="3000" dirty="0"/>
                  <a:t>with regret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3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𝑛𝑇</m:t>
                            </m:r>
                          </m:e>
                        </m:rad>
                      </m:e>
                    </m:d>
                  </m:oMath>
                </a14:m>
                <a:r>
                  <a:rPr lang="en-US" sz="3000" dirty="0"/>
                  <a:t> using </a:t>
                </a:r>
                <a:r>
                  <a:rPr lang="en-US" sz="3000" dirty="0">
                    <a:solidFill>
                      <a:srgbClr val="0070C0"/>
                    </a:solidFill>
                  </a:rPr>
                  <a:t>one</a:t>
                </a:r>
                <a:r>
                  <a:rPr lang="en-US" sz="3000" dirty="0"/>
                  <a:t> query per time (bandit setting)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polylog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3000" dirty="0"/>
                  <a:t> memory?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Would show there is no overhead in regret for the streaming model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F48C830-E07F-433A-EDE2-02C3B540B2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1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Image result for thank you">
            <a:extLst>
              <a:ext uri="{FF2B5EF4-FFF2-40B4-BE49-F238E27FC236}">
                <a16:creationId xmlns:a16="http://schemas.microsoft.com/office/drawing/2014/main" id="{8934F440-93EC-997E-5297-46ED1A991B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" r="5" b="5"/>
          <a:stretch/>
        </p:blipFill>
        <p:spPr bwMode="auto">
          <a:xfrm>
            <a:off x="4360424" y="4276995"/>
            <a:ext cx="3713321" cy="2088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70522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62B66-0FBF-4E65-BF1A-D66892D79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A1A28-9707-4037-88F8-B854AB988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b="0" dirty="0"/>
              <a:t>Ensemble learning, e.g., AdaBoost</a:t>
            </a:r>
          </a:p>
          <a:p>
            <a:endParaRPr lang="en-US" sz="3000" dirty="0"/>
          </a:p>
          <a:p>
            <a:pPr marL="0" indent="0">
              <a:buNone/>
            </a:pPr>
            <a:endParaRPr lang="en-US" sz="3000" dirty="0"/>
          </a:p>
          <a:p>
            <a:r>
              <a:rPr lang="en-US" sz="3000" dirty="0"/>
              <a:t>Forecast and portfolio optimization</a:t>
            </a:r>
          </a:p>
          <a:p>
            <a:endParaRPr lang="en-US" sz="3000" dirty="0"/>
          </a:p>
          <a:p>
            <a:pPr marL="0" indent="0">
              <a:buNone/>
            </a:pPr>
            <a:endParaRPr lang="en-US" sz="3000" dirty="0"/>
          </a:p>
          <a:p>
            <a:r>
              <a:rPr lang="en-US" sz="3000" dirty="0"/>
              <a:t>Special case of online convex optimization</a:t>
            </a: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7932057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7370F-2342-9D54-B171-70117B236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81AB4-1418-1A95-85C1-41F5E4451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Streaming vs. Sliding Window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AFB318C-587B-DE82-315D-ADA9D48AED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Streaming</a:t>
                </a:r>
                <a:r>
                  <a:rPr lang="en-US" sz="3000" dirty="0"/>
                  <a:t>: Sequence of predictions and outcomes, minimize regret over full history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Sliding window model</a:t>
                </a:r>
                <a:r>
                  <a:rPr lang="en-US" sz="3000" dirty="0"/>
                  <a:t>: Sequence of predictions and outcomes, minimize regret over last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3000" dirty="0"/>
                  <a:t> days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sz="3000" dirty="0"/>
                  <a:t>Old data expires implicitly</a:t>
                </a:r>
              </a:p>
              <a:p>
                <a:pPr lvl="1"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Goal is also to minimize memory and minimize query complexity in both settings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AFB318C-587B-DE82-315D-ADA9D48AE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1217" t="-2801" r="-638" b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92228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9BA4E-1F85-FD01-7DB5-AF4236C3E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625B3-B4FF-DAEF-CA5A-FADAA96F2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Why Interval Regret?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676BB91-CE84-BFAC-6902-C50D104E4BB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</a:pPr>
            <a:r>
              <a:rPr lang="en-US" sz="3000" dirty="0"/>
              <a:t>Strong adaptability</a:t>
            </a:r>
          </a:p>
          <a:p>
            <a:pPr>
              <a:buClr>
                <a:schemeClr val="tx1"/>
              </a:buClr>
            </a:pPr>
            <a:endParaRPr lang="en-US" sz="3000" dirty="0"/>
          </a:p>
          <a:p>
            <a:pPr>
              <a:buClr>
                <a:schemeClr val="tx1"/>
              </a:buClr>
            </a:pPr>
            <a:r>
              <a:rPr lang="en-US" sz="3000" dirty="0"/>
              <a:t>Handles non-stationarity</a:t>
            </a:r>
          </a:p>
          <a:p>
            <a:pPr>
              <a:buClr>
                <a:schemeClr val="tx1"/>
              </a:buClr>
            </a:pPr>
            <a:endParaRPr lang="en-US" sz="3000" dirty="0"/>
          </a:p>
          <a:p>
            <a:pPr>
              <a:buClr>
                <a:schemeClr val="tx1"/>
              </a:buClr>
            </a:pPr>
            <a:r>
              <a:rPr lang="en-US" sz="3000" dirty="0"/>
              <a:t>Implies sliding window bounds</a:t>
            </a:r>
          </a:p>
        </p:txBody>
      </p:sp>
    </p:spTree>
    <p:extLst>
      <p:ext uri="{BB962C8B-B14F-4D97-AF65-F5344CB8AC3E}">
        <p14:creationId xmlns:p14="http://schemas.microsoft.com/office/powerpoint/2010/main" val="1016952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1389</Words>
  <Application>Microsoft Office PowerPoint</Application>
  <PresentationFormat>Widescreen</PresentationFormat>
  <Paragraphs>254</Paragraphs>
  <Slides>30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Office Theme</vt:lpstr>
      <vt:lpstr>Online Learning with Limited Information in the Sliding Window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Challenges and Motivation</vt:lpstr>
      <vt:lpstr>Preview of Results</vt:lpstr>
      <vt:lpstr>Classic Experts Problem </vt:lpstr>
      <vt:lpstr>Resource Constraints (Query Complexity)</vt:lpstr>
      <vt:lpstr>Resource Constraints (Memory)</vt:lpstr>
      <vt:lpstr>Regret Notions</vt:lpstr>
      <vt:lpstr>Lower Bounds for Interval Regret</vt:lpstr>
      <vt:lpstr>Our Results (I)</vt:lpstr>
      <vt:lpstr>Our Results (I)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Our Results (II)</vt:lpstr>
      <vt:lpstr>Single Query Technique</vt:lpstr>
      <vt:lpstr>Random-Order Algorithm</vt:lpstr>
      <vt:lpstr>Future Work?</vt:lpstr>
      <vt:lpstr>Applications</vt:lpstr>
      <vt:lpstr>Streaming vs. Sliding Window</vt:lpstr>
      <vt:lpstr>Why Interval Regret?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Samson Zhou</dc:creator>
  <cp:lastModifiedBy>Samson Zhou</cp:lastModifiedBy>
  <cp:revision>42</cp:revision>
  <dcterms:created xsi:type="dcterms:W3CDTF">2026-01-04T04:02:13Z</dcterms:created>
  <dcterms:modified xsi:type="dcterms:W3CDTF">2026-01-11T08:05:29Z</dcterms:modified>
</cp:coreProperties>
</file>